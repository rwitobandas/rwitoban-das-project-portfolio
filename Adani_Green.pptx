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7" r:id="rId2"/>
    <p:sldId id="256" r:id="rId3"/>
    <p:sldId id="258" r:id="rId4"/>
    <p:sldId id="263" r:id="rId5"/>
    <p:sldId id="260" r:id="rId6"/>
    <p:sldId id="261" r:id="rId7"/>
    <p:sldId id="262" r:id="rId8"/>
    <p:sldId id="276" r:id="rId9"/>
    <p:sldId id="266" r:id="rId10"/>
    <p:sldId id="265" r:id="rId11"/>
    <p:sldId id="267" r:id="rId12"/>
    <p:sldId id="268" r:id="rId13"/>
    <p:sldId id="269" r:id="rId14"/>
    <p:sldId id="270" r:id="rId15"/>
    <p:sldId id="274" r:id="rId16"/>
    <p:sldId id="275" r:id="rId17"/>
    <p:sldId id="271" r:id="rId18"/>
    <p:sldId id="272" r:id="rId19"/>
    <p:sldId id="280" r:id="rId20"/>
    <p:sldId id="282" r:id="rId21"/>
  </p:sldIdLst>
  <p:sldSz cx="6219825"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03300"/>
    <a:srgbClr val="249E3D"/>
    <a:srgbClr val="05BB12"/>
    <a:srgbClr val="088A22"/>
    <a:srgbClr val="187C2C"/>
    <a:srgbClr val="009900"/>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7706F3-9669-45F5-96AA-6BD4573B80D9}" v="44" dt="2025-09-04T17:21:36.2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4757"/>
  </p:normalViewPr>
  <p:slideViewPr>
    <p:cSldViewPr snapToGrid="0">
      <p:cViewPr>
        <p:scale>
          <a:sx n="66" d="100"/>
          <a:sy n="66" d="100"/>
        </p:scale>
        <p:origin x="2458"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witoban Das" userId="1f63175658b1e939" providerId="LiveId" clId="{697706F3-9669-45F5-96AA-6BD4573B80D9}"/>
    <pc:docChg chg="undo redo custSel addSld delSld modSld">
      <pc:chgData name="Rwitoban Das" userId="1f63175658b1e939" providerId="LiveId" clId="{697706F3-9669-45F5-96AA-6BD4573B80D9}" dt="2025-09-04T17:22:05.338" v="353" actId="121"/>
      <pc:docMkLst>
        <pc:docMk/>
      </pc:docMkLst>
      <pc:sldChg chg="modSp mod">
        <pc:chgData name="Rwitoban Das" userId="1f63175658b1e939" providerId="LiveId" clId="{697706F3-9669-45F5-96AA-6BD4573B80D9}" dt="2025-09-04T17:22:05.338" v="353" actId="121"/>
        <pc:sldMkLst>
          <pc:docMk/>
          <pc:sldMk cId="3858031608" sldId="276"/>
        </pc:sldMkLst>
        <pc:graphicFrameChg chg="mod modGraphic">
          <ac:chgData name="Rwitoban Das" userId="1f63175658b1e939" providerId="LiveId" clId="{697706F3-9669-45F5-96AA-6BD4573B80D9}" dt="2025-09-04T17:21:36.235" v="342"/>
          <ac:graphicFrameMkLst>
            <pc:docMk/>
            <pc:sldMk cId="3858031608" sldId="276"/>
            <ac:graphicFrameMk id="18" creationId="{94796B40-D82F-7919-2F45-7A444FDB92D8}"/>
          </ac:graphicFrameMkLst>
        </pc:graphicFrameChg>
        <pc:graphicFrameChg chg="mod modGraphic">
          <ac:chgData name="Rwitoban Das" userId="1f63175658b1e939" providerId="LiveId" clId="{697706F3-9669-45F5-96AA-6BD4573B80D9}" dt="2025-09-04T17:22:05.338" v="353" actId="121"/>
          <ac:graphicFrameMkLst>
            <pc:docMk/>
            <pc:sldMk cId="3858031608" sldId="276"/>
            <ac:graphicFrameMk id="21" creationId="{D2A77FBA-C2E4-21E3-9C7B-FC798155D9E3}"/>
          </ac:graphicFrameMkLst>
        </pc:graphicFrameChg>
      </pc:sldChg>
      <pc:sldChg chg="modSp add del mod">
        <pc:chgData name="Rwitoban Das" userId="1f63175658b1e939" providerId="LiveId" clId="{697706F3-9669-45F5-96AA-6BD4573B80D9}" dt="2025-09-04T17:07:51.839" v="169" actId="47"/>
        <pc:sldMkLst>
          <pc:docMk/>
          <pc:sldMk cId="1238435415" sldId="278"/>
        </pc:sldMkLst>
        <pc:spChg chg="mod">
          <ac:chgData name="Rwitoban Das" userId="1f63175658b1e939" providerId="LiveId" clId="{697706F3-9669-45F5-96AA-6BD4573B80D9}" dt="2025-09-04T17:01:12.870" v="154" actId="1076"/>
          <ac:spMkLst>
            <pc:docMk/>
            <pc:sldMk cId="1238435415" sldId="278"/>
            <ac:spMk id="2" creationId="{7CCDDECA-166B-0760-8915-B20D1BE7F159}"/>
          </ac:spMkLst>
        </pc:spChg>
        <pc:spChg chg="mod">
          <ac:chgData name="Rwitoban Das" userId="1f63175658b1e939" providerId="LiveId" clId="{697706F3-9669-45F5-96AA-6BD4573B80D9}" dt="2025-09-04T17:00:47.025" v="152" actId="1076"/>
          <ac:spMkLst>
            <pc:docMk/>
            <pc:sldMk cId="1238435415" sldId="278"/>
            <ac:spMk id="38" creationId="{9ECC80F4-59DF-BF66-A1FC-36AA6ED5DEB3}"/>
          </ac:spMkLst>
        </pc:spChg>
        <pc:spChg chg="mod">
          <ac:chgData name="Rwitoban Das" userId="1f63175658b1e939" providerId="LiveId" clId="{697706F3-9669-45F5-96AA-6BD4573B80D9}" dt="2025-09-04T17:00:29.167" v="150" actId="14100"/>
          <ac:spMkLst>
            <pc:docMk/>
            <pc:sldMk cId="1238435415" sldId="278"/>
            <ac:spMk id="47" creationId="{DCC2B8DE-90A7-C5ED-D65D-2C70418F7DC4}"/>
          </ac:spMkLst>
        </pc:spChg>
        <pc:spChg chg="mod">
          <ac:chgData name="Rwitoban Das" userId="1f63175658b1e939" providerId="LiveId" clId="{697706F3-9669-45F5-96AA-6BD4573B80D9}" dt="2025-09-04T17:00:24.511" v="149" actId="14100"/>
          <ac:spMkLst>
            <pc:docMk/>
            <pc:sldMk cId="1238435415" sldId="278"/>
            <ac:spMk id="50" creationId="{68836228-032B-3A98-3339-D9854795CE44}"/>
          </ac:spMkLst>
        </pc:spChg>
        <pc:spChg chg="mod">
          <ac:chgData name="Rwitoban Das" userId="1f63175658b1e939" providerId="LiveId" clId="{697706F3-9669-45F5-96AA-6BD4573B80D9}" dt="2025-09-04T17:01:32.291" v="155" actId="1076"/>
          <ac:spMkLst>
            <pc:docMk/>
            <pc:sldMk cId="1238435415" sldId="278"/>
            <ac:spMk id="51" creationId="{8893BB1C-3C7A-78F3-DE84-50D5C2E11C20}"/>
          </ac:spMkLst>
        </pc:spChg>
        <pc:grpChg chg="mod">
          <ac:chgData name="Rwitoban Das" userId="1f63175658b1e939" providerId="LiveId" clId="{697706F3-9669-45F5-96AA-6BD4573B80D9}" dt="2025-09-04T16:59:56.577" v="142" actId="14100"/>
          <ac:grpSpMkLst>
            <pc:docMk/>
            <pc:sldMk cId="1238435415" sldId="278"/>
            <ac:grpSpMk id="49" creationId="{FBE76F43-FF12-8B29-1444-CD71EB0D25AE}"/>
          </ac:grpSpMkLst>
        </pc:grpChg>
      </pc:sldChg>
      <pc:sldChg chg="modSp mod">
        <pc:chgData name="Rwitoban Das" userId="1f63175658b1e939" providerId="LiveId" clId="{697706F3-9669-45F5-96AA-6BD4573B80D9}" dt="2025-09-04T16:53:58.556" v="141" actId="1076"/>
        <pc:sldMkLst>
          <pc:docMk/>
          <pc:sldMk cId="4203415295" sldId="280"/>
        </pc:sldMkLst>
        <pc:spChg chg="mod">
          <ac:chgData name="Rwitoban Das" userId="1f63175658b1e939" providerId="LiveId" clId="{697706F3-9669-45F5-96AA-6BD4573B80D9}" dt="2025-09-04T16:51:50.573" v="134" actId="14100"/>
          <ac:spMkLst>
            <pc:docMk/>
            <pc:sldMk cId="4203415295" sldId="280"/>
            <ac:spMk id="3" creationId="{1B9CEA23-C181-0144-6658-780057DD3CDC}"/>
          </ac:spMkLst>
        </pc:spChg>
        <pc:spChg chg="mod">
          <ac:chgData name="Rwitoban Das" userId="1f63175658b1e939" providerId="LiveId" clId="{697706F3-9669-45F5-96AA-6BD4573B80D9}" dt="2025-09-04T16:52:14.120" v="136" actId="14100"/>
          <ac:spMkLst>
            <pc:docMk/>
            <pc:sldMk cId="4203415295" sldId="280"/>
            <ac:spMk id="10" creationId="{3D484F57-F68D-E975-0E9A-9047DB60210B}"/>
          </ac:spMkLst>
        </pc:spChg>
        <pc:spChg chg="mod">
          <ac:chgData name="Rwitoban Das" userId="1f63175658b1e939" providerId="LiveId" clId="{697706F3-9669-45F5-96AA-6BD4573B80D9}" dt="2025-09-04T16:51:50.573" v="134" actId="14100"/>
          <ac:spMkLst>
            <pc:docMk/>
            <pc:sldMk cId="4203415295" sldId="280"/>
            <ac:spMk id="16" creationId="{2AF46EED-4C78-3F6C-0C11-09B858D5CD3B}"/>
          </ac:spMkLst>
        </pc:spChg>
        <pc:spChg chg="mod">
          <ac:chgData name="Rwitoban Das" userId="1f63175658b1e939" providerId="LiveId" clId="{697706F3-9669-45F5-96AA-6BD4573B80D9}" dt="2025-09-04T16:51:50.573" v="134" actId="14100"/>
          <ac:spMkLst>
            <pc:docMk/>
            <pc:sldMk cId="4203415295" sldId="280"/>
            <ac:spMk id="18" creationId="{F8C4D44A-9549-9D39-4106-E40EF146988F}"/>
          </ac:spMkLst>
        </pc:spChg>
        <pc:spChg chg="mod">
          <ac:chgData name="Rwitoban Das" userId="1f63175658b1e939" providerId="LiveId" clId="{697706F3-9669-45F5-96AA-6BD4573B80D9}" dt="2025-09-04T16:53:17.032" v="139" actId="1076"/>
          <ac:spMkLst>
            <pc:docMk/>
            <pc:sldMk cId="4203415295" sldId="280"/>
            <ac:spMk id="20" creationId="{7ACAD5CD-0017-AAFE-4126-18552BE5F5CD}"/>
          </ac:spMkLst>
        </pc:spChg>
        <pc:spChg chg="mod">
          <ac:chgData name="Rwitoban Das" userId="1f63175658b1e939" providerId="LiveId" clId="{697706F3-9669-45F5-96AA-6BD4573B80D9}" dt="2025-09-04T16:51:50.573" v="134" actId="14100"/>
          <ac:spMkLst>
            <pc:docMk/>
            <pc:sldMk cId="4203415295" sldId="280"/>
            <ac:spMk id="24" creationId="{63596641-856B-D9E7-6262-112ADAFD89A9}"/>
          </ac:spMkLst>
        </pc:spChg>
        <pc:spChg chg="mod">
          <ac:chgData name="Rwitoban Das" userId="1f63175658b1e939" providerId="LiveId" clId="{697706F3-9669-45F5-96AA-6BD4573B80D9}" dt="2025-09-04T16:53:58.556" v="141" actId="1076"/>
          <ac:spMkLst>
            <pc:docMk/>
            <pc:sldMk cId="4203415295" sldId="280"/>
            <ac:spMk id="25" creationId="{3DAD876E-D4DF-6E92-46DA-94C6AF3E12CD}"/>
          </ac:spMkLst>
        </pc:spChg>
        <pc:spChg chg="mod">
          <ac:chgData name="Rwitoban Das" userId="1f63175658b1e939" providerId="LiveId" clId="{697706F3-9669-45F5-96AA-6BD4573B80D9}" dt="2025-09-04T16:52:44.606" v="138" actId="20577"/>
          <ac:spMkLst>
            <pc:docMk/>
            <pc:sldMk cId="4203415295" sldId="280"/>
            <ac:spMk id="26" creationId="{CDB1A985-4138-B35B-80AC-9DDE43C23DFD}"/>
          </ac:spMkLst>
        </pc:spChg>
        <pc:spChg chg="mod">
          <ac:chgData name="Rwitoban Das" userId="1f63175658b1e939" providerId="LiveId" clId="{697706F3-9669-45F5-96AA-6BD4573B80D9}" dt="2025-09-04T16:53:33.207" v="140" actId="1076"/>
          <ac:spMkLst>
            <pc:docMk/>
            <pc:sldMk cId="4203415295" sldId="280"/>
            <ac:spMk id="28" creationId="{98D06FCD-4B44-222D-B244-BBBA99583260}"/>
          </ac:spMkLst>
        </pc:spChg>
        <pc:grpChg chg="mod">
          <ac:chgData name="Rwitoban Das" userId="1f63175658b1e939" providerId="LiveId" clId="{697706F3-9669-45F5-96AA-6BD4573B80D9}" dt="2025-09-04T16:51:39.507" v="133" actId="14100"/>
          <ac:grpSpMkLst>
            <pc:docMk/>
            <pc:sldMk cId="4203415295" sldId="280"/>
            <ac:grpSpMk id="2" creationId="{1F408F5E-19AD-2A66-7773-358540D93B1E}"/>
          </ac:grpSpMkLst>
        </pc:grpChg>
        <pc:grpChg chg="mod">
          <ac:chgData name="Rwitoban Das" userId="1f63175658b1e939" providerId="LiveId" clId="{697706F3-9669-45F5-96AA-6BD4573B80D9}" dt="2025-09-04T16:51:50.573" v="134" actId="14100"/>
          <ac:grpSpMkLst>
            <pc:docMk/>
            <pc:sldMk cId="4203415295" sldId="280"/>
            <ac:grpSpMk id="5" creationId="{D9ADB505-B6FB-CA4A-B21F-DC883EA07E97}"/>
          </ac:grpSpMkLst>
        </pc:grpChg>
        <pc:grpChg chg="mod">
          <ac:chgData name="Rwitoban Das" userId="1f63175658b1e939" providerId="LiveId" clId="{697706F3-9669-45F5-96AA-6BD4573B80D9}" dt="2025-09-04T16:52:20.153" v="137" actId="14100"/>
          <ac:grpSpMkLst>
            <pc:docMk/>
            <pc:sldMk cId="4203415295" sldId="280"/>
            <ac:grpSpMk id="22" creationId="{C41E054D-19CB-44A2-00DE-E905C805486F}"/>
          </ac:grpSpMkLst>
        </pc:grpChg>
        <pc:grpChg chg="mod">
          <ac:chgData name="Rwitoban Das" userId="1f63175658b1e939" providerId="LiveId" clId="{697706F3-9669-45F5-96AA-6BD4573B80D9}" dt="2025-09-04T16:51:50.573" v="134" actId="14100"/>
          <ac:grpSpMkLst>
            <pc:docMk/>
            <pc:sldMk cId="4203415295" sldId="280"/>
            <ac:grpSpMk id="29" creationId="{3D255F60-5F81-4037-4E32-872FDAAC15B7}"/>
          </ac:grpSpMkLst>
        </pc:grpChg>
      </pc:sldChg>
      <pc:sldChg chg="new del">
        <pc:chgData name="Rwitoban Das" userId="1f63175658b1e939" providerId="LiveId" clId="{697706F3-9669-45F5-96AA-6BD4573B80D9}" dt="2025-09-04T16:40:22.670" v="2" actId="47"/>
        <pc:sldMkLst>
          <pc:docMk/>
          <pc:sldMk cId="40105079" sldId="281"/>
        </pc:sldMkLst>
      </pc:sldChg>
      <pc:sldChg chg="addSp delSp modSp add mod">
        <pc:chgData name="Rwitoban Das" userId="1f63175658b1e939" providerId="LiveId" clId="{697706F3-9669-45F5-96AA-6BD4573B80D9}" dt="2025-09-04T17:09:30.121" v="181" actId="948"/>
        <pc:sldMkLst>
          <pc:docMk/>
          <pc:sldMk cId="569084532" sldId="282"/>
        </pc:sldMkLst>
        <pc:spChg chg="del">
          <ac:chgData name="Rwitoban Das" userId="1f63175658b1e939" providerId="LiveId" clId="{697706F3-9669-45F5-96AA-6BD4573B80D9}" dt="2025-09-04T16:40:28.899" v="3" actId="478"/>
          <ac:spMkLst>
            <pc:docMk/>
            <pc:sldMk cId="569084532" sldId="282"/>
            <ac:spMk id="3" creationId="{B11D8F7D-9099-5B16-D904-B8A6CECEB0E9}"/>
          </ac:spMkLst>
        </pc:spChg>
        <pc:spChg chg="del mod">
          <ac:chgData name="Rwitoban Das" userId="1f63175658b1e939" providerId="LiveId" clId="{697706F3-9669-45F5-96AA-6BD4573B80D9}" dt="2025-09-04T16:40:42.064" v="5" actId="478"/>
          <ac:spMkLst>
            <pc:docMk/>
            <pc:sldMk cId="569084532" sldId="282"/>
            <ac:spMk id="10" creationId="{8EED0406-F30D-76BE-0945-F262A3365471}"/>
          </ac:spMkLst>
        </pc:spChg>
        <pc:spChg chg="del">
          <ac:chgData name="Rwitoban Das" userId="1f63175658b1e939" providerId="LiveId" clId="{697706F3-9669-45F5-96AA-6BD4573B80D9}" dt="2025-09-04T16:40:42.064" v="5" actId="478"/>
          <ac:spMkLst>
            <pc:docMk/>
            <pc:sldMk cId="569084532" sldId="282"/>
            <ac:spMk id="16" creationId="{3741B963-0D76-95A5-1825-6422F5165CB7}"/>
          </ac:spMkLst>
        </pc:spChg>
        <pc:spChg chg="del">
          <ac:chgData name="Rwitoban Das" userId="1f63175658b1e939" providerId="LiveId" clId="{697706F3-9669-45F5-96AA-6BD4573B80D9}" dt="2025-09-04T16:40:42.064" v="5" actId="478"/>
          <ac:spMkLst>
            <pc:docMk/>
            <pc:sldMk cId="569084532" sldId="282"/>
            <ac:spMk id="18" creationId="{47215151-569E-1AC2-B7B0-56B96A1D1E5C}"/>
          </ac:spMkLst>
        </pc:spChg>
        <pc:spChg chg="del">
          <ac:chgData name="Rwitoban Das" userId="1f63175658b1e939" providerId="LiveId" clId="{697706F3-9669-45F5-96AA-6BD4573B80D9}" dt="2025-09-04T16:40:42.064" v="5" actId="478"/>
          <ac:spMkLst>
            <pc:docMk/>
            <pc:sldMk cId="569084532" sldId="282"/>
            <ac:spMk id="20" creationId="{E0590481-D5CB-DDD7-B5D9-004B650A6B0C}"/>
          </ac:spMkLst>
        </pc:spChg>
        <pc:spChg chg="del">
          <ac:chgData name="Rwitoban Das" userId="1f63175658b1e939" providerId="LiveId" clId="{697706F3-9669-45F5-96AA-6BD4573B80D9}" dt="2025-09-04T16:40:42.064" v="5" actId="478"/>
          <ac:spMkLst>
            <pc:docMk/>
            <pc:sldMk cId="569084532" sldId="282"/>
            <ac:spMk id="24" creationId="{4E87E96C-56EB-E7F5-23D8-E764AA688F27}"/>
          </ac:spMkLst>
        </pc:spChg>
        <pc:spChg chg="del">
          <ac:chgData name="Rwitoban Das" userId="1f63175658b1e939" providerId="LiveId" clId="{697706F3-9669-45F5-96AA-6BD4573B80D9}" dt="2025-09-04T16:40:43.750" v="6" actId="478"/>
          <ac:spMkLst>
            <pc:docMk/>
            <pc:sldMk cId="569084532" sldId="282"/>
            <ac:spMk id="25" creationId="{91C4C199-B1B6-E846-378C-9E20B99C1BCE}"/>
          </ac:spMkLst>
        </pc:spChg>
        <pc:spChg chg="del">
          <ac:chgData name="Rwitoban Das" userId="1f63175658b1e939" providerId="LiveId" clId="{697706F3-9669-45F5-96AA-6BD4573B80D9}" dt="2025-09-04T16:40:42.064" v="5" actId="478"/>
          <ac:spMkLst>
            <pc:docMk/>
            <pc:sldMk cId="569084532" sldId="282"/>
            <ac:spMk id="28" creationId="{76918D6B-47CC-32C0-D61F-BE21AFB78C89}"/>
          </ac:spMkLst>
        </pc:spChg>
        <pc:spChg chg="mod topLvl">
          <ac:chgData name="Rwitoban Das" userId="1f63175658b1e939" providerId="LiveId" clId="{697706F3-9669-45F5-96AA-6BD4573B80D9}" dt="2025-09-04T17:09:30.121" v="181" actId="948"/>
          <ac:spMkLst>
            <pc:docMk/>
            <pc:sldMk cId="569084532" sldId="282"/>
            <ac:spMk id="32" creationId="{F3F19166-4EAD-7F55-4E37-F784DE9C66BD}"/>
          </ac:spMkLst>
        </pc:spChg>
        <pc:spChg chg="del mod topLvl">
          <ac:chgData name="Rwitoban Das" userId="1f63175658b1e939" providerId="LiveId" clId="{697706F3-9669-45F5-96AA-6BD4573B80D9}" dt="2025-09-04T16:40:57.567" v="8" actId="478"/>
          <ac:spMkLst>
            <pc:docMk/>
            <pc:sldMk cId="569084532" sldId="282"/>
            <ac:spMk id="33" creationId="{8A344D18-178F-4BE9-E5D7-6F740A0F4EC3}"/>
          </ac:spMkLst>
        </pc:spChg>
        <pc:spChg chg="mod">
          <ac:chgData name="Rwitoban Das" userId="1f63175658b1e939" providerId="LiveId" clId="{697706F3-9669-45F5-96AA-6BD4573B80D9}" dt="2025-09-04T16:41:12.323" v="12"/>
          <ac:spMkLst>
            <pc:docMk/>
            <pc:sldMk cId="569084532" sldId="282"/>
            <ac:spMk id="35" creationId="{10CD6AC9-946D-E534-8DFA-4D926FE6B9DF}"/>
          </ac:spMkLst>
        </pc:spChg>
        <pc:spChg chg="mod">
          <ac:chgData name="Rwitoban Das" userId="1f63175658b1e939" providerId="LiveId" clId="{697706F3-9669-45F5-96AA-6BD4573B80D9}" dt="2025-09-04T16:41:12.323" v="12"/>
          <ac:spMkLst>
            <pc:docMk/>
            <pc:sldMk cId="569084532" sldId="282"/>
            <ac:spMk id="36" creationId="{2543BE45-AF79-2D0A-08B3-0C036E6C5521}"/>
          </ac:spMkLst>
        </pc:spChg>
        <pc:spChg chg="add">
          <ac:chgData name="Rwitoban Das" userId="1f63175658b1e939" providerId="LiveId" clId="{697706F3-9669-45F5-96AA-6BD4573B80D9}" dt="2025-09-04T16:41:32.244" v="13"/>
          <ac:spMkLst>
            <pc:docMk/>
            <pc:sldMk cId="569084532" sldId="282"/>
            <ac:spMk id="37" creationId="{C99EDA08-FB37-AF7B-81F3-E23409A7DBEB}"/>
          </ac:spMkLst>
        </pc:spChg>
        <pc:spChg chg="add">
          <ac:chgData name="Rwitoban Das" userId="1f63175658b1e939" providerId="LiveId" clId="{697706F3-9669-45F5-96AA-6BD4573B80D9}" dt="2025-09-04T16:41:32.244" v="13"/>
          <ac:spMkLst>
            <pc:docMk/>
            <pc:sldMk cId="569084532" sldId="282"/>
            <ac:spMk id="38" creationId="{E87698E8-A928-7219-CB67-42E05C876C8A}"/>
          </ac:spMkLst>
        </pc:spChg>
        <pc:spChg chg="add">
          <ac:chgData name="Rwitoban Das" userId="1f63175658b1e939" providerId="LiveId" clId="{697706F3-9669-45F5-96AA-6BD4573B80D9}" dt="2025-09-04T16:41:32.244" v="13"/>
          <ac:spMkLst>
            <pc:docMk/>
            <pc:sldMk cId="569084532" sldId="282"/>
            <ac:spMk id="39" creationId="{FC137C36-B7AC-9D5E-B82B-8E169A85AEB6}"/>
          </ac:spMkLst>
        </pc:spChg>
        <pc:spChg chg="add">
          <ac:chgData name="Rwitoban Das" userId="1f63175658b1e939" providerId="LiveId" clId="{697706F3-9669-45F5-96AA-6BD4573B80D9}" dt="2025-09-04T16:41:32.244" v="13"/>
          <ac:spMkLst>
            <pc:docMk/>
            <pc:sldMk cId="569084532" sldId="282"/>
            <ac:spMk id="40" creationId="{973E4699-6743-2AAF-E370-CEF52FB92E52}"/>
          </ac:spMkLst>
        </pc:spChg>
        <pc:spChg chg="add">
          <ac:chgData name="Rwitoban Das" userId="1f63175658b1e939" providerId="LiveId" clId="{697706F3-9669-45F5-96AA-6BD4573B80D9}" dt="2025-09-04T16:41:32.244" v="13"/>
          <ac:spMkLst>
            <pc:docMk/>
            <pc:sldMk cId="569084532" sldId="282"/>
            <ac:spMk id="41" creationId="{23933339-778C-764E-4B34-6494AFAE497E}"/>
          </ac:spMkLst>
        </pc:spChg>
        <pc:spChg chg="add">
          <ac:chgData name="Rwitoban Das" userId="1f63175658b1e939" providerId="LiveId" clId="{697706F3-9669-45F5-96AA-6BD4573B80D9}" dt="2025-09-04T16:41:37.279" v="14"/>
          <ac:spMkLst>
            <pc:docMk/>
            <pc:sldMk cId="569084532" sldId="282"/>
            <ac:spMk id="42" creationId="{3B217373-1F54-7DBC-D782-64544A37B735}"/>
          </ac:spMkLst>
        </pc:spChg>
        <pc:spChg chg="add">
          <ac:chgData name="Rwitoban Das" userId="1f63175658b1e939" providerId="LiveId" clId="{697706F3-9669-45F5-96AA-6BD4573B80D9}" dt="2025-09-04T16:41:37.279" v="14"/>
          <ac:spMkLst>
            <pc:docMk/>
            <pc:sldMk cId="569084532" sldId="282"/>
            <ac:spMk id="43" creationId="{82689D83-FA57-455D-A2B3-1F4E24A7DB55}"/>
          </ac:spMkLst>
        </pc:spChg>
        <pc:spChg chg="add">
          <ac:chgData name="Rwitoban Das" userId="1f63175658b1e939" providerId="LiveId" clId="{697706F3-9669-45F5-96AA-6BD4573B80D9}" dt="2025-09-04T16:41:37.279" v="14"/>
          <ac:spMkLst>
            <pc:docMk/>
            <pc:sldMk cId="569084532" sldId="282"/>
            <ac:spMk id="44" creationId="{DB43CDA2-2B84-D431-B135-9F4D93630C1F}"/>
          </ac:spMkLst>
        </pc:spChg>
        <pc:spChg chg="add">
          <ac:chgData name="Rwitoban Das" userId="1f63175658b1e939" providerId="LiveId" clId="{697706F3-9669-45F5-96AA-6BD4573B80D9}" dt="2025-09-04T16:41:37.279" v="14"/>
          <ac:spMkLst>
            <pc:docMk/>
            <pc:sldMk cId="569084532" sldId="282"/>
            <ac:spMk id="45" creationId="{C14ABA22-2B01-100B-33B1-81A4133528CE}"/>
          </ac:spMkLst>
        </pc:spChg>
        <pc:spChg chg="add">
          <ac:chgData name="Rwitoban Das" userId="1f63175658b1e939" providerId="LiveId" clId="{697706F3-9669-45F5-96AA-6BD4573B80D9}" dt="2025-09-04T16:41:37.279" v="14"/>
          <ac:spMkLst>
            <pc:docMk/>
            <pc:sldMk cId="569084532" sldId="282"/>
            <ac:spMk id="46" creationId="{8A91CA28-2C20-27DF-297B-6DCD33293E4C}"/>
          </ac:spMkLst>
        </pc:spChg>
        <pc:grpChg chg="del">
          <ac:chgData name="Rwitoban Das" userId="1f63175658b1e939" providerId="LiveId" clId="{697706F3-9669-45F5-96AA-6BD4573B80D9}" dt="2025-09-04T16:40:42.064" v="5" actId="478"/>
          <ac:grpSpMkLst>
            <pc:docMk/>
            <pc:sldMk cId="569084532" sldId="282"/>
            <ac:grpSpMk id="2" creationId="{0B30F358-1BC5-40A0-944E-AA47B3B13CB2}"/>
          </ac:grpSpMkLst>
        </pc:grpChg>
        <pc:grpChg chg="del">
          <ac:chgData name="Rwitoban Das" userId="1f63175658b1e939" providerId="LiveId" clId="{697706F3-9669-45F5-96AA-6BD4573B80D9}" dt="2025-09-04T16:40:42.064" v="5" actId="478"/>
          <ac:grpSpMkLst>
            <pc:docMk/>
            <pc:sldMk cId="569084532" sldId="282"/>
            <ac:grpSpMk id="5" creationId="{99D4BB8C-C9F3-650D-D8E5-2D2A7A53B1FA}"/>
          </ac:grpSpMkLst>
        </pc:grpChg>
        <pc:grpChg chg="del">
          <ac:chgData name="Rwitoban Das" userId="1f63175658b1e939" providerId="LiveId" clId="{697706F3-9669-45F5-96AA-6BD4573B80D9}" dt="2025-09-04T16:40:42.064" v="5" actId="478"/>
          <ac:grpSpMkLst>
            <pc:docMk/>
            <pc:sldMk cId="569084532" sldId="282"/>
            <ac:grpSpMk id="22" creationId="{F6789790-C4FA-63CA-C4FC-BCA4D6AE48E7}"/>
          </ac:grpSpMkLst>
        </pc:grpChg>
        <pc:grpChg chg="del">
          <ac:chgData name="Rwitoban Das" userId="1f63175658b1e939" providerId="LiveId" clId="{697706F3-9669-45F5-96AA-6BD4573B80D9}" dt="2025-09-04T16:40:28.899" v="3" actId="478"/>
          <ac:grpSpMkLst>
            <pc:docMk/>
            <pc:sldMk cId="569084532" sldId="282"/>
            <ac:grpSpMk id="29" creationId="{078EF8D4-2ABC-3ED8-0A9B-B81515B29CDE}"/>
          </ac:grpSpMkLst>
        </pc:grpChg>
        <pc:grpChg chg="del">
          <ac:chgData name="Rwitoban Das" userId="1f63175658b1e939" providerId="LiveId" clId="{697706F3-9669-45F5-96AA-6BD4573B80D9}" dt="2025-09-04T16:40:42.064" v="5" actId="478"/>
          <ac:grpSpMkLst>
            <pc:docMk/>
            <pc:sldMk cId="569084532" sldId="282"/>
            <ac:grpSpMk id="30" creationId="{B134D180-F9BD-BD8D-9289-1A92D3A607EC}"/>
          </ac:grpSpMkLst>
        </pc:grpChg>
        <pc:grpChg chg="add del mod">
          <ac:chgData name="Rwitoban Das" userId="1f63175658b1e939" providerId="LiveId" clId="{697706F3-9669-45F5-96AA-6BD4573B80D9}" dt="2025-09-04T16:40:57.567" v="8" actId="478"/>
          <ac:grpSpMkLst>
            <pc:docMk/>
            <pc:sldMk cId="569084532" sldId="282"/>
            <ac:grpSpMk id="31" creationId="{89B9D0D8-FFFA-EB76-A7DE-CCB54D8F1AB0}"/>
          </ac:grpSpMkLst>
        </pc:grpChg>
        <pc:grpChg chg="add mod">
          <ac:chgData name="Rwitoban Das" userId="1f63175658b1e939" providerId="LiveId" clId="{697706F3-9669-45F5-96AA-6BD4573B80D9}" dt="2025-09-04T16:41:12.323" v="12"/>
          <ac:grpSpMkLst>
            <pc:docMk/>
            <pc:sldMk cId="569084532" sldId="282"/>
            <ac:grpSpMk id="34" creationId="{DBE002D1-876A-3480-2F4A-57ABE111CE19}"/>
          </ac:grpSpMkLst>
        </pc:grpChg>
      </pc:sldChg>
      <pc:sldChg chg="new del">
        <pc:chgData name="Rwitoban Das" userId="1f63175658b1e939" providerId="LiveId" clId="{697706F3-9669-45F5-96AA-6BD4573B80D9}" dt="2025-09-04T16:44:08.995" v="34" actId="47"/>
        <pc:sldMkLst>
          <pc:docMk/>
          <pc:sldMk cId="1041954846" sldId="283"/>
        </pc:sldMkLst>
      </pc:sldChg>
      <pc:sldChg chg="addSp delSp modSp add del mod">
        <pc:chgData name="Rwitoban Das" userId="1f63175658b1e939" providerId="LiveId" clId="{697706F3-9669-45F5-96AA-6BD4573B80D9}" dt="2025-09-04T17:14:26.186" v="277" actId="47"/>
        <pc:sldMkLst>
          <pc:docMk/>
          <pc:sldMk cId="3657816670" sldId="284"/>
        </pc:sldMkLst>
        <pc:spChg chg="add del mod">
          <ac:chgData name="Rwitoban Das" userId="1f63175658b1e939" providerId="LiveId" clId="{697706F3-9669-45F5-96AA-6BD4573B80D9}" dt="2025-09-04T17:12:48.488" v="276" actId="478"/>
          <ac:spMkLst>
            <pc:docMk/>
            <pc:sldMk cId="3657816670" sldId="284"/>
            <ac:spMk id="2" creationId="{C7898B6E-D831-9421-ADC0-EA7999AA45D0}"/>
          </ac:spMkLst>
        </pc:spChg>
        <pc:spChg chg="add del">
          <ac:chgData name="Rwitoban Das" userId="1f63175658b1e939" providerId="LiveId" clId="{697706F3-9669-45F5-96AA-6BD4573B80D9}" dt="2025-09-04T16:45:10.408" v="39" actId="478"/>
          <ac:spMkLst>
            <pc:docMk/>
            <pc:sldMk cId="3657816670" sldId="284"/>
            <ac:spMk id="12" creationId="{CD091710-7342-5289-5726-8AC44A845111}"/>
          </ac:spMkLst>
        </pc:spChg>
        <pc:spChg chg="del mod">
          <ac:chgData name="Rwitoban Das" userId="1f63175658b1e939" providerId="LiveId" clId="{697706F3-9669-45F5-96AA-6BD4573B80D9}" dt="2025-09-04T16:44:14.241" v="36" actId="478"/>
          <ac:spMkLst>
            <pc:docMk/>
            <pc:sldMk cId="3657816670" sldId="284"/>
            <ac:spMk id="32" creationId="{14924ABC-B934-552E-1FE1-E2DE76DD2D67}"/>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srccom-my.sharepoint.com/personal/24bc525_srcc_edu/Documents/Adani%20Green%20DCF.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srccom-my.sharepoint.com/personal/24bc525_srcc_edu/Documents/Adani%20Green%20DCF.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srccom-my.sharepoint.com/personal/24bc525_srcc_edu/Documents/Adani%20Green%20DCF.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srccom-my.sharepoint.com/personal/24bc525_srcc_edu/Documents/Adani%20Green%20DCF.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nkmn\Downloads\Tornado-Chart-in-Excel.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solidFill>
                  <a:srgbClr val="006600"/>
                </a:solidFill>
              </a:rPr>
              <a:t>Public Shareholding Trend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areaChart>
        <c:grouping val="standard"/>
        <c:varyColors val="0"/>
        <c:ser>
          <c:idx val="0"/>
          <c:order val="0"/>
          <c:spPr>
            <a:solidFill>
              <a:srgbClr val="187C2C"/>
            </a:solidFill>
            <a:ln>
              <a:noFill/>
            </a:ln>
            <a:effectLst/>
          </c:spPr>
          <c:dLbls>
            <c:dLbl>
              <c:idx val="0"/>
              <c:layout>
                <c:manualLayout>
                  <c:x val="7.9294318031403049E-3"/>
                  <c:y val="-0.1749055922964415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6AF-495A-B0CB-496E62B5A787}"/>
                </c:ext>
              </c:extLst>
            </c:dLbl>
            <c:dLbl>
              <c:idx val="1"/>
              <c:layout>
                <c:manualLayout>
                  <c:x val="-2.7753011310991067E-2"/>
                  <c:y val="-0.1539169212208685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6AF-495A-B0CB-496E62B5A787}"/>
                </c:ext>
              </c:extLst>
            </c:dLbl>
            <c:dLbl>
              <c:idx val="2"/>
              <c:layout>
                <c:manualLayout>
                  <c:x val="0"/>
                  <c:y val="-0.3148300661335949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6AF-495A-B0CB-496E62B5A787}"/>
                </c:ext>
              </c:extLst>
            </c:dLbl>
            <c:dLbl>
              <c:idx val="3"/>
              <c:layout>
                <c:manualLayout>
                  <c:x val="-7.9294318031404507E-3"/>
                  <c:y val="-0.3148300661335948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6AF-495A-B0CB-496E62B5A787}"/>
                </c:ext>
              </c:extLst>
            </c:dLbl>
            <c:dLbl>
              <c:idx val="4"/>
              <c:layout>
                <c:manualLayout>
                  <c:x val="0"/>
                  <c:y val="-0.3358187372091678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6AF-495A-B0CB-496E62B5A787}"/>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Sheet1!$C$6:$G$6</c:f>
              <c:numCache>
                <c:formatCode>0.00%</c:formatCode>
                <c:ptCount val="5"/>
                <c:pt idx="0">
                  <c:v>0.21940000000000001</c:v>
                </c:pt>
                <c:pt idx="1">
                  <c:v>0.21410000000000001</c:v>
                </c:pt>
                <c:pt idx="2">
                  <c:v>0.24160000000000001</c:v>
                </c:pt>
                <c:pt idx="3">
                  <c:v>0.23930000000000001</c:v>
                </c:pt>
                <c:pt idx="4">
                  <c:v>0.2422</c:v>
                </c:pt>
              </c:numCache>
            </c:numRef>
          </c:val>
          <c:extLst>
            <c:ext xmlns:c16="http://schemas.microsoft.com/office/drawing/2014/chart" uri="{C3380CC4-5D6E-409C-BE32-E72D297353CC}">
              <c16:uniqueId val="{00000000-A1A6-477F-AB83-7D5AD0C14829}"/>
            </c:ext>
          </c:extLst>
        </c:ser>
        <c:dLbls>
          <c:showLegendKey val="0"/>
          <c:showVal val="1"/>
          <c:showCatName val="0"/>
          <c:showSerName val="0"/>
          <c:showPercent val="0"/>
          <c:showBubbleSize val="0"/>
        </c:dLbls>
        <c:axId val="1377984520"/>
        <c:axId val="1377986568"/>
      </c:areaChart>
      <c:catAx>
        <c:axId val="1377984520"/>
        <c:scaling>
          <c:orientation val="minMax"/>
        </c:scaling>
        <c:delete val="1"/>
        <c:axPos val="b"/>
        <c:majorTickMark val="none"/>
        <c:minorTickMark val="none"/>
        <c:tickLblPos val="nextTo"/>
        <c:crossAx val="1377986568"/>
        <c:crosses val="autoZero"/>
        <c:auto val="1"/>
        <c:lblAlgn val="ctr"/>
        <c:lblOffset val="100"/>
        <c:noMultiLvlLbl val="0"/>
      </c:catAx>
      <c:valAx>
        <c:axId val="1377986568"/>
        <c:scaling>
          <c:orientation val="minMax"/>
        </c:scaling>
        <c:delete val="1"/>
        <c:axPos val="l"/>
        <c:numFmt formatCode="0.00%" sourceLinked="1"/>
        <c:majorTickMark val="none"/>
        <c:minorTickMark val="none"/>
        <c:tickLblPos val="nextTo"/>
        <c:crossAx val="1377984520"/>
        <c:crosses val="autoZero"/>
        <c:crossBetween val="midCat"/>
      </c:valAx>
      <c:spPr>
        <a:noFill/>
        <a:ln>
          <a:noFill/>
        </a:ln>
        <a:effectLst/>
      </c:spPr>
    </c:plotArea>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solidFill>
                  <a:srgbClr val="006600"/>
                </a:solidFill>
              </a:rPr>
              <a:t>DIIs Holding Trend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cked"/>
        <c:varyColors val="0"/>
        <c:ser>
          <c:idx val="0"/>
          <c:order val="0"/>
          <c:spPr>
            <a:ln w="28575" cap="rnd">
              <a:solidFill>
                <a:srgbClr val="187C2C"/>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Sheet1!$C$5:$G$5</c:f>
              <c:numCache>
                <c:formatCode>0.00%</c:formatCode>
                <c:ptCount val="5"/>
                <c:pt idx="0">
                  <c:v>3.0000000000000001E-3</c:v>
                </c:pt>
                <c:pt idx="1">
                  <c:v>7.9000000000000008E-3</c:v>
                </c:pt>
                <c:pt idx="2">
                  <c:v>1.4500000000000001E-2</c:v>
                </c:pt>
                <c:pt idx="3">
                  <c:v>1.55E-2</c:v>
                </c:pt>
                <c:pt idx="4">
                  <c:v>2.4E-2</c:v>
                </c:pt>
              </c:numCache>
            </c:numRef>
          </c:val>
          <c:smooth val="0"/>
          <c:extLst>
            <c:ext xmlns:c16="http://schemas.microsoft.com/office/drawing/2014/chart" uri="{C3380CC4-5D6E-409C-BE32-E72D297353CC}">
              <c16:uniqueId val="{00000000-E30E-4E38-A14F-49D568C80779}"/>
            </c:ext>
          </c:extLst>
        </c:ser>
        <c:dLbls>
          <c:dLblPos val="t"/>
          <c:showLegendKey val="0"/>
          <c:showVal val="1"/>
          <c:showCatName val="0"/>
          <c:showSerName val="0"/>
          <c:showPercent val="0"/>
          <c:showBubbleSize val="0"/>
        </c:dLbls>
        <c:smooth val="0"/>
        <c:axId val="1192268296"/>
        <c:axId val="1192270344"/>
      </c:lineChart>
      <c:catAx>
        <c:axId val="1192268296"/>
        <c:scaling>
          <c:orientation val="minMax"/>
        </c:scaling>
        <c:delete val="1"/>
        <c:axPos val="b"/>
        <c:majorTickMark val="none"/>
        <c:minorTickMark val="none"/>
        <c:tickLblPos val="nextTo"/>
        <c:crossAx val="1192270344"/>
        <c:crosses val="autoZero"/>
        <c:auto val="1"/>
        <c:lblAlgn val="ctr"/>
        <c:lblOffset val="100"/>
        <c:noMultiLvlLbl val="0"/>
      </c:catAx>
      <c:valAx>
        <c:axId val="1192270344"/>
        <c:scaling>
          <c:orientation val="minMax"/>
        </c:scaling>
        <c:delete val="1"/>
        <c:axPos val="l"/>
        <c:numFmt formatCode="0.00%" sourceLinked="1"/>
        <c:majorTickMark val="none"/>
        <c:minorTickMark val="none"/>
        <c:tickLblPos val="nextTo"/>
        <c:crossAx val="1192268296"/>
        <c:crosses val="autoZero"/>
        <c:crossBetween val="between"/>
      </c:valAx>
      <c:spPr>
        <a:noFill/>
        <a:ln>
          <a:noFill/>
        </a:ln>
        <a:effectLst/>
      </c:spPr>
    </c:plotArea>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006600"/>
                </a:solidFill>
                <a:latin typeface="+mn-lt"/>
                <a:ea typeface="+mn-ea"/>
                <a:cs typeface="+mn-cs"/>
              </a:defRPr>
            </a:pPr>
            <a:r>
              <a:rPr lang="en-US" sz="1400" b="1" dirty="0">
                <a:solidFill>
                  <a:srgbClr val="006600"/>
                </a:solidFill>
              </a:rPr>
              <a:t>FIIs Holding Pattern (%)</a:t>
            </a:r>
          </a:p>
        </c:rich>
      </c:tx>
      <c:layout>
        <c:manualLayout>
          <c:xMode val="edge"/>
          <c:yMode val="edge"/>
          <c:x val="0.20409491818337508"/>
          <c:y val="3.201881395253853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rgbClr val="006600"/>
              </a:solidFill>
              <a:latin typeface="+mn-lt"/>
              <a:ea typeface="+mn-ea"/>
              <a:cs typeface="+mn-cs"/>
            </a:defRPr>
          </a:pPr>
          <a:endParaRPr lang="en-US"/>
        </a:p>
      </c:txPr>
    </c:title>
    <c:autoTitleDeleted val="0"/>
    <c:plotArea>
      <c:layout>
        <c:manualLayout>
          <c:layoutTarget val="inner"/>
          <c:xMode val="edge"/>
          <c:yMode val="edge"/>
          <c:x val="5.3551874283163887E-2"/>
          <c:y val="0.30484882378622669"/>
          <c:w val="0.90937375121310726"/>
          <c:h val="0.69451696890703263"/>
        </c:manualLayout>
      </c:layout>
      <c:lineChart>
        <c:grouping val="stacked"/>
        <c:varyColors val="0"/>
        <c:ser>
          <c:idx val="0"/>
          <c:order val="0"/>
          <c:spPr>
            <a:ln w="28575" cap="rnd">
              <a:solidFill>
                <a:srgbClr val="187C2C"/>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'Shareholding Pattern'!$C$4:$G$4</c:f>
              <c:numCache>
                <c:formatCode>0.00%</c:formatCode>
                <c:ptCount val="5"/>
                <c:pt idx="0">
                  <c:v>0.2147</c:v>
                </c:pt>
                <c:pt idx="1">
                  <c:v>0.1653</c:v>
                </c:pt>
                <c:pt idx="2">
                  <c:v>0.17130000000000001</c:v>
                </c:pt>
                <c:pt idx="3">
                  <c:v>0.18149999999999999</c:v>
                </c:pt>
                <c:pt idx="4">
                  <c:v>0.1245</c:v>
                </c:pt>
              </c:numCache>
            </c:numRef>
          </c:val>
          <c:smooth val="0"/>
          <c:extLst>
            <c:ext xmlns:c16="http://schemas.microsoft.com/office/drawing/2014/chart" uri="{C3380CC4-5D6E-409C-BE32-E72D297353CC}">
              <c16:uniqueId val="{00000000-135D-43DE-BD60-A7FA5AD03C21}"/>
            </c:ext>
          </c:extLst>
        </c:ser>
        <c:dLbls>
          <c:dLblPos val="t"/>
          <c:showLegendKey val="0"/>
          <c:showVal val="1"/>
          <c:showCatName val="0"/>
          <c:showSerName val="0"/>
          <c:showPercent val="0"/>
          <c:showBubbleSize val="0"/>
        </c:dLbls>
        <c:smooth val="0"/>
        <c:axId val="1533975048"/>
        <c:axId val="1665125896"/>
      </c:lineChart>
      <c:catAx>
        <c:axId val="1533975048"/>
        <c:scaling>
          <c:orientation val="minMax"/>
        </c:scaling>
        <c:delete val="1"/>
        <c:axPos val="b"/>
        <c:majorTickMark val="none"/>
        <c:minorTickMark val="none"/>
        <c:tickLblPos val="nextTo"/>
        <c:crossAx val="1665125896"/>
        <c:crosses val="autoZero"/>
        <c:auto val="1"/>
        <c:lblAlgn val="ctr"/>
        <c:lblOffset val="100"/>
        <c:noMultiLvlLbl val="0"/>
      </c:catAx>
      <c:valAx>
        <c:axId val="1665125896"/>
        <c:scaling>
          <c:orientation val="minMax"/>
        </c:scaling>
        <c:delete val="1"/>
        <c:axPos val="l"/>
        <c:numFmt formatCode="0.00%" sourceLinked="1"/>
        <c:majorTickMark val="none"/>
        <c:minorTickMark val="none"/>
        <c:tickLblPos val="nextTo"/>
        <c:crossAx val="1533975048"/>
        <c:crosses val="autoZero"/>
        <c:crossBetween val="between"/>
      </c:valAx>
      <c:spPr>
        <a:noFill/>
        <a:ln>
          <a:noFill/>
        </a:ln>
        <a:effectLst/>
      </c:spPr>
    </c:plotArea>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1" dirty="0">
                <a:solidFill>
                  <a:srgbClr val="006600"/>
                </a:solidFill>
              </a:rPr>
              <a:t>Shareholding Pattern 2025</a:t>
            </a:r>
          </a:p>
        </c:rich>
      </c:tx>
      <c:layout>
        <c:manualLayout>
          <c:xMode val="edge"/>
          <c:yMode val="edge"/>
          <c:x val="0.19853107344632767"/>
          <c:y val="2.6143790849673203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v/>
          </c:tx>
          <c:spPr>
            <a:solidFill>
              <a:srgbClr val="00B050"/>
            </a:solidFill>
            <a:ln w="25400">
              <a:noFill/>
            </a:ln>
          </c:spPr>
          <c:dPt>
            <c:idx val="0"/>
            <c:bubble3D val="0"/>
            <c:spPr>
              <a:solidFill>
                <a:srgbClr val="177C29"/>
              </a:solidFill>
              <a:ln w="25400">
                <a:noFill/>
              </a:ln>
              <a:effectLst/>
            </c:spPr>
            <c:extLst>
              <c:ext xmlns:c16="http://schemas.microsoft.com/office/drawing/2014/chart" uri="{C3380CC4-5D6E-409C-BE32-E72D297353CC}">
                <c16:uniqueId val="{00000001-65DA-435B-891C-C1B5A1227975}"/>
              </c:ext>
            </c:extLst>
          </c:dPt>
          <c:dPt>
            <c:idx val="1"/>
            <c:bubble3D val="0"/>
            <c:spPr>
              <a:solidFill>
                <a:schemeClr val="accent6">
                  <a:lumMod val="60000"/>
                  <a:lumOff val="40000"/>
                </a:schemeClr>
              </a:solidFill>
              <a:ln w="25400">
                <a:noFill/>
              </a:ln>
              <a:effectLst/>
            </c:spPr>
            <c:extLst>
              <c:ext xmlns:c16="http://schemas.microsoft.com/office/drawing/2014/chart" uri="{C3380CC4-5D6E-409C-BE32-E72D297353CC}">
                <c16:uniqueId val="{00000003-65DA-435B-891C-C1B5A1227975}"/>
              </c:ext>
            </c:extLst>
          </c:dPt>
          <c:dPt>
            <c:idx val="2"/>
            <c:bubble3D val="0"/>
            <c:spPr>
              <a:solidFill>
                <a:srgbClr val="006600"/>
              </a:solidFill>
              <a:ln w="25400">
                <a:noFill/>
              </a:ln>
              <a:effectLst/>
            </c:spPr>
            <c:extLst>
              <c:ext xmlns:c16="http://schemas.microsoft.com/office/drawing/2014/chart" uri="{C3380CC4-5D6E-409C-BE32-E72D297353CC}">
                <c16:uniqueId val="{00000005-65DA-435B-891C-C1B5A1227975}"/>
              </c:ext>
            </c:extLst>
          </c:dPt>
          <c:dPt>
            <c:idx val="3"/>
            <c:bubble3D val="0"/>
            <c:spPr>
              <a:solidFill>
                <a:srgbClr val="33CC33"/>
              </a:solidFill>
              <a:ln w="25400">
                <a:noFill/>
              </a:ln>
              <a:effectLst/>
            </c:spPr>
            <c:extLst>
              <c:ext xmlns:c16="http://schemas.microsoft.com/office/drawing/2014/chart" uri="{C3380CC4-5D6E-409C-BE32-E72D297353CC}">
                <c16:uniqueId val="{00000007-65DA-435B-891C-C1B5A1227975}"/>
              </c:ext>
            </c:extLst>
          </c:dPt>
          <c:val>
            <c:numRef>
              <c:f>Sheet1!$G$3:$G$6</c:f>
              <c:numCache>
                <c:formatCode>0.00%</c:formatCode>
                <c:ptCount val="4"/>
                <c:pt idx="0">
                  <c:v>0.60929999999999995</c:v>
                </c:pt>
                <c:pt idx="1">
                  <c:v>0.1245</c:v>
                </c:pt>
                <c:pt idx="2">
                  <c:v>2.4E-2</c:v>
                </c:pt>
                <c:pt idx="3">
                  <c:v>0.2422</c:v>
                </c:pt>
              </c:numCache>
            </c:numRef>
          </c:val>
          <c:extLst>
            <c:ext xmlns:c16="http://schemas.microsoft.com/office/drawing/2014/chart" uri="{C3380CC4-5D6E-409C-BE32-E72D297353CC}">
              <c16:uniqueId val="{00000008-65DA-435B-891C-C1B5A1227975}"/>
            </c:ext>
          </c:extLst>
        </c:ser>
        <c:dLbls>
          <c:showLegendKey val="0"/>
          <c:showVal val="0"/>
          <c:showCatName val="0"/>
          <c:showSerName val="0"/>
          <c:showPercent val="0"/>
          <c:showBubbleSize val="0"/>
          <c:showLeaderLines val="1"/>
        </c:dLbls>
        <c:firstSliceAng val="0"/>
        <c:holeSize val="50"/>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649825021872267"/>
          <c:y val="2.7777777777777776E-2"/>
          <c:w val="0.76794619422572175"/>
          <c:h val="0.84222149314669004"/>
        </c:manualLayout>
      </c:layout>
      <c:barChart>
        <c:barDir val="bar"/>
        <c:grouping val="stacked"/>
        <c:varyColors val="0"/>
        <c:ser>
          <c:idx val="0"/>
          <c:order val="0"/>
          <c:tx>
            <c:strRef>
              <c:f>Sheet1!$B$1</c:f>
              <c:strCache>
                <c:ptCount val="1"/>
                <c:pt idx="0">
                  <c:v>+10%</c:v>
                </c:pt>
              </c:strCache>
            </c:strRef>
          </c:tx>
          <c:spPr>
            <a:solidFill>
              <a:srgbClr val="00B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Growth Rate</c:v>
                </c:pt>
                <c:pt idx="1">
                  <c:v>Revenue</c:v>
                </c:pt>
                <c:pt idx="2">
                  <c:v>Discount Rate</c:v>
                </c:pt>
              </c:strCache>
            </c:strRef>
          </c:cat>
          <c:val>
            <c:numRef>
              <c:f>Sheet1!$B$2:$B$4</c:f>
              <c:numCache>
                <c:formatCode>General</c:formatCode>
                <c:ptCount val="3"/>
                <c:pt idx="0">
                  <c:v>1097</c:v>
                </c:pt>
                <c:pt idx="1">
                  <c:v>1226</c:v>
                </c:pt>
                <c:pt idx="2">
                  <c:v>2891</c:v>
                </c:pt>
              </c:numCache>
            </c:numRef>
          </c:val>
          <c:extLst>
            <c:ext xmlns:c16="http://schemas.microsoft.com/office/drawing/2014/chart" uri="{C3380CC4-5D6E-409C-BE32-E72D297353CC}">
              <c16:uniqueId val="{00000000-A9AE-4F47-9526-9F04B9708860}"/>
            </c:ext>
          </c:extLst>
        </c:ser>
        <c:dLbls>
          <c:showLegendKey val="0"/>
          <c:showVal val="0"/>
          <c:showCatName val="0"/>
          <c:showSerName val="0"/>
          <c:showPercent val="0"/>
          <c:showBubbleSize val="0"/>
        </c:dLbls>
        <c:gapWidth val="50"/>
        <c:overlap val="100"/>
        <c:axId val="383188384"/>
        <c:axId val="383190304"/>
      </c:barChart>
      <c:barChart>
        <c:barDir val="bar"/>
        <c:grouping val="stacked"/>
        <c:varyColors val="0"/>
        <c:ser>
          <c:idx val="1"/>
          <c:order val="1"/>
          <c:tx>
            <c:strRef>
              <c:f>Sheet1!$C$1</c:f>
              <c:strCache>
                <c:ptCount val="1"/>
                <c:pt idx="0">
                  <c:v>-10%</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Growth Rate</c:v>
                </c:pt>
                <c:pt idx="1">
                  <c:v>Revenue</c:v>
                </c:pt>
                <c:pt idx="2">
                  <c:v>Discount Rate</c:v>
                </c:pt>
              </c:strCache>
            </c:strRef>
          </c:cat>
          <c:val>
            <c:numRef>
              <c:f>Sheet1!$C$2:$C$4</c:f>
              <c:numCache>
                <c:formatCode>General</c:formatCode>
                <c:ptCount val="3"/>
                <c:pt idx="0">
                  <c:v>910</c:v>
                </c:pt>
                <c:pt idx="1">
                  <c:v>1480</c:v>
                </c:pt>
                <c:pt idx="2">
                  <c:v>2693</c:v>
                </c:pt>
              </c:numCache>
            </c:numRef>
          </c:val>
          <c:extLst>
            <c:ext xmlns:c16="http://schemas.microsoft.com/office/drawing/2014/chart" uri="{C3380CC4-5D6E-409C-BE32-E72D297353CC}">
              <c16:uniqueId val="{00000001-A9AE-4F47-9526-9F04B9708860}"/>
            </c:ext>
          </c:extLst>
        </c:ser>
        <c:dLbls>
          <c:showLegendKey val="0"/>
          <c:showVal val="0"/>
          <c:showCatName val="0"/>
          <c:showSerName val="0"/>
          <c:showPercent val="0"/>
          <c:showBubbleSize val="0"/>
        </c:dLbls>
        <c:gapWidth val="50"/>
        <c:overlap val="100"/>
        <c:axId val="132288736"/>
        <c:axId val="1939475840"/>
      </c:barChart>
      <c:catAx>
        <c:axId val="383188384"/>
        <c:scaling>
          <c:orientation val="minMax"/>
        </c:scaling>
        <c:delete val="0"/>
        <c:axPos val="l"/>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83190304"/>
        <c:crosses val="autoZero"/>
        <c:auto val="1"/>
        <c:lblAlgn val="ctr"/>
        <c:lblOffset val="100"/>
        <c:noMultiLvlLbl val="0"/>
      </c:catAx>
      <c:valAx>
        <c:axId val="383190304"/>
        <c:scaling>
          <c:orientation val="minMax"/>
          <c:min val="-4000"/>
        </c:scaling>
        <c:delete val="0"/>
        <c:axPos val="b"/>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83188384"/>
        <c:crosses val="autoZero"/>
        <c:crossBetween val="between"/>
      </c:valAx>
      <c:valAx>
        <c:axId val="1939475840"/>
        <c:scaling>
          <c:orientation val="maxMin"/>
          <c:max val="4000"/>
          <c:min val="-4000"/>
        </c:scaling>
        <c:delete val="0"/>
        <c:axPos val="t"/>
        <c:numFmt formatCode="General" sourceLinked="1"/>
        <c:majorTickMark val="out"/>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288736"/>
        <c:crosses val="max"/>
        <c:crossBetween val="between"/>
      </c:valAx>
      <c:catAx>
        <c:axId val="132288736"/>
        <c:scaling>
          <c:orientation val="minMax"/>
        </c:scaling>
        <c:delete val="1"/>
        <c:axPos val="r"/>
        <c:numFmt formatCode="General" sourceLinked="1"/>
        <c:majorTickMark val="out"/>
        <c:minorTickMark val="none"/>
        <c:tickLblPos val="nextTo"/>
        <c:crossAx val="193947584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66487" y="1496484"/>
            <a:ext cx="5286851" cy="3183467"/>
          </a:xfrm>
        </p:spPr>
        <p:txBody>
          <a:bodyPr anchor="b"/>
          <a:lstStyle>
            <a:lvl1pPr algn="ctr">
              <a:defRPr sz="4081"/>
            </a:lvl1pPr>
          </a:lstStyle>
          <a:p>
            <a:r>
              <a:rPr lang="en-US"/>
              <a:t>Click to edit Master title style</a:t>
            </a:r>
          </a:p>
        </p:txBody>
      </p:sp>
      <p:sp>
        <p:nvSpPr>
          <p:cNvPr id="3" name="Subtitle 2"/>
          <p:cNvSpPr>
            <a:spLocks noGrp="1"/>
          </p:cNvSpPr>
          <p:nvPr>
            <p:ph type="subTitle" idx="1"/>
          </p:nvPr>
        </p:nvSpPr>
        <p:spPr>
          <a:xfrm>
            <a:off x="777478" y="4802717"/>
            <a:ext cx="4664869" cy="2207683"/>
          </a:xfrm>
        </p:spPr>
        <p:txBody>
          <a:bodyPr/>
          <a:lstStyle>
            <a:lvl1pPr marL="0" indent="0" algn="ctr">
              <a:buNone/>
              <a:defRPr sz="1632"/>
            </a:lvl1pPr>
            <a:lvl2pPr marL="310987" indent="0" algn="ctr">
              <a:buNone/>
              <a:defRPr sz="1360"/>
            </a:lvl2pPr>
            <a:lvl3pPr marL="621975" indent="0" algn="ctr">
              <a:buNone/>
              <a:defRPr sz="1224"/>
            </a:lvl3pPr>
            <a:lvl4pPr marL="932962" indent="0" algn="ctr">
              <a:buNone/>
              <a:defRPr sz="1088"/>
            </a:lvl4pPr>
            <a:lvl5pPr marL="1243950" indent="0" algn="ctr">
              <a:buNone/>
              <a:defRPr sz="1088"/>
            </a:lvl5pPr>
            <a:lvl6pPr marL="1554937" indent="0" algn="ctr">
              <a:buNone/>
              <a:defRPr sz="1088"/>
            </a:lvl6pPr>
            <a:lvl7pPr marL="1865925" indent="0" algn="ctr">
              <a:buNone/>
              <a:defRPr sz="1088"/>
            </a:lvl7pPr>
            <a:lvl8pPr marL="2176912" indent="0" algn="ctr">
              <a:buNone/>
              <a:defRPr sz="1088"/>
            </a:lvl8pPr>
            <a:lvl9pPr marL="2487900" indent="0" algn="ctr">
              <a:buNone/>
              <a:defRPr sz="1088"/>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33599445"/>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43535407"/>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24374" y="2279653"/>
            <a:ext cx="5364599" cy="3803649"/>
          </a:xfrm>
        </p:spPr>
        <p:txBody>
          <a:bodyPr anchor="b"/>
          <a:lstStyle>
            <a:lvl1pPr>
              <a:defRPr sz="4081"/>
            </a:lvl1pPr>
          </a:lstStyle>
          <a:p>
            <a:r>
              <a:rPr lang="en-US"/>
              <a:t>Click to edit Master title style</a:t>
            </a:r>
          </a:p>
        </p:txBody>
      </p:sp>
      <p:sp>
        <p:nvSpPr>
          <p:cNvPr id="3" name="Text Placeholder 2"/>
          <p:cNvSpPr>
            <a:spLocks noGrp="1"/>
          </p:cNvSpPr>
          <p:nvPr>
            <p:ph type="body" idx="1"/>
          </p:nvPr>
        </p:nvSpPr>
        <p:spPr>
          <a:xfrm>
            <a:off x="424374" y="6119286"/>
            <a:ext cx="5364599" cy="2000249"/>
          </a:xfrm>
        </p:spPr>
        <p:txBody>
          <a:bodyPr/>
          <a:lstStyle>
            <a:lvl1pPr marL="0" indent="0">
              <a:buNone/>
              <a:defRPr sz="1632">
                <a:solidFill>
                  <a:schemeClr val="tx1"/>
                </a:solidFill>
              </a:defRPr>
            </a:lvl1pPr>
            <a:lvl2pPr marL="310987" indent="0">
              <a:buNone/>
              <a:defRPr sz="1360">
                <a:solidFill>
                  <a:schemeClr val="tx1">
                    <a:tint val="75000"/>
                  </a:schemeClr>
                </a:solidFill>
              </a:defRPr>
            </a:lvl2pPr>
            <a:lvl3pPr marL="621975" indent="0">
              <a:buNone/>
              <a:defRPr sz="1224">
                <a:solidFill>
                  <a:schemeClr val="tx1">
                    <a:tint val="75000"/>
                  </a:schemeClr>
                </a:solidFill>
              </a:defRPr>
            </a:lvl3pPr>
            <a:lvl4pPr marL="932962" indent="0">
              <a:buNone/>
              <a:defRPr sz="1088">
                <a:solidFill>
                  <a:schemeClr val="tx1">
                    <a:tint val="75000"/>
                  </a:schemeClr>
                </a:solidFill>
              </a:defRPr>
            </a:lvl4pPr>
            <a:lvl5pPr marL="1243950" indent="0">
              <a:buNone/>
              <a:defRPr sz="1088">
                <a:solidFill>
                  <a:schemeClr val="tx1">
                    <a:tint val="75000"/>
                  </a:schemeClr>
                </a:solidFill>
              </a:defRPr>
            </a:lvl5pPr>
            <a:lvl6pPr marL="1554937" indent="0">
              <a:buNone/>
              <a:defRPr sz="1088">
                <a:solidFill>
                  <a:schemeClr val="tx1">
                    <a:tint val="75000"/>
                  </a:schemeClr>
                </a:solidFill>
              </a:defRPr>
            </a:lvl6pPr>
            <a:lvl7pPr marL="1865925" indent="0">
              <a:buNone/>
              <a:defRPr sz="1088">
                <a:solidFill>
                  <a:schemeClr val="tx1">
                    <a:tint val="75000"/>
                  </a:schemeClr>
                </a:solidFill>
              </a:defRPr>
            </a:lvl7pPr>
            <a:lvl8pPr marL="2176912" indent="0">
              <a:buNone/>
              <a:defRPr sz="1088">
                <a:solidFill>
                  <a:schemeClr val="tx1">
                    <a:tint val="75000"/>
                  </a:schemeClr>
                </a:solidFill>
              </a:defRPr>
            </a:lvl8pPr>
            <a:lvl9pPr marL="2487900" indent="0">
              <a:buNone/>
              <a:defRPr sz="108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67862818"/>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27613" y="2434167"/>
            <a:ext cx="2643426"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148786" y="2434167"/>
            <a:ext cx="2643426"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06731720"/>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28423" y="486836"/>
            <a:ext cx="5364599" cy="1767417"/>
          </a:xfrm>
        </p:spPr>
        <p:txBody>
          <a:bodyPr/>
          <a:lstStyle/>
          <a:p>
            <a:r>
              <a:rPr lang="en-US"/>
              <a:t>Click to edit Master title style</a:t>
            </a:r>
          </a:p>
        </p:txBody>
      </p:sp>
      <p:sp>
        <p:nvSpPr>
          <p:cNvPr id="3" name="Text Placeholder 2"/>
          <p:cNvSpPr>
            <a:spLocks noGrp="1"/>
          </p:cNvSpPr>
          <p:nvPr>
            <p:ph type="body" idx="1"/>
          </p:nvPr>
        </p:nvSpPr>
        <p:spPr>
          <a:xfrm>
            <a:off x="428424" y="2241551"/>
            <a:ext cx="2631277" cy="1098549"/>
          </a:xfrm>
        </p:spPr>
        <p:txBody>
          <a:bodyPr anchor="b"/>
          <a:lstStyle>
            <a:lvl1pPr marL="0" indent="0">
              <a:buNone/>
              <a:defRPr sz="1632" b="1"/>
            </a:lvl1pPr>
            <a:lvl2pPr marL="310987" indent="0">
              <a:buNone/>
              <a:defRPr sz="1360" b="1"/>
            </a:lvl2pPr>
            <a:lvl3pPr marL="621975" indent="0">
              <a:buNone/>
              <a:defRPr sz="1224" b="1"/>
            </a:lvl3pPr>
            <a:lvl4pPr marL="932962" indent="0">
              <a:buNone/>
              <a:defRPr sz="1088" b="1"/>
            </a:lvl4pPr>
            <a:lvl5pPr marL="1243950" indent="0">
              <a:buNone/>
              <a:defRPr sz="1088" b="1"/>
            </a:lvl5pPr>
            <a:lvl6pPr marL="1554937" indent="0">
              <a:buNone/>
              <a:defRPr sz="1088" b="1"/>
            </a:lvl6pPr>
            <a:lvl7pPr marL="1865925" indent="0">
              <a:buNone/>
              <a:defRPr sz="1088" b="1"/>
            </a:lvl7pPr>
            <a:lvl8pPr marL="2176912" indent="0">
              <a:buNone/>
              <a:defRPr sz="1088" b="1"/>
            </a:lvl8pPr>
            <a:lvl9pPr marL="2487900" indent="0">
              <a:buNone/>
              <a:defRPr sz="1088" b="1"/>
            </a:lvl9pPr>
          </a:lstStyle>
          <a:p>
            <a:pPr lvl="0"/>
            <a:r>
              <a:rPr lang="en-US"/>
              <a:t>Click to edit Master text styles</a:t>
            </a:r>
          </a:p>
        </p:txBody>
      </p:sp>
      <p:sp>
        <p:nvSpPr>
          <p:cNvPr id="4" name="Content Placeholder 3"/>
          <p:cNvSpPr>
            <a:spLocks noGrp="1"/>
          </p:cNvSpPr>
          <p:nvPr>
            <p:ph sz="half" idx="2"/>
          </p:nvPr>
        </p:nvSpPr>
        <p:spPr>
          <a:xfrm>
            <a:off x="428424" y="3340100"/>
            <a:ext cx="2631277"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148787" y="2241551"/>
            <a:ext cx="2644236" cy="1098549"/>
          </a:xfrm>
        </p:spPr>
        <p:txBody>
          <a:bodyPr anchor="b"/>
          <a:lstStyle>
            <a:lvl1pPr marL="0" indent="0">
              <a:buNone/>
              <a:defRPr sz="1632" b="1"/>
            </a:lvl1pPr>
            <a:lvl2pPr marL="310987" indent="0">
              <a:buNone/>
              <a:defRPr sz="1360" b="1"/>
            </a:lvl2pPr>
            <a:lvl3pPr marL="621975" indent="0">
              <a:buNone/>
              <a:defRPr sz="1224" b="1"/>
            </a:lvl3pPr>
            <a:lvl4pPr marL="932962" indent="0">
              <a:buNone/>
              <a:defRPr sz="1088" b="1"/>
            </a:lvl4pPr>
            <a:lvl5pPr marL="1243950" indent="0">
              <a:buNone/>
              <a:defRPr sz="1088" b="1"/>
            </a:lvl5pPr>
            <a:lvl6pPr marL="1554937" indent="0">
              <a:buNone/>
              <a:defRPr sz="1088" b="1"/>
            </a:lvl6pPr>
            <a:lvl7pPr marL="1865925" indent="0">
              <a:buNone/>
              <a:defRPr sz="1088" b="1"/>
            </a:lvl7pPr>
            <a:lvl8pPr marL="2176912" indent="0">
              <a:buNone/>
              <a:defRPr sz="1088" b="1"/>
            </a:lvl8pPr>
            <a:lvl9pPr marL="2487900" indent="0">
              <a:buNone/>
              <a:defRPr sz="1088" b="1"/>
            </a:lvl9pPr>
          </a:lstStyle>
          <a:p>
            <a:pPr lvl="0"/>
            <a:r>
              <a:rPr lang="en-US"/>
              <a:t>Click to edit Master text styles</a:t>
            </a:r>
          </a:p>
        </p:txBody>
      </p:sp>
      <p:sp>
        <p:nvSpPr>
          <p:cNvPr id="6" name="Content Placeholder 5"/>
          <p:cNvSpPr>
            <a:spLocks noGrp="1"/>
          </p:cNvSpPr>
          <p:nvPr>
            <p:ph sz="quarter" idx="4"/>
          </p:nvPr>
        </p:nvSpPr>
        <p:spPr>
          <a:xfrm>
            <a:off x="3148787" y="3340100"/>
            <a:ext cx="2644236"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9/4/2025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82186884"/>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9/4/2025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753980835"/>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9/4/2025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85873927"/>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28423" y="609600"/>
            <a:ext cx="2006055" cy="2133600"/>
          </a:xfrm>
        </p:spPr>
        <p:txBody>
          <a:bodyPr anchor="b"/>
          <a:lstStyle>
            <a:lvl1pPr>
              <a:defRPr sz="2177"/>
            </a:lvl1pPr>
          </a:lstStyle>
          <a:p>
            <a:r>
              <a:rPr lang="en-US"/>
              <a:t>Click to edit Master title style</a:t>
            </a:r>
          </a:p>
        </p:txBody>
      </p:sp>
      <p:sp>
        <p:nvSpPr>
          <p:cNvPr id="3" name="Content Placeholder 2"/>
          <p:cNvSpPr>
            <a:spLocks noGrp="1"/>
          </p:cNvSpPr>
          <p:nvPr>
            <p:ph idx="1"/>
          </p:nvPr>
        </p:nvSpPr>
        <p:spPr>
          <a:xfrm>
            <a:off x="2644236" y="1316569"/>
            <a:ext cx="3148786" cy="6498167"/>
          </a:xfrm>
        </p:spPr>
        <p:txBody>
          <a:bodyPr/>
          <a:lstStyle>
            <a:lvl1pPr>
              <a:defRPr sz="2177"/>
            </a:lvl1pPr>
            <a:lvl2pPr>
              <a:defRPr sz="1905"/>
            </a:lvl2pPr>
            <a:lvl3pPr>
              <a:defRPr sz="1632"/>
            </a:lvl3pPr>
            <a:lvl4pPr>
              <a:defRPr sz="1360"/>
            </a:lvl4pPr>
            <a:lvl5pPr>
              <a:defRPr sz="1360"/>
            </a:lvl5pPr>
            <a:lvl6pPr>
              <a:defRPr sz="1360"/>
            </a:lvl6pPr>
            <a:lvl7pPr>
              <a:defRPr sz="1360"/>
            </a:lvl7pPr>
            <a:lvl8pPr>
              <a:defRPr sz="1360"/>
            </a:lvl8pPr>
            <a:lvl9pPr>
              <a:defRPr sz="13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28423" y="2743200"/>
            <a:ext cx="2006055" cy="5082117"/>
          </a:xfrm>
        </p:spPr>
        <p:txBody>
          <a:bodyPr/>
          <a:lstStyle>
            <a:lvl1pPr marL="0" indent="0">
              <a:buNone/>
              <a:defRPr sz="1088"/>
            </a:lvl1pPr>
            <a:lvl2pPr marL="310987" indent="0">
              <a:buNone/>
              <a:defRPr sz="952"/>
            </a:lvl2pPr>
            <a:lvl3pPr marL="621975" indent="0">
              <a:buNone/>
              <a:defRPr sz="816"/>
            </a:lvl3pPr>
            <a:lvl4pPr marL="932962" indent="0">
              <a:buNone/>
              <a:defRPr sz="680"/>
            </a:lvl4pPr>
            <a:lvl5pPr marL="1243950" indent="0">
              <a:buNone/>
              <a:defRPr sz="680"/>
            </a:lvl5pPr>
            <a:lvl6pPr marL="1554937" indent="0">
              <a:buNone/>
              <a:defRPr sz="680"/>
            </a:lvl6pPr>
            <a:lvl7pPr marL="1865925" indent="0">
              <a:buNone/>
              <a:defRPr sz="680"/>
            </a:lvl7pPr>
            <a:lvl8pPr marL="2176912" indent="0">
              <a:buNone/>
              <a:defRPr sz="680"/>
            </a:lvl8pPr>
            <a:lvl9pPr marL="2487900" indent="0">
              <a:buNone/>
              <a:defRPr sz="68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33867260"/>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28423" y="609600"/>
            <a:ext cx="2006055" cy="2133600"/>
          </a:xfrm>
        </p:spPr>
        <p:txBody>
          <a:bodyPr anchor="b"/>
          <a:lstStyle>
            <a:lvl1pPr>
              <a:defRPr sz="2177"/>
            </a:lvl1pPr>
          </a:lstStyle>
          <a:p>
            <a:r>
              <a:rPr lang="en-US"/>
              <a:t>Click to edit Master title style</a:t>
            </a:r>
          </a:p>
        </p:txBody>
      </p:sp>
      <p:sp>
        <p:nvSpPr>
          <p:cNvPr id="3" name="Picture Placeholder 2"/>
          <p:cNvSpPr>
            <a:spLocks noGrp="1" noChangeAspect="1"/>
          </p:cNvSpPr>
          <p:nvPr>
            <p:ph type="pic" idx="1"/>
          </p:nvPr>
        </p:nvSpPr>
        <p:spPr>
          <a:xfrm>
            <a:off x="2644236" y="1316569"/>
            <a:ext cx="3148786" cy="6498167"/>
          </a:xfrm>
        </p:spPr>
        <p:txBody>
          <a:bodyPr anchor="t"/>
          <a:lstStyle>
            <a:lvl1pPr marL="0" indent="0">
              <a:buNone/>
              <a:defRPr sz="2177"/>
            </a:lvl1pPr>
            <a:lvl2pPr marL="310987" indent="0">
              <a:buNone/>
              <a:defRPr sz="1905"/>
            </a:lvl2pPr>
            <a:lvl3pPr marL="621975" indent="0">
              <a:buNone/>
              <a:defRPr sz="1632"/>
            </a:lvl3pPr>
            <a:lvl4pPr marL="932962" indent="0">
              <a:buNone/>
              <a:defRPr sz="1360"/>
            </a:lvl4pPr>
            <a:lvl5pPr marL="1243950" indent="0">
              <a:buNone/>
              <a:defRPr sz="1360"/>
            </a:lvl5pPr>
            <a:lvl6pPr marL="1554937" indent="0">
              <a:buNone/>
              <a:defRPr sz="1360"/>
            </a:lvl6pPr>
            <a:lvl7pPr marL="1865925" indent="0">
              <a:buNone/>
              <a:defRPr sz="1360"/>
            </a:lvl7pPr>
            <a:lvl8pPr marL="2176912" indent="0">
              <a:buNone/>
              <a:defRPr sz="1360"/>
            </a:lvl8pPr>
            <a:lvl9pPr marL="2487900" indent="0">
              <a:buNone/>
              <a:defRPr sz="1360"/>
            </a:lvl9pPr>
          </a:lstStyle>
          <a:p>
            <a:endParaRPr lang="en-US"/>
          </a:p>
        </p:txBody>
      </p:sp>
      <p:sp>
        <p:nvSpPr>
          <p:cNvPr id="4" name="Text Placeholder 3"/>
          <p:cNvSpPr>
            <a:spLocks noGrp="1"/>
          </p:cNvSpPr>
          <p:nvPr>
            <p:ph type="body" sz="half" idx="2"/>
          </p:nvPr>
        </p:nvSpPr>
        <p:spPr>
          <a:xfrm>
            <a:off x="428423" y="2743200"/>
            <a:ext cx="2006055" cy="5082117"/>
          </a:xfrm>
        </p:spPr>
        <p:txBody>
          <a:bodyPr/>
          <a:lstStyle>
            <a:lvl1pPr marL="0" indent="0">
              <a:buNone/>
              <a:defRPr sz="1088"/>
            </a:lvl1pPr>
            <a:lvl2pPr marL="310987" indent="0">
              <a:buNone/>
              <a:defRPr sz="952"/>
            </a:lvl2pPr>
            <a:lvl3pPr marL="621975" indent="0">
              <a:buNone/>
              <a:defRPr sz="816"/>
            </a:lvl3pPr>
            <a:lvl4pPr marL="932962" indent="0">
              <a:buNone/>
              <a:defRPr sz="680"/>
            </a:lvl4pPr>
            <a:lvl5pPr marL="1243950" indent="0">
              <a:buNone/>
              <a:defRPr sz="680"/>
            </a:lvl5pPr>
            <a:lvl6pPr marL="1554937" indent="0">
              <a:buNone/>
              <a:defRPr sz="680"/>
            </a:lvl6pPr>
            <a:lvl7pPr marL="1865925" indent="0">
              <a:buNone/>
              <a:defRPr sz="680"/>
            </a:lvl7pPr>
            <a:lvl8pPr marL="2176912" indent="0">
              <a:buNone/>
              <a:defRPr sz="680"/>
            </a:lvl8pPr>
            <a:lvl9pPr marL="2487900" indent="0">
              <a:buNone/>
              <a:defRPr sz="68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4313288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6330515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51062" y="486834"/>
            <a:ext cx="1341150" cy="77491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27614" y="486834"/>
            <a:ext cx="3945701"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00010948"/>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7613" y="486836"/>
            <a:ext cx="5364599" cy="176741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27613" y="2434167"/>
            <a:ext cx="5364599"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27613" y="8475136"/>
            <a:ext cx="1399461" cy="486833"/>
          </a:xfrm>
          <a:prstGeom prst="rect">
            <a:avLst/>
          </a:prstGeom>
        </p:spPr>
        <p:txBody>
          <a:bodyPr vert="horz" lIns="91440" tIns="45720" rIns="91440" bIns="45720" rtlCol="0" anchor="ctr"/>
          <a:lstStyle>
            <a:lvl1pPr algn="l">
              <a:defRPr sz="816">
                <a:solidFill>
                  <a:schemeClr val="tx1">
                    <a:tint val="75000"/>
                  </a:schemeClr>
                </a:solidFill>
              </a:defRPr>
            </a:lvl1pPr>
          </a:lstStyle>
          <a:p>
            <a:fld id="{C764DE79-268F-4C1A-8933-263129D2AF90}" type="datetimeFigureOut">
              <a:rPr lang="en-US" dirty="0"/>
              <a:t>9/4/2025</a:t>
            </a:fld>
            <a:endParaRPr lang="en-US"/>
          </a:p>
        </p:txBody>
      </p:sp>
      <p:sp>
        <p:nvSpPr>
          <p:cNvPr id="5" name="Footer Placeholder 4"/>
          <p:cNvSpPr>
            <a:spLocks noGrp="1"/>
          </p:cNvSpPr>
          <p:nvPr>
            <p:ph type="ftr" sz="quarter" idx="3"/>
          </p:nvPr>
        </p:nvSpPr>
        <p:spPr>
          <a:xfrm>
            <a:off x="2060317" y="8475136"/>
            <a:ext cx="2099191" cy="486833"/>
          </a:xfrm>
          <a:prstGeom prst="rect">
            <a:avLst/>
          </a:prstGeom>
        </p:spPr>
        <p:txBody>
          <a:bodyPr vert="horz" lIns="91440" tIns="45720" rIns="91440" bIns="45720" rtlCol="0" anchor="ctr"/>
          <a:lstStyle>
            <a:lvl1pPr algn="ctr">
              <a:defRPr sz="816">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92751" y="8475136"/>
            <a:ext cx="1399461" cy="486833"/>
          </a:xfrm>
          <a:prstGeom prst="rect">
            <a:avLst/>
          </a:prstGeom>
        </p:spPr>
        <p:txBody>
          <a:bodyPr vert="horz" lIns="91440" tIns="45720" rIns="91440" bIns="45720" rtlCol="0" anchor="ctr"/>
          <a:lstStyle>
            <a:lvl1pPr algn="r">
              <a:defRPr sz="816">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58760168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emf"/></Relationships>
</file>

<file path=ppt/slides/_rels/slide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en.wikipedia.org/wiki/Machilipatnam_railway_station" TargetMode="External"/><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dani Renewables - Global Alliance For Sustainable Energy">
            <a:extLst>
              <a:ext uri="{FF2B5EF4-FFF2-40B4-BE49-F238E27FC236}">
                <a16:creationId xmlns:a16="http://schemas.microsoft.com/office/drawing/2014/main" id="{E50622E9-6687-FD36-5525-E8251DDB5BFA}"/>
              </a:ext>
            </a:extLst>
          </p:cNvPr>
          <p:cNvPicPr>
            <a:picLocks noChangeAspect="1"/>
          </p:cNvPicPr>
          <p:nvPr/>
        </p:nvPicPr>
        <p:blipFill>
          <a:blip r:embed="rId2"/>
          <a:stretch>
            <a:fillRect/>
          </a:stretch>
        </p:blipFill>
        <p:spPr>
          <a:xfrm>
            <a:off x="5076000" y="0"/>
            <a:ext cx="1311468" cy="662728"/>
          </a:xfrm>
          <a:prstGeom prst="rect">
            <a:avLst/>
          </a:prstGeom>
        </p:spPr>
      </p:pic>
      <p:sp>
        <p:nvSpPr>
          <p:cNvPr id="9" name="TextBox 8">
            <a:extLst>
              <a:ext uri="{FF2B5EF4-FFF2-40B4-BE49-F238E27FC236}">
                <a16:creationId xmlns:a16="http://schemas.microsoft.com/office/drawing/2014/main" id="{0A1D862D-67F4-F340-33C1-E6F089FCBF8F}"/>
              </a:ext>
            </a:extLst>
          </p:cNvPr>
          <p:cNvSpPr txBox="1"/>
          <p:nvPr/>
        </p:nvSpPr>
        <p:spPr>
          <a:xfrm>
            <a:off x="3241429" y="1144998"/>
            <a:ext cx="2876400" cy="1569660"/>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sz="1200" b="1" dirty="0">
                <a:ea typeface="Calibri"/>
                <a:cs typeface="Calibri"/>
              </a:rPr>
              <a:t>Adani Green Energy Ltd. (AGEL)</a:t>
            </a:r>
            <a:r>
              <a:rPr lang="en-US" sz="1200" dirty="0">
                <a:ea typeface="Calibri"/>
                <a:cs typeface="Calibri"/>
              </a:rPr>
              <a:t>, part of the Adani Group, is India’s largest renewable energy company, operating across solar, wind, and hybrid segments. Headquartered in Ahmedabad and incorporated in 2015. </a:t>
            </a:r>
            <a:r>
              <a:rPr lang="en-US" sz="1200" dirty="0">
                <a:ea typeface="+mn-lt"/>
                <a:cs typeface="+mn-lt"/>
              </a:rPr>
              <a:t>AGEL has scaled its operational capacity to </a:t>
            </a:r>
            <a:r>
              <a:rPr lang="en-US" sz="1200" b="1" dirty="0">
                <a:ea typeface="+mn-lt"/>
                <a:cs typeface="+mn-lt"/>
              </a:rPr>
              <a:t>11.2 GW as of 2025</a:t>
            </a:r>
            <a:r>
              <a:rPr lang="en-US" sz="1200" dirty="0">
                <a:ea typeface="+mn-lt"/>
                <a:cs typeface="+mn-lt"/>
              </a:rPr>
              <a:t>, with a target of </a:t>
            </a:r>
            <a:r>
              <a:rPr lang="en-US" sz="1200" b="1" dirty="0">
                <a:ea typeface="+mn-lt"/>
                <a:cs typeface="+mn-lt"/>
              </a:rPr>
              <a:t>50 GW by 2030</a:t>
            </a:r>
            <a:r>
              <a:rPr lang="en-US" sz="1200" dirty="0">
                <a:ea typeface="+mn-lt"/>
                <a:cs typeface="+mn-lt"/>
              </a:rPr>
              <a:t>.</a:t>
            </a:r>
            <a:endParaRPr lang="en-US" sz="1200" dirty="0">
              <a:ea typeface="Calibri"/>
              <a:cs typeface="Calibri"/>
            </a:endParaRPr>
          </a:p>
        </p:txBody>
      </p:sp>
      <p:grpSp>
        <p:nvGrpSpPr>
          <p:cNvPr id="16" name="Group 15">
            <a:extLst>
              <a:ext uri="{FF2B5EF4-FFF2-40B4-BE49-F238E27FC236}">
                <a16:creationId xmlns:a16="http://schemas.microsoft.com/office/drawing/2014/main" id="{E9EE9653-B365-8359-6272-417E0F00F82A}"/>
              </a:ext>
            </a:extLst>
          </p:cNvPr>
          <p:cNvGrpSpPr/>
          <p:nvPr/>
        </p:nvGrpSpPr>
        <p:grpSpPr>
          <a:xfrm>
            <a:off x="3240000" y="2770936"/>
            <a:ext cx="2876400" cy="4763365"/>
            <a:chOff x="3205610" y="2846134"/>
            <a:chExt cx="2876400" cy="4708714"/>
          </a:xfrm>
        </p:grpSpPr>
        <p:sp>
          <p:nvSpPr>
            <p:cNvPr id="10" name="Rectangle 9">
              <a:extLst>
                <a:ext uri="{FF2B5EF4-FFF2-40B4-BE49-F238E27FC236}">
                  <a16:creationId xmlns:a16="http://schemas.microsoft.com/office/drawing/2014/main" id="{582108BD-D89A-B7CE-4D27-67E7030E2943}"/>
                </a:ext>
              </a:extLst>
            </p:cNvPr>
            <p:cNvSpPr/>
            <p:nvPr/>
          </p:nvSpPr>
          <p:spPr>
            <a:xfrm>
              <a:off x="3205610" y="2846134"/>
              <a:ext cx="2874960" cy="322965"/>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800" dirty="0">
                  <a:ea typeface="Calibri"/>
                  <a:cs typeface="Calibri"/>
                </a:rPr>
                <a:t>Business At a Glance</a:t>
              </a:r>
            </a:p>
          </p:txBody>
        </p:sp>
        <p:sp>
          <p:nvSpPr>
            <p:cNvPr id="11" name="TextBox 10">
              <a:extLst>
                <a:ext uri="{FF2B5EF4-FFF2-40B4-BE49-F238E27FC236}">
                  <a16:creationId xmlns:a16="http://schemas.microsoft.com/office/drawing/2014/main" id="{D91086C9-4565-FA82-3357-F74516BC56F8}"/>
                </a:ext>
              </a:extLst>
            </p:cNvPr>
            <p:cNvSpPr txBox="1"/>
            <p:nvPr/>
          </p:nvSpPr>
          <p:spPr>
            <a:xfrm>
              <a:off x="3205610" y="3215198"/>
              <a:ext cx="2876400" cy="4339650"/>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sz="1200" dirty="0">
                  <a:ea typeface="Calibri"/>
                  <a:cs typeface="Calibri"/>
                </a:rPr>
                <a:t>The company is a key player in India’s energy transition, backed by long-term PPAs, strong execution, and significant investments in </a:t>
              </a:r>
              <a:r>
                <a:rPr lang="en-US" sz="1200" b="1" dirty="0">
                  <a:ea typeface="Calibri"/>
                  <a:cs typeface="Calibri"/>
                </a:rPr>
                <a:t>energy storage</a:t>
              </a:r>
              <a:r>
                <a:rPr lang="en-US" sz="1200" dirty="0">
                  <a:ea typeface="Calibri"/>
                  <a:cs typeface="Calibri"/>
                </a:rPr>
                <a:t> and capacity expansion.</a:t>
              </a:r>
            </a:p>
            <a:p>
              <a:pPr algn="l"/>
              <a:endParaRPr lang="en-US" sz="1200" dirty="0">
                <a:ea typeface="Calibri"/>
                <a:cs typeface="Calibri"/>
              </a:endParaRPr>
            </a:p>
            <a:p>
              <a:pPr marL="171450" indent="-171450">
                <a:buFont typeface="Arial"/>
                <a:buChar char="•"/>
              </a:pPr>
              <a:r>
                <a:rPr lang="en-US" sz="1200" b="1" dirty="0">
                  <a:ea typeface="Calibri"/>
                  <a:cs typeface="Calibri"/>
                </a:rPr>
                <a:t>Generation of Energy:</a:t>
              </a:r>
              <a:r>
                <a:rPr lang="en-US" sz="1200" dirty="0">
                  <a:ea typeface="Calibri"/>
                  <a:cs typeface="Calibri"/>
                </a:rPr>
                <a:t> </a:t>
              </a:r>
              <a:r>
                <a:rPr lang="en-US" sz="1200" dirty="0">
                  <a:ea typeface="+mn-lt"/>
                  <a:cs typeface="+mn-lt"/>
                </a:rPr>
                <a:t>AGEL generates renewable power and supplies it to the Solar Energy Corporation of India (SECI).</a:t>
              </a:r>
            </a:p>
            <a:p>
              <a:pPr marL="171450" indent="-171450">
                <a:buFont typeface="Arial"/>
                <a:buChar char="•"/>
              </a:pPr>
              <a:endParaRPr lang="en-US" sz="1200" dirty="0">
                <a:ea typeface="+mn-lt"/>
                <a:cs typeface="+mn-lt"/>
              </a:endParaRPr>
            </a:p>
            <a:p>
              <a:pPr marL="171450" indent="-171450">
                <a:buFont typeface="Arial"/>
                <a:buChar char="•"/>
              </a:pPr>
              <a:r>
                <a:rPr lang="en-US" sz="1200" b="1" dirty="0">
                  <a:ea typeface="+mn-lt"/>
                  <a:cs typeface="+mn-lt"/>
                </a:rPr>
                <a:t>Supplying to SECI: </a:t>
              </a:r>
              <a:r>
                <a:rPr lang="en-US" sz="1200" dirty="0">
                  <a:ea typeface="+mn-lt"/>
                  <a:cs typeface="+mn-lt"/>
                </a:rPr>
                <a:t>SECI acts as an intermediary, selling the power to state distribution companies (DISCOMs) through long-term Power Purchase Agreements (PPAs).</a:t>
              </a:r>
            </a:p>
            <a:p>
              <a:pPr marL="171450" indent="-171450">
                <a:buFont typeface="Arial"/>
                <a:buChar char="•"/>
              </a:pPr>
              <a:endParaRPr lang="en-US" sz="1200" dirty="0">
                <a:ea typeface="+mn-lt"/>
                <a:cs typeface="+mn-lt"/>
              </a:endParaRPr>
            </a:p>
            <a:p>
              <a:pPr marL="171450" indent="-171450">
                <a:buFont typeface="Arial"/>
                <a:buChar char="•"/>
              </a:pPr>
              <a:r>
                <a:rPr lang="en-US" sz="1200" b="1" dirty="0">
                  <a:ea typeface="+mn-lt"/>
                  <a:cs typeface="+mn-lt"/>
                </a:rPr>
                <a:t>Supplying to Merchant and C&amp;I:</a:t>
              </a:r>
              <a:r>
                <a:rPr lang="en-US" sz="1200" dirty="0">
                  <a:ea typeface="+mn-lt"/>
                  <a:cs typeface="+mn-lt"/>
                </a:rPr>
                <a:t> AGEL aims to generate 25% of its energy sales from the merchant and Commercial &amp; Industrial (C&amp;I) segment by 2030, targeting higher margins through market-based pricing over fixed-tariff PPAs.</a:t>
              </a:r>
            </a:p>
          </p:txBody>
        </p:sp>
      </p:grpSp>
      <p:sp>
        <p:nvSpPr>
          <p:cNvPr id="4" name="Footer Placeholder 3">
            <a:extLst>
              <a:ext uri="{FF2B5EF4-FFF2-40B4-BE49-F238E27FC236}">
                <a16:creationId xmlns:a16="http://schemas.microsoft.com/office/drawing/2014/main" id="{3F2653A0-C015-6413-E3B4-036A8A726B04}"/>
              </a:ext>
            </a:extLst>
          </p:cNvPr>
          <p:cNvSpPr>
            <a:spLocks noGrp="1"/>
          </p:cNvSpPr>
          <p:nvPr>
            <p:ph type="ftr" sz="quarter" idx="11"/>
          </p:nvPr>
        </p:nvSpPr>
        <p:spPr>
          <a:xfrm>
            <a:off x="-7551" y="8832134"/>
            <a:ext cx="6234928" cy="324563"/>
          </a:xfrm>
        </p:spPr>
        <p:txBody>
          <a:bodyPr/>
          <a:lstStyle/>
          <a:p>
            <a:pPr algn="l"/>
            <a:r>
              <a:rPr lang="en-US" sz="800">
                <a:ea typeface="Calibri"/>
                <a:cs typeface="Calibri"/>
              </a:rPr>
              <a:t>Disclaimer: This is only for educational purposes and we are not SEBI registered.</a:t>
            </a:r>
          </a:p>
        </p:txBody>
      </p:sp>
      <p:sp>
        <p:nvSpPr>
          <p:cNvPr id="7" name="Slide Number Placeholder 6">
            <a:extLst>
              <a:ext uri="{FF2B5EF4-FFF2-40B4-BE49-F238E27FC236}">
                <a16:creationId xmlns:a16="http://schemas.microsoft.com/office/drawing/2014/main" id="{809815BB-97AE-A613-5477-A889136436D3}"/>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1</a:t>
            </a:fld>
            <a:endParaRPr lang="en-US"/>
          </a:p>
        </p:txBody>
      </p:sp>
      <p:sp>
        <p:nvSpPr>
          <p:cNvPr id="3" name="TextBox 2">
            <a:extLst>
              <a:ext uri="{FF2B5EF4-FFF2-40B4-BE49-F238E27FC236}">
                <a16:creationId xmlns:a16="http://schemas.microsoft.com/office/drawing/2014/main" id="{50AA2D57-B98A-26DA-A319-5C5CCE9C99B8}"/>
              </a:ext>
            </a:extLst>
          </p:cNvPr>
          <p:cNvSpPr txBox="1"/>
          <p:nvPr/>
        </p:nvSpPr>
        <p:spPr>
          <a:xfrm>
            <a:off x="99060" y="7629220"/>
            <a:ext cx="6029440" cy="1015663"/>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sz="1200" b="1" dirty="0">
                <a:ea typeface="+mn-lt"/>
                <a:cs typeface="+mn-lt"/>
              </a:rPr>
              <a:t>Carbon Credit</a:t>
            </a:r>
            <a:r>
              <a:rPr lang="en-US" sz="1200" dirty="0">
                <a:ea typeface="+mn-lt"/>
                <a:cs typeface="+mn-lt"/>
              </a:rPr>
              <a:t>: Although AGEL has not yet realized significant revenue from carbon credit sales, it remains a potential future revenue stream as global demand for carbon offsets grows.</a:t>
            </a:r>
          </a:p>
          <a:p>
            <a:r>
              <a:rPr lang="en-US" sz="1200" b="1" dirty="0">
                <a:ea typeface="+mn-lt"/>
                <a:cs typeface="+mn-lt"/>
              </a:rPr>
              <a:t>Evacuation Capacity:</a:t>
            </a:r>
            <a:r>
              <a:rPr lang="en-US" sz="1200" dirty="0">
                <a:ea typeface="+mn-lt"/>
                <a:cs typeface="+mn-lt"/>
              </a:rPr>
              <a:t> Management has confirmed that evacuation infrastructure is secured for the company’s planned capacity additions over the next 2–3 years, mitigating short-term transmission risks.</a:t>
            </a:r>
            <a:endParaRPr lang="en-US" dirty="0">
              <a:ea typeface="+mn-lt"/>
              <a:cs typeface="+mn-lt"/>
            </a:endParaRPr>
          </a:p>
        </p:txBody>
      </p:sp>
      <p:cxnSp>
        <p:nvCxnSpPr>
          <p:cNvPr id="13" name="Straight Arrow Connector 12">
            <a:extLst>
              <a:ext uri="{FF2B5EF4-FFF2-40B4-BE49-F238E27FC236}">
                <a16:creationId xmlns:a16="http://schemas.microsoft.com/office/drawing/2014/main" id="{6CE6425D-FF4F-29AD-20E2-DA806981ED89}"/>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5358D21-80ED-9340-E009-2289B2541D8B}"/>
              </a:ext>
            </a:extLst>
          </p:cNvPr>
          <p:cNvCxnSpPr/>
          <p:nvPr/>
        </p:nvCxnSpPr>
        <p:spPr>
          <a:xfrm flipV="1">
            <a:off x="-5925" y="8787953"/>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5" name="Picture 4" descr="A screenshot of a table&#10;&#10;AI-generated content may be incorrect.">
            <a:extLst>
              <a:ext uri="{FF2B5EF4-FFF2-40B4-BE49-F238E27FC236}">
                <a16:creationId xmlns:a16="http://schemas.microsoft.com/office/drawing/2014/main" id="{987C0C3F-10A4-2F9A-9780-C7D1A285ECBF}"/>
              </a:ext>
            </a:extLst>
          </p:cNvPr>
          <p:cNvPicPr>
            <a:picLocks noChangeAspect="1"/>
          </p:cNvPicPr>
          <p:nvPr/>
        </p:nvPicPr>
        <p:blipFill>
          <a:blip r:embed="rId3"/>
          <a:stretch>
            <a:fillRect/>
          </a:stretch>
        </p:blipFill>
        <p:spPr>
          <a:xfrm>
            <a:off x="11646" y="782295"/>
            <a:ext cx="3236215" cy="2837061"/>
          </a:xfrm>
          <a:prstGeom prst="rect">
            <a:avLst/>
          </a:prstGeom>
        </p:spPr>
      </p:pic>
      <p:sp>
        <p:nvSpPr>
          <p:cNvPr id="17" name="TextBox 16">
            <a:extLst>
              <a:ext uri="{FF2B5EF4-FFF2-40B4-BE49-F238E27FC236}">
                <a16:creationId xmlns:a16="http://schemas.microsoft.com/office/drawing/2014/main" id="{9D4DDAB9-5DF1-39F6-F52F-3FE975702AA0}"/>
              </a:ext>
            </a:extLst>
          </p:cNvPr>
          <p:cNvSpPr txBox="1"/>
          <p:nvPr/>
        </p:nvSpPr>
        <p:spPr>
          <a:xfrm>
            <a:off x="476255" y="3830304"/>
            <a:ext cx="2370257" cy="369332"/>
          </a:xfrm>
          <a:prstGeom prst="rect">
            <a:avLst/>
          </a:prstGeom>
          <a:solidFill>
            <a:schemeClr val="accent6">
              <a:lumMod val="20000"/>
              <a:lumOff val="80000"/>
            </a:schemeClr>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GB" b="1" dirty="0">
                <a:solidFill>
                  <a:srgbClr val="187C2C"/>
                </a:solidFill>
                <a:ea typeface="Calibri"/>
                <a:cs typeface="Calibri"/>
              </a:rPr>
              <a:t>Capital Structure 2025</a:t>
            </a:r>
            <a:endParaRPr lang="en-GB" b="1" dirty="0">
              <a:solidFill>
                <a:srgbClr val="187C2C"/>
              </a:solidFill>
            </a:endParaRPr>
          </a:p>
        </p:txBody>
      </p:sp>
      <p:pic>
        <p:nvPicPr>
          <p:cNvPr id="19" name="Picture 18" descr="A green pie chart with a number of percentages&#10;&#10;AI-generated content may be incorrect.">
            <a:extLst>
              <a:ext uri="{FF2B5EF4-FFF2-40B4-BE49-F238E27FC236}">
                <a16:creationId xmlns:a16="http://schemas.microsoft.com/office/drawing/2014/main" id="{12668EA1-9760-5452-C81D-4D45E65CBDBA}"/>
              </a:ext>
            </a:extLst>
          </p:cNvPr>
          <p:cNvPicPr>
            <a:picLocks noChangeAspect="1"/>
          </p:cNvPicPr>
          <p:nvPr/>
        </p:nvPicPr>
        <p:blipFill>
          <a:blip r:embed="rId4"/>
          <a:stretch>
            <a:fillRect/>
          </a:stretch>
        </p:blipFill>
        <p:spPr>
          <a:xfrm>
            <a:off x="193578" y="4201457"/>
            <a:ext cx="2865864" cy="2928037"/>
          </a:xfrm>
          <a:prstGeom prst="rect">
            <a:avLst/>
          </a:prstGeom>
          <a:ln>
            <a:noFill/>
          </a:ln>
        </p:spPr>
      </p:pic>
      <p:sp>
        <p:nvSpPr>
          <p:cNvPr id="20" name="Rectangle 19">
            <a:extLst>
              <a:ext uri="{FF2B5EF4-FFF2-40B4-BE49-F238E27FC236}">
                <a16:creationId xmlns:a16="http://schemas.microsoft.com/office/drawing/2014/main" id="{62F55171-1832-770F-4C42-37238DC5ED8A}"/>
              </a:ext>
            </a:extLst>
          </p:cNvPr>
          <p:cNvSpPr/>
          <p:nvPr/>
        </p:nvSpPr>
        <p:spPr>
          <a:xfrm>
            <a:off x="214765" y="4327524"/>
            <a:ext cx="2888595" cy="2931549"/>
          </a:xfrm>
          <a:prstGeom prst="rect">
            <a:avLst/>
          </a:prstGeom>
          <a:noFill/>
          <a:ln>
            <a:solidFill>
              <a:srgbClr val="187C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B8232BAF-137A-C756-254A-719BD4F1C24E}"/>
              </a:ext>
            </a:extLst>
          </p:cNvPr>
          <p:cNvSpPr/>
          <p:nvPr/>
        </p:nvSpPr>
        <p:spPr>
          <a:xfrm>
            <a:off x="3240000" y="782335"/>
            <a:ext cx="2874960" cy="322965"/>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ea typeface="Calibri"/>
                <a:cs typeface="Calibri"/>
              </a:rPr>
              <a:t>About the Company</a:t>
            </a:r>
            <a:endParaRPr lang="en-US" sz="1800" dirty="0">
              <a:ea typeface="Calibri"/>
              <a:cs typeface="Calibri"/>
            </a:endParaRPr>
          </a:p>
        </p:txBody>
      </p:sp>
      <p:sp>
        <p:nvSpPr>
          <p:cNvPr id="2" name="TextBox 1">
            <a:extLst>
              <a:ext uri="{FF2B5EF4-FFF2-40B4-BE49-F238E27FC236}">
                <a16:creationId xmlns:a16="http://schemas.microsoft.com/office/drawing/2014/main" id="{967C8E16-DE1A-99E6-F5C9-2C2E9D59E418}"/>
              </a:ext>
            </a:extLst>
          </p:cNvPr>
          <p:cNvSpPr txBox="1"/>
          <p:nvPr/>
        </p:nvSpPr>
        <p:spPr>
          <a:xfrm>
            <a:off x="2711484" y="1793768"/>
            <a:ext cx="53115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000">
                <a:ea typeface="Calibri"/>
                <a:cs typeface="Calibri"/>
              </a:rPr>
              <a:t>16.32</a:t>
            </a:r>
            <a:endParaRPr lang="en-US" sz="1000"/>
          </a:p>
        </p:txBody>
      </p:sp>
    </p:spTree>
    <p:extLst>
      <p:ext uri="{BB962C8B-B14F-4D97-AF65-F5344CB8AC3E}">
        <p14:creationId xmlns:p14="http://schemas.microsoft.com/office/powerpoint/2010/main" val="2175844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DA6033A-9AFA-A0D3-26A1-37C6E7B239A9}"/>
              </a:ext>
            </a:extLst>
          </p:cNvPr>
          <p:cNvSpPr/>
          <p:nvPr/>
        </p:nvSpPr>
        <p:spPr>
          <a:xfrm>
            <a:off x="97200" y="815934"/>
            <a:ext cx="6029345" cy="339963"/>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a:ea typeface="Calibri"/>
                <a:cs typeface="Calibri"/>
              </a:rPr>
              <a:t>Company Overview</a:t>
            </a:r>
          </a:p>
        </p:txBody>
      </p:sp>
      <p:pic>
        <p:nvPicPr>
          <p:cNvPr id="6" name="Picture 5" descr="Adani Renewables - Global Alliance For Sustainable Energy">
            <a:extLst>
              <a:ext uri="{FF2B5EF4-FFF2-40B4-BE49-F238E27FC236}">
                <a16:creationId xmlns:a16="http://schemas.microsoft.com/office/drawing/2014/main" id="{D5E172F6-C078-A75B-F6DA-C0AB1E2D5BC4}"/>
              </a:ext>
            </a:extLst>
          </p:cNvPr>
          <p:cNvPicPr>
            <a:picLocks noChangeAspect="1"/>
          </p:cNvPicPr>
          <p:nvPr/>
        </p:nvPicPr>
        <p:blipFill>
          <a:blip r:embed="rId2"/>
          <a:stretch>
            <a:fillRect/>
          </a:stretch>
        </p:blipFill>
        <p:spPr>
          <a:xfrm>
            <a:off x="5076000" y="0"/>
            <a:ext cx="1311468" cy="662728"/>
          </a:xfrm>
          <a:prstGeom prst="rect">
            <a:avLst/>
          </a:prstGeom>
        </p:spPr>
      </p:pic>
      <p:sp>
        <p:nvSpPr>
          <p:cNvPr id="7" name="TextBox 6">
            <a:extLst>
              <a:ext uri="{FF2B5EF4-FFF2-40B4-BE49-F238E27FC236}">
                <a16:creationId xmlns:a16="http://schemas.microsoft.com/office/drawing/2014/main" id="{E94C0A58-FB32-A5AB-172B-3980BAFC27F8}"/>
              </a:ext>
            </a:extLst>
          </p:cNvPr>
          <p:cNvSpPr txBox="1"/>
          <p:nvPr/>
        </p:nvSpPr>
        <p:spPr>
          <a:xfrm>
            <a:off x="96537" y="1242300"/>
            <a:ext cx="6027973" cy="1261884"/>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sz="1600" b="1">
                <a:ea typeface="Calibri"/>
                <a:cs typeface="Calibri"/>
              </a:rPr>
              <a:t>     Company Details</a:t>
            </a:r>
          </a:p>
          <a:p>
            <a:pPr marL="285750" indent="-285750">
              <a:buFont typeface="Arial"/>
              <a:buChar char="•"/>
            </a:pPr>
            <a:r>
              <a:rPr lang="en-US" sz="1200" b="1">
                <a:ea typeface="Calibri"/>
                <a:cs typeface="Calibri"/>
              </a:rPr>
              <a:t>Full Name: </a:t>
            </a:r>
            <a:r>
              <a:rPr lang="en-US" sz="1200">
                <a:ea typeface="Calibri"/>
                <a:cs typeface="Calibri"/>
              </a:rPr>
              <a:t>Adani Green Energy Limited</a:t>
            </a:r>
          </a:p>
          <a:p>
            <a:pPr marL="285750" indent="-285750">
              <a:buFont typeface="Arial"/>
              <a:buChar char="•"/>
            </a:pPr>
            <a:r>
              <a:rPr lang="en-US" sz="1200" b="1">
                <a:ea typeface="Calibri"/>
                <a:cs typeface="Calibri"/>
              </a:rPr>
              <a:t>Founded: </a:t>
            </a:r>
            <a:r>
              <a:rPr lang="en-US" sz="1200">
                <a:ea typeface="Calibri"/>
                <a:cs typeface="Calibri"/>
              </a:rPr>
              <a:t>2015</a:t>
            </a:r>
          </a:p>
          <a:p>
            <a:pPr marL="285750" indent="-285750">
              <a:buFont typeface="Arial"/>
              <a:buChar char="•"/>
            </a:pPr>
            <a:r>
              <a:rPr lang="en-US" sz="1200" b="1">
                <a:ea typeface="Calibri"/>
                <a:cs typeface="Calibri"/>
              </a:rPr>
              <a:t>Headquarters: </a:t>
            </a:r>
            <a:r>
              <a:rPr lang="en-US" sz="1200">
                <a:ea typeface="Calibri"/>
                <a:cs typeface="Calibri"/>
              </a:rPr>
              <a:t>Ahmedabad, Gujarat</a:t>
            </a:r>
          </a:p>
          <a:p>
            <a:pPr marL="285750" indent="-285750">
              <a:buFont typeface="Arial"/>
              <a:buChar char="•"/>
            </a:pPr>
            <a:r>
              <a:rPr lang="en-US" sz="1200" b="1">
                <a:ea typeface="Calibri"/>
                <a:cs typeface="Calibri"/>
              </a:rPr>
              <a:t>Industry:</a:t>
            </a:r>
            <a:r>
              <a:rPr lang="en-US" sz="1200">
                <a:ea typeface="Calibri"/>
                <a:cs typeface="Calibri"/>
              </a:rPr>
              <a:t> Renewable Energy</a:t>
            </a:r>
          </a:p>
          <a:p>
            <a:pPr>
              <a:buFont typeface="Arial"/>
              <a:buChar char="•"/>
            </a:pPr>
            <a:r>
              <a:rPr lang="en-US" sz="1200" b="1">
                <a:ea typeface="Calibri"/>
                <a:cs typeface="Calibri"/>
              </a:rPr>
              <a:t>       Stock Listing: </a:t>
            </a:r>
            <a:r>
              <a:rPr lang="en-US" sz="1200">
                <a:ea typeface="Calibri"/>
                <a:cs typeface="Calibri"/>
              </a:rPr>
              <a:t>NSE &amp; BSE: (Ticker:</a:t>
            </a:r>
            <a:r>
              <a:rPr lang="en-US" sz="1200" b="1">
                <a:ea typeface="Calibri"/>
                <a:cs typeface="Calibri"/>
              </a:rPr>
              <a:t> </a:t>
            </a:r>
            <a:r>
              <a:rPr lang="en-US" sz="1200">
                <a:latin typeface="Arial"/>
                <a:ea typeface="Calibri"/>
                <a:cs typeface="Arial"/>
              </a:rPr>
              <a:t>ADANIGREEN)</a:t>
            </a:r>
            <a:endParaRPr lang="en-US" sz="1200" b="1">
              <a:ea typeface="Calibri"/>
              <a:cs typeface="Calibri"/>
            </a:endParaRPr>
          </a:p>
        </p:txBody>
      </p:sp>
      <p:sp>
        <p:nvSpPr>
          <p:cNvPr id="9" name="Arrow: Right 8">
            <a:extLst>
              <a:ext uri="{FF2B5EF4-FFF2-40B4-BE49-F238E27FC236}">
                <a16:creationId xmlns:a16="http://schemas.microsoft.com/office/drawing/2014/main" id="{A35B0151-7BD8-B929-B2B3-63D467FB74BC}"/>
              </a:ext>
            </a:extLst>
          </p:cNvPr>
          <p:cNvSpPr/>
          <p:nvPr/>
        </p:nvSpPr>
        <p:spPr>
          <a:xfrm>
            <a:off x="132931" y="1344806"/>
            <a:ext cx="155086" cy="121853"/>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extBox 9">
            <a:extLst>
              <a:ext uri="{FF2B5EF4-FFF2-40B4-BE49-F238E27FC236}">
                <a16:creationId xmlns:a16="http://schemas.microsoft.com/office/drawing/2014/main" id="{0DB60558-324F-5377-B799-6F7BF3F97253}"/>
              </a:ext>
            </a:extLst>
          </p:cNvPr>
          <p:cNvSpPr txBox="1"/>
          <p:nvPr/>
        </p:nvSpPr>
        <p:spPr>
          <a:xfrm>
            <a:off x="97200" y="2700700"/>
            <a:ext cx="6041656" cy="1446550"/>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sz="1600" b="1" dirty="0">
                <a:ea typeface="Calibri" panose="020F0502020204030204"/>
                <a:cs typeface="Calibri" panose="020F0502020204030204"/>
              </a:rPr>
              <a:t>    Company Overview:</a:t>
            </a:r>
            <a:endParaRPr lang="en-US" sz="1800" dirty="0"/>
          </a:p>
          <a:p>
            <a:pPr>
              <a:buAutoNum type="arabicPeriod"/>
            </a:pPr>
            <a:r>
              <a:rPr lang="en-US" sz="1200" dirty="0">
                <a:ea typeface="+mn-lt"/>
                <a:cs typeface="+mn-lt"/>
              </a:rPr>
              <a:t>Capacity Utilization Factor: It measures how efficiently a power plant is operating compared to its full capacity. The following are the figures for AGEL. Calculates as:</a:t>
            </a:r>
            <a:endParaRPr lang="en-US" sz="1200" b="1" dirty="0">
              <a:ea typeface="Calibri" panose="020F0502020204030204"/>
              <a:cs typeface="Calibri" panose="020F0502020204030204"/>
            </a:endParaRPr>
          </a:p>
          <a:p>
            <a:endParaRPr lang="en-US" sz="1200" dirty="0">
              <a:ea typeface="+mn-lt"/>
              <a:cs typeface="+mn-lt"/>
            </a:endParaRPr>
          </a:p>
          <a:p>
            <a:r>
              <a:rPr lang="en-US" sz="1200" dirty="0">
                <a:ea typeface="+mn-lt"/>
                <a:cs typeface="+mn-lt"/>
              </a:rPr>
              <a:t>CUF (%)=Maximum Possible Generation (in kWh)/Actual Energy Generated (in kWh) ×100</a:t>
            </a:r>
            <a:br>
              <a:rPr lang="en-US" sz="1200" dirty="0"/>
            </a:br>
            <a:endParaRPr lang="en-US" sz="1200" dirty="0">
              <a:ea typeface="+mn-lt"/>
              <a:cs typeface="+mn-lt"/>
            </a:endParaRPr>
          </a:p>
          <a:p>
            <a:pPr marL="228600" indent="-228600">
              <a:buAutoNum type="arabicPeriod"/>
            </a:pPr>
            <a:r>
              <a:rPr lang="en-US" sz="1200" dirty="0">
                <a:ea typeface="+mn-lt"/>
                <a:cs typeface="+mn-lt"/>
              </a:rPr>
              <a:t>Solar: 24.8%                                       2.  Wind: 27.2%                                        3.  Hybrid: 39.5%</a:t>
            </a:r>
            <a:endParaRPr lang="en-US" sz="1200" dirty="0">
              <a:ea typeface="Calibri" panose="020F0502020204030204"/>
              <a:cs typeface="Calibri" panose="020F0502020204030204"/>
            </a:endParaRPr>
          </a:p>
        </p:txBody>
      </p:sp>
      <p:sp>
        <p:nvSpPr>
          <p:cNvPr id="2" name="Arrow: Right 1">
            <a:extLst>
              <a:ext uri="{FF2B5EF4-FFF2-40B4-BE49-F238E27FC236}">
                <a16:creationId xmlns:a16="http://schemas.microsoft.com/office/drawing/2014/main" id="{7D247C38-3025-78D7-3284-5BA178A1CE4F}"/>
              </a:ext>
            </a:extLst>
          </p:cNvPr>
          <p:cNvSpPr/>
          <p:nvPr/>
        </p:nvSpPr>
        <p:spPr>
          <a:xfrm>
            <a:off x="147590" y="2812086"/>
            <a:ext cx="155086" cy="121853"/>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TextBox 4">
            <a:extLst>
              <a:ext uri="{FF2B5EF4-FFF2-40B4-BE49-F238E27FC236}">
                <a16:creationId xmlns:a16="http://schemas.microsoft.com/office/drawing/2014/main" id="{20251902-BF23-8C93-47DE-98E7B194DE41}"/>
              </a:ext>
            </a:extLst>
          </p:cNvPr>
          <p:cNvSpPr txBox="1"/>
          <p:nvPr/>
        </p:nvSpPr>
        <p:spPr>
          <a:xfrm>
            <a:off x="97200" y="6369507"/>
            <a:ext cx="6029465" cy="2308324"/>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285750" indent="-285750">
              <a:buFont typeface="Arial,Sans-Serif"/>
              <a:buChar char="•"/>
            </a:pPr>
            <a:r>
              <a:rPr lang="en-US" sz="1200" dirty="0">
                <a:ea typeface="Calibri"/>
                <a:cs typeface="Calibri"/>
              </a:rPr>
              <a:t>To enhance grid reliability and support round-the-clock renewable power delivery, AGEL is actively investing in </a:t>
            </a:r>
            <a:r>
              <a:rPr lang="en-US" sz="1200" b="1" dirty="0">
                <a:ea typeface="Calibri"/>
                <a:cs typeface="Calibri"/>
              </a:rPr>
              <a:t>Hydro Pumped Storage Projects (PSPs)</a:t>
            </a:r>
            <a:r>
              <a:rPr lang="en-US" sz="1200" dirty="0">
                <a:ea typeface="Calibri"/>
                <a:cs typeface="Calibri"/>
              </a:rPr>
              <a:t>. These systems utilize </a:t>
            </a:r>
            <a:r>
              <a:rPr lang="en-US" sz="1200" b="1" dirty="0">
                <a:ea typeface="Calibri"/>
                <a:cs typeface="Calibri"/>
              </a:rPr>
              <a:t>two reservoirs </a:t>
            </a:r>
            <a:r>
              <a:rPr lang="en-US" sz="1200" dirty="0">
                <a:ea typeface="Calibri"/>
                <a:cs typeface="Calibri"/>
              </a:rPr>
              <a:t>pumping water to the upper reservoir using surplus solar and wind energy and releasing it to generate electricity during peak demand. Notably, </a:t>
            </a:r>
            <a:r>
              <a:rPr lang="en-US" sz="1200" b="1" dirty="0">
                <a:ea typeface="Calibri"/>
                <a:cs typeface="Calibri"/>
              </a:rPr>
              <a:t>ISTS charges are currently waived</a:t>
            </a:r>
            <a:r>
              <a:rPr lang="en-US" sz="1200" dirty="0">
                <a:ea typeface="Calibri"/>
                <a:cs typeface="Calibri"/>
              </a:rPr>
              <a:t> for PSPs, offering cost advantages for storage deployment.</a:t>
            </a:r>
          </a:p>
          <a:p>
            <a:pPr marL="285750" indent="-285750">
              <a:buFont typeface="Arial,Sans-Serif"/>
              <a:buChar char="•"/>
            </a:pPr>
            <a:endParaRPr lang="en-US" sz="1200" dirty="0">
              <a:ea typeface="Calibri"/>
              <a:cs typeface="Calibri"/>
            </a:endParaRPr>
          </a:p>
          <a:p>
            <a:pPr marL="285750" indent="-285750">
              <a:buFont typeface="Arial,Sans-Serif"/>
              <a:buChar char="•"/>
            </a:pPr>
            <a:r>
              <a:rPr lang="en-US" sz="1200" dirty="0">
                <a:ea typeface="Calibri"/>
                <a:cs typeface="Calibri"/>
              </a:rPr>
              <a:t>AGEL’s PSP pipeline is progressing as planned. The </a:t>
            </a:r>
            <a:r>
              <a:rPr lang="en-US" sz="1200" b="1" dirty="0">
                <a:ea typeface="Calibri"/>
                <a:cs typeface="Calibri"/>
              </a:rPr>
              <a:t>first 500 MW PSP on the Chitravathi River (Andhra Pradesh)</a:t>
            </a:r>
            <a:r>
              <a:rPr lang="en-US" sz="1200" dirty="0">
                <a:ea typeface="Calibri"/>
                <a:cs typeface="Calibri"/>
              </a:rPr>
              <a:t> is under construction and on schedule. Additionally, the company has secured a </a:t>
            </a:r>
            <a:r>
              <a:rPr lang="en-US" sz="1200" b="1" dirty="0">
                <a:ea typeface="Calibri"/>
                <a:cs typeface="Calibri"/>
              </a:rPr>
              <a:t>1,250 MW project in Uttar Pradesh</a:t>
            </a:r>
            <a:r>
              <a:rPr lang="en-US" sz="1200" dirty="0">
                <a:ea typeface="Calibri"/>
                <a:cs typeface="Calibri"/>
              </a:rPr>
              <a:t>, reflecting AGEL’s strong execution capabilities and regulatory alignment. The management remains committed to developing </a:t>
            </a:r>
            <a:r>
              <a:rPr lang="en-US" sz="1200" b="1" dirty="0">
                <a:ea typeface="Calibri"/>
                <a:cs typeface="Calibri"/>
              </a:rPr>
              <a:t>over 5 GW of PSP capacity by 2030</a:t>
            </a:r>
            <a:r>
              <a:rPr lang="en-US" sz="1200" dirty="0">
                <a:ea typeface="Calibri"/>
                <a:cs typeface="Calibri"/>
              </a:rPr>
              <a:t>, positioning storage as a core enabler of its firm and dispatchable renewable energy strategy.</a:t>
            </a:r>
          </a:p>
        </p:txBody>
      </p:sp>
      <p:cxnSp>
        <p:nvCxnSpPr>
          <p:cNvPr id="12" name="Straight Arrow Connector 11">
            <a:extLst>
              <a:ext uri="{FF2B5EF4-FFF2-40B4-BE49-F238E27FC236}">
                <a16:creationId xmlns:a16="http://schemas.microsoft.com/office/drawing/2014/main" id="{A457A52C-17D1-D4A5-AE8C-2C6E49A9C09D}"/>
              </a:ext>
            </a:extLst>
          </p:cNvPr>
          <p:cNvCxnSpPr/>
          <p:nvPr/>
        </p:nvCxnSpPr>
        <p:spPr>
          <a:xfrm flipV="1">
            <a:off x="-5925" y="8787953"/>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2E07ED0-9277-6C70-417F-D409F82621E7}"/>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F390005-DD6E-9267-746B-5DB9B8BE3D30}"/>
              </a:ext>
            </a:extLst>
          </p:cNvPr>
          <p:cNvSpPr txBox="1"/>
          <p:nvPr/>
        </p:nvSpPr>
        <p:spPr>
          <a:xfrm>
            <a:off x="3236569" y="4262123"/>
            <a:ext cx="217686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i="1">
                <a:ea typeface="Calibri"/>
                <a:cs typeface="Calibri"/>
              </a:rPr>
              <a:t>Revenue Share</a:t>
            </a:r>
            <a:endParaRPr lang="en-US" sz="1400" i="1">
              <a:ea typeface="Calibri"/>
              <a:cs typeface="Calibri"/>
            </a:endParaRPr>
          </a:p>
        </p:txBody>
      </p:sp>
      <p:cxnSp>
        <p:nvCxnSpPr>
          <p:cNvPr id="17" name="Straight Arrow Connector 16">
            <a:extLst>
              <a:ext uri="{FF2B5EF4-FFF2-40B4-BE49-F238E27FC236}">
                <a16:creationId xmlns:a16="http://schemas.microsoft.com/office/drawing/2014/main" id="{DE138479-87D4-D5D9-FC7F-6509425BF851}"/>
              </a:ext>
            </a:extLst>
          </p:cNvPr>
          <p:cNvCxnSpPr/>
          <p:nvPr/>
        </p:nvCxnSpPr>
        <p:spPr>
          <a:xfrm>
            <a:off x="3281621" y="4536379"/>
            <a:ext cx="2515602" cy="18"/>
          </a:xfrm>
          <a:prstGeom prst="straightConnector1">
            <a:avLst/>
          </a:prstGeom>
          <a:ln/>
        </p:spPr>
        <p:style>
          <a:lnRef idx="2">
            <a:schemeClr val="dk1"/>
          </a:lnRef>
          <a:fillRef idx="0">
            <a:schemeClr val="dk1"/>
          </a:fillRef>
          <a:effectRef idx="1">
            <a:schemeClr val="dk1"/>
          </a:effectRef>
          <a:fontRef idx="minor">
            <a:schemeClr val="tx1"/>
          </a:fontRef>
        </p:style>
      </p:cxnSp>
      <p:sp>
        <p:nvSpPr>
          <p:cNvPr id="16" name="Footer Placeholder 3">
            <a:extLst>
              <a:ext uri="{FF2B5EF4-FFF2-40B4-BE49-F238E27FC236}">
                <a16:creationId xmlns:a16="http://schemas.microsoft.com/office/drawing/2014/main" id="{06CAC95E-1184-D304-5CAB-F7A385DC95A7}"/>
              </a:ext>
            </a:extLst>
          </p:cNvPr>
          <p:cNvSpPr>
            <a:spLocks noGrp="1"/>
          </p:cNvSpPr>
          <p:nvPr>
            <p:ph type="ftr" sz="quarter" idx="11"/>
          </p:nvPr>
        </p:nvSpPr>
        <p:spPr>
          <a:xfrm>
            <a:off x="-7551" y="8832134"/>
            <a:ext cx="6234928" cy="324563"/>
          </a:xfrm>
        </p:spPr>
        <p:txBody>
          <a:bodyPr/>
          <a:lstStyle/>
          <a:p>
            <a:pPr algn="l"/>
            <a:r>
              <a:rPr lang="en-US" sz="800">
                <a:ea typeface="Calibri"/>
                <a:cs typeface="Calibri"/>
              </a:rPr>
              <a:t>Disclaimer: This is only for educational purposes and we are not SEBI registered.</a:t>
            </a:r>
          </a:p>
        </p:txBody>
      </p:sp>
      <p:sp>
        <p:nvSpPr>
          <p:cNvPr id="18" name="Slide Number Placeholder 6">
            <a:extLst>
              <a:ext uri="{FF2B5EF4-FFF2-40B4-BE49-F238E27FC236}">
                <a16:creationId xmlns:a16="http://schemas.microsoft.com/office/drawing/2014/main" id="{C72049BC-244E-0644-F176-6C0A9CD28155}"/>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2</a:t>
            </a:fld>
            <a:endParaRPr lang="en-US"/>
          </a:p>
        </p:txBody>
      </p:sp>
      <p:pic>
        <p:nvPicPr>
          <p:cNvPr id="8" name="Picture 7">
            <a:extLst>
              <a:ext uri="{FF2B5EF4-FFF2-40B4-BE49-F238E27FC236}">
                <a16:creationId xmlns:a16="http://schemas.microsoft.com/office/drawing/2014/main" id="{B2FD8565-2532-CCE7-1747-6C3AC7AF82A1}"/>
              </a:ext>
            </a:extLst>
          </p:cNvPr>
          <p:cNvPicPr>
            <a:picLocks noChangeAspect="1"/>
          </p:cNvPicPr>
          <p:nvPr/>
        </p:nvPicPr>
        <p:blipFill>
          <a:blip r:embed="rId3"/>
          <a:stretch>
            <a:fillRect/>
          </a:stretch>
        </p:blipFill>
        <p:spPr>
          <a:xfrm>
            <a:off x="3207446" y="4586230"/>
            <a:ext cx="2663952" cy="1728216"/>
          </a:xfrm>
          <a:prstGeom prst="rect">
            <a:avLst/>
          </a:prstGeom>
        </p:spPr>
      </p:pic>
      <p:pic>
        <p:nvPicPr>
          <p:cNvPr id="11" name="Picture 10">
            <a:extLst>
              <a:ext uri="{FF2B5EF4-FFF2-40B4-BE49-F238E27FC236}">
                <a16:creationId xmlns:a16="http://schemas.microsoft.com/office/drawing/2014/main" id="{889F8F75-6F5F-0D90-BBF3-0A8E49C7AF03}"/>
              </a:ext>
            </a:extLst>
          </p:cNvPr>
          <p:cNvPicPr>
            <a:picLocks noChangeAspect="1"/>
          </p:cNvPicPr>
          <p:nvPr/>
        </p:nvPicPr>
        <p:blipFill>
          <a:blip r:embed="rId4"/>
          <a:stretch>
            <a:fillRect/>
          </a:stretch>
        </p:blipFill>
        <p:spPr>
          <a:xfrm>
            <a:off x="147590" y="4257372"/>
            <a:ext cx="2962322" cy="2081499"/>
          </a:xfrm>
          <a:prstGeom prst="rect">
            <a:avLst/>
          </a:prstGeom>
        </p:spPr>
      </p:pic>
    </p:spTree>
    <p:extLst>
      <p:ext uri="{BB962C8B-B14F-4D97-AF65-F5344CB8AC3E}">
        <p14:creationId xmlns:p14="http://schemas.microsoft.com/office/powerpoint/2010/main" val="770295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Arrow Connector 2">
            <a:extLst>
              <a:ext uri="{FF2B5EF4-FFF2-40B4-BE49-F238E27FC236}">
                <a16:creationId xmlns:a16="http://schemas.microsoft.com/office/drawing/2014/main" id="{0733DA10-838D-94AB-6509-3C9C038AA216}"/>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8" name="Picture 7" descr="Adani Renewables - Global Alliance For Sustainable Energy">
            <a:extLst>
              <a:ext uri="{FF2B5EF4-FFF2-40B4-BE49-F238E27FC236}">
                <a16:creationId xmlns:a16="http://schemas.microsoft.com/office/drawing/2014/main" id="{824F2B5A-98E7-B906-9032-C2DEEAC948E6}"/>
              </a:ext>
            </a:extLst>
          </p:cNvPr>
          <p:cNvPicPr>
            <a:picLocks noChangeAspect="1"/>
          </p:cNvPicPr>
          <p:nvPr/>
        </p:nvPicPr>
        <p:blipFill>
          <a:blip r:embed="rId2"/>
          <a:stretch>
            <a:fillRect/>
          </a:stretch>
        </p:blipFill>
        <p:spPr>
          <a:xfrm>
            <a:off x="5076000" y="0"/>
            <a:ext cx="1311468" cy="662728"/>
          </a:xfrm>
          <a:prstGeom prst="rect">
            <a:avLst/>
          </a:prstGeom>
        </p:spPr>
      </p:pic>
      <p:cxnSp>
        <p:nvCxnSpPr>
          <p:cNvPr id="14" name="Straight Arrow Connector 13">
            <a:extLst>
              <a:ext uri="{FF2B5EF4-FFF2-40B4-BE49-F238E27FC236}">
                <a16:creationId xmlns:a16="http://schemas.microsoft.com/office/drawing/2014/main" id="{5F4DFD48-870F-56E1-4365-EFB892B13FB4}"/>
              </a:ext>
            </a:extLst>
          </p:cNvPr>
          <p:cNvCxnSpPr/>
          <p:nvPr/>
        </p:nvCxnSpPr>
        <p:spPr>
          <a:xfrm flipV="1">
            <a:off x="-5925" y="8787953"/>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D5BC914-318E-CE9C-0E2C-1D81D20B59AF}"/>
              </a:ext>
            </a:extLst>
          </p:cNvPr>
          <p:cNvSpPr txBox="1"/>
          <p:nvPr/>
        </p:nvSpPr>
        <p:spPr>
          <a:xfrm>
            <a:off x="98704" y="1252543"/>
            <a:ext cx="6047899" cy="1754326"/>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sz="1200" dirty="0">
                <a:ea typeface="+mn-lt"/>
                <a:cs typeface="+mn-lt"/>
              </a:rPr>
              <a:t>Khavda contributes </a:t>
            </a:r>
            <a:r>
              <a:rPr lang="en-US" sz="1200" b="1" dirty="0">
                <a:ea typeface="+mn-lt"/>
                <a:cs typeface="+mn-lt"/>
              </a:rPr>
              <a:t>4.1 GW</a:t>
            </a:r>
            <a:r>
              <a:rPr lang="en-US" sz="1200" dirty="0">
                <a:ea typeface="+mn-lt"/>
                <a:cs typeface="+mn-lt"/>
              </a:rPr>
              <a:t> to AGEL’s current </a:t>
            </a:r>
            <a:r>
              <a:rPr lang="en-US" sz="1200" b="1" dirty="0">
                <a:ea typeface="+mn-lt"/>
                <a:cs typeface="+mn-lt"/>
              </a:rPr>
              <a:t>11.2 GW</a:t>
            </a:r>
            <a:r>
              <a:rPr lang="en-US" sz="1200" dirty="0">
                <a:ea typeface="+mn-lt"/>
                <a:cs typeface="+mn-lt"/>
              </a:rPr>
              <a:t> capacity, with plans to scale it to 30 GW by 2030 as part of the 50 GW overall target. The company claims </a:t>
            </a:r>
            <a:r>
              <a:rPr lang="en-US" sz="1200" b="1" dirty="0">
                <a:ea typeface="+mn-lt"/>
                <a:cs typeface="+mn-lt"/>
              </a:rPr>
              <a:t>extensive research</a:t>
            </a:r>
            <a:r>
              <a:rPr lang="en-US" sz="1200" dirty="0">
                <a:ea typeface="+mn-lt"/>
                <a:cs typeface="+mn-lt"/>
              </a:rPr>
              <a:t> has been conducted on site-specific factors such as drainage, seismic activity, topography, and customized cable-laying design, reinforcing Khavda’s role as a strategic renewable energy hub.</a:t>
            </a:r>
          </a:p>
          <a:p>
            <a:endParaRPr lang="en-US" sz="1200" dirty="0">
              <a:ea typeface="Calibri"/>
              <a:cs typeface="Calibri"/>
            </a:endParaRPr>
          </a:p>
          <a:p>
            <a:r>
              <a:rPr lang="en-US" sz="1200" dirty="0">
                <a:ea typeface="+mn-lt"/>
                <a:cs typeface="+mn-lt"/>
              </a:rPr>
              <a:t>Adani Green Energy (AGEL) has entered into a 50:50 joint venture with TotalEnergies to develop and manage a portfolio of solar projects, primarily at the Khavda solar park in Gujarat. As part of the agreement, AGEL will contribute existing solar assets, while TotalEnergies will invest </a:t>
            </a:r>
            <a:r>
              <a:rPr lang="en-US" sz="1200" b="1" dirty="0">
                <a:ea typeface="+mn-lt"/>
                <a:cs typeface="+mn-lt"/>
              </a:rPr>
              <a:t>USD 444 million</a:t>
            </a:r>
            <a:r>
              <a:rPr lang="en-US" sz="1200" dirty="0">
                <a:ea typeface="+mn-lt"/>
                <a:cs typeface="+mn-lt"/>
              </a:rPr>
              <a:t> to accelerate the development of these projects.</a:t>
            </a:r>
            <a:endParaRPr lang="en-US" dirty="0"/>
          </a:p>
        </p:txBody>
      </p:sp>
      <p:sp>
        <p:nvSpPr>
          <p:cNvPr id="19" name="TextBox 18">
            <a:extLst>
              <a:ext uri="{FF2B5EF4-FFF2-40B4-BE49-F238E27FC236}">
                <a16:creationId xmlns:a16="http://schemas.microsoft.com/office/drawing/2014/main" id="{B622A9ED-6767-5380-9956-3ED3CB0958B9}"/>
              </a:ext>
            </a:extLst>
          </p:cNvPr>
          <p:cNvSpPr txBox="1"/>
          <p:nvPr/>
        </p:nvSpPr>
        <p:spPr>
          <a:xfrm>
            <a:off x="3330000" y="3097482"/>
            <a:ext cx="2743531" cy="360000"/>
          </a:xfrm>
          <a:prstGeom prst="rect">
            <a:avLst/>
          </a:prstGeom>
          <a:solidFill>
            <a:srgbClr val="187C2C"/>
          </a:solid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b="1" dirty="0">
                <a:solidFill>
                  <a:schemeClr val="bg1"/>
                </a:solidFill>
                <a:ea typeface="Calibri"/>
                <a:cs typeface="Calibri"/>
              </a:rPr>
              <a:t>Secured Orders</a:t>
            </a:r>
          </a:p>
        </p:txBody>
      </p:sp>
      <p:sp>
        <p:nvSpPr>
          <p:cNvPr id="21" name="TextBox 20">
            <a:extLst>
              <a:ext uri="{FF2B5EF4-FFF2-40B4-BE49-F238E27FC236}">
                <a16:creationId xmlns:a16="http://schemas.microsoft.com/office/drawing/2014/main" id="{54CF9E25-AA29-9088-6DB9-51AA6A9277AC}"/>
              </a:ext>
            </a:extLst>
          </p:cNvPr>
          <p:cNvSpPr txBox="1"/>
          <p:nvPr/>
        </p:nvSpPr>
        <p:spPr>
          <a:xfrm>
            <a:off x="3329945" y="3480698"/>
            <a:ext cx="2731914" cy="1754326"/>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sz="1200" dirty="0">
                <a:ea typeface="+mn-lt"/>
                <a:cs typeface="+mn-lt"/>
              </a:rPr>
              <a:t>In FY25, Google signed a </a:t>
            </a:r>
            <a:r>
              <a:rPr lang="en-US" sz="1200" b="1" dirty="0">
                <a:ea typeface="+mn-lt"/>
                <a:cs typeface="+mn-lt"/>
              </a:rPr>
              <a:t>61 MW hybrid power purchase agreement</a:t>
            </a:r>
            <a:r>
              <a:rPr lang="en-US" sz="1200" dirty="0">
                <a:ea typeface="+mn-lt"/>
                <a:cs typeface="+mn-lt"/>
              </a:rPr>
              <a:t> with AGEL to supply renewable energy for its data centers in India, marking a significant step in AGEL’s expansion into the high-growth Commercial &amp; Industrial (C&amp;I) segment. Several significant orders, including a large contract from Winsol Engineers for a 33KV transmission line.</a:t>
            </a:r>
          </a:p>
        </p:txBody>
      </p:sp>
      <p:sp>
        <p:nvSpPr>
          <p:cNvPr id="4" name="TextBox 3">
            <a:extLst>
              <a:ext uri="{FF2B5EF4-FFF2-40B4-BE49-F238E27FC236}">
                <a16:creationId xmlns:a16="http://schemas.microsoft.com/office/drawing/2014/main" id="{B3881711-81AA-3A7C-F37A-DEBB5594CDF0}"/>
              </a:ext>
            </a:extLst>
          </p:cNvPr>
          <p:cNvSpPr txBox="1"/>
          <p:nvPr/>
        </p:nvSpPr>
        <p:spPr>
          <a:xfrm>
            <a:off x="97200" y="5795310"/>
            <a:ext cx="6020198" cy="2677656"/>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228600" indent="-228600">
              <a:buAutoNum type="arabicPeriod"/>
            </a:pPr>
            <a:r>
              <a:rPr lang="en-US" sz="1200" dirty="0">
                <a:ea typeface="+mn-lt"/>
                <a:cs typeface="+mn-lt"/>
              </a:rPr>
              <a:t>Promoters hold a substantial </a:t>
            </a:r>
            <a:r>
              <a:rPr lang="en-US" sz="1200" b="1" dirty="0">
                <a:ea typeface="+mn-lt"/>
                <a:cs typeface="+mn-lt"/>
              </a:rPr>
              <a:t>60% stake</a:t>
            </a:r>
            <a:r>
              <a:rPr lang="en-US" sz="1200" dirty="0">
                <a:ea typeface="+mn-lt"/>
                <a:cs typeface="+mn-lt"/>
              </a:rPr>
              <a:t> in AGEL, reflecting strong confidence and long-term commitment to the business. *A recent </a:t>
            </a:r>
            <a:r>
              <a:rPr lang="en-US" sz="1200" b="1" dirty="0">
                <a:ea typeface="+mn-lt"/>
                <a:cs typeface="+mn-lt"/>
              </a:rPr>
              <a:t>warrant conversion</a:t>
            </a:r>
            <a:r>
              <a:rPr lang="en-US" sz="1200" dirty="0">
                <a:ea typeface="+mn-lt"/>
                <a:cs typeface="+mn-lt"/>
              </a:rPr>
              <a:t> has further increased their equity stake to </a:t>
            </a:r>
            <a:r>
              <a:rPr lang="en-US" sz="1200" b="1" dirty="0">
                <a:ea typeface="+mn-lt"/>
                <a:cs typeface="+mn-lt"/>
              </a:rPr>
              <a:t>62%</a:t>
            </a:r>
            <a:r>
              <a:rPr lang="en-US" sz="1200" dirty="0">
                <a:ea typeface="+mn-lt"/>
                <a:cs typeface="+mn-lt"/>
              </a:rPr>
              <a:t>, reinforcing their belief in the company’s growth potential.</a:t>
            </a:r>
            <a:endParaRPr lang="en-US" sz="1200" dirty="0">
              <a:ea typeface="Calibri"/>
              <a:cs typeface="Calibri"/>
            </a:endParaRPr>
          </a:p>
          <a:p>
            <a:pPr marL="228600" indent="-228600">
              <a:buAutoNum type="arabicPeriod"/>
            </a:pPr>
            <a:endParaRPr lang="en-US" sz="1200" dirty="0">
              <a:ea typeface="+mn-lt"/>
              <a:cs typeface="+mn-lt"/>
            </a:endParaRPr>
          </a:p>
          <a:p>
            <a:pPr marL="228600" indent="-228600">
              <a:buAutoNum type="arabicPeriod"/>
            </a:pPr>
            <a:r>
              <a:rPr lang="en-US" sz="1200" dirty="0">
                <a:ea typeface="+mn-lt"/>
                <a:cs typeface="+mn-lt"/>
              </a:rPr>
              <a:t>AGEL reports a </a:t>
            </a:r>
            <a:r>
              <a:rPr lang="en-US" sz="1200" b="1" dirty="0">
                <a:ea typeface="+mn-lt"/>
                <a:cs typeface="+mn-lt"/>
              </a:rPr>
              <a:t>director-to-employee median salary ratio of 15:1</a:t>
            </a:r>
            <a:r>
              <a:rPr lang="en-US" sz="1200" dirty="0">
                <a:ea typeface="+mn-lt"/>
                <a:cs typeface="+mn-lt"/>
              </a:rPr>
              <a:t>, significantly higher than peers like JSW Energy, which stands at </a:t>
            </a:r>
            <a:r>
              <a:rPr lang="en-US" sz="1200" b="1" dirty="0">
                <a:ea typeface="+mn-lt"/>
                <a:cs typeface="+mn-lt"/>
              </a:rPr>
              <a:t>4.1:1.</a:t>
            </a:r>
            <a:endParaRPr lang="en-US" sz="1200" dirty="0">
              <a:ea typeface="Calibri"/>
              <a:cs typeface="Calibri"/>
            </a:endParaRPr>
          </a:p>
          <a:p>
            <a:pPr marL="228600" indent="-228600">
              <a:buAutoNum type="arabicPeriod"/>
            </a:pPr>
            <a:endParaRPr lang="en-US" sz="1200" b="1" dirty="0">
              <a:ea typeface="+mn-lt"/>
              <a:cs typeface="+mn-lt"/>
            </a:endParaRPr>
          </a:p>
          <a:p>
            <a:pPr marL="228600" indent="-228600">
              <a:buAutoNum type="arabicPeriod"/>
            </a:pPr>
            <a:r>
              <a:rPr lang="en-US" sz="1200" dirty="0">
                <a:ea typeface="+mn-lt"/>
                <a:cs typeface="+mn-lt"/>
              </a:rPr>
              <a:t>AGEL received </a:t>
            </a:r>
            <a:r>
              <a:rPr lang="en-US" sz="1200" b="1" dirty="0">
                <a:ea typeface="+mn-lt"/>
                <a:cs typeface="+mn-lt"/>
              </a:rPr>
              <a:t>99.9995% shareholder approval</a:t>
            </a:r>
            <a:r>
              <a:rPr lang="en-US" sz="1200" dirty="0">
                <a:ea typeface="+mn-lt"/>
                <a:cs typeface="+mn-lt"/>
              </a:rPr>
              <a:t> via postal ballot to increase the PPA value between its subsidiary, </a:t>
            </a:r>
            <a:r>
              <a:rPr lang="en-US" sz="1200" b="1" dirty="0">
                <a:ea typeface="+mn-lt"/>
                <a:cs typeface="+mn-lt"/>
              </a:rPr>
              <a:t>Adani Hybrid Energy Jaisalmer Four Ltd.</a:t>
            </a:r>
            <a:r>
              <a:rPr lang="en-US" sz="1200" dirty="0">
                <a:ea typeface="+mn-lt"/>
                <a:cs typeface="+mn-lt"/>
              </a:rPr>
              <a:t>, and </a:t>
            </a:r>
            <a:r>
              <a:rPr lang="en-US" sz="1200" b="1" dirty="0">
                <a:ea typeface="+mn-lt"/>
                <a:cs typeface="+mn-lt"/>
              </a:rPr>
              <a:t>Adani Electricity Mumbai Ltd.</a:t>
            </a:r>
            <a:r>
              <a:rPr lang="en-US" sz="1200" dirty="0">
                <a:ea typeface="+mn-lt"/>
                <a:cs typeface="+mn-lt"/>
              </a:rPr>
              <a:t>, marking a key related party transaction.</a:t>
            </a:r>
            <a:endParaRPr lang="en-US" sz="1200" b="1" dirty="0">
              <a:ea typeface="+mn-lt"/>
              <a:cs typeface="+mn-lt"/>
            </a:endParaRPr>
          </a:p>
          <a:p>
            <a:pPr marL="228600" indent="-228600">
              <a:buAutoNum type="arabicPeriod"/>
            </a:pPr>
            <a:endParaRPr lang="en-US" sz="1200" dirty="0">
              <a:ea typeface="Calibri"/>
              <a:cs typeface="Calibri"/>
            </a:endParaRPr>
          </a:p>
          <a:p>
            <a:pPr marL="228600" indent="-228600">
              <a:buAutoNum type="arabicPeriod"/>
            </a:pPr>
            <a:r>
              <a:rPr lang="en-US" sz="1200" dirty="0">
                <a:ea typeface="+mn-lt"/>
                <a:cs typeface="+mn-lt"/>
              </a:rPr>
              <a:t>Adani Group holds a </a:t>
            </a:r>
            <a:r>
              <a:rPr lang="en-US" sz="1200" b="1" dirty="0">
                <a:ea typeface="+mn-lt"/>
                <a:cs typeface="+mn-lt"/>
              </a:rPr>
              <a:t>3.5 out of 5 rating on Employee rating websites like Glassdoor</a:t>
            </a:r>
            <a:r>
              <a:rPr lang="en-US" sz="1200" dirty="0">
                <a:ea typeface="+mn-lt"/>
                <a:cs typeface="+mn-lt"/>
              </a:rPr>
              <a:t>, based on over </a:t>
            </a:r>
            <a:r>
              <a:rPr lang="en-US" sz="1200" b="1" dirty="0">
                <a:ea typeface="+mn-lt"/>
                <a:cs typeface="+mn-lt"/>
              </a:rPr>
              <a:t>1,030 employee reviews</a:t>
            </a:r>
            <a:r>
              <a:rPr lang="en-US" sz="1200" dirty="0">
                <a:ea typeface="+mn-lt"/>
                <a:cs typeface="+mn-lt"/>
              </a:rPr>
              <a:t>, indicating a generally positive working experience among its workforce.</a:t>
            </a:r>
          </a:p>
        </p:txBody>
      </p:sp>
      <p:sp>
        <p:nvSpPr>
          <p:cNvPr id="7" name="Footer Placeholder 3">
            <a:extLst>
              <a:ext uri="{FF2B5EF4-FFF2-40B4-BE49-F238E27FC236}">
                <a16:creationId xmlns:a16="http://schemas.microsoft.com/office/drawing/2014/main" id="{F8EADAC5-D128-5A64-9705-BA3C0E73F5E3}"/>
              </a:ext>
            </a:extLst>
          </p:cNvPr>
          <p:cNvSpPr>
            <a:spLocks noGrp="1"/>
          </p:cNvSpPr>
          <p:nvPr>
            <p:ph type="ftr" sz="quarter" idx="11"/>
          </p:nvPr>
        </p:nvSpPr>
        <p:spPr>
          <a:xfrm>
            <a:off x="-7551" y="8832134"/>
            <a:ext cx="6234928" cy="324563"/>
          </a:xfrm>
        </p:spPr>
        <p:txBody>
          <a:bodyPr/>
          <a:lstStyle/>
          <a:p>
            <a:pPr algn="l"/>
            <a:r>
              <a:rPr lang="en-US" sz="800">
                <a:ea typeface="Calibri"/>
                <a:cs typeface="Calibri"/>
              </a:rPr>
              <a:t>Disclaimer: This is only for educational purposes and we are not SEBI registered.</a:t>
            </a:r>
          </a:p>
        </p:txBody>
      </p:sp>
      <p:sp>
        <p:nvSpPr>
          <p:cNvPr id="12" name="Rectangle 11">
            <a:extLst>
              <a:ext uri="{FF2B5EF4-FFF2-40B4-BE49-F238E27FC236}">
                <a16:creationId xmlns:a16="http://schemas.microsoft.com/office/drawing/2014/main" id="{1CC068BD-45ED-FB81-7DC4-777F44EA39F3}"/>
              </a:ext>
            </a:extLst>
          </p:cNvPr>
          <p:cNvSpPr/>
          <p:nvPr/>
        </p:nvSpPr>
        <p:spPr>
          <a:xfrm>
            <a:off x="98704" y="815933"/>
            <a:ext cx="6027421" cy="360000"/>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ea typeface="Calibri"/>
                <a:cs typeface="Calibri"/>
              </a:rPr>
              <a:t>Why Khavda holds a great importance?</a:t>
            </a:r>
            <a:endParaRPr lang="en-US" dirty="0"/>
          </a:p>
        </p:txBody>
      </p:sp>
      <p:sp>
        <p:nvSpPr>
          <p:cNvPr id="13" name="Rectangle 12">
            <a:extLst>
              <a:ext uri="{FF2B5EF4-FFF2-40B4-BE49-F238E27FC236}">
                <a16:creationId xmlns:a16="http://schemas.microsoft.com/office/drawing/2014/main" id="{F2E0D797-6EBE-ADFD-F08B-0AA91D8DB8EE}"/>
              </a:ext>
            </a:extLst>
          </p:cNvPr>
          <p:cNvSpPr/>
          <p:nvPr/>
        </p:nvSpPr>
        <p:spPr>
          <a:xfrm>
            <a:off x="97200" y="5419552"/>
            <a:ext cx="6020199" cy="360000"/>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b="1" dirty="0">
                <a:ea typeface="Calibri"/>
                <a:cs typeface="Calibri"/>
              </a:rPr>
              <a:t>Management Overview</a:t>
            </a:r>
          </a:p>
        </p:txBody>
      </p:sp>
      <p:sp>
        <p:nvSpPr>
          <p:cNvPr id="6" name="Slide Number Placeholder 6">
            <a:extLst>
              <a:ext uri="{FF2B5EF4-FFF2-40B4-BE49-F238E27FC236}">
                <a16:creationId xmlns:a16="http://schemas.microsoft.com/office/drawing/2014/main" id="{FDB02236-A60E-BFD1-B244-33375A8BD20F}"/>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3</a:t>
            </a:fld>
            <a:endParaRPr lang="en-US"/>
          </a:p>
        </p:txBody>
      </p:sp>
      <p:pic>
        <p:nvPicPr>
          <p:cNvPr id="2" name="Picture 1">
            <a:extLst>
              <a:ext uri="{FF2B5EF4-FFF2-40B4-BE49-F238E27FC236}">
                <a16:creationId xmlns:a16="http://schemas.microsoft.com/office/drawing/2014/main" id="{CFC94086-274B-F252-B154-FF43AD88A0B3}"/>
              </a:ext>
            </a:extLst>
          </p:cNvPr>
          <p:cNvPicPr>
            <a:picLocks noChangeAspect="1"/>
          </p:cNvPicPr>
          <p:nvPr/>
        </p:nvPicPr>
        <p:blipFill>
          <a:blip r:embed="rId3"/>
          <a:stretch>
            <a:fillRect/>
          </a:stretch>
        </p:blipFill>
        <p:spPr>
          <a:xfrm>
            <a:off x="98704" y="3102748"/>
            <a:ext cx="3156204" cy="2215896"/>
          </a:xfrm>
          <a:prstGeom prst="rect">
            <a:avLst/>
          </a:prstGeom>
        </p:spPr>
      </p:pic>
    </p:spTree>
    <p:extLst>
      <p:ext uri="{BB962C8B-B14F-4D97-AF65-F5344CB8AC3E}">
        <p14:creationId xmlns:p14="http://schemas.microsoft.com/office/powerpoint/2010/main" val="2379363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dani Renewables - Global Alliance For Sustainable Energy">
            <a:extLst>
              <a:ext uri="{FF2B5EF4-FFF2-40B4-BE49-F238E27FC236}">
                <a16:creationId xmlns:a16="http://schemas.microsoft.com/office/drawing/2014/main" id="{B9259591-6F11-16AF-C23A-DD6F02547E35}"/>
              </a:ext>
            </a:extLst>
          </p:cNvPr>
          <p:cNvPicPr>
            <a:picLocks noChangeAspect="1"/>
          </p:cNvPicPr>
          <p:nvPr/>
        </p:nvPicPr>
        <p:blipFill>
          <a:blip r:embed="rId2"/>
          <a:stretch>
            <a:fillRect/>
          </a:stretch>
        </p:blipFill>
        <p:spPr>
          <a:xfrm>
            <a:off x="5076000" y="0"/>
            <a:ext cx="1311468" cy="662728"/>
          </a:xfrm>
          <a:prstGeom prst="rect">
            <a:avLst/>
          </a:prstGeom>
        </p:spPr>
      </p:pic>
      <p:cxnSp>
        <p:nvCxnSpPr>
          <p:cNvPr id="9" name="Straight Arrow Connector 8">
            <a:extLst>
              <a:ext uri="{FF2B5EF4-FFF2-40B4-BE49-F238E27FC236}">
                <a16:creationId xmlns:a16="http://schemas.microsoft.com/office/drawing/2014/main" id="{12F94367-EA98-4585-355A-0F21A2F59BE6}"/>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89423C8-4571-D78F-FB03-F2A1329A83C9}"/>
              </a:ext>
            </a:extLst>
          </p:cNvPr>
          <p:cNvCxnSpPr/>
          <p:nvPr/>
        </p:nvCxnSpPr>
        <p:spPr>
          <a:xfrm flipV="1">
            <a:off x="-13446" y="7727670"/>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945BDDC4-4A7C-66E3-3769-2E37C17BEB6D}"/>
              </a:ext>
            </a:extLst>
          </p:cNvPr>
          <p:cNvGraphicFramePr>
            <a:graphicFrameLocks noGrp="1"/>
          </p:cNvGraphicFramePr>
          <p:nvPr>
            <p:extLst>
              <p:ext uri="{D42A27DB-BD31-4B8C-83A1-F6EECF244321}">
                <p14:modId xmlns:p14="http://schemas.microsoft.com/office/powerpoint/2010/main" val="1551916295"/>
              </p:ext>
            </p:extLst>
          </p:nvPr>
        </p:nvGraphicFramePr>
        <p:xfrm>
          <a:off x="142898" y="1315953"/>
          <a:ext cx="5930519" cy="1675554"/>
        </p:xfrm>
        <a:graphic>
          <a:graphicData uri="http://schemas.openxmlformats.org/drawingml/2006/table">
            <a:tbl>
              <a:tblPr bandRow="1">
                <a:tableStyleId>{5C22544A-7EE6-4342-B048-85BDC9FD1C3A}</a:tableStyleId>
              </a:tblPr>
              <a:tblGrid>
                <a:gridCol w="1569844">
                  <a:extLst>
                    <a:ext uri="{9D8B030D-6E8A-4147-A177-3AD203B41FA5}">
                      <a16:colId xmlns:a16="http://schemas.microsoft.com/office/drawing/2014/main" val="701862998"/>
                    </a:ext>
                  </a:extLst>
                </a:gridCol>
                <a:gridCol w="872135">
                  <a:extLst>
                    <a:ext uri="{9D8B030D-6E8A-4147-A177-3AD203B41FA5}">
                      <a16:colId xmlns:a16="http://schemas.microsoft.com/office/drawing/2014/main" val="1995806091"/>
                    </a:ext>
                  </a:extLst>
                </a:gridCol>
                <a:gridCol w="872135">
                  <a:extLst>
                    <a:ext uri="{9D8B030D-6E8A-4147-A177-3AD203B41FA5}">
                      <a16:colId xmlns:a16="http://schemas.microsoft.com/office/drawing/2014/main" val="2193779755"/>
                    </a:ext>
                  </a:extLst>
                </a:gridCol>
                <a:gridCol w="872135">
                  <a:extLst>
                    <a:ext uri="{9D8B030D-6E8A-4147-A177-3AD203B41FA5}">
                      <a16:colId xmlns:a16="http://schemas.microsoft.com/office/drawing/2014/main" val="1166191800"/>
                    </a:ext>
                  </a:extLst>
                </a:gridCol>
                <a:gridCol w="872135">
                  <a:extLst>
                    <a:ext uri="{9D8B030D-6E8A-4147-A177-3AD203B41FA5}">
                      <a16:colId xmlns:a16="http://schemas.microsoft.com/office/drawing/2014/main" val="1984412484"/>
                    </a:ext>
                  </a:extLst>
                </a:gridCol>
                <a:gridCol w="872135">
                  <a:extLst>
                    <a:ext uri="{9D8B030D-6E8A-4147-A177-3AD203B41FA5}">
                      <a16:colId xmlns:a16="http://schemas.microsoft.com/office/drawing/2014/main" val="1009027292"/>
                    </a:ext>
                  </a:extLst>
                </a:gridCol>
              </a:tblGrid>
              <a:tr h="279259">
                <a:tc>
                  <a:txBody>
                    <a:bodyPr/>
                    <a:lstStyle/>
                    <a:p>
                      <a:pPr fontAlgn="b">
                        <a:buNone/>
                      </a:pPr>
                      <a:endParaRPr lang="en-US" sz="1100">
                        <a:effectLst/>
                        <a:latin typeface="calibri" panose="020F0502020204030204" pitchFamily="34" charset="0"/>
                      </a:endParaRPr>
                    </a:p>
                  </a:txBody>
                  <a:tcPr marL="9525" marR="9525" marT="9525" anchor="ctr">
                    <a:lnL>
                      <a:noFill/>
                    </a:lnL>
                    <a:lnR>
                      <a:noFill/>
                    </a:lnR>
                    <a:lnT>
                      <a:noFill/>
                    </a:lnT>
                    <a:lnB>
                      <a:noFill/>
                    </a:lnB>
                    <a:solidFill>
                      <a:srgbClr val="177C29"/>
                    </a:solidFill>
                  </a:tcPr>
                </a:tc>
                <a:tc>
                  <a:txBody>
                    <a:bodyPr/>
                    <a:lstStyle/>
                    <a:p>
                      <a:pPr algn="r" fontAlgn="b">
                        <a:buNone/>
                      </a:pPr>
                      <a:r>
                        <a:rPr lang="en-US" sz="1100" b="1" dirty="0">
                          <a:solidFill>
                            <a:srgbClr val="FFFFFF"/>
                          </a:solidFill>
                          <a:effectLst/>
                          <a:latin typeface="calibri"/>
                        </a:rPr>
                        <a:t>Mar-21</a:t>
                      </a:r>
                    </a:p>
                  </a:txBody>
                  <a:tcPr marL="9525" marR="9525" marT="9525" anchor="ctr">
                    <a:lnL>
                      <a:noFill/>
                    </a:lnL>
                    <a:lnR>
                      <a:noFill/>
                    </a:lnR>
                    <a:lnT>
                      <a:noFill/>
                    </a:lnT>
                    <a:lnB>
                      <a:noFill/>
                    </a:lnB>
                    <a:solidFill>
                      <a:srgbClr val="177C29"/>
                    </a:solidFill>
                  </a:tcPr>
                </a:tc>
                <a:tc>
                  <a:txBody>
                    <a:bodyPr/>
                    <a:lstStyle/>
                    <a:p>
                      <a:pPr algn="r" fontAlgn="b">
                        <a:buNone/>
                      </a:pPr>
                      <a:r>
                        <a:rPr lang="en-US" sz="1100" b="1" dirty="0">
                          <a:solidFill>
                            <a:srgbClr val="FFFFFF"/>
                          </a:solidFill>
                          <a:effectLst/>
                          <a:latin typeface="calibri"/>
                        </a:rPr>
                        <a:t>Mar-22</a:t>
                      </a:r>
                    </a:p>
                  </a:txBody>
                  <a:tcPr marL="9525" marR="9525" marT="9525" anchor="ctr">
                    <a:lnL>
                      <a:noFill/>
                    </a:lnL>
                    <a:lnR>
                      <a:noFill/>
                    </a:lnR>
                    <a:lnT>
                      <a:noFill/>
                    </a:lnT>
                    <a:lnB>
                      <a:noFill/>
                    </a:lnB>
                    <a:solidFill>
                      <a:srgbClr val="177C29"/>
                    </a:solidFill>
                  </a:tcPr>
                </a:tc>
                <a:tc>
                  <a:txBody>
                    <a:bodyPr/>
                    <a:lstStyle/>
                    <a:p>
                      <a:pPr algn="r" fontAlgn="b">
                        <a:buNone/>
                      </a:pPr>
                      <a:r>
                        <a:rPr lang="en-US" sz="1100" b="1" dirty="0">
                          <a:solidFill>
                            <a:srgbClr val="FFFFFF"/>
                          </a:solidFill>
                          <a:effectLst/>
                          <a:latin typeface="calibri"/>
                        </a:rPr>
                        <a:t>Mar-23</a:t>
                      </a:r>
                    </a:p>
                  </a:txBody>
                  <a:tcPr marL="9525" marR="9525" marT="9525" anchor="ctr">
                    <a:lnL>
                      <a:noFill/>
                    </a:lnL>
                    <a:lnR>
                      <a:noFill/>
                    </a:lnR>
                    <a:lnT>
                      <a:noFill/>
                    </a:lnT>
                    <a:lnB>
                      <a:noFill/>
                    </a:lnB>
                    <a:solidFill>
                      <a:srgbClr val="177C29"/>
                    </a:solidFill>
                  </a:tcPr>
                </a:tc>
                <a:tc>
                  <a:txBody>
                    <a:bodyPr/>
                    <a:lstStyle/>
                    <a:p>
                      <a:pPr algn="r" fontAlgn="b">
                        <a:buNone/>
                      </a:pPr>
                      <a:r>
                        <a:rPr lang="en-US" sz="1100" b="1" dirty="0">
                          <a:solidFill>
                            <a:srgbClr val="FFFFFF"/>
                          </a:solidFill>
                          <a:effectLst/>
                          <a:latin typeface="calibri"/>
                        </a:rPr>
                        <a:t>Mar-24</a:t>
                      </a:r>
                    </a:p>
                  </a:txBody>
                  <a:tcPr marL="9525" marR="9525" marT="9525" anchor="ctr">
                    <a:lnL>
                      <a:noFill/>
                    </a:lnL>
                    <a:lnR>
                      <a:noFill/>
                    </a:lnR>
                    <a:lnT>
                      <a:noFill/>
                    </a:lnT>
                    <a:lnB>
                      <a:noFill/>
                    </a:lnB>
                    <a:solidFill>
                      <a:srgbClr val="177C29"/>
                    </a:solidFill>
                  </a:tcPr>
                </a:tc>
                <a:tc>
                  <a:txBody>
                    <a:bodyPr/>
                    <a:lstStyle/>
                    <a:p>
                      <a:pPr algn="r" fontAlgn="b">
                        <a:buNone/>
                      </a:pPr>
                      <a:r>
                        <a:rPr lang="en-US" sz="1100" b="1" dirty="0">
                          <a:solidFill>
                            <a:srgbClr val="FFFFFF"/>
                          </a:solidFill>
                          <a:effectLst/>
                          <a:latin typeface="calibri"/>
                        </a:rPr>
                        <a:t>Mar-25</a:t>
                      </a:r>
                    </a:p>
                  </a:txBody>
                  <a:tcPr marL="9525" marR="9525" marT="9525" anchor="ctr">
                    <a:lnL>
                      <a:noFill/>
                    </a:lnL>
                    <a:lnR>
                      <a:noFill/>
                    </a:lnR>
                    <a:lnT>
                      <a:noFill/>
                    </a:lnT>
                    <a:lnB>
                      <a:noFill/>
                    </a:lnB>
                    <a:solidFill>
                      <a:srgbClr val="177C29"/>
                    </a:solidFill>
                  </a:tcPr>
                </a:tc>
                <a:extLst>
                  <a:ext uri="{0D108BD9-81ED-4DB2-BD59-A6C34878D82A}">
                    <a16:rowId xmlns:a16="http://schemas.microsoft.com/office/drawing/2014/main" val="2828315479"/>
                  </a:ext>
                </a:extLst>
              </a:tr>
              <a:tr h="279259">
                <a:tc>
                  <a:txBody>
                    <a:bodyPr/>
                    <a:lstStyle/>
                    <a:p>
                      <a:pPr fontAlgn="b">
                        <a:buNone/>
                      </a:pPr>
                      <a:r>
                        <a:rPr lang="en-US" sz="1100">
                          <a:solidFill>
                            <a:srgbClr val="22222F"/>
                          </a:solidFill>
                          <a:effectLst/>
                          <a:latin typeface="Inter Var"/>
                        </a:rPr>
                        <a:t>Promoters</a:t>
                      </a:r>
                    </a:p>
                  </a:txBody>
                  <a:tcPr marL="9525" marR="9525" marT="9525" anchor="ctr">
                    <a:lnL>
                      <a:noFill/>
                    </a:lnL>
                    <a:lnR>
                      <a:noFill/>
                    </a:lnR>
                    <a:lnT>
                      <a:noFill/>
                    </a:lnT>
                    <a:lnB>
                      <a:noFill/>
                    </a:lnB>
                    <a:solidFill>
                      <a:srgbClr val="E2EFDA"/>
                    </a:solidFill>
                  </a:tcPr>
                </a:tc>
                <a:tc>
                  <a:txBody>
                    <a:bodyPr/>
                    <a:lstStyle/>
                    <a:p>
                      <a:pPr algn="r" fontAlgn="b">
                        <a:buNone/>
                      </a:pPr>
                      <a:r>
                        <a:rPr lang="en-US" sz="1100">
                          <a:solidFill>
                            <a:srgbClr val="22222F"/>
                          </a:solidFill>
                          <a:effectLst/>
                          <a:latin typeface="Inter Var"/>
                        </a:rPr>
                        <a:t>56.29%</a:t>
                      </a:r>
                    </a:p>
                  </a:txBody>
                  <a:tcPr marL="9525" marR="9525" marT="9525" anchor="ctr">
                    <a:lnL>
                      <a:noFill/>
                    </a:lnL>
                    <a:lnR>
                      <a:noFill/>
                    </a:lnR>
                    <a:lnT>
                      <a:noFill/>
                    </a:lnT>
                    <a:lnB>
                      <a:noFill/>
                    </a:lnB>
                    <a:solidFill>
                      <a:srgbClr val="FFFFFF"/>
                    </a:solidFill>
                  </a:tcPr>
                </a:tc>
                <a:tc>
                  <a:txBody>
                    <a:bodyPr/>
                    <a:lstStyle/>
                    <a:p>
                      <a:pPr algn="r" fontAlgn="b">
                        <a:buNone/>
                      </a:pPr>
                      <a:r>
                        <a:rPr lang="en-US" sz="1100">
                          <a:solidFill>
                            <a:srgbClr val="22222F"/>
                          </a:solidFill>
                          <a:effectLst/>
                          <a:latin typeface="Inter Var"/>
                        </a:rPr>
                        <a:t>61.27%</a:t>
                      </a:r>
                    </a:p>
                  </a:txBody>
                  <a:tcPr marL="9525" marR="9525" marT="9525" anchor="ctr">
                    <a:lnL>
                      <a:noFill/>
                    </a:lnL>
                    <a:lnR>
                      <a:noFill/>
                    </a:lnR>
                    <a:lnT>
                      <a:noFill/>
                    </a:lnT>
                    <a:lnB>
                      <a:noFill/>
                    </a:lnB>
                    <a:solidFill>
                      <a:srgbClr val="FFFFFF"/>
                    </a:solidFill>
                  </a:tcPr>
                </a:tc>
                <a:tc>
                  <a:txBody>
                    <a:bodyPr/>
                    <a:lstStyle/>
                    <a:p>
                      <a:pPr algn="r" fontAlgn="b">
                        <a:buNone/>
                      </a:pPr>
                      <a:r>
                        <a:rPr lang="en-US" sz="1100">
                          <a:solidFill>
                            <a:srgbClr val="22222F"/>
                          </a:solidFill>
                          <a:effectLst/>
                          <a:latin typeface="Inter Var"/>
                        </a:rPr>
                        <a:t>57.26%</a:t>
                      </a:r>
                    </a:p>
                  </a:txBody>
                  <a:tcPr marL="9525" marR="9525" marT="9525" anchor="ctr">
                    <a:lnL>
                      <a:noFill/>
                    </a:lnL>
                    <a:lnR>
                      <a:noFill/>
                    </a:lnR>
                    <a:lnT>
                      <a:noFill/>
                    </a:lnT>
                    <a:lnB>
                      <a:noFill/>
                    </a:lnB>
                    <a:solidFill>
                      <a:srgbClr val="FFFFFF"/>
                    </a:solidFill>
                  </a:tcPr>
                </a:tc>
                <a:tc>
                  <a:txBody>
                    <a:bodyPr/>
                    <a:lstStyle/>
                    <a:p>
                      <a:pPr algn="r" fontAlgn="b">
                        <a:buNone/>
                      </a:pPr>
                      <a:r>
                        <a:rPr lang="en-US" sz="1100">
                          <a:solidFill>
                            <a:srgbClr val="22222F"/>
                          </a:solidFill>
                          <a:effectLst/>
                          <a:latin typeface="Inter Var"/>
                        </a:rPr>
                        <a:t>56.37%</a:t>
                      </a:r>
                    </a:p>
                  </a:txBody>
                  <a:tcPr marL="9525" marR="9525" marT="9525" anchor="ctr">
                    <a:lnL>
                      <a:noFill/>
                    </a:lnL>
                    <a:lnR>
                      <a:noFill/>
                    </a:lnR>
                    <a:lnT>
                      <a:noFill/>
                    </a:lnT>
                    <a:lnB>
                      <a:noFill/>
                    </a:lnB>
                    <a:solidFill>
                      <a:srgbClr val="FFFFFF"/>
                    </a:solidFill>
                  </a:tcPr>
                </a:tc>
                <a:tc>
                  <a:txBody>
                    <a:bodyPr/>
                    <a:lstStyle/>
                    <a:p>
                      <a:pPr algn="r" fontAlgn="b">
                        <a:buNone/>
                      </a:pPr>
                      <a:r>
                        <a:rPr lang="en-US" sz="1100">
                          <a:solidFill>
                            <a:srgbClr val="22222F"/>
                          </a:solidFill>
                          <a:effectLst/>
                          <a:latin typeface="Inter Var"/>
                        </a:rPr>
                        <a:t>60.93%</a:t>
                      </a:r>
                    </a:p>
                  </a:txBody>
                  <a:tcPr marL="9525" marR="9525" marT="9525" anchor="ctr">
                    <a:lnL>
                      <a:noFill/>
                    </a:lnL>
                    <a:lnR>
                      <a:noFill/>
                    </a:lnR>
                    <a:lnT>
                      <a:noFill/>
                    </a:lnT>
                    <a:lnB>
                      <a:noFill/>
                    </a:lnB>
                    <a:solidFill>
                      <a:srgbClr val="FFFFFF"/>
                    </a:solidFill>
                  </a:tcPr>
                </a:tc>
                <a:extLst>
                  <a:ext uri="{0D108BD9-81ED-4DB2-BD59-A6C34878D82A}">
                    <a16:rowId xmlns:a16="http://schemas.microsoft.com/office/drawing/2014/main" val="2960068220"/>
                  </a:ext>
                </a:extLst>
              </a:tr>
              <a:tr h="279259">
                <a:tc>
                  <a:txBody>
                    <a:bodyPr/>
                    <a:lstStyle/>
                    <a:p>
                      <a:pPr fontAlgn="b">
                        <a:buNone/>
                      </a:pPr>
                      <a:r>
                        <a:rPr lang="en-US" sz="1100">
                          <a:solidFill>
                            <a:srgbClr val="22222F"/>
                          </a:solidFill>
                          <a:effectLst/>
                          <a:latin typeface="Inter Var"/>
                        </a:rPr>
                        <a:t>FIIs </a:t>
                      </a:r>
                    </a:p>
                  </a:txBody>
                  <a:tcPr marL="9525" marR="9525" marT="9525" anchor="ctr">
                    <a:lnL>
                      <a:noFill/>
                    </a:lnL>
                    <a:lnR>
                      <a:noFill/>
                    </a:lnR>
                    <a:lnT>
                      <a:noFill/>
                    </a:lnT>
                    <a:lnB>
                      <a:noFill/>
                    </a:lnB>
                    <a:solidFill>
                      <a:srgbClr val="E2EFDA"/>
                    </a:solidFill>
                  </a:tcPr>
                </a:tc>
                <a:tc>
                  <a:txBody>
                    <a:bodyPr/>
                    <a:lstStyle/>
                    <a:p>
                      <a:pPr algn="r" fontAlgn="b">
                        <a:buNone/>
                      </a:pPr>
                      <a:r>
                        <a:rPr lang="en-US" sz="1100">
                          <a:solidFill>
                            <a:srgbClr val="22222F"/>
                          </a:solidFill>
                          <a:effectLst/>
                          <a:latin typeface="Inter Var"/>
                        </a:rPr>
                        <a:t>21.47%</a:t>
                      </a:r>
                    </a:p>
                  </a:txBody>
                  <a:tcPr marL="9525" marR="9525" marT="9525" anchor="ctr">
                    <a:lnL>
                      <a:noFill/>
                    </a:lnL>
                    <a:lnR>
                      <a:noFill/>
                    </a:lnR>
                    <a:lnT>
                      <a:noFill/>
                    </a:lnT>
                    <a:lnB>
                      <a:noFill/>
                    </a:lnB>
                    <a:solidFill>
                      <a:srgbClr val="FFFFFF"/>
                    </a:solidFill>
                  </a:tcPr>
                </a:tc>
                <a:tc>
                  <a:txBody>
                    <a:bodyPr/>
                    <a:lstStyle/>
                    <a:p>
                      <a:pPr algn="r" fontAlgn="b">
                        <a:buNone/>
                      </a:pPr>
                      <a:r>
                        <a:rPr lang="en-US" sz="1100">
                          <a:solidFill>
                            <a:srgbClr val="22222F"/>
                          </a:solidFill>
                          <a:effectLst/>
                          <a:latin typeface="Inter Var"/>
                        </a:rPr>
                        <a:t>16.53%</a:t>
                      </a:r>
                    </a:p>
                  </a:txBody>
                  <a:tcPr marL="9525" marR="9525" marT="9525" anchor="ctr">
                    <a:lnL>
                      <a:noFill/>
                    </a:lnL>
                    <a:lnR>
                      <a:noFill/>
                    </a:lnR>
                    <a:lnT>
                      <a:noFill/>
                    </a:lnT>
                    <a:lnB>
                      <a:noFill/>
                    </a:lnB>
                    <a:solidFill>
                      <a:srgbClr val="FFFFFF"/>
                    </a:solidFill>
                  </a:tcPr>
                </a:tc>
                <a:tc>
                  <a:txBody>
                    <a:bodyPr/>
                    <a:lstStyle/>
                    <a:p>
                      <a:pPr algn="r" fontAlgn="b">
                        <a:buNone/>
                      </a:pPr>
                      <a:r>
                        <a:rPr lang="en-US" sz="1100">
                          <a:solidFill>
                            <a:srgbClr val="22222F"/>
                          </a:solidFill>
                          <a:effectLst/>
                          <a:latin typeface="Inter Var"/>
                        </a:rPr>
                        <a:t>17.13%</a:t>
                      </a:r>
                    </a:p>
                  </a:txBody>
                  <a:tcPr marL="9525" marR="9525" marT="9525" anchor="ctr">
                    <a:lnL>
                      <a:noFill/>
                    </a:lnL>
                    <a:lnR>
                      <a:noFill/>
                    </a:lnR>
                    <a:lnT>
                      <a:noFill/>
                    </a:lnT>
                    <a:lnB>
                      <a:noFill/>
                    </a:lnB>
                    <a:solidFill>
                      <a:srgbClr val="FFFFFF"/>
                    </a:solidFill>
                  </a:tcPr>
                </a:tc>
                <a:tc>
                  <a:txBody>
                    <a:bodyPr/>
                    <a:lstStyle/>
                    <a:p>
                      <a:pPr algn="r" fontAlgn="b">
                        <a:buNone/>
                      </a:pPr>
                      <a:r>
                        <a:rPr lang="en-US" sz="1100">
                          <a:solidFill>
                            <a:srgbClr val="22222F"/>
                          </a:solidFill>
                          <a:effectLst/>
                          <a:latin typeface="Inter Var"/>
                        </a:rPr>
                        <a:t>18.15%</a:t>
                      </a:r>
                    </a:p>
                  </a:txBody>
                  <a:tcPr marL="9525" marR="9525" marT="9525" anchor="ctr">
                    <a:lnL>
                      <a:noFill/>
                    </a:lnL>
                    <a:lnR>
                      <a:noFill/>
                    </a:lnR>
                    <a:lnT>
                      <a:noFill/>
                    </a:lnT>
                    <a:lnB>
                      <a:noFill/>
                    </a:lnB>
                    <a:solidFill>
                      <a:srgbClr val="FFFFFF"/>
                    </a:solidFill>
                  </a:tcPr>
                </a:tc>
                <a:tc>
                  <a:txBody>
                    <a:bodyPr/>
                    <a:lstStyle/>
                    <a:p>
                      <a:pPr algn="r" fontAlgn="b">
                        <a:buNone/>
                      </a:pPr>
                      <a:r>
                        <a:rPr lang="en-US" sz="1100">
                          <a:solidFill>
                            <a:srgbClr val="22222F"/>
                          </a:solidFill>
                          <a:effectLst/>
                          <a:latin typeface="Inter Var"/>
                        </a:rPr>
                        <a:t>12.45%</a:t>
                      </a:r>
                    </a:p>
                  </a:txBody>
                  <a:tcPr marL="9525" marR="9525" marT="9525" anchor="ctr">
                    <a:lnL>
                      <a:noFill/>
                    </a:lnL>
                    <a:lnR>
                      <a:noFill/>
                    </a:lnR>
                    <a:lnT>
                      <a:noFill/>
                    </a:lnT>
                    <a:lnB>
                      <a:noFill/>
                    </a:lnB>
                    <a:solidFill>
                      <a:srgbClr val="FFFFFF"/>
                    </a:solidFill>
                  </a:tcPr>
                </a:tc>
                <a:extLst>
                  <a:ext uri="{0D108BD9-81ED-4DB2-BD59-A6C34878D82A}">
                    <a16:rowId xmlns:a16="http://schemas.microsoft.com/office/drawing/2014/main" val="3263102050"/>
                  </a:ext>
                </a:extLst>
              </a:tr>
              <a:tr h="279259">
                <a:tc>
                  <a:txBody>
                    <a:bodyPr/>
                    <a:lstStyle/>
                    <a:p>
                      <a:pPr fontAlgn="b">
                        <a:buNone/>
                      </a:pPr>
                      <a:r>
                        <a:rPr lang="en-US" sz="1100">
                          <a:solidFill>
                            <a:srgbClr val="22222F"/>
                          </a:solidFill>
                          <a:effectLst/>
                          <a:latin typeface="Inter Var"/>
                        </a:rPr>
                        <a:t>DIIs </a:t>
                      </a:r>
                    </a:p>
                  </a:txBody>
                  <a:tcPr marL="9525" marR="9525" marT="9525" anchor="ctr">
                    <a:lnL>
                      <a:noFill/>
                    </a:lnL>
                    <a:lnR>
                      <a:noFill/>
                    </a:lnR>
                    <a:lnT>
                      <a:noFill/>
                    </a:lnT>
                    <a:lnB>
                      <a:noFill/>
                    </a:lnB>
                    <a:solidFill>
                      <a:srgbClr val="E2EFDA"/>
                    </a:solidFill>
                  </a:tcPr>
                </a:tc>
                <a:tc>
                  <a:txBody>
                    <a:bodyPr/>
                    <a:lstStyle/>
                    <a:p>
                      <a:pPr algn="r" fontAlgn="b">
                        <a:buNone/>
                      </a:pPr>
                      <a:r>
                        <a:rPr lang="en-US" sz="1100">
                          <a:solidFill>
                            <a:srgbClr val="22222F"/>
                          </a:solidFill>
                          <a:effectLst/>
                          <a:latin typeface="Inter Var"/>
                        </a:rPr>
                        <a:t>0.30%</a:t>
                      </a:r>
                    </a:p>
                  </a:txBody>
                  <a:tcPr marL="9525" marR="9525" marT="9525" anchor="ctr">
                    <a:lnL>
                      <a:noFill/>
                    </a:lnL>
                    <a:lnR>
                      <a:noFill/>
                    </a:lnR>
                    <a:lnT>
                      <a:noFill/>
                    </a:lnT>
                    <a:lnB>
                      <a:noFill/>
                    </a:lnB>
                    <a:solidFill>
                      <a:srgbClr val="FFFFFF"/>
                    </a:solidFill>
                  </a:tcPr>
                </a:tc>
                <a:tc>
                  <a:txBody>
                    <a:bodyPr/>
                    <a:lstStyle/>
                    <a:p>
                      <a:pPr algn="r" fontAlgn="b">
                        <a:buNone/>
                      </a:pPr>
                      <a:r>
                        <a:rPr lang="en-US" sz="1100">
                          <a:solidFill>
                            <a:srgbClr val="22222F"/>
                          </a:solidFill>
                          <a:effectLst/>
                          <a:latin typeface="Inter Var"/>
                        </a:rPr>
                        <a:t>0.79%</a:t>
                      </a:r>
                    </a:p>
                  </a:txBody>
                  <a:tcPr marL="9525" marR="9525" marT="9525" anchor="ctr">
                    <a:lnL>
                      <a:noFill/>
                    </a:lnL>
                    <a:lnR>
                      <a:noFill/>
                    </a:lnR>
                    <a:lnT>
                      <a:noFill/>
                    </a:lnT>
                    <a:lnB>
                      <a:noFill/>
                    </a:lnB>
                    <a:solidFill>
                      <a:srgbClr val="FFFFFF"/>
                    </a:solidFill>
                  </a:tcPr>
                </a:tc>
                <a:tc>
                  <a:txBody>
                    <a:bodyPr/>
                    <a:lstStyle/>
                    <a:p>
                      <a:pPr algn="r" fontAlgn="b">
                        <a:buNone/>
                      </a:pPr>
                      <a:r>
                        <a:rPr lang="en-US" sz="1100">
                          <a:solidFill>
                            <a:srgbClr val="22222F"/>
                          </a:solidFill>
                          <a:effectLst/>
                          <a:latin typeface="Inter Var"/>
                        </a:rPr>
                        <a:t>1.45%</a:t>
                      </a:r>
                    </a:p>
                  </a:txBody>
                  <a:tcPr marL="9525" marR="9525" marT="9525" anchor="ctr">
                    <a:lnL>
                      <a:noFill/>
                    </a:lnL>
                    <a:lnR>
                      <a:noFill/>
                    </a:lnR>
                    <a:lnT>
                      <a:noFill/>
                    </a:lnT>
                    <a:lnB>
                      <a:noFill/>
                    </a:lnB>
                    <a:solidFill>
                      <a:srgbClr val="FFFFFF"/>
                    </a:solidFill>
                  </a:tcPr>
                </a:tc>
                <a:tc>
                  <a:txBody>
                    <a:bodyPr/>
                    <a:lstStyle/>
                    <a:p>
                      <a:pPr algn="r" fontAlgn="b">
                        <a:buNone/>
                      </a:pPr>
                      <a:r>
                        <a:rPr lang="en-US" sz="1100">
                          <a:solidFill>
                            <a:srgbClr val="22222F"/>
                          </a:solidFill>
                          <a:effectLst/>
                          <a:latin typeface="Inter Var"/>
                        </a:rPr>
                        <a:t>1.55%</a:t>
                      </a:r>
                    </a:p>
                  </a:txBody>
                  <a:tcPr marL="9525" marR="9525" marT="9525" anchor="ctr">
                    <a:lnL>
                      <a:noFill/>
                    </a:lnL>
                    <a:lnR>
                      <a:noFill/>
                    </a:lnR>
                    <a:lnT>
                      <a:noFill/>
                    </a:lnT>
                    <a:lnB>
                      <a:noFill/>
                    </a:lnB>
                    <a:solidFill>
                      <a:srgbClr val="FFFFFF"/>
                    </a:solidFill>
                  </a:tcPr>
                </a:tc>
                <a:tc>
                  <a:txBody>
                    <a:bodyPr/>
                    <a:lstStyle/>
                    <a:p>
                      <a:pPr algn="r" fontAlgn="b">
                        <a:buNone/>
                      </a:pPr>
                      <a:r>
                        <a:rPr lang="en-US" sz="1100">
                          <a:solidFill>
                            <a:srgbClr val="22222F"/>
                          </a:solidFill>
                          <a:effectLst/>
                          <a:latin typeface="Inter Var"/>
                        </a:rPr>
                        <a:t>2.40%</a:t>
                      </a:r>
                    </a:p>
                  </a:txBody>
                  <a:tcPr marL="9525" marR="9525" marT="9525" anchor="ctr">
                    <a:lnL>
                      <a:noFill/>
                    </a:lnL>
                    <a:lnR>
                      <a:noFill/>
                    </a:lnR>
                    <a:lnT>
                      <a:noFill/>
                    </a:lnT>
                    <a:lnB>
                      <a:noFill/>
                    </a:lnB>
                    <a:solidFill>
                      <a:srgbClr val="FFFFFF"/>
                    </a:solidFill>
                  </a:tcPr>
                </a:tc>
                <a:extLst>
                  <a:ext uri="{0D108BD9-81ED-4DB2-BD59-A6C34878D82A}">
                    <a16:rowId xmlns:a16="http://schemas.microsoft.com/office/drawing/2014/main" val="3275215703"/>
                  </a:ext>
                </a:extLst>
              </a:tr>
              <a:tr h="279259">
                <a:tc>
                  <a:txBody>
                    <a:bodyPr/>
                    <a:lstStyle/>
                    <a:p>
                      <a:pPr fontAlgn="b">
                        <a:buNone/>
                      </a:pPr>
                      <a:r>
                        <a:rPr lang="en-US" sz="1100">
                          <a:solidFill>
                            <a:srgbClr val="22222F"/>
                          </a:solidFill>
                          <a:effectLst/>
                          <a:latin typeface="Inter Var"/>
                        </a:rPr>
                        <a:t>Public </a:t>
                      </a:r>
                    </a:p>
                  </a:txBody>
                  <a:tcPr marL="9525" marR="9525" marT="9525" anchor="ctr">
                    <a:lnL>
                      <a:noFill/>
                    </a:lnL>
                    <a:lnR>
                      <a:noFill/>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r" fontAlgn="b">
                        <a:buNone/>
                      </a:pPr>
                      <a:r>
                        <a:rPr lang="en-US" sz="1100" dirty="0">
                          <a:solidFill>
                            <a:srgbClr val="22222F"/>
                          </a:solidFill>
                          <a:effectLst/>
                          <a:latin typeface="Inter Var"/>
                        </a:rPr>
                        <a:t>21.94%</a:t>
                      </a:r>
                    </a:p>
                  </a:txBody>
                  <a:tcPr marL="9525" marR="9525" marT="9525"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a:solidFill>
                            <a:srgbClr val="22222F"/>
                          </a:solidFill>
                          <a:effectLst/>
                          <a:latin typeface="Inter Var"/>
                        </a:rPr>
                        <a:t>21.41%</a:t>
                      </a:r>
                    </a:p>
                  </a:txBody>
                  <a:tcPr marL="9525" marR="9525" marT="9525"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a:solidFill>
                            <a:srgbClr val="22222F"/>
                          </a:solidFill>
                          <a:effectLst/>
                          <a:latin typeface="Inter Var"/>
                        </a:rPr>
                        <a:t>24.16%</a:t>
                      </a:r>
                    </a:p>
                  </a:txBody>
                  <a:tcPr marL="9525" marR="9525" marT="9525"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a:solidFill>
                            <a:srgbClr val="22222F"/>
                          </a:solidFill>
                          <a:effectLst/>
                          <a:latin typeface="Inter Var"/>
                        </a:rPr>
                        <a:t>23.93%</a:t>
                      </a:r>
                    </a:p>
                  </a:txBody>
                  <a:tcPr marL="9525" marR="9525" marT="9525"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a:solidFill>
                            <a:srgbClr val="22222F"/>
                          </a:solidFill>
                          <a:effectLst/>
                          <a:latin typeface="Inter Var"/>
                        </a:rPr>
                        <a:t>24.22%</a:t>
                      </a:r>
                    </a:p>
                  </a:txBody>
                  <a:tcPr marL="9525" marR="9525" marT="9525"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09203188"/>
                  </a:ext>
                </a:extLst>
              </a:tr>
              <a:tr h="279259">
                <a:tc>
                  <a:txBody>
                    <a:bodyPr/>
                    <a:lstStyle/>
                    <a:p>
                      <a:pPr fontAlgn="b">
                        <a:buNone/>
                      </a:pPr>
                      <a:r>
                        <a:rPr lang="en-US" sz="1100" b="1">
                          <a:solidFill>
                            <a:schemeClr val="tx1"/>
                          </a:solidFill>
                          <a:effectLst/>
                          <a:latin typeface="Inter Var"/>
                        </a:rPr>
                        <a:t>No. of Shareholders</a:t>
                      </a:r>
                    </a:p>
                  </a:txBody>
                  <a:tcPr marL="9525" marR="9525" marT="9525"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r" fontAlgn="b">
                        <a:buNone/>
                      </a:pPr>
                      <a:r>
                        <a:rPr lang="en-US" sz="1100" b="1">
                          <a:solidFill>
                            <a:schemeClr val="tx1"/>
                          </a:solidFill>
                          <a:effectLst/>
                          <a:latin typeface="Inter Var"/>
                        </a:rPr>
                        <a:t>166,386</a:t>
                      </a:r>
                    </a:p>
                  </a:txBody>
                  <a:tcPr marL="9525" marR="9525" marT="9525"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1">
                          <a:solidFill>
                            <a:schemeClr val="tx1"/>
                          </a:solidFill>
                          <a:effectLst/>
                          <a:latin typeface="Inter Var"/>
                        </a:rPr>
                        <a:t>228,469</a:t>
                      </a:r>
                    </a:p>
                  </a:txBody>
                  <a:tcPr marL="9525" marR="9525" marT="9525"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1">
                          <a:solidFill>
                            <a:schemeClr val="tx1"/>
                          </a:solidFill>
                          <a:effectLst/>
                          <a:latin typeface="Inter Var"/>
                        </a:rPr>
                        <a:t>746,294</a:t>
                      </a:r>
                    </a:p>
                  </a:txBody>
                  <a:tcPr marL="9525" marR="9525" marT="9525"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1">
                          <a:solidFill>
                            <a:schemeClr val="tx1"/>
                          </a:solidFill>
                          <a:effectLst/>
                          <a:latin typeface="Inter Var"/>
                        </a:rPr>
                        <a:t>668,586</a:t>
                      </a:r>
                    </a:p>
                  </a:txBody>
                  <a:tcPr marL="9525" marR="9525" marT="9525"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1" dirty="0">
                          <a:solidFill>
                            <a:schemeClr val="tx1"/>
                          </a:solidFill>
                          <a:effectLst/>
                          <a:latin typeface="Inter Var"/>
                        </a:rPr>
                        <a:t>995,700</a:t>
                      </a:r>
                    </a:p>
                  </a:txBody>
                  <a:tcPr marL="9525" marR="9525" marT="9525"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14414069"/>
                  </a:ext>
                </a:extLst>
              </a:tr>
            </a:tbl>
          </a:graphicData>
        </a:graphic>
      </p:graphicFrame>
      <p:graphicFrame>
        <p:nvGraphicFramePr>
          <p:cNvPr id="8" name="Chart 7">
            <a:extLst>
              <a:ext uri="{FF2B5EF4-FFF2-40B4-BE49-F238E27FC236}">
                <a16:creationId xmlns:a16="http://schemas.microsoft.com/office/drawing/2014/main" id="{C776010A-CF4C-C04B-CAA7-CAA453C8FB90}"/>
              </a:ext>
              <a:ext uri="{147F2762-F138-4A5C-976F-8EAC2B608ADB}">
                <a16:predDERef xmlns:a16="http://schemas.microsoft.com/office/drawing/2014/main" pred="{D50D538C-C117-4CAF-A7E0-3DBDB61FDE6E}"/>
              </a:ext>
            </a:extLst>
          </p:cNvPr>
          <p:cNvGraphicFramePr>
            <a:graphicFrameLocks/>
          </p:cNvGraphicFramePr>
          <p:nvPr>
            <p:extLst>
              <p:ext uri="{D42A27DB-BD31-4B8C-83A1-F6EECF244321}">
                <p14:modId xmlns:p14="http://schemas.microsoft.com/office/powerpoint/2010/main" val="3269449641"/>
              </p:ext>
            </p:extLst>
          </p:nvPr>
        </p:nvGraphicFramePr>
        <p:xfrm>
          <a:off x="2999189" y="5769375"/>
          <a:ext cx="3203256" cy="1858895"/>
        </p:xfrm>
        <a:graphic>
          <a:graphicData uri="http://schemas.openxmlformats.org/drawingml/2006/chart">
            <c:chart xmlns:c="http://schemas.openxmlformats.org/drawingml/2006/chart" xmlns:r="http://schemas.openxmlformats.org/officeDocument/2006/relationships" r:id="rId3"/>
          </a:graphicData>
        </a:graphic>
      </p:graphicFrame>
      <p:cxnSp>
        <p:nvCxnSpPr>
          <p:cNvPr id="10" name="Straight Arrow Connector 9">
            <a:extLst>
              <a:ext uri="{FF2B5EF4-FFF2-40B4-BE49-F238E27FC236}">
                <a16:creationId xmlns:a16="http://schemas.microsoft.com/office/drawing/2014/main" id="{0B14B458-8FA1-8105-1D00-A526461E0110}"/>
              </a:ext>
            </a:extLst>
          </p:cNvPr>
          <p:cNvCxnSpPr/>
          <p:nvPr/>
        </p:nvCxnSpPr>
        <p:spPr>
          <a:xfrm>
            <a:off x="2956395" y="2998157"/>
            <a:ext cx="38791" cy="4727031"/>
          </a:xfrm>
          <a:prstGeom prst="straightConnector1">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Chart 5">
            <a:extLst>
              <a:ext uri="{FF2B5EF4-FFF2-40B4-BE49-F238E27FC236}">
                <a16:creationId xmlns:a16="http://schemas.microsoft.com/office/drawing/2014/main" id="{23D4AA14-00EC-5C66-5D5C-BDD12D640405}"/>
              </a:ext>
              <a:ext uri="{147F2762-F138-4A5C-976F-8EAC2B608ADB}">
                <a16:predDERef xmlns:a16="http://schemas.microsoft.com/office/drawing/2014/main" pred="{C776010A-CF4C-C04B-CAA7-CAA453C8FB90}"/>
              </a:ext>
            </a:extLst>
          </p:cNvPr>
          <p:cNvGraphicFramePr>
            <a:graphicFrameLocks/>
          </p:cNvGraphicFramePr>
          <p:nvPr>
            <p:extLst>
              <p:ext uri="{D42A27DB-BD31-4B8C-83A1-F6EECF244321}">
                <p14:modId xmlns:p14="http://schemas.microsoft.com/office/powerpoint/2010/main" val="4008987390"/>
              </p:ext>
            </p:extLst>
          </p:nvPr>
        </p:nvGraphicFramePr>
        <p:xfrm>
          <a:off x="59488" y="5775491"/>
          <a:ext cx="2862833" cy="175953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1" name="Chart 20">
            <a:extLst>
              <a:ext uri="{FF2B5EF4-FFF2-40B4-BE49-F238E27FC236}">
                <a16:creationId xmlns:a16="http://schemas.microsoft.com/office/drawing/2014/main" id="{CE059B8A-B2AA-66D5-34BB-EE32B2D5E7A0}"/>
              </a:ext>
              <a:ext uri="{147F2762-F138-4A5C-976F-8EAC2B608ADB}">
                <a16:predDERef xmlns:a16="http://schemas.microsoft.com/office/drawing/2014/main" pred="{23D4AA14-00EC-5C66-5D5C-BDD12D640405}"/>
              </a:ext>
            </a:extLst>
          </p:cNvPr>
          <p:cNvGraphicFramePr>
            <a:graphicFrameLocks/>
          </p:cNvGraphicFramePr>
          <p:nvPr>
            <p:extLst>
              <p:ext uri="{D42A27DB-BD31-4B8C-83A1-F6EECF244321}">
                <p14:modId xmlns:p14="http://schemas.microsoft.com/office/powerpoint/2010/main" val="1623917390"/>
              </p:ext>
            </p:extLst>
          </p:nvPr>
        </p:nvGraphicFramePr>
        <p:xfrm>
          <a:off x="3010436" y="3279855"/>
          <a:ext cx="3082992" cy="2201173"/>
        </p:xfrm>
        <a:graphic>
          <a:graphicData uri="http://schemas.openxmlformats.org/drawingml/2006/chart">
            <c:chart xmlns:c="http://schemas.openxmlformats.org/drawingml/2006/chart" xmlns:r="http://schemas.openxmlformats.org/officeDocument/2006/relationships" r:id="rId5"/>
          </a:graphicData>
        </a:graphic>
      </p:graphicFrame>
      <p:cxnSp>
        <p:nvCxnSpPr>
          <p:cNvPr id="22" name="Straight Arrow Connector 21">
            <a:extLst>
              <a:ext uri="{FF2B5EF4-FFF2-40B4-BE49-F238E27FC236}">
                <a16:creationId xmlns:a16="http://schemas.microsoft.com/office/drawing/2014/main" id="{B9247900-9A52-2ADD-2451-3651120A66CF}"/>
              </a:ext>
            </a:extLst>
          </p:cNvPr>
          <p:cNvCxnSpPr/>
          <p:nvPr/>
        </p:nvCxnSpPr>
        <p:spPr>
          <a:xfrm>
            <a:off x="0" y="5500260"/>
            <a:ext cx="6229264" cy="13119"/>
          </a:xfrm>
          <a:prstGeom prst="straightConnector1">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8E6894FE-B576-BA37-352F-AA3CAFBB1AE6}"/>
              </a:ext>
            </a:extLst>
          </p:cNvPr>
          <p:cNvGrpSpPr/>
          <p:nvPr/>
        </p:nvGrpSpPr>
        <p:grpSpPr>
          <a:xfrm>
            <a:off x="-195021" y="3295049"/>
            <a:ext cx="3371850" cy="1943100"/>
            <a:chOff x="-277751" y="3305175"/>
            <a:chExt cx="3371850" cy="1943100"/>
          </a:xfrm>
        </p:grpSpPr>
        <p:cxnSp>
          <p:nvCxnSpPr>
            <p:cNvPr id="15" name="Straight Arrow Connector 14">
              <a:extLst>
                <a:ext uri="{FF2B5EF4-FFF2-40B4-BE49-F238E27FC236}">
                  <a16:creationId xmlns:a16="http://schemas.microsoft.com/office/drawing/2014/main" id="{C2CE7D93-C409-E17A-8786-B5181B380D81}"/>
                </a:ext>
              </a:extLst>
            </p:cNvPr>
            <p:cNvCxnSpPr>
              <a:cxnSpLocks/>
            </p:cNvCxnSpPr>
            <p:nvPr/>
          </p:nvCxnSpPr>
          <p:spPr>
            <a:xfrm flipV="1">
              <a:off x="83357" y="4744471"/>
              <a:ext cx="717916" cy="6331"/>
            </a:xfrm>
            <a:prstGeom prst="straightConnector1">
              <a:avLst/>
            </a:prstGeom>
            <a:ln>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E9B5920-F172-9C41-47A8-00ADF373DF75}"/>
                </a:ext>
              </a:extLst>
            </p:cNvPr>
            <p:cNvCxnSpPr>
              <a:cxnSpLocks/>
            </p:cNvCxnSpPr>
            <p:nvPr/>
          </p:nvCxnSpPr>
          <p:spPr>
            <a:xfrm flipV="1">
              <a:off x="60747" y="4466240"/>
              <a:ext cx="695351" cy="6331"/>
            </a:xfrm>
            <a:prstGeom prst="straightConnector1">
              <a:avLst/>
            </a:prstGeom>
            <a:ln>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0F26B17-3554-FD67-AD76-2F81A7C9CE86}"/>
                </a:ext>
              </a:extLst>
            </p:cNvPr>
            <p:cNvCxnSpPr>
              <a:cxnSpLocks/>
            </p:cNvCxnSpPr>
            <p:nvPr/>
          </p:nvCxnSpPr>
          <p:spPr>
            <a:xfrm>
              <a:off x="68236" y="4201860"/>
              <a:ext cx="710393" cy="1189"/>
            </a:xfrm>
            <a:prstGeom prst="straightConnector1">
              <a:avLst/>
            </a:prstGeom>
            <a:ln>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87FDBFC-1838-DAF4-C645-3A757633D5C0}"/>
                </a:ext>
              </a:extLst>
            </p:cNvPr>
            <p:cNvSpPr txBox="1"/>
            <p:nvPr/>
          </p:nvSpPr>
          <p:spPr>
            <a:xfrm>
              <a:off x="-4681" y="4575849"/>
              <a:ext cx="886286"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100" dirty="0">
                  <a:ea typeface="Calibri"/>
                  <a:cs typeface="Calibri"/>
                </a:rPr>
                <a:t>FIIs</a:t>
              </a:r>
            </a:p>
          </p:txBody>
        </p:sp>
        <p:sp>
          <p:nvSpPr>
            <p:cNvPr id="19" name="TextBox 18">
              <a:extLst>
                <a:ext uri="{FF2B5EF4-FFF2-40B4-BE49-F238E27FC236}">
                  <a16:creationId xmlns:a16="http://schemas.microsoft.com/office/drawing/2014/main" id="{CC89C0BB-4B00-C361-A17D-3B08E01B3AAA}"/>
                </a:ext>
              </a:extLst>
            </p:cNvPr>
            <p:cNvSpPr txBox="1"/>
            <p:nvPr/>
          </p:nvSpPr>
          <p:spPr>
            <a:xfrm>
              <a:off x="-19746" y="4297618"/>
              <a:ext cx="886286"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100" dirty="0">
                  <a:ea typeface="Calibri"/>
                  <a:cs typeface="Calibri"/>
                </a:rPr>
                <a:t>DIIs</a:t>
              </a:r>
            </a:p>
          </p:txBody>
        </p:sp>
        <p:sp>
          <p:nvSpPr>
            <p:cNvPr id="20" name="TextBox 19">
              <a:extLst>
                <a:ext uri="{FF2B5EF4-FFF2-40B4-BE49-F238E27FC236}">
                  <a16:creationId xmlns:a16="http://schemas.microsoft.com/office/drawing/2014/main" id="{4B5C0E92-8B56-12CE-A576-6209F215D0B6}"/>
                </a:ext>
              </a:extLst>
            </p:cNvPr>
            <p:cNvSpPr txBox="1"/>
            <p:nvPr/>
          </p:nvSpPr>
          <p:spPr>
            <a:xfrm>
              <a:off x="-19766" y="4019388"/>
              <a:ext cx="886286"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100" dirty="0">
                  <a:ea typeface="Calibri"/>
                  <a:cs typeface="Calibri"/>
                </a:rPr>
                <a:t>Public</a:t>
              </a:r>
            </a:p>
          </p:txBody>
        </p:sp>
        <p:grpSp>
          <p:nvGrpSpPr>
            <p:cNvPr id="5" name="Group 4">
              <a:extLst>
                <a:ext uri="{FF2B5EF4-FFF2-40B4-BE49-F238E27FC236}">
                  <a16:creationId xmlns:a16="http://schemas.microsoft.com/office/drawing/2014/main" id="{A77D2FF9-A570-BCA3-5BE4-508A7D5736E0}"/>
                </a:ext>
              </a:extLst>
            </p:cNvPr>
            <p:cNvGrpSpPr/>
            <p:nvPr/>
          </p:nvGrpSpPr>
          <p:grpSpPr>
            <a:xfrm>
              <a:off x="-277751" y="3305175"/>
              <a:ext cx="3371850" cy="1943100"/>
              <a:chOff x="-277751" y="3305175"/>
              <a:chExt cx="3371850" cy="1943100"/>
            </a:xfrm>
          </p:grpSpPr>
          <p:grpSp>
            <p:nvGrpSpPr>
              <p:cNvPr id="3" name="Group 2">
                <a:extLst>
                  <a:ext uri="{FF2B5EF4-FFF2-40B4-BE49-F238E27FC236}">
                    <a16:creationId xmlns:a16="http://schemas.microsoft.com/office/drawing/2014/main" id="{F8F403A2-B863-7E2D-7249-4D19A1860879}"/>
                  </a:ext>
                </a:extLst>
              </p:cNvPr>
              <p:cNvGrpSpPr/>
              <p:nvPr/>
            </p:nvGrpSpPr>
            <p:grpSpPr>
              <a:xfrm>
                <a:off x="-277751" y="3305175"/>
                <a:ext cx="3371850" cy="1943100"/>
                <a:chOff x="-277751" y="3305175"/>
                <a:chExt cx="3371850" cy="1943100"/>
              </a:xfrm>
            </p:grpSpPr>
            <p:graphicFrame>
              <p:nvGraphicFramePr>
                <p:cNvPr id="2" name="Chart 1">
                  <a:extLst>
                    <a:ext uri="{FF2B5EF4-FFF2-40B4-BE49-F238E27FC236}">
                      <a16:creationId xmlns:a16="http://schemas.microsoft.com/office/drawing/2014/main" id="{82BD63F1-BF8B-1894-610B-419944B24CD0}"/>
                    </a:ext>
                  </a:extLst>
                </p:cNvPr>
                <p:cNvGraphicFramePr>
                  <a:graphicFrameLocks/>
                </p:cNvGraphicFramePr>
                <p:nvPr>
                  <p:extLst>
                    <p:ext uri="{D42A27DB-BD31-4B8C-83A1-F6EECF244321}">
                      <p14:modId xmlns:p14="http://schemas.microsoft.com/office/powerpoint/2010/main" val="1072037512"/>
                    </p:ext>
                  </p:extLst>
                </p:nvPr>
              </p:nvGraphicFramePr>
              <p:xfrm>
                <a:off x="-277751" y="3305175"/>
                <a:ext cx="3371850" cy="1943100"/>
              </p:xfrm>
              <a:graphic>
                <a:graphicData uri="http://schemas.openxmlformats.org/drawingml/2006/chart">
                  <c:chart xmlns:c="http://schemas.openxmlformats.org/drawingml/2006/chart" xmlns:r="http://schemas.openxmlformats.org/officeDocument/2006/relationships" r:id="rId6"/>
                </a:graphicData>
              </a:graphic>
            </p:graphicFrame>
            <p:cxnSp>
              <p:nvCxnSpPr>
                <p:cNvPr id="12" name="Straight Arrow Connector 11">
                  <a:extLst>
                    <a:ext uri="{FF2B5EF4-FFF2-40B4-BE49-F238E27FC236}">
                      <a16:creationId xmlns:a16="http://schemas.microsoft.com/office/drawing/2014/main" id="{B3363276-62DC-D269-0164-F6A9CBE87328}"/>
                    </a:ext>
                  </a:extLst>
                </p:cNvPr>
                <p:cNvCxnSpPr/>
                <p:nvPr/>
              </p:nvCxnSpPr>
              <p:spPr>
                <a:xfrm>
                  <a:off x="1783403" y="3901074"/>
                  <a:ext cx="958584" cy="1188"/>
                </a:xfrm>
                <a:prstGeom prst="straightConnector1">
                  <a:avLst/>
                </a:prstGeom>
                <a:ln>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4B3E131-4C74-0DF3-C557-B0ABD6B785A2}"/>
                    </a:ext>
                  </a:extLst>
                </p:cNvPr>
                <p:cNvSpPr txBox="1"/>
                <p:nvPr/>
              </p:nvSpPr>
              <p:spPr>
                <a:xfrm>
                  <a:off x="2033847" y="3717412"/>
                  <a:ext cx="886286"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100" dirty="0">
                      <a:ea typeface="Calibri"/>
                      <a:cs typeface="Calibri"/>
                    </a:rPr>
                    <a:t>Promoters</a:t>
                  </a:r>
                </a:p>
              </p:txBody>
            </p:sp>
            <p:sp>
              <p:nvSpPr>
                <p:cNvPr id="23" name="TextBox 22">
                  <a:extLst>
                    <a:ext uri="{FF2B5EF4-FFF2-40B4-BE49-F238E27FC236}">
                      <a16:creationId xmlns:a16="http://schemas.microsoft.com/office/drawing/2014/main" id="{C39AA52B-FE2C-DE9D-D9B0-2F0AA317C180}"/>
                    </a:ext>
                  </a:extLst>
                </p:cNvPr>
                <p:cNvSpPr txBox="1"/>
                <p:nvPr/>
              </p:nvSpPr>
              <p:spPr>
                <a:xfrm>
                  <a:off x="2414984" y="3871570"/>
                  <a:ext cx="480822"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800" b="1" dirty="0">
                      <a:ea typeface="Calibri"/>
                      <a:cs typeface="Calibri"/>
                    </a:rPr>
                    <a:t>61%</a:t>
                  </a:r>
                </a:p>
              </p:txBody>
            </p:sp>
          </p:grpSp>
          <p:sp>
            <p:nvSpPr>
              <p:cNvPr id="24" name="TextBox 23">
                <a:extLst>
                  <a:ext uri="{FF2B5EF4-FFF2-40B4-BE49-F238E27FC236}">
                    <a16:creationId xmlns:a16="http://schemas.microsoft.com/office/drawing/2014/main" id="{9C996703-636B-859B-B65A-8AA6CB1BEDD2}"/>
                  </a:ext>
                </a:extLst>
              </p:cNvPr>
              <p:cNvSpPr txBox="1"/>
              <p:nvPr/>
            </p:nvSpPr>
            <p:spPr>
              <a:xfrm>
                <a:off x="-16450" y="4431406"/>
                <a:ext cx="480822"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800" b="1" dirty="0">
                    <a:ea typeface="Calibri"/>
                    <a:cs typeface="Calibri"/>
                  </a:rPr>
                  <a:t>2.5%</a:t>
                </a:r>
              </a:p>
            </p:txBody>
          </p:sp>
          <p:sp>
            <p:nvSpPr>
              <p:cNvPr id="25" name="TextBox 24">
                <a:extLst>
                  <a:ext uri="{FF2B5EF4-FFF2-40B4-BE49-F238E27FC236}">
                    <a16:creationId xmlns:a16="http://schemas.microsoft.com/office/drawing/2014/main" id="{02533E3D-9AA4-B0BC-77BA-13171352E9D2}"/>
                  </a:ext>
                </a:extLst>
              </p:cNvPr>
              <p:cNvSpPr txBox="1"/>
              <p:nvPr/>
            </p:nvSpPr>
            <p:spPr>
              <a:xfrm>
                <a:off x="-8341" y="4155545"/>
                <a:ext cx="480822"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800" b="1" dirty="0">
                    <a:ea typeface="Calibri"/>
                    <a:cs typeface="Calibri"/>
                  </a:rPr>
                  <a:t>24%</a:t>
                </a:r>
              </a:p>
            </p:txBody>
          </p:sp>
          <p:sp>
            <p:nvSpPr>
              <p:cNvPr id="26" name="TextBox 25">
                <a:extLst>
                  <a:ext uri="{FF2B5EF4-FFF2-40B4-BE49-F238E27FC236}">
                    <a16:creationId xmlns:a16="http://schemas.microsoft.com/office/drawing/2014/main" id="{C2474C06-B1CE-DA55-B156-53E5C9538A88}"/>
                  </a:ext>
                </a:extLst>
              </p:cNvPr>
              <p:cNvSpPr txBox="1"/>
              <p:nvPr/>
            </p:nvSpPr>
            <p:spPr>
              <a:xfrm>
                <a:off x="-16383" y="4699154"/>
                <a:ext cx="480822"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800" b="1" dirty="0">
                    <a:ea typeface="Calibri"/>
                    <a:cs typeface="Calibri"/>
                  </a:rPr>
                  <a:t>12.5%</a:t>
                </a:r>
              </a:p>
            </p:txBody>
          </p:sp>
        </p:grpSp>
      </p:grpSp>
      <p:cxnSp>
        <p:nvCxnSpPr>
          <p:cNvPr id="27" name="Straight Arrow Connector 26">
            <a:extLst>
              <a:ext uri="{FF2B5EF4-FFF2-40B4-BE49-F238E27FC236}">
                <a16:creationId xmlns:a16="http://schemas.microsoft.com/office/drawing/2014/main" id="{007C1256-1314-3823-F74F-1D2EEC6BD7FC}"/>
              </a:ext>
            </a:extLst>
          </p:cNvPr>
          <p:cNvCxnSpPr/>
          <p:nvPr/>
        </p:nvCxnSpPr>
        <p:spPr>
          <a:xfrm>
            <a:off x="-20966" y="8818899"/>
            <a:ext cx="6242549" cy="21691"/>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445270D-DF8D-1D30-F525-0D1035E854F7}"/>
              </a:ext>
            </a:extLst>
          </p:cNvPr>
          <p:cNvSpPr txBox="1"/>
          <p:nvPr/>
        </p:nvSpPr>
        <p:spPr>
          <a:xfrm>
            <a:off x="106888" y="7825265"/>
            <a:ext cx="5966531" cy="9387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solidFill>
                  <a:schemeClr val="tx1">
                    <a:lumMod val="49000"/>
                    <a:lumOff val="51000"/>
                  </a:schemeClr>
                </a:solidFill>
                <a:ea typeface="+mn-lt"/>
                <a:cs typeface="+mn-lt"/>
              </a:rPr>
              <a:t>Adani Green Energy Ltd (AGEL) is primarily a promoter-driven company, with the Adani Group holding about 62% of shares, while the remaining 38% is owned by public investors, including mutual funds, retail individuals, and foreign institutions. In recent quarters, promoter shareholding has seen a slight increase, whereas institutional holdings have marginally decreased, reflecting continued promoter confidence and stable, diverse public participation</a:t>
            </a:r>
            <a:r>
              <a:rPr lang="en-US" sz="1100">
                <a:ea typeface="+mn-lt"/>
                <a:cs typeface="+mn-lt"/>
              </a:rPr>
              <a:t>.</a:t>
            </a:r>
            <a:endParaRPr lang="en-US"/>
          </a:p>
        </p:txBody>
      </p:sp>
      <p:sp>
        <p:nvSpPr>
          <p:cNvPr id="28" name="Footer Placeholder 3">
            <a:extLst>
              <a:ext uri="{FF2B5EF4-FFF2-40B4-BE49-F238E27FC236}">
                <a16:creationId xmlns:a16="http://schemas.microsoft.com/office/drawing/2014/main" id="{500AF91B-5635-315D-11F9-319E6F338FA3}"/>
              </a:ext>
            </a:extLst>
          </p:cNvPr>
          <p:cNvSpPr>
            <a:spLocks noGrp="1"/>
          </p:cNvSpPr>
          <p:nvPr>
            <p:ph type="ftr" sz="quarter" idx="11"/>
          </p:nvPr>
        </p:nvSpPr>
        <p:spPr>
          <a:xfrm>
            <a:off x="-7551" y="8832134"/>
            <a:ext cx="6234928" cy="324563"/>
          </a:xfrm>
        </p:spPr>
        <p:txBody>
          <a:bodyPr/>
          <a:lstStyle/>
          <a:p>
            <a:pPr algn="l"/>
            <a:r>
              <a:rPr lang="en-US" sz="800">
                <a:ea typeface="Calibri"/>
                <a:cs typeface="Calibri"/>
              </a:rPr>
              <a:t>Disclaimer: This is only for educational purposes and we are not SEBI registered.</a:t>
            </a:r>
          </a:p>
        </p:txBody>
      </p:sp>
      <p:sp>
        <p:nvSpPr>
          <p:cNvPr id="32" name="Rectangle 31">
            <a:extLst>
              <a:ext uri="{FF2B5EF4-FFF2-40B4-BE49-F238E27FC236}">
                <a16:creationId xmlns:a16="http://schemas.microsoft.com/office/drawing/2014/main" id="{C5DFD75F-8B9E-29F1-F088-820DBFFB1D07}"/>
              </a:ext>
            </a:extLst>
          </p:cNvPr>
          <p:cNvSpPr/>
          <p:nvPr/>
        </p:nvSpPr>
        <p:spPr>
          <a:xfrm>
            <a:off x="98704" y="815933"/>
            <a:ext cx="6027421" cy="360000"/>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a:ea typeface="Calibri"/>
                <a:cs typeface="Calibri"/>
              </a:rPr>
              <a:t>Shareholding Pattern</a:t>
            </a:r>
            <a:endParaRPr lang="en-US"/>
          </a:p>
        </p:txBody>
      </p:sp>
      <p:sp>
        <p:nvSpPr>
          <p:cNvPr id="13" name="Slide Number Placeholder 6">
            <a:extLst>
              <a:ext uri="{FF2B5EF4-FFF2-40B4-BE49-F238E27FC236}">
                <a16:creationId xmlns:a16="http://schemas.microsoft.com/office/drawing/2014/main" id="{A9FB0C62-F0A3-CFF1-EA26-E863826D2F0F}"/>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4</a:t>
            </a:fld>
            <a:endParaRPr lang="en-US"/>
          </a:p>
        </p:txBody>
      </p:sp>
    </p:spTree>
    <p:extLst>
      <p:ext uri="{BB962C8B-B14F-4D97-AF65-F5344CB8AC3E}">
        <p14:creationId xmlns:p14="http://schemas.microsoft.com/office/powerpoint/2010/main" val="3423455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7ED55-5709-BFA9-44D8-A6577A8CCAA5}"/>
            </a:ext>
          </a:extLst>
        </p:cNvPr>
        <p:cNvGrpSpPr/>
        <p:nvPr/>
      </p:nvGrpSpPr>
      <p:grpSpPr>
        <a:xfrm>
          <a:off x="0" y="0"/>
          <a:ext cx="0" cy="0"/>
          <a:chOff x="0" y="0"/>
          <a:chExt cx="0" cy="0"/>
        </a:xfrm>
      </p:grpSpPr>
      <p:cxnSp>
        <p:nvCxnSpPr>
          <p:cNvPr id="3" name="Straight Arrow Connector 2">
            <a:extLst>
              <a:ext uri="{FF2B5EF4-FFF2-40B4-BE49-F238E27FC236}">
                <a16:creationId xmlns:a16="http://schemas.microsoft.com/office/drawing/2014/main" id="{CDD1CAFE-AA95-E321-44C5-4802C7B1D856}"/>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8" name="Picture 7" descr="Adani Renewables - Global Alliance For Sustainable Energy">
            <a:extLst>
              <a:ext uri="{FF2B5EF4-FFF2-40B4-BE49-F238E27FC236}">
                <a16:creationId xmlns:a16="http://schemas.microsoft.com/office/drawing/2014/main" id="{750CA628-D26B-3314-555F-55A211A1679E}"/>
              </a:ext>
            </a:extLst>
          </p:cNvPr>
          <p:cNvPicPr>
            <a:picLocks noChangeAspect="1"/>
          </p:cNvPicPr>
          <p:nvPr/>
        </p:nvPicPr>
        <p:blipFill>
          <a:blip r:embed="rId2"/>
          <a:stretch>
            <a:fillRect/>
          </a:stretch>
        </p:blipFill>
        <p:spPr>
          <a:xfrm>
            <a:off x="5076000" y="0"/>
            <a:ext cx="1311468" cy="662728"/>
          </a:xfrm>
          <a:prstGeom prst="rect">
            <a:avLst/>
          </a:prstGeom>
        </p:spPr>
      </p:pic>
      <p:cxnSp>
        <p:nvCxnSpPr>
          <p:cNvPr id="14" name="Straight Arrow Connector 13">
            <a:extLst>
              <a:ext uri="{FF2B5EF4-FFF2-40B4-BE49-F238E27FC236}">
                <a16:creationId xmlns:a16="http://schemas.microsoft.com/office/drawing/2014/main" id="{4715A87D-0430-9E4E-AD67-700A2FD3C207}"/>
              </a:ext>
            </a:extLst>
          </p:cNvPr>
          <p:cNvCxnSpPr/>
          <p:nvPr/>
        </p:nvCxnSpPr>
        <p:spPr>
          <a:xfrm flipV="1">
            <a:off x="-5925" y="8787953"/>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graphicFrame>
        <p:nvGraphicFramePr>
          <p:cNvPr id="12" name="Table 11">
            <a:extLst>
              <a:ext uri="{FF2B5EF4-FFF2-40B4-BE49-F238E27FC236}">
                <a16:creationId xmlns:a16="http://schemas.microsoft.com/office/drawing/2014/main" id="{B9E972FC-E921-3618-4814-E931C90DDD98}"/>
              </a:ext>
            </a:extLst>
          </p:cNvPr>
          <p:cNvGraphicFramePr>
            <a:graphicFrameLocks noGrp="1"/>
          </p:cNvGraphicFramePr>
          <p:nvPr>
            <p:extLst>
              <p:ext uri="{D42A27DB-BD31-4B8C-83A1-F6EECF244321}">
                <p14:modId xmlns:p14="http://schemas.microsoft.com/office/powerpoint/2010/main" val="3358160527"/>
              </p:ext>
            </p:extLst>
          </p:nvPr>
        </p:nvGraphicFramePr>
        <p:xfrm>
          <a:off x="187533" y="1759213"/>
          <a:ext cx="5839627" cy="4013350"/>
        </p:xfrm>
        <a:graphic>
          <a:graphicData uri="http://schemas.openxmlformats.org/drawingml/2006/table">
            <a:tbl>
              <a:tblPr bandRow="1">
                <a:tableStyleId>{5C22544A-7EE6-4342-B048-85BDC9FD1C3A}</a:tableStyleId>
              </a:tblPr>
              <a:tblGrid>
                <a:gridCol w="2234297">
                  <a:extLst>
                    <a:ext uri="{9D8B030D-6E8A-4147-A177-3AD203B41FA5}">
                      <a16:colId xmlns:a16="http://schemas.microsoft.com/office/drawing/2014/main" val="1188865868"/>
                    </a:ext>
                  </a:extLst>
                </a:gridCol>
                <a:gridCol w="698217">
                  <a:extLst>
                    <a:ext uri="{9D8B030D-6E8A-4147-A177-3AD203B41FA5}">
                      <a16:colId xmlns:a16="http://schemas.microsoft.com/office/drawing/2014/main" val="2959739807"/>
                    </a:ext>
                  </a:extLst>
                </a:gridCol>
                <a:gridCol w="736301">
                  <a:extLst>
                    <a:ext uri="{9D8B030D-6E8A-4147-A177-3AD203B41FA5}">
                      <a16:colId xmlns:a16="http://schemas.microsoft.com/office/drawing/2014/main" val="603947821"/>
                    </a:ext>
                  </a:extLst>
                </a:gridCol>
                <a:gridCol w="723604">
                  <a:extLst>
                    <a:ext uri="{9D8B030D-6E8A-4147-A177-3AD203B41FA5}">
                      <a16:colId xmlns:a16="http://schemas.microsoft.com/office/drawing/2014/main" val="790720074"/>
                    </a:ext>
                  </a:extLst>
                </a:gridCol>
                <a:gridCol w="723604">
                  <a:extLst>
                    <a:ext uri="{9D8B030D-6E8A-4147-A177-3AD203B41FA5}">
                      <a16:colId xmlns:a16="http://schemas.microsoft.com/office/drawing/2014/main" val="2505984112"/>
                    </a:ext>
                  </a:extLst>
                </a:gridCol>
                <a:gridCol w="723604">
                  <a:extLst>
                    <a:ext uri="{9D8B030D-6E8A-4147-A177-3AD203B41FA5}">
                      <a16:colId xmlns:a16="http://schemas.microsoft.com/office/drawing/2014/main" val="1086368524"/>
                    </a:ext>
                  </a:extLst>
                </a:gridCol>
              </a:tblGrid>
              <a:tr h="182425">
                <a:tc>
                  <a:txBody>
                    <a:bodyPr/>
                    <a:lstStyle/>
                    <a:p>
                      <a:pPr>
                        <a:buNone/>
                      </a:pPr>
                      <a:r>
                        <a:rPr lang="en-US" sz="1100" b="1" dirty="0">
                          <a:effectLst/>
                        </a:rPr>
                        <a:t> </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dirty="0">
                          <a:effectLst/>
                        </a:rPr>
                        <a:t>Mar-21</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dirty="0">
                          <a:effectLst/>
                        </a:rPr>
                        <a:t>Mar-22</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dirty="0">
                          <a:effectLst/>
                        </a:rPr>
                        <a:t>Mar-23</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dirty="0">
                          <a:effectLst/>
                        </a:rPr>
                        <a:t>Mar-24</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dirty="0">
                          <a:effectLst/>
                        </a:rPr>
                        <a:t>Mar-25</a:t>
                      </a:r>
                    </a:p>
                  </a:txBody>
                  <a:tcPr marL="0" marR="0" marT="0" marB="0"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2361376658"/>
                  </a:ext>
                </a:extLst>
              </a:tr>
              <a:tr h="182425">
                <a:tc>
                  <a:txBody>
                    <a:bodyPr/>
                    <a:lstStyle/>
                    <a:p>
                      <a:pPr>
                        <a:buNone/>
                      </a:pPr>
                      <a:r>
                        <a:rPr lang="en-US" sz="1100">
                          <a:effectLst/>
                        </a:rPr>
                        <a:t>Profit After Tax </a:t>
                      </a:r>
                    </a:p>
                  </a:txBody>
                  <a:tcPr marL="0" marR="0" marT="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266</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425</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1167</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1506</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2327</a:t>
                      </a:r>
                    </a:p>
                  </a:txBody>
                  <a:tcPr marL="7620" marR="7620" marT="7620" marB="0" anchor="ctr">
                    <a:lnL>
                      <a:noFill/>
                    </a:lnL>
                    <a:lnR>
                      <a:noFill/>
                    </a:lnR>
                    <a:lnT>
                      <a:noFill/>
                    </a:lnT>
                    <a:lnB>
                      <a:noFill/>
                    </a:lnB>
                    <a:noFill/>
                  </a:tcPr>
                </a:tc>
                <a:extLst>
                  <a:ext uri="{0D108BD9-81ED-4DB2-BD59-A6C34878D82A}">
                    <a16:rowId xmlns:a16="http://schemas.microsoft.com/office/drawing/2014/main" val="3525292049"/>
                  </a:ext>
                </a:extLst>
              </a:tr>
              <a:tr h="182425">
                <a:tc>
                  <a:txBody>
                    <a:bodyPr/>
                    <a:lstStyle/>
                    <a:p>
                      <a:pPr>
                        <a:buNone/>
                      </a:pPr>
                      <a:r>
                        <a:rPr lang="en-US" sz="1100" dirty="0">
                          <a:effectLst/>
                        </a:rPr>
                        <a:t>Profit Before Tax</a:t>
                      </a:r>
                    </a:p>
                  </a:txBody>
                  <a:tcPr marL="0" marR="0" marT="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271</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489</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1620</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1917</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2541</a:t>
                      </a:r>
                    </a:p>
                  </a:txBody>
                  <a:tcPr marL="7620" marR="7620" marT="7620" marB="0"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3539513059"/>
                  </a:ext>
                </a:extLst>
              </a:tr>
              <a:tr h="182425">
                <a:tc>
                  <a:txBody>
                    <a:bodyPr/>
                    <a:lstStyle/>
                    <a:p>
                      <a:pPr>
                        <a:buNone/>
                      </a:pPr>
                      <a:r>
                        <a:rPr lang="en-US" sz="1100" b="1" dirty="0">
                          <a:effectLst/>
                        </a:rPr>
                        <a:t>Tax Burden - (A)</a:t>
                      </a:r>
                    </a:p>
                  </a:txBody>
                  <a:tcPr marL="0" marR="0" marT="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98.15%</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86.91%</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72.04%</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78.56%</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91.58%</a:t>
                      </a:r>
                    </a:p>
                  </a:txBody>
                  <a:tcPr marL="7620" marR="7620" marT="7620" marB="0"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3633889712"/>
                  </a:ext>
                </a:extLst>
              </a:tr>
              <a:tr h="182425">
                <a:tc>
                  <a:txBody>
                    <a:bodyPr/>
                    <a:lstStyle/>
                    <a:p>
                      <a:pPr>
                        <a:buNone/>
                      </a:pPr>
                      <a:endParaRPr lang="en-US" sz="1100">
                        <a:effectLst/>
                      </a:endParaRPr>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extLst>
                  <a:ext uri="{0D108BD9-81ED-4DB2-BD59-A6C34878D82A}">
                    <a16:rowId xmlns:a16="http://schemas.microsoft.com/office/drawing/2014/main" val="2788375407"/>
                  </a:ext>
                </a:extLst>
              </a:tr>
              <a:tr h="182425">
                <a:tc>
                  <a:txBody>
                    <a:bodyPr/>
                    <a:lstStyle/>
                    <a:p>
                      <a:pPr>
                        <a:buNone/>
                      </a:pPr>
                      <a:r>
                        <a:rPr lang="en-US" sz="1100">
                          <a:effectLst/>
                        </a:rPr>
                        <a:t>Profit Before Tax</a:t>
                      </a:r>
                    </a:p>
                  </a:txBody>
                  <a:tcPr marL="0" marR="0" marT="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271</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489</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1620</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1917</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2541</a:t>
                      </a:r>
                    </a:p>
                  </a:txBody>
                  <a:tcPr marL="7620" marR="7620" marT="7620" marB="0" anchor="ctr">
                    <a:lnL>
                      <a:noFill/>
                    </a:lnL>
                    <a:lnR>
                      <a:noFill/>
                    </a:lnR>
                    <a:lnT>
                      <a:noFill/>
                    </a:lnT>
                    <a:lnB>
                      <a:noFill/>
                    </a:lnB>
                    <a:noFill/>
                  </a:tcPr>
                </a:tc>
                <a:extLst>
                  <a:ext uri="{0D108BD9-81ED-4DB2-BD59-A6C34878D82A}">
                    <a16:rowId xmlns:a16="http://schemas.microsoft.com/office/drawing/2014/main" val="3921572080"/>
                  </a:ext>
                </a:extLst>
              </a:tr>
              <a:tr h="182425">
                <a:tc>
                  <a:txBody>
                    <a:bodyPr/>
                    <a:lstStyle/>
                    <a:p>
                      <a:pPr>
                        <a:buNone/>
                      </a:pPr>
                      <a:r>
                        <a:rPr lang="en-US" sz="1100">
                          <a:effectLst/>
                        </a:rPr>
                        <a:t>Profit before Interest &amp; Tax</a:t>
                      </a:r>
                    </a:p>
                  </a:txBody>
                  <a:tcPr marL="0" marR="0" marT="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2224</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dirty="0">
                          <a:solidFill>
                            <a:srgbClr val="000000"/>
                          </a:solidFill>
                          <a:effectLst/>
                          <a:latin typeface="Calibri" panose="020F0502020204030204" pitchFamily="34" charset="0"/>
                        </a:rPr>
                        <a:t>3106</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4531</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7005</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8033</a:t>
                      </a:r>
                    </a:p>
                  </a:txBody>
                  <a:tcPr marL="7620" marR="7620" marT="7620" marB="0"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1230952600"/>
                  </a:ext>
                </a:extLst>
              </a:tr>
              <a:tr h="182425">
                <a:tc>
                  <a:txBody>
                    <a:bodyPr/>
                    <a:lstStyle/>
                    <a:p>
                      <a:pPr>
                        <a:buNone/>
                      </a:pPr>
                      <a:r>
                        <a:rPr lang="en-US" sz="1100" b="1">
                          <a:effectLst/>
                        </a:rPr>
                        <a:t>Interest Burden - (B)</a:t>
                      </a:r>
                    </a:p>
                  </a:txBody>
                  <a:tcPr marL="0" marR="0" marT="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12.19%</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15.74%</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35.75%</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27.37%</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31.63%</a:t>
                      </a:r>
                    </a:p>
                  </a:txBody>
                  <a:tcPr marL="7620" marR="7620" marT="7620" marB="0"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4191517603"/>
                  </a:ext>
                </a:extLst>
              </a:tr>
              <a:tr h="182425">
                <a:tc>
                  <a:txBody>
                    <a:bodyPr/>
                    <a:lstStyle/>
                    <a:p>
                      <a:pPr>
                        <a:buNone/>
                      </a:pPr>
                      <a:endParaRPr lang="en-US" sz="1100">
                        <a:effectLst/>
                      </a:endParaRPr>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extLst>
                  <a:ext uri="{0D108BD9-81ED-4DB2-BD59-A6C34878D82A}">
                    <a16:rowId xmlns:a16="http://schemas.microsoft.com/office/drawing/2014/main" val="1770963968"/>
                  </a:ext>
                </a:extLst>
              </a:tr>
              <a:tr h="182425">
                <a:tc>
                  <a:txBody>
                    <a:bodyPr/>
                    <a:lstStyle/>
                    <a:p>
                      <a:pPr>
                        <a:buNone/>
                      </a:pPr>
                      <a:r>
                        <a:rPr lang="en-US" sz="1100">
                          <a:effectLst/>
                        </a:rPr>
                        <a:t>Profit before Interest &amp; Tax</a:t>
                      </a:r>
                    </a:p>
                  </a:txBody>
                  <a:tcPr marL="0" marR="0" marT="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2224</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3106</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4531</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7005</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8033</a:t>
                      </a:r>
                    </a:p>
                  </a:txBody>
                  <a:tcPr marL="7620" marR="7620" marT="7620" marB="0" anchor="ctr">
                    <a:lnL>
                      <a:noFill/>
                    </a:lnL>
                    <a:lnR>
                      <a:noFill/>
                    </a:lnR>
                    <a:lnT>
                      <a:noFill/>
                    </a:lnT>
                    <a:lnB>
                      <a:noFill/>
                    </a:lnB>
                    <a:noFill/>
                  </a:tcPr>
                </a:tc>
                <a:extLst>
                  <a:ext uri="{0D108BD9-81ED-4DB2-BD59-A6C34878D82A}">
                    <a16:rowId xmlns:a16="http://schemas.microsoft.com/office/drawing/2014/main" val="1154483772"/>
                  </a:ext>
                </a:extLst>
              </a:tr>
              <a:tr h="182425">
                <a:tc>
                  <a:txBody>
                    <a:bodyPr/>
                    <a:lstStyle/>
                    <a:p>
                      <a:pPr>
                        <a:buNone/>
                      </a:pPr>
                      <a:r>
                        <a:rPr lang="en-US" sz="1100">
                          <a:effectLst/>
                        </a:rPr>
                        <a:t>Net Revenue</a:t>
                      </a:r>
                    </a:p>
                  </a:txBody>
                  <a:tcPr marL="0" marR="0" marT="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3124</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5133</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7792</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9220</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11212</a:t>
                      </a:r>
                    </a:p>
                  </a:txBody>
                  <a:tcPr marL="7620" marR="7620" marT="7620" marB="0"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726748601"/>
                  </a:ext>
                </a:extLst>
              </a:tr>
              <a:tr h="182425">
                <a:tc>
                  <a:txBody>
                    <a:bodyPr/>
                    <a:lstStyle/>
                    <a:p>
                      <a:pPr>
                        <a:buNone/>
                      </a:pPr>
                      <a:r>
                        <a:rPr lang="en-US" sz="1100" b="1">
                          <a:effectLst/>
                        </a:rPr>
                        <a:t>Operating Margin - (C)</a:t>
                      </a:r>
                    </a:p>
                  </a:txBody>
                  <a:tcPr marL="0" marR="0" marT="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71.19%</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60.51%</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58.15%</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75.98%</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71.65%</a:t>
                      </a:r>
                    </a:p>
                  </a:txBody>
                  <a:tcPr marL="7620" marR="7620" marT="7620" marB="0"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3770005124"/>
                  </a:ext>
                </a:extLst>
              </a:tr>
              <a:tr h="182425">
                <a:tc>
                  <a:txBody>
                    <a:bodyPr/>
                    <a:lstStyle/>
                    <a:p>
                      <a:pPr>
                        <a:buNone/>
                      </a:pPr>
                      <a:endParaRPr lang="en-US" sz="1100">
                        <a:effectLst/>
                      </a:endParaRPr>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extLst>
                  <a:ext uri="{0D108BD9-81ED-4DB2-BD59-A6C34878D82A}">
                    <a16:rowId xmlns:a16="http://schemas.microsoft.com/office/drawing/2014/main" val="3815321342"/>
                  </a:ext>
                </a:extLst>
              </a:tr>
              <a:tr h="182425">
                <a:tc>
                  <a:txBody>
                    <a:bodyPr/>
                    <a:lstStyle/>
                    <a:p>
                      <a:pPr>
                        <a:buNone/>
                      </a:pPr>
                      <a:r>
                        <a:rPr lang="en-US" sz="1100">
                          <a:effectLst/>
                        </a:rPr>
                        <a:t>Net Revenue</a:t>
                      </a:r>
                    </a:p>
                  </a:txBody>
                  <a:tcPr marL="0" marR="0" marT="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3124</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5133</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7792</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9220</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11212</a:t>
                      </a:r>
                    </a:p>
                  </a:txBody>
                  <a:tcPr marL="7620" marR="7620" marT="7620" marB="0" anchor="ctr">
                    <a:lnL>
                      <a:noFill/>
                    </a:lnL>
                    <a:lnR>
                      <a:noFill/>
                    </a:lnR>
                    <a:lnT>
                      <a:noFill/>
                    </a:lnT>
                    <a:lnB>
                      <a:noFill/>
                    </a:lnB>
                    <a:noFill/>
                  </a:tcPr>
                </a:tc>
                <a:extLst>
                  <a:ext uri="{0D108BD9-81ED-4DB2-BD59-A6C34878D82A}">
                    <a16:rowId xmlns:a16="http://schemas.microsoft.com/office/drawing/2014/main" val="798630121"/>
                  </a:ext>
                </a:extLst>
              </a:tr>
              <a:tr h="182425">
                <a:tc>
                  <a:txBody>
                    <a:bodyPr/>
                    <a:lstStyle/>
                    <a:p>
                      <a:pPr>
                        <a:buNone/>
                      </a:pPr>
                      <a:r>
                        <a:rPr lang="en-US" sz="1100">
                          <a:effectLst/>
                        </a:rPr>
                        <a:t>Average Total Assets </a:t>
                      </a:r>
                    </a:p>
                  </a:txBody>
                  <a:tcPr marL="0" marR="0" marT="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23573</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43944</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63264</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77950</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99968</a:t>
                      </a:r>
                    </a:p>
                  </a:txBody>
                  <a:tcPr marL="7620" marR="7620" marT="7620" marB="0"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4052326520"/>
                  </a:ext>
                </a:extLst>
              </a:tr>
              <a:tr h="182425">
                <a:tc>
                  <a:txBody>
                    <a:bodyPr/>
                    <a:lstStyle/>
                    <a:p>
                      <a:pPr>
                        <a:buNone/>
                      </a:pPr>
                      <a:r>
                        <a:rPr lang="en-US" sz="1100" b="1">
                          <a:effectLst/>
                        </a:rPr>
                        <a:t>Asset Turnover - (D)</a:t>
                      </a:r>
                    </a:p>
                  </a:txBody>
                  <a:tcPr marL="0" marR="0" marT="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13.25%</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11.68%</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12.32%</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11.83%</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11.22%</a:t>
                      </a:r>
                    </a:p>
                  </a:txBody>
                  <a:tcPr marL="7620" marR="7620" marT="7620" marB="0"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1628642148"/>
                  </a:ext>
                </a:extLst>
              </a:tr>
              <a:tr h="182425">
                <a:tc>
                  <a:txBody>
                    <a:bodyPr/>
                    <a:lstStyle/>
                    <a:p>
                      <a:pPr>
                        <a:buNone/>
                      </a:pPr>
                      <a:endParaRPr lang="en-US" sz="1100">
                        <a:effectLst/>
                      </a:endParaRPr>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extLst>
                  <a:ext uri="{0D108BD9-81ED-4DB2-BD59-A6C34878D82A}">
                    <a16:rowId xmlns:a16="http://schemas.microsoft.com/office/drawing/2014/main" val="493358581"/>
                  </a:ext>
                </a:extLst>
              </a:tr>
              <a:tr h="182425">
                <a:tc>
                  <a:txBody>
                    <a:bodyPr/>
                    <a:lstStyle/>
                    <a:p>
                      <a:pPr>
                        <a:buNone/>
                      </a:pPr>
                      <a:r>
                        <a:rPr lang="en-US" sz="1100">
                          <a:effectLst/>
                        </a:rPr>
                        <a:t>Average Total Assets </a:t>
                      </a:r>
                    </a:p>
                  </a:txBody>
                  <a:tcPr marL="0" marR="0" marT="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23573</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43944</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63264</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77950</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99968</a:t>
                      </a:r>
                    </a:p>
                  </a:txBody>
                  <a:tcPr marL="7620" marR="7620" marT="7620" marB="0" anchor="ctr">
                    <a:lnL>
                      <a:noFill/>
                    </a:lnL>
                    <a:lnR>
                      <a:noFill/>
                    </a:lnR>
                    <a:lnT>
                      <a:noFill/>
                    </a:lnT>
                    <a:lnB>
                      <a:noFill/>
                    </a:lnB>
                    <a:noFill/>
                  </a:tcPr>
                </a:tc>
                <a:extLst>
                  <a:ext uri="{0D108BD9-81ED-4DB2-BD59-A6C34878D82A}">
                    <a16:rowId xmlns:a16="http://schemas.microsoft.com/office/drawing/2014/main" val="2465742868"/>
                  </a:ext>
                </a:extLst>
              </a:tr>
              <a:tr h="182425">
                <a:tc>
                  <a:txBody>
                    <a:bodyPr/>
                    <a:lstStyle/>
                    <a:p>
                      <a:pPr>
                        <a:buNone/>
                      </a:pPr>
                      <a:r>
                        <a:rPr lang="en-US" sz="1100">
                          <a:effectLst/>
                        </a:rPr>
                        <a:t>Average Total Shareholder's Equity </a:t>
                      </a:r>
                    </a:p>
                  </a:txBody>
                  <a:tcPr marL="0" marR="0" marT="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2218</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2370</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4982</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12399</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20011</a:t>
                      </a:r>
                    </a:p>
                  </a:txBody>
                  <a:tcPr marL="7620" marR="7620" marT="7620" marB="0"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049811713"/>
                  </a:ext>
                </a:extLst>
              </a:tr>
              <a:tr h="182425">
                <a:tc>
                  <a:txBody>
                    <a:bodyPr/>
                    <a:lstStyle/>
                    <a:p>
                      <a:pPr>
                        <a:buNone/>
                      </a:pPr>
                      <a:r>
                        <a:rPr lang="en-US" sz="1100" b="1">
                          <a:effectLst/>
                        </a:rPr>
                        <a:t>Financial Leverage - (E)</a:t>
                      </a:r>
                    </a:p>
                  </a:txBody>
                  <a:tcPr marL="0" marR="0" marT="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10.63</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18.54</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12.70</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6.29</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5.00</a:t>
                      </a:r>
                    </a:p>
                  </a:txBody>
                  <a:tcPr marL="7620" marR="7620" marT="7620" marB="0"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391859567"/>
                  </a:ext>
                </a:extLst>
              </a:tr>
              <a:tr h="182425">
                <a:tc>
                  <a:txBody>
                    <a:bodyPr/>
                    <a:lstStyle/>
                    <a:p>
                      <a:pPr>
                        <a:buNone/>
                      </a:pPr>
                      <a:endParaRPr lang="en-US" sz="1100">
                        <a:effectLst/>
                      </a:endParaRPr>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extLst>
                  <a:ext uri="{0D108BD9-81ED-4DB2-BD59-A6C34878D82A}">
                    <a16:rowId xmlns:a16="http://schemas.microsoft.com/office/drawing/2014/main" val="4099459318"/>
                  </a:ext>
                </a:extLst>
              </a:tr>
              <a:tr h="182425">
                <a:tc>
                  <a:txBody>
                    <a:bodyPr/>
                    <a:lstStyle/>
                    <a:p>
                      <a:pPr>
                        <a:buNone/>
                      </a:pPr>
                      <a:r>
                        <a:rPr lang="en-US" sz="1100" b="1" dirty="0">
                          <a:solidFill>
                            <a:schemeClr val="bg1"/>
                          </a:solidFill>
                          <a:effectLst/>
                        </a:rPr>
                        <a:t>Return on Equity - A*B*C*D*E </a:t>
                      </a:r>
                    </a:p>
                  </a:txBody>
                  <a:tcPr marL="0" marR="0" marT="0" marB="0" anchor="ctr">
                    <a:lnL>
                      <a:noFill/>
                    </a:lnL>
                    <a:lnR>
                      <a:noFill/>
                    </a:lnR>
                    <a:lnT>
                      <a:noFill/>
                    </a:lnT>
                    <a:lnB>
                      <a:noFill/>
                    </a:lnB>
                    <a:solidFill>
                      <a:srgbClr val="187C2C"/>
                    </a:solidFill>
                  </a:tcPr>
                </a:tc>
                <a:tc>
                  <a:txBody>
                    <a:bodyPr/>
                    <a:lstStyle/>
                    <a:p>
                      <a:pPr algn="r" fontAlgn="b">
                        <a:buNone/>
                      </a:pPr>
                      <a:r>
                        <a:rPr lang="en-IN" sz="1100" b="1" i="0" u="none" strike="noStrike">
                          <a:solidFill>
                            <a:schemeClr val="bg1"/>
                          </a:solidFill>
                          <a:effectLst/>
                          <a:latin typeface="Calibri" panose="020F0502020204030204" pitchFamily="34" charset="0"/>
                        </a:rPr>
                        <a:t>11.99%</a:t>
                      </a:r>
                    </a:p>
                  </a:txBody>
                  <a:tcPr marL="7620" marR="7620" marT="7620" marB="0" anchor="ctr">
                    <a:lnL>
                      <a:noFill/>
                    </a:lnL>
                    <a:lnR>
                      <a:noFill/>
                    </a:lnR>
                    <a:lnT>
                      <a:noFill/>
                    </a:lnT>
                    <a:lnB>
                      <a:noFill/>
                    </a:lnB>
                    <a:solidFill>
                      <a:srgbClr val="187C2C"/>
                    </a:solidFill>
                  </a:tcPr>
                </a:tc>
                <a:tc>
                  <a:txBody>
                    <a:bodyPr/>
                    <a:lstStyle/>
                    <a:p>
                      <a:pPr algn="r" fontAlgn="b">
                        <a:buNone/>
                      </a:pPr>
                      <a:r>
                        <a:rPr lang="en-IN" sz="1100" b="1" i="0" u="none" strike="noStrike">
                          <a:solidFill>
                            <a:schemeClr val="bg1"/>
                          </a:solidFill>
                          <a:effectLst/>
                          <a:latin typeface="Calibri" panose="020F0502020204030204" pitchFamily="34" charset="0"/>
                        </a:rPr>
                        <a:t>17.93%</a:t>
                      </a:r>
                    </a:p>
                  </a:txBody>
                  <a:tcPr marL="7620" marR="7620" marT="7620" marB="0" anchor="ctr">
                    <a:lnL>
                      <a:noFill/>
                    </a:lnL>
                    <a:lnR>
                      <a:noFill/>
                    </a:lnR>
                    <a:lnT>
                      <a:noFill/>
                    </a:lnT>
                    <a:lnB>
                      <a:noFill/>
                    </a:lnB>
                    <a:solidFill>
                      <a:srgbClr val="187C2C"/>
                    </a:solidFill>
                  </a:tcPr>
                </a:tc>
                <a:tc>
                  <a:txBody>
                    <a:bodyPr/>
                    <a:lstStyle/>
                    <a:p>
                      <a:pPr algn="r" fontAlgn="b">
                        <a:buNone/>
                      </a:pPr>
                      <a:r>
                        <a:rPr lang="en-IN" sz="1100" b="1" i="0" u="none" strike="noStrike">
                          <a:solidFill>
                            <a:schemeClr val="bg1"/>
                          </a:solidFill>
                          <a:effectLst/>
                          <a:latin typeface="Calibri" panose="020F0502020204030204" pitchFamily="34" charset="0"/>
                        </a:rPr>
                        <a:t>23.42%</a:t>
                      </a:r>
                    </a:p>
                  </a:txBody>
                  <a:tcPr marL="7620" marR="7620" marT="7620" marB="0" anchor="ctr">
                    <a:lnL>
                      <a:noFill/>
                    </a:lnL>
                    <a:lnR>
                      <a:noFill/>
                    </a:lnR>
                    <a:lnT>
                      <a:noFill/>
                    </a:lnT>
                    <a:lnB>
                      <a:noFill/>
                    </a:lnB>
                    <a:solidFill>
                      <a:srgbClr val="187C2C"/>
                    </a:solidFill>
                  </a:tcPr>
                </a:tc>
                <a:tc>
                  <a:txBody>
                    <a:bodyPr/>
                    <a:lstStyle/>
                    <a:p>
                      <a:pPr algn="r" fontAlgn="b">
                        <a:buNone/>
                      </a:pPr>
                      <a:r>
                        <a:rPr lang="en-IN" sz="1100" b="1" i="0" u="none" strike="noStrike">
                          <a:solidFill>
                            <a:schemeClr val="bg1"/>
                          </a:solidFill>
                          <a:effectLst/>
                          <a:latin typeface="Calibri" panose="020F0502020204030204" pitchFamily="34" charset="0"/>
                        </a:rPr>
                        <a:t>12.15%</a:t>
                      </a:r>
                    </a:p>
                  </a:txBody>
                  <a:tcPr marL="7620" marR="7620" marT="7620" marB="0" anchor="ctr">
                    <a:lnL>
                      <a:noFill/>
                    </a:lnL>
                    <a:lnR>
                      <a:noFill/>
                    </a:lnR>
                    <a:lnT>
                      <a:noFill/>
                    </a:lnT>
                    <a:lnB>
                      <a:noFill/>
                    </a:lnB>
                    <a:solidFill>
                      <a:srgbClr val="187C2C"/>
                    </a:solidFill>
                  </a:tcPr>
                </a:tc>
                <a:tc>
                  <a:txBody>
                    <a:bodyPr/>
                    <a:lstStyle/>
                    <a:p>
                      <a:pPr algn="r" fontAlgn="b">
                        <a:buNone/>
                      </a:pPr>
                      <a:r>
                        <a:rPr lang="en-IN" sz="1100" b="1" i="0" u="none" strike="noStrike" dirty="0">
                          <a:solidFill>
                            <a:schemeClr val="bg1"/>
                          </a:solidFill>
                          <a:effectLst/>
                          <a:latin typeface="Calibri" panose="020F0502020204030204" pitchFamily="34" charset="0"/>
                        </a:rPr>
                        <a:t>11.63%</a:t>
                      </a:r>
                    </a:p>
                  </a:txBody>
                  <a:tcPr marL="7620" marR="7620" marT="7620" marB="0" anchor="ctr">
                    <a:lnL>
                      <a:noFill/>
                    </a:lnL>
                    <a:lnR>
                      <a:noFill/>
                    </a:lnR>
                    <a:lnT>
                      <a:noFill/>
                    </a:lnT>
                    <a:lnB>
                      <a:noFill/>
                    </a:lnB>
                    <a:solidFill>
                      <a:srgbClr val="187C2C"/>
                    </a:solidFill>
                  </a:tcPr>
                </a:tc>
                <a:extLst>
                  <a:ext uri="{0D108BD9-81ED-4DB2-BD59-A6C34878D82A}">
                    <a16:rowId xmlns:a16="http://schemas.microsoft.com/office/drawing/2014/main" val="507678453"/>
                  </a:ext>
                </a:extLst>
              </a:tr>
            </a:tbl>
          </a:graphicData>
        </a:graphic>
      </p:graphicFrame>
      <p:sp>
        <p:nvSpPr>
          <p:cNvPr id="7" name="Footer Placeholder 3">
            <a:extLst>
              <a:ext uri="{FF2B5EF4-FFF2-40B4-BE49-F238E27FC236}">
                <a16:creationId xmlns:a16="http://schemas.microsoft.com/office/drawing/2014/main" id="{573A02EE-6DCF-BD77-E9D0-475142E7CFB0}"/>
              </a:ext>
            </a:extLst>
          </p:cNvPr>
          <p:cNvSpPr>
            <a:spLocks noGrp="1"/>
          </p:cNvSpPr>
          <p:nvPr>
            <p:ph type="ftr" sz="quarter" idx="11"/>
          </p:nvPr>
        </p:nvSpPr>
        <p:spPr>
          <a:xfrm>
            <a:off x="-7551" y="8832134"/>
            <a:ext cx="6234928" cy="324563"/>
          </a:xfrm>
        </p:spPr>
        <p:txBody>
          <a:bodyPr/>
          <a:lstStyle/>
          <a:p>
            <a:pPr algn="l"/>
            <a:r>
              <a:rPr lang="en-US" sz="800">
                <a:ea typeface="Calibri"/>
                <a:cs typeface="Calibri"/>
              </a:rPr>
              <a:t>Disclaimer: This is only for educational purposes and we are not SEBI registered.</a:t>
            </a:r>
          </a:p>
        </p:txBody>
      </p:sp>
      <p:sp>
        <p:nvSpPr>
          <p:cNvPr id="83" name="Rectangle 65">
            <a:extLst>
              <a:ext uri="{FF2B5EF4-FFF2-40B4-BE49-F238E27FC236}">
                <a16:creationId xmlns:a16="http://schemas.microsoft.com/office/drawing/2014/main" id="{CE2EFF54-A903-7D53-3399-61926F76AB5C}"/>
              </a:ext>
            </a:extLst>
          </p:cNvPr>
          <p:cNvSpPr>
            <a:spLocks noChangeArrowheads="1"/>
          </p:cNvSpPr>
          <p:nvPr/>
        </p:nvSpPr>
        <p:spPr bwMode="auto">
          <a:xfrm>
            <a:off x="4787087" y="7952160"/>
            <a:ext cx="82730" cy="81076"/>
          </a:xfrm>
          <a:prstGeom prst="rect">
            <a:avLst/>
          </a:prstGeom>
          <a:solidFill>
            <a:schemeClr val="accent6">
              <a:lumMod val="40000"/>
              <a:lumOff val="60000"/>
            </a:schemeClr>
          </a:solidFill>
          <a:ln>
            <a:noFill/>
          </a:ln>
        </p:spPr>
        <p:txBody>
          <a:bodyPr vert="horz" wrap="square" lIns="91440" tIns="45720" rIns="91440" bIns="45720" numCol="1" anchor="t" anchorCtr="0" compatLnSpc="1">
            <a:prstTxWarp prst="textNoShape">
              <a:avLst/>
            </a:prstTxWarp>
          </a:bodyPr>
          <a:lstStyle/>
          <a:p>
            <a:endParaRPr lang="en-IN" sz="1100"/>
          </a:p>
        </p:txBody>
      </p:sp>
      <p:sp>
        <p:nvSpPr>
          <p:cNvPr id="50" name="Rectangle 49">
            <a:extLst>
              <a:ext uri="{FF2B5EF4-FFF2-40B4-BE49-F238E27FC236}">
                <a16:creationId xmlns:a16="http://schemas.microsoft.com/office/drawing/2014/main" id="{070AF416-4FE1-2F51-670B-09688612A4AA}"/>
              </a:ext>
            </a:extLst>
          </p:cNvPr>
          <p:cNvSpPr/>
          <p:nvPr/>
        </p:nvSpPr>
        <p:spPr>
          <a:xfrm>
            <a:off x="98704" y="815933"/>
            <a:ext cx="6027421" cy="360000"/>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a:ea typeface="Calibri"/>
                <a:cs typeface="Calibri"/>
              </a:rPr>
              <a:t>DuPont Analysis</a:t>
            </a:r>
            <a:endParaRPr lang="en-US"/>
          </a:p>
        </p:txBody>
      </p:sp>
      <p:sp>
        <p:nvSpPr>
          <p:cNvPr id="52" name="Rectangle 51">
            <a:extLst>
              <a:ext uri="{FF2B5EF4-FFF2-40B4-BE49-F238E27FC236}">
                <a16:creationId xmlns:a16="http://schemas.microsoft.com/office/drawing/2014/main" id="{CF14972C-5E9C-5B08-AE60-2B60B62C2315}"/>
              </a:ext>
            </a:extLst>
          </p:cNvPr>
          <p:cNvSpPr/>
          <p:nvPr/>
        </p:nvSpPr>
        <p:spPr>
          <a:xfrm>
            <a:off x="187533" y="1340255"/>
            <a:ext cx="5833750" cy="329810"/>
          </a:xfrm>
          <a:prstGeom prst="rect">
            <a:avLst/>
          </a:prstGeom>
          <a:solidFill>
            <a:srgbClr val="187C2C"/>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r>
              <a:rPr lang="en-US" sz="1400" b="1">
                <a:solidFill>
                  <a:schemeClr val="bg1"/>
                </a:solidFill>
                <a:ea typeface="Calibri"/>
                <a:cs typeface="Calibri"/>
              </a:rPr>
              <a:t>Return on Equity</a:t>
            </a:r>
          </a:p>
        </p:txBody>
      </p:sp>
      <p:sp>
        <p:nvSpPr>
          <p:cNvPr id="4" name="Slide Number Placeholder 6">
            <a:extLst>
              <a:ext uri="{FF2B5EF4-FFF2-40B4-BE49-F238E27FC236}">
                <a16:creationId xmlns:a16="http://schemas.microsoft.com/office/drawing/2014/main" id="{E1EC2614-BA84-DA17-DB07-E1024B13E27C}"/>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5</a:t>
            </a:fld>
            <a:endParaRPr lang="en-US"/>
          </a:p>
        </p:txBody>
      </p:sp>
      <p:grpSp>
        <p:nvGrpSpPr>
          <p:cNvPr id="107" name="Group 106">
            <a:extLst>
              <a:ext uri="{FF2B5EF4-FFF2-40B4-BE49-F238E27FC236}">
                <a16:creationId xmlns:a16="http://schemas.microsoft.com/office/drawing/2014/main" id="{679545A4-F602-85D1-0823-0C15A74D1D8B}"/>
              </a:ext>
            </a:extLst>
          </p:cNvPr>
          <p:cNvGrpSpPr/>
          <p:nvPr/>
        </p:nvGrpSpPr>
        <p:grpSpPr>
          <a:xfrm>
            <a:off x="60474" y="6165881"/>
            <a:ext cx="3073400" cy="1899338"/>
            <a:chOff x="134938" y="6211888"/>
            <a:chExt cx="3073400" cy="1899338"/>
          </a:xfrm>
        </p:grpSpPr>
        <p:sp>
          <p:nvSpPr>
            <p:cNvPr id="9" name="AutoShape 3">
              <a:extLst>
                <a:ext uri="{FF2B5EF4-FFF2-40B4-BE49-F238E27FC236}">
                  <a16:creationId xmlns:a16="http://schemas.microsoft.com/office/drawing/2014/main" id="{A635C01F-8800-F887-81BF-C3EDE662C81C}"/>
                </a:ext>
              </a:extLst>
            </p:cNvPr>
            <p:cNvSpPr>
              <a:spLocks noChangeAspect="1" noChangeArrowheads="1" noTextEdit="1"/>
            </p:cNvSpPr>
            <p:nvPr/>
          </p:nvSpPr>
          <p:spPr bwMode="auto">
            <a:xfrm>
              <a:off x="134938" y="6211888"/>
              <a:ext cx="3073400" cy="189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5" name="Rectangle 5">
              <a:extLst>
                <a:ext uri="{FF2B5EF4-FFF2-40B4-BE49-F238E27FC236}">
                  <a16:creationId xmlns:a16="http://schemas.microsoft.com/office/drawing/2014/main" id="{0AC428FC-D33A-8BF0-0F70-DA7D58D51443}"/>
                </a:ext>
              </a:extLst>
            </p:cNvPr>
            <p:cNvSpPr>
              <a:spLocks noChangeArrowheads="1"/>
            </p:cNvSpPr>
            <p:nvPr/>
          </p:nvSpPr>
          <p:spPr bwMode="auto">
            <a:xfrm>
              <a:off x="138113" y="6215168"/>
              <a:ext cx="3067050" cy="189277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6" name="Rectangle 6">
              <a:extLst>
                <a:ext uri="{FF2B5EF4-FFF2-40B4-BE49-F238E27FC236}">
                  <a16:creationId xmlns:a16="http://schemas.microsoft.com/office/drawing/2014/main" id="{686436E1-F8C7-90EE-8287-45EA915638B8}"/>
                </a:ext>
              </a:extLst>
            </p:cNvPr>
            <p:cNvSpPr>
              <a:spLocks noChangeArrowheads="1"/>
            </p:cNvSpPr>
            <p:nvPr/>
          </p:nvSpPr>
          <p:spPr bwMode="auto">
            <a:xfrm>
              <a:off x="396876" y="7156636"/>
              <a:ext cx="230188" cy="608510"/>
            </a:xfrm>
            <a:prstGeom prst="rect">
              <a:avLst/>
            </a:prstGeom>
            <a:solidFill>
              <a:srgbClr val="187C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30" name="Rectangle 7">
              <a:extLst>
                <a:ext uri="{FF2B5EF4-FFF2-40B4-BE49-F238E27FC236}">
                  <a16:creationId xmlns:a16="http://schemas.microsoft.com/office/drawing/2014/main" id="{16A0F990-2C27-0CDF-5F45-4541E2C2E198}"/>
                </a:ext>
              </a:extLst>
            </p:cNvPr>
            <p:cNvSpPr>
              <a:spLocks noChangeArrowheads="1"/>
            </p:cNvSpPr>
            <p:nvPr/>
          </p:nvSpPr>
          <p:spPr bwMode="auto">
            <a:xfrm>
              <a:off x="971551" y="6856482"/>
              <a:ext cx="231775" cy="908664"/>
            </a:xfrm>
            <a:prstGeom prst="rect">
              <a:avLst/>
            </a:prstGeom>
            <a:solidFill>
              <a:srgbClr val="187C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51" name="Rectangle 8">
              <a:extLst>
                <a:ext uri="{FF2B5EF4-FFF2-40B4-BE49-F238E27FC236}">
                  <a16:creationId xmlns:a16="http://schemas.microsoft.com/office/drawing/2014/main" id="{C2B17ACD-334F-CF84-761E-EF7B57D31222}"/>
                </a:ext>
              </a:extLst>
            </p:cNvPr>
            <p:cNvSpPr>
              <a:spLocks noChangeArrowheads="1"/>
            </p:cNvSpPr>
            <p:nvPr/>
          </p:nvSpPr>
          <p:spPr bwMode="auto">
            <a:xfrm>
              <a:off x="1547813" y="6579290"/>
              <a:ext cx="230188" cy="1185856"/>
            </a:xfrm>
            <a:prstGeom prst="rect">
              <a:avLst/>
            </a:prstGeom>
            <a:solidFill>
              <a:srgbClr val="187C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53" name="Rectangle 9">
              <a:extLst>
                <a:ext uri="{FF2B5EF4-FFF2-40B4-BE49-F238E27FC236}">
                  <a16:creationId xmlns:a16="http://schemas.microsoft.com/office/drawing/2014/main" id="{E7A724EF-9430-BFE4-12ED-FF29444D9D23}"/>
                </a:ext>
              </a:extLst>
            </p:cNvPr>
            <p:cNvSpPr>
              <a:spLocks noChangeArrowheads="1"/>
            </p:cNvSpPr>
            <p:nvPr/>
          </p:nvSpPr>
          <p:spPr bwMode="auto">
            <a:xfrm>
              <a:off x="2124076" y="7150076"/>
              <a:ext cx="230188" cy="615071"/>
            </a:xfrm>
            <a:prstGeom prst="rect">
              <a:avLst/>
            </a:prstGeom>
            <a:solidFill>
              <a:srgbClr val="187C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54" name="Rectangle 10">
              <a:extLst>
                <a:ext uri="{FF2B5EF4-FFF2-40B4-BE49-F238E27FC236}">
                  <a16:creationId xmlns:a16="http://schemas.microsoft.com/office/drawing/2014/main" id="{8E17DF14-0938-47CE-BF07-8726B4BABD85}"/>
                </a:ext>
              </a:extLst>
            </p:cNvPr>
            <p:cNvSpPr>
              <a:spLocks noChangeArrowheads="1"/>
            </p:cNvSpPr>
            <p:nvPr/>
          </p:nvSpPr>
          <p:spPr bwMode="auto">
            <a:xfrm>
              <a:off x="2700338" y="7176319"/>
              <a:ext cx="230188" cy="588828"/>
            </a:xfrm>
            <a:prstGeom prst="rect">
              <a:avLst/>
            </a:prstGeom>
            <a:solidFill>
              <a:srgbClr val="187C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0" name="Freeform 11">
              <a:extLst>
                <a:ext uri="{FF2B5EF4-FFF2-40B4-BE49-F238E27FC236}">
                  <a16:creationId xmlns:a16="http://schemas.microsoft.com/office/drawing/2014/main" id="{139A6D34-9504-5394-C4D4-15FDDAAB2D62}"/>
                </a:ext>
              </a:extLst>
            </p:cNvPr>
            <p:cNvSpPr>
              <a:spLocks/>
            </p:cNvSpPr>
            <p:nvPr/>
          </p:nvSpPr>
          <p:spPr bwMode="auto">
            <a:xfrm>
              <a:off x="511176" y="6713786"/>
              <a:ext cx="2305050" cy="631472"/>
            </a:xfrm>
            <a:custGeom>
              <a:avLst/>
              <a:gdLst>
                <a:gd name="T0" fmla="*/ 0 w 1452"/>
                <a:gd name="T1" fmla="*/ 378 h 385"/>
                <a:gd name="T2" fmla="*/ 363 w 1452"/>
                <a:gd name="T3" fmla="*/ 385 h 385"/>
                <a:gd name="T4" fmla="*/ 726 w 1452"/>
                <a:gd name="T5" fmla="*/ 178 h 385"/>
                <a:gd name="T6" fmla="*/ 1089 w 1452"/>
                <a:gd name="T7" fmla="*/ 136 h 385"/>
                <a:gd name="T8" fmla="*/ 1452 w 1452"/>
                <a:gd name="T9" fmla="*/ 0 h 385"/>
              </a:gdLst>
              <a:ahLst/>
              <a:cxnLst>
                <a:cxn ang="0">
                  <a:pos x="T0" y="T1"/>
                </a:cxn>
                <a:cxn ang="0">
                  <a:pos x="T2" y="T3"/>
                </a:cxn>
                <a:cxn ang="0">
                  <a:pos x="T4" y="T5"/>
                </a:cxn>
                <a:cxn ang="0">
                  <a:pos x="T6" y="T7"/>
                </a:cxn>
                <a:cxn ang="0">
                  <a:pos x="T8" y="T9"/>
                </a:cxn>
              </a:cxnLst>
              <a:rect l="0" t="0" r="r" b="b"/>
              <a:pathLst>
                <a:path w="1452" h="385">
                  <a:moveTo>
                    <a:pt x="0" y="378"/>
                  </a:moveTo>
                  <a:lnTo>
                    <a:pt x="363" y="385"/>
                  </a:lnTo>
                  <a:lnTo>
                    <a:pt x="726" y="178"/>
                  </a:lnTo>
                  <a:lnTo>
                    <a:pt x="1089" y="136"/>
                  </a:lnTo>
                  <a:lnTo>
                    <a:pt x="1452" y="0"/>
                  </a:lnTo>
                </a:path>
              </a:pathLst>
            </a:custGeom>
            <a:noFill/>
            <a:ln w="20638" cap="rnd">
              <a:solidFill>
                <a:srgbClr val="0033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5" name="Rectangle 12">
              <a:extLst>
                <a:ext uri="{FF2B5EF4-FFF2-40B4-BE49-F238E27FC236}">
                  <a16:creationId xmlns:a16="http://schemas.microsoft.com/office/drawing/2014/main" id="{A90A3CD9-AA86-A345-700B-C2D19BB98C43}"/>
                </a:ext>
              </a:extLst>
            </p:cNvPr>
            <p:cNvSpPr>
              <a:spLocks noChangeArrowheads="1"/>
            </p:cNvSpPr>
            <p:nvPr/>
          </p:nvSpPr>
          <p:spPr bwMode="auto">
            <a:xfrm>
              <a:off x="365366" y="7046764"/>
              <a:ext cx="307975" cy="12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11.99%</a:t>
              </a:r>
              <a:endParaRPr kumimoji="0" lang="en-US" altLang="en-US" sz="800" b="0" i="0" u="none" strike="noStrike" cap="none" normalizeH="0" baseline="0">
                <a:ln>
                  <a:noFill/>
                </a:ln>
                <a:solidFill>
                  <a:schemeClr val="tx1"/>
                </a:solidFill>
                <a:effectLst/>
              </a:endParaRPr>
            </a:p>
          </p:txBody>
        </p:sp>
        <p:sp>
          <p:nvSpPr>
            <p:cNvPr id="87" name="Rectangle 13">
              <a:extLst>
                <a:ext uri="{FF2B5EF4-FFF2-40B4-BE49-F238E27FC236}">
                  <a16:creationId xmlns:a16="http://schemas.microsoft.com/office/drawing/2014/main" id="{32DE6657-7866-006C-293F-6BBA1EB1061B}"/>
                </a:ext>
              </a:extLst>
            </p:cNvPr>
            <p:cNvSpPr>
              <a:spLocks noChangeArrowheads="1"/>
            </p:cNvSpPr>
            <p:nvPr/>
          </p:nvSpPr>
          <p:spPr bwMode="auto">
            <a:xfrm>
              <a:off x="929727" y="6751510"/>
              <a:ext cx="307975" cy="12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17.93%</a:t>
              </a:r>
              <a:endParaRPr kumimoji="0" lang="en-US" altLang="en-US" sz="800" b="0" i="0" u="none" strike="noStrike" cap="none" normalizeH="0" baseline="0">
                <a:ln>
                  <a:noFill/>
                </a:ln>
                <a:solidFill>
                  <a:schemeClr val="tx1"/>
                </a:solidFill>
                <a:effectLst/>
              </a:endParaRPr>
            </a:p>
          </p:txBody>
        </p:sp>
        <p:sp>
          <p:nvSpPr>
            <p:cNvPr id="88" name="Rectangle 14">
              <a:extLst>
                <a:ext uri="{FF2B5EF4-FFF2-40B4-BE49-F238E27FC236}">
                  <a16:creationId xmlns:a16="http://schemas.microsoft.com/office/drawing/2014/main" id="{1C591F68-6F34-4791-CF19-4200DE5EA1BE}"/>
                </a:ext>
              </a:extLst>
            </p:cNvPr>
            <p:cNvSpPr>
              <a:spLocks noChangeArrowheads="1"/>
            </p:cNvSpPr>
            <p:nvPr/>
          </p:nvSpPr>
          <p:spPr bwMode="auto">
            <a:xfrm>
              <a:off x="1524517" y="6469809"/>
              <a:ext cx="307975" cy="12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23.42%</a:t>
              </a:r>
              <a:endParaRPr kumimoji="0" lang="en-US" altLang="en-US" sz="800" b="0" i="0" u="none" strike="noStrike" cap="none" normalizeH="0" baseline="0">
                <a:ln>
                  <a:noFill/>
                </a:ln>
                <a:solidFill>
                  <a:schemeClr val="tx1"/>
                </a:solidFill>
                <a:effectLst/>
              </a:endParaRPr>
            </a:p>
          </p:txBody>
        </p:sp>
        <p:sp>
          <p:nvSpPr>
            <p:cNvPr id="89" name="Rectangle 15">
              <a:extLst>
                <a:ext uri="{FF2B5EF4-FFF2-40B4-BE49-F238E27FC236}">
                  <a16:creationId xmlns:a16="http://schemas.microsoft.com/office/drawing/2014/main" id="{F5F2A88B-024C-E963-BAE3-BBEC293E1AB9}"/>
                </a:ext>
              </a:extLst>
            </p:cNvPr>
            <p:cNvSpPr>
              <a:spLocks noChangeArrowheads="1"/>
            </p:cNvSpPr>
            <p:nvPr/>
          </p:nvSpPr>
          <p:spPr bwMode="auto">
            <a:xfrm>
              <a:off x="2098936" y="7033622"/>
              <a:ext cx="307975" cy="12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12.15%</a:t>
              </a:r>
              <a:endParaRPr kumimoji="0" lang="en-US" altLang="en-US" sz="800" b="0" i="0" u="none" strike="noStrike" cap="none" normalizeH="0" baseline="0">
                <a:ln>
                  <a:noFill/>
                </a:ln>
                <a:solidFill>
                  <a:schemeClr val="tx1"/>
                </a:solidFill>
                <a:effectLst/>
              </a:endParaRPr>
            </a:p>
          </p:txBody>
        </p:sp>
        <p:sp>
          <p:nvSpPr>
            <p:cNvPr id="90" name="Rectangle 16">
              <a:extLst>
                <a:ext uri="{FF2B5EF4-FFF2-40B4-BE49-F238E27FC236}">
                  <a16:creationId xmlns:a16="http://schemas.microsoft.com/office/drawing/2014/main" id="{E35EAB0A-4B59-C4C7-E672-150308F88BD6}"/>
                </a:ext>
              </a:extLst>
            </p:cNvPr>
            <p:cNvSpPr>
              <a:spLocks noChangeArrowheads="1"/>
            </p:cNvSpPr>
            <p:nvPr/>
          </p:nvSpPr>
          <p:spPr bwMode="auto">
            <a:xfrm>
              <a:off x="2676525" y="7066591"/>
              <a:ext cx="307975" cy="12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11.63%</a:t>
              </a:r>
              <a:endParaRPr kumimoji="0" lang="en-US" altLang="en-US" sz="800" b="0" i="0" u="none" strike="noStrike" cap="none" normalizeH="0" baseline="0">
                <a:ln>
                  <a:noFill/>
                </a:ln>
                <a:solidFill>
                  <a:schemeClr val="tx1"/>
                </a:solidFill>
                <a:effectLst/>
              </a:endParaRPr>
            </a:p>
          </p:txBody>
        </p:sp>
        <p:sp>
          <p:nvSpPr>
            <p:cNvPr id="91" name="Rectangle 17">
              <a:extLst>
                <a:ext uri="{FF2B5EF4-FFF2-40B4-BE49-F238E27FC236}">
                  <a16:creationId xmlns:a16="http://schemas.microsoft.com/office/drawing/2014/main" id="{E8A04490-B4FE-AD06-CBCE-42E0C8F36307}"/>
                </a:ext>
              </a:extLst>
            </p:cNvPr>
            <p:cNvSpPr>
              <a:spLocks noChangeArrowheads="1"/>
            </p:cNvSpPr>
            <p:nvPr/>
          </p:nvSpPr>
          <p:spPr bwMode="auto">
            <a:xfrm>
              <a:off x="422276" y="7222244"/>
              <a:ext cx="257175" cy="12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8.51%</a:t>
              </a:r>
              <a:endParaRPr kumimoji="0" lang="en-US" altLang="en-US" sz="800" b="0" i="0" u="none" strike="noStrike" cap="none" normalizeH="0" baseline="0">
                <a:ln>
                  <a:noFill/>
                </a:ln>
                <a:solidFill>
                  <a:schemeClr val="tx1"/>
                </a:solidFill>
                <a:effectLst/>
              </a:endParaRPr>
            </a:p>
          </p:txBody>
        </p:sp>
        <p:sp>
          <p:nvSpPr>
            <p:cNvPr id="92" name="Rectangle 18">
              <a:extLst>
                <a:ext uri="{FF2B5EF4-FFF2-40B4-BE49-F238E27FC236}">
                  <a16:creationId xmlns:a16="http://schemas.microsoft.com/office/drawing/2014/main" id="{70BEBDDE-6650-585B-5583-930364E20230}"/>
                </a:ext>
              </a:extLst>
            </p:cNvPr>
            <p:cNvSpPr>
              <a:spLocks noChangeArrowheads="1"/>
            </p:cNvSpPr>
            <p:nvPr/>
          </p:nvSpPr>
          <p:spPr bwMode="auto">
            <a:xfrm>
              <a:off x="896937" y="7216253"/>
              <a:ext cx="257175" cy="12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8.28%</a:t>
              </a:r>
              <a:endParaRPr kumimoji="0" lang="en-US" altLang="en-US" sz="800" b="0" i="0" u="none" strike="noStrike" cap="none" normalizeH="0" baseline="0">
                <a:ln>
                  <a:noFill/>
                </a:ln>
                <a:solidFill>
                  <a:schemeClr val="tx1"/>
                </a:solidFill>
                <a:effectLst/>
              </a:endParaRPr>
            </a:p>
          </p:txBody>
        </p:sp>
        <p:sp>
          <p:nvSpPr>
            <p:cNvPr id="93" name="Rectangle 19">
              <a:extLst>
                <a:ext uri="{FF2B5EF4-FFF2-40B4-BE49-F238E27FC236}">
                  <a16:creationId xmlns:a16="http://schemas.microsoft.com/office/drawing/2014/main" id="{7E5E5A29-6FCC-0C6F-1E03-99F7FB2C9749}"/>
                </a:ext>
              </a:extLst>
            </p:cNvPr>
            <p:cNvSpPr>
              <a:spLocks noChangeArrowheads="1"/>
            </p:cNvSpPr>
            <p:nvPr/>
          </p:nvSpPr>
          <p:spPr bwMode="auto">
            <a:xfrm>
              <a:off x="1539876" y="6892566"/>
              <a:ext cx="307975" cy="12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14.98%</a:t>
              </a:r>
              <a:endParaRPr kumimoji="0" lang="en-US" altLang="en-US" sz="800" b="0" i="0" u="none" strike="noStrike" cap="none" normalizeH="0" baseline="0">
                <a:ln>
                  <a:noFill/>
                </a:ln>
                <a:solidFill>
                  <a:schemeClr val="tx1"/>
                </a:solidFill>
                <a:effectLst/>
              </a:endParaRPr>
            </a:p>
          </p:txBody>
        </p:sp>
        <p:sp>
          <p:nvSpPr>
            <p:cNvPr id="94" name="Rectangle 20">
              <a:extLst>
                <a:ext uri="{FF2B5EF4-FFF2-40B4-BE49-F238E27FC236}">
                  <a16:creationId xmlns:a16="http://schemas.microsoft.com/office/drawing/2014/main" id="{A1ADE91C-E81B-AB57-2CC2-1D607AFE32A6}"/>
                </a:ext>
              </a:extLst>
            </p:cNvPr>
            <p:cNvSpPr>
              <a:spLocks noChangeArrowheads="1"/>
            </p:cNvSpPr>
            <p:nvPr/>
          </p:nvSpPr>
          <p:spPr bwMode="auto">
            <a:xfrm>
              <a:off x="2005012" y="6813017"/>
              <a:ext cx="307975" cy="12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16.33%</a:t>
              </a:r>
              <a:endParaRPr kumimoji="0" lang="en-US" altLang="en-US" sz="800" b="0" i="0" u="none" strike="noStrike" cap="none" normalizeH="0" baseline="0">
                <a:ln>
                  <a:noFill/>
                </a:ln>
                <a:solidFill>
                  <a:schemeClr val="tx1"/>
                </a:solidFill>
                <a:effectLst/>
              </a:endParaRPr>
            </a:p>
          </p:txBody>
        </p:sp>
        <p:sp>
          <p:nvSpPr>
            <p:cNvPr id="95" name="Rectangle 21">
              <a:extLst>
                <a:ext uri="{FF2B5EF4-FFF2-40B4-BE49-F238E27FC236}">
                  <a16:creationId xmlns:a16="http://schemas.microsoft.com/office/drawing/2014/main" id="{AAB38173-FD95-6A67-4A76-318050A4FA01}"/>
                </a:ext>
              </a:extLst>
            </p:cNvPr>
            <p:cNvSpPr>
              <a:spLocks noChangeArrowheads="1"/>
            </p:cNvSpPr>
            <p:nvPr/>
          </p:nvSpPr>
          <p:spPr bwMode="auto">
            <a:xfrm>
              <a:off x="2697164" y="6597332"/>
              <a:ext cx="307975" cy="12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20.75%</a:t>
              </a:r>
              <a:endParaRPr kumimoji="0" lang="en-US" altLang="en-US" sz="800" b="0" i="0" u="none" strike="noStrike" cap="none" normalizeH="0" baseline="0">
                <a:ln>
                  <a:noFill/>
                </a:ln>
                <a:solidFill>
                  <a:schemeClr val="tx1"/>
                </a:solidFill>
                <a:effectLst/>
              </a:endParaRPr>
            </a:p>
          </p:txBody>
        </p:sp>
        <p:sp>
          <p:nvSpPr>
            <p:cNvPr id="96" name="Rectangle 22">
              <a:extLst>
                <a:ext uri="{FF2B5EF4-FFF2-40B4-BE49-F238E27FC236}">
                  <a16:creationId xmlns:a16="http://schemas.microsoft.com/office/drawing/2014/main" id="{14FE874E-9168-16E6-ACAC-F8F3230018FD}"/>
                </a:ext>
              </a:extLst>
            </p:cNvPr>
            <p:cNvSpPr>
              <a:spLocks noChangeArrowheads="1"/>
            </p:cNvSpPr>
            <p:nvPr/>
          </p:nvSpPr>
          <p:spPr bwMode="auto">
            <a:xfrm>
              <a:off x="395288" y="7814352"/>
              <a:ext cx="312738" cy="12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Mar-21</a:t>
              </a:r>
              <a:endParaRPr kumimoji="0" lang="en-US" altLang="en-US" sz="800" b="0" i="0" u="none" strike="noStrike" cap="none" normalizeH="0" baseline="0">
                <a:ln>
                  <a:noFill/>
                </a:ln>
                <a:solidFill>
                  <a:schemeClr val="tx1"/>
                </a:solidFill>
                <a:effectLst/>
              </a:endParaRPr>
            </a:p>
          </p:txBody>
        </p:sp>
        <p:sp>
          <p:nvSpPr>
            <p:cNvPr id="97" name="Rectangle 23">
              <a:extLst>
                <a:ext uri="{FF2B5EF4-FFF2-40B4-BE49-F238E27FC236}">
                  <a16:creationId xmlns:a16="http://schemas.microsoft.com/office/drawing/2014/main" id="{96D2DA67-F460-39A8-C6A0-FC4CD9703C28}"/>
                </a:ext>
              </a:extLst>
            </p:cNvPr>
            <p:cNvSpPr>
              <a:spLocks noChangeArrowheads="1"/>
            </p:cNvSpPr>
            <p:nvPr/>
          </p:nvSpPr>
          <p:spPr bwMode="auto">
            <a:xfrm>
              <a:off x="971551" y="7814352"/>
              <a:ext cx="312738" cy="12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Mar-22</a:t>
              </a:r>
              <a:endParaRPr kumimoji="0" lang="en-US" altLang="en-US" sz="800" b="0" i="0" u="none" strike="noStrike" cap="none" normalizeH="0" baseline="0">
                <a:ln>
                  <a:noFill/>
                </a:ln>
                <a:solidFill>
                  <a:schemeClr val="tx1"/>
                </a:solidFill>
                <a:effectLst/>
              </a:endParaRPr>
            </a:p>
          </p:txBody>
        </p:sp>
        <p:sp>
          <p:nvSpPr>
            <p:cNvPr id="98" name="Rectangle 24">
              <a:extLst>
                <a:ext uri="{FF2B5EF4-FFF2-40B4-BE49-F238E27FC236}">
                  <a16:creationId xmlns:a16="http://schemas.microsoft.com/office/drawing/2014/main" id="{4C477C0E-ED69-331D-463E-79FD0F7DDFD4}"/>
                </a:ext>
              </a:extLst>
            </p:cNvPr>
            <p:cNvSpPr>
              <a:spLocks noChangeArrowheads="1"/>
            </p:cNvSpPr>
            <p:nvPr/>
          </p:nvSpPr>
          <p:spPr bwMode="auto">
            <a:xfrm>
              <a:off x="1547813" y="7814352"/>
              <a:ext cx="312738" cy="12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Mar-23</a:t>
              </a:r>
              <a:endParaRPr kumimoji="0" lang="en-US" altLang="en-US" sz="800" b="0" i="0" u="none" strike="noStrike" cap="none" normalizeH="0" baseline="0">
                <a:ln>
                  <a:noFill/>
                </a:ln>
                <a:solidFill>
                  <a:schemeClr val="tx1"/>
                </a:solidFill>
                <a:effectLst/>
              </a:endParaRPr>
            </a:p>
          </p:txBody>
        </p:sp>
        <p:sp>
          <p:nvSpPr>
            <p:cNvPr id="99" name="Rectangle 25">
              <a:extLst>
                <a:ext uri="{FF2B5EF4-FFF2-40B4-BE49-F238E27FC236}">
                  <a16:creationId xmlns:a16="http://schemas.microsoft.com/office/drawing/2014/main" id="{6F945B12-2492-ED24-9552-A15D1C495843}"/>
                </a:ext>
              </a:extLst>
            </p:cNvPr>
            <p:cNvSpPr>
              <a:spLocks noChangeArrowheads="1"/>
            </p:cNvSpPr>
            <p:nvPr/>
          </p:nvSpPr>
          <p:spPr bwMode="auto">
            <a:xfrm>
              <a:off x="2122488" y="7814352"/>
              <a:ext cx="312738" cy="12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Mar-24</a:t>
              </a:r>
              <a:endParaRPr kumimoji="0" lang="en-US" altLang="en-US" sz="800" b="0" i="0" u="none" strike="noStrike" cap="none" normalizeH="0" baseline="0">
                <a:ln>
                  <a:noFill/>
                </a:ln>
                <a:solidFill>
                  <a:schemeClr val="tx1"/>
                </a:solidFill>
                <a:effectLst/>
              </a:endParaRPr>
            </a:p>
          </p:txBody>
        </p:sp>
        <p:sp>
          <p:nvSpPr>
            <p:cNvPr id="100" name="Rectangle 26">
              <a:extLst>
                <a:ext uri="{FF2B5EF4-FFF2-40B4-BE49-F238E27FC236}">
                  <a16:creationId xmlns:a16="http://schemas.microsoft.com/office/drawing/2014/main" id="{3A800814-220A-06E4-1424-56F6A58E7E2D}"/>
                </a:ext>
              </a:extLst>
            </p:cNvPr>
            <p:cNvSpPr>
              <a:spLocks noChangeArrowheads="1"/>
            </p:cNvSpPr>
            <p:nvPr/>
          </p:nvSpPr>
          <p:spPr bwMode="auto">
            <a:xfrm>
              <a:off x="2698751" y="7814352"/>
              <a:ext cx="312738" cy="12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Mar-25</a:t>
              </a:r>
              <a:endParaRPr kumimoji="0" lang="en-US" altLang="en-US" sz="800" b="0" i="0" u="none" strike="noStrike" cap="none" normalizeH="0" baseline="0">
                <a:ln>
                  <a:noFill/>
                </a:ln>
                <a:solidFill>
                  <a:schemeClr val="tx1"/>
                </a:solidFill>
                <a:effectLst/>
              </a:endParaRPr>
            </a:p>
          </p:txBody>
        </p:sp>
        <p:sp>
          <p:nvSpPr>
            <p:cNvPr id="101" name="Rectangle 27">
              <a:extLst>
                <a:ext uri="{FF2B5EF4-FFF2-40B4-BE49-F238E27FC236}">
                  <a16:creationId xmlns:a16="http://schemas.microsoft.com/office/drawing/2014/main" id="{F81A34CD-258C-FA51-D9E2-A96796140597}"/>
                </a:ext>
              </a:extLst>
            </p:cNvPr>
            <p:cNvSpPr>
              <a:spLocks noChangeArrowheads="1"/>
            </p:cNvSpPr>
            <p:nvPr/>
          </p:nvSpPr>
          <p:spPr bwMode="auto">
            <a:xfrm>
              <a:off x="1068099" y="6254698"/>
              <a:ext cx="125252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6600"/>
                  </a:solidFill>
                  <a:effectLst/>
                  <a:latin typeface="Calibri" panose="020F0502020204030204" pitchFamily="34" charset="0"/>
                </a:rPr>
                <a:t>ROE v/s PAT Margin</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102" name="Rectangle 28">
              <a:extLst>
                <a:ext uri="{FF2B5EF4-FFF2-40B4-BE49-F238E27FC236}">
                  <a16:creationId xmlns:a16="http://schemas.microsoft.com/office/drawing/2014/main" id="{8C01858B-2925-FFFC-68FD-4D084B8A98DC}"/>
                </a:ext>
              </a:extLst>
            </p:cNvPr>
            <p:cNvSpPr>
              <a:spLocks noChangeArrowheads="1"/>
            </p:cNvSpPr>
            <p:nvPr/>
          </p:nvSpPr>
          <p:spPr bwMode="auto">
            <a:xfrm>
              <a:off x="773112" y="7977700"/>
              <a:ext cx="163513" cy="44285"/>
            </a:xfrm>
            <a:prstGeom prst="rect">
              <a:avLst/>
            </a:prstGeom>
            <a:solidFill>
              <a:srgbClr val="187C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03" name="Rectangle 29">
              <a:extLst>
                <a:ext uri="{FF2B5EF4-FFF2-40B4-BE49-F238E27FC236}">
                  <a16:creationId xmlns:a16="http://schemas.microsoft.com/office/drawing/2014/main" id="{3476EE63-0802-F01D-2DFC-0641FF86E6A8}"/>
                </a:ext>
              </a:extLst>
            </p:cNvPr>
            <p:cNvSpPr>
              <a:spLocks noChangeArrowheads="1"/>
            </p:cNvSpPr>
            <p:nvPr/>
          </p:nvSpPr>
          <p:spPr bwMode="auto">
            <a:xfrm>
              <a:off x="958851" y="7933265"/>
              <a:ext cx="711200" cy="12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Return on Equity</a:t>
              </a:r>
              <a:endParaRPr kumimoji="0" lang="en-US" altLang="en-US" sz="800" b="0" i="0" u="none" strike="noStrike" cap="none" normalizeH="0" baseline="0">
                <a:ln>
                  <a:noFill/>
                </a:ln>
                <a:solidFill>
                  <a:schemeClr val="tx1"/>
                </a:solidFill>
                <a:effectLst/>
              </a:endParaRPr>
            </a:p>
          </p:txBody>
        </p:sp>
        <p:sp>
          <p:nvSpPr>
            <p:cNvPr id="104" name="Line 30">
              <a:extLst>
                <a:ext uri="{FF2B5EF4-FFF2-40B4-BE49-F238E27FC236}">
                  <a16:creationId xmlns:a16="http://schemas.microsoft.com/office/drawing/2014/main" id="{46F86A13-79D4-FAE3-78E2-1CC2DBB189C3}"/>
                </a:ext>
              </a:extLst>
            </p:cNvPr>
            <p:cNvSpPr>
              <a:spLocks noChangeShapeType="1"/>
            </p:cNvSpPr>
            <p:nvPr/>
          </p:nvSpPr>
          <p:spPr bwMode="auto">
            <a:xfrm>
              <a:off x="1774031" y="8002661"/>
              <a:ext cx="163513" cy="0"/>
            </a:xfrm>
            <a:prstGeom prst="line">
              <a:avLst/>
            </a:prstGeom>
            <a:noFill/>
            <a:ln w="20638" cap="rnd">
              <a:solidFill>
                <a:srgbClr val="0033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5" name="Rectangle 31">
              <a:extLst>
                <a:ext uri="{FF2B5EF4-FFF2-40B4-BE49-F238E27FC236}">
                  <a16:creationId xmlns:a16="http://schemas.microsoft.com/office/drawing/2014/main" id="{37E98EB6-3BE7-8276-009E-C642E9E344F4}"/>
                </a:ext>
              </a:extLst>
            </p:cNvPr>
            <p:cNvSpPr>
              <a:spLocks noChangeArrowheads="1"/>
            </p:cNvSpPr>
            <p:nvPr/>
          </p:nvSpPr>
          <p:spPr bwMode="auto">
            <a:xfrm>
              <a:off x="1957553" y="7941321"/>
              <a:ext cx="744538" cy="12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Net Profit Margin</a:t>
              </a:r>
              <a:endParaRPr kumimoji="0" lang="en-US" altLang="en-US" sz="800" b="0" i="0" u="none" strike="noStrike" cap="none" normalizeH="0" baseline="0">
                <a:ln>
                  <a:noFill/>
                </a:ln>
                <a:solidFill>
                  <a:schemeClr val="tx1"/>
                </a:solidFill>
                <a:effectLst/>
              </a:endParaRPr>
            </a:p>
          </p:txBody>
        </p:sp>
        <p:sp>
          <p:nvSpPr>
            <p:cNvPr id="106" name="Rectangle 32">
              <a:extLst>
                <a:ext uri="{FF2B5EF4-FFF2-40B4-BE49-F238E27FC236}">
                  <a16:creationId xmlns:a16="http://schemas.microsoft.com/office/drawing/2014/main" id="{4AC610F9-3472-CBCE-40A6-1D01E1DCC282}"/>
                </a:ext>
              </a:extLst>
            </p:cNvPr>
            <p:cNvSpPr>
              <a:spLocks noChangeArrowheads="1"/>
            </p:cNvSpPr>
            <p:nvPr/>
          </p:nvSpPr>
          <p:spPr bwMode="auto">
            <a:xfrm>
              <a:off x="138113" y="6215168"/>
              <a:ext cx="3067050" cy="1892777"/>
            </a:xfrm>
            <a:prstGeom prst="rect">
              <a:avLst/>
            </a:prstGeom>
            <a:noFill/>
            <a:ln w="6350" cap="flat">
              <a:no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
        <p:nvSpPr>
          <p:cNvPr id="110" name="AutoShape 34">
            <a:extLst>
              <a:ext uri="{FF2B5EF4-FFF2-40B4-BE49-F238E27FC236}">
                <a16:creationId xmlns:a16="http://schemas.microsoft.com/office/drawing/2014/main" id="{1D9F262B-CC20-893E-81E7-AB3B11A31B99}"/>
              </a:ext>
            </a:extLst>
          </p:cNvPr>
          <p:cNvSpPr>
            <a:spLocks noChangeAspect="1" noChangeArrowheads="1" noTextEdit="1"/>
          </p:cNvSpPr>
          <p:nvPr/>
        </p:nvSpPr>
        <p:spPr bwMode="auto">
          <a:xfrm>
            <a:off x="3182938" y="6242050"/>
            <a:ext cx="2838450" cy="184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1" name="Rectangle 36">
            <a:extLst>
              <a:ext uri="{FF2B5EF4-FFF2-40B4-BE49-F238E27FC236}">
                <a16:creationId xmlns:a16="http://schemas.microsoft.com/office/drawing/2014/main" id="{E4592ABE-0703-55C5-305E-C825F2154606}"/>
              </a:ext>
            </a:extLst>
          </p:cNvPr>
          <p:cNvSpPr>
            <a:spLocks noChangeArrowheads="1"/>
          </p:cNvSpPr>
          <p:nvPr/>
        </p:nvSpPr>
        <p:spPr bwMode="auto">
          <a:xfrm>
            <a:off x="3186113" y="6206256"/>
            <a:ext cx="2832100" cy="187570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2" name="Freeform 37">
            <a:extLst>
              <a:ext uri="{FF2B5EF4-FFF2-40B4-BE49-F238E27FC236}">
                <a16:creationId xmlns:a16="http://schemas.microsoft.com/office/drawing/2014/main" id="{82EF22C9-E9BF-0601-E491-9E1FAA9ED3F7}"/>
              </a:ext>
            </a:extLst>
          </p:cNvPr>
          <p:cNvSpPr>
            <a:spLocks noEditPoints="1"/>
          </p:cNvSpPr>
          <p:nvPr/>
        </p:nvSpPr>
        <p:spPr bwMode="auto">
          <a:xfrm>
            <a:off x="3386138" y="6765925"/>
            <a:ext cx="2281238" cy="925513"/>
          </a:xfrm>
          <a:custGeom>
            <a:avLst/>
            <a:gdLst>
              <a:gd name="T0" fmla="*/ 0 w 1437"/>
              <a:gd name="T1" fmla="*/ 0 h 583"/>
              <a:gd name="T2" fmla="*/ 96 w 1437"/>
              <a:gd name="T3" fmla="*/ 0 h 583"/>
              <a:gd name="T4" fmla="*/ 96 w 1437"/>
              <a:gd name="T5" fmla="*/ 583 h 583"/>
              <a:gd name="T6" fmla="*/ 0 w 1437"/>
              <a:gd name="T7" fmla="*/ 583 h 583"/>
              <a:gd name="T8" fmla="*/ 0 w 1437"/>
              <a:gd name="T9" fmla="*/ 0 h 583"/>
              <a:gd name="T10" fmla="*/ 335 w 1437"/>
              <a:gd name="T11" fmla="*/ 67 h 583"/>
              <a:gd name="T12" fmla="*/ 431 w 1437"/>
              <a:gd name="T13" fmla="*/ 67 h 583"/>
              <a:gd name="T14" fmla="*/ 431 w 1437"/>
              <a:gd name="T15" fmla="*/ 583 h 583"/>
              <a:gd name="T16" fmla="*/ 335 w 1437"/>
              <a:gd name="T17" fmla="*/ 583 h 583"/>
              <a:gd name="T18" fmla="*/ 335 w 1437"/>
              <a:gd name="T19" fmla="*/ 67 h 583"/>
              <a:gd name="T20" fmla="*/ 670 w 1437"/>
              <a:gd name="T21" fmla="*/ 155 h 583"/>
              <a:gd name="T22" fmla="*/ 766 w 1437"/>
              <a:gd name="T23" fmla="*/ 155 h 583"/>
              <a:gd name="T24" fmla="*/ 766 w 1437"/>
              <a:gd name="T25" fmla="*/ 583 h 583"/>
              <a:gd name="T26" fmla="*/ 670 w 1437"/>
              <a:gd name="T27" fmla="*/ 583 h 583"/>
              <a:gd name="T28" fmla="*/ 670 w 1437"/>
              <a:gd name="T29" fmla="*/ 155 h 583"/>
              <a:gd name="T30" fmla="*/ 1006 w 1437"/>
              <a:gd name="T31" fmla="*/ 116 h 583"/>
              <a:gd name="T32" fmla="*/ 1101 w 1437"/>
              <a:gd name="T33" fmla="*/ 116 h 583"/>
              <a:gd name="T34" fmla="*/ 1101 w 1437"/>
              <a:gd name="T35" fmla="*/ 583 h 583"/>
              <a:gd name="T36" fmla="*/ 1006 w 1437"/>
              <a:gd name="T37" fmla="*/ 583 h 583"/>
              <a:gd name="T38" fmla="*/ 1006 w 1437"/>
              <a:gd name="T39" fmla="*/ 116 h 583"/>
              <a:gd name="T40" fmla="*/ 1341 w 1437"/>
              <a:gd name="T41" fmla="*/ 39 h 583"/>
              <a:gd name="T42" fmla="*/ 1437 w 1437"/>
              <a:gd name="T43" fmla="*/ 39 h 583"/>
              <a:gd name="T44" fmla="*/ 1437 w 1437"/>
              <a:gd name="T45" fmla="*/ 583 h 583"/>
              <a:gd name="T46" fmla="*/ 1341 w 1437"/>
              <a:gd name="T47" fmla="*/ 583 h 583"/>
              <a:gd name="T48" fmla="*/ 1341 w 1437"/>
              <a:gd name="T49" fmla="*/ 39 h 5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7" h="583">
                <a:moveTo>
                  <a:pt x="0" y="0"/>
                </a:moveTo>
                <a:lnTo>
                  <a:pt x="96" y="0"/>
                </a:lnTo>
                <a:lnTo>
                  <a:pt x="96" y="583"/>
                </a:lnTo>
                <a:lnTo>
                  <a:pt x="0" y="583"/>
                </a:lnTo>
                <a:lnTo>
                  <a:pt x="0" y="0"/>
                </a:lnTo>
                <a:close/>
                <a:moveTo>
                  <a:pt x="335" y="67"/>
                </a:moveTo>
                <a:lnTo>
                  <a:pt x="431" y="67"/>
                </a:lnTo>
                <a:lnTo>
                  <a:pt x="431" y="583"/>
                </a:lnTo>
                <a:lnTo>
                  <a:pt x="335" y="583"/>
                </a:lnTo>
                <a:lnTo>
                  <a:pt x="335" y="67"/>
                </a:lnTo>
                <a:close/>
                <a:moveTo>
                  <a:pt x="670" y="155"/>
                </a:moveTo>
                <a:lnTo>
                  <a:pt x="766" y="155"/>
                </a:lnTo>
                <a:lnTo>
                  <a:pt x="766" y="583"/>
                </a:lnTo>
                <a:lnTo>
                  <a:pt x="670" y="583"/>
                </a:lnTo>
                <a:lnTo>
                  <a:pt x="670" y="155"/>
                </a:lnTo>
                <a:close/>
                <a:moveTo>
                  <a:pt x="1006" y="116"/>
                </a:moveTo>
                <a:lnTo>
                  <a:pt x="1101" y="116"/>
                </a:lnTo>
                <a:lnTo>
                  <a:pt x="1101" y="583"/>
                </a:lnTo>
                <a:lnTo>
                  <a:pt x="1006" y="583"/>
                </a:lnTo>
                <a:lnTo>
                  <a:pt x="1006" y="116"/>
                </a:lnTo>
                <a:close/>
                <a:moveTo>
                  <a:pt x="1341" y="39"/>
                </a:moveTo>
                <a:lnTo>
                  <a:pt x="1437" y="39"/>
                </a:lnTo>
                <a:lnTo>
                  <a:pt x="1437" y="583"/>
                </a:lnTo>
                <a:lnTo>
                  <a:pt x="1341" y="583"/>
                </a:lnTo>
                <a:lnTo>
                  <a:pt x="1341" y="39"/>
                </a:lnTo>
                <a:close/>
              </a:path>
            </a:pathLst>
          </a:custGeom>
          <a:solidFill>
            <a:srgbClr val="187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3" name="Freeform 38">
            <a:extLst>
              <a:ext uri="{FF2B5EF4-FFF2-40B4-BE49-F238E27FC236}">
                <a16:creationId xmlns:a16="http://schemas.microsoft.com/office/drawing/2014/main" id="{F73203A1-0FF5-265E-A588-B1F4DC5B4A76}"/>
              </a:ext>
            </a:extLst>
          </p:cNvPr>
          <p:cNvSpPr>
            <a:spLocks noEditPoints="1"/>
          </p:cNvSpPr>
          <p:nvPr/>
        </p:nvSpPr>
        <p:spPr bwMode="auto">
          <a:xfrm>
            <a:off x="3538538" y="7353300"/>
            <a:ext cx="2279650" cy="338138"/>
          </a:xfrm>
          <a:custGeom>
            <a:avLst/>
            <a:gdLst>
              <a:gd name="T0" fmla="*/ 0 w 1436"/>
              <a:gd name="T1" fmla="*/ 140 h 213"/>
              <a:gd name="T2" fmla="*/ 95 w 1436"/>
              <a:gd name="T3" fmla="*/ 140 h 213"/>
              <a:gd name="T4" fmla="*/ 95 w 1436"/>
              <a:gd name="T5" fmla="*/ 213 h 213"/>
              <a:gd name="T6" fmla="*/ 0 w 1436"/>
              <a:gd name="T7" fmla="*/ 213 h 213"/>
              <a:gd name="T8" fmla="*/ 0 w 1436"/>
              <a:gd name="T9" fmla="*/ 140 h 213"/>
              <a:gd name="T10" fmla="*/ 335 w 1436"/>
              <a:gd name="T11" fmla="*/ 119 h 213"/>
              <a:gd name="T12" fmla="*/ 431 w 1436"/>
              <a:gd name="T13" fmla="*/ 119 h 213"/>
              <a:gd name="T14" fmla="*/ 431 w 1436"/>
              <a:gd name="T15" fmla="*/ 213 h 213"/>
              <a:gd name="T16" fmla="*/ 335 w 1436"/>
              <a:gd name="T17" fmla="*/ 213 h 213"/>
              <a:gd name="T18" fmla="*/ 335 w 1436"/>
              <a:gd name="T19" fmla="*/ 119 h 213"/>
              <a:gd name="T20" fmla="*/ 670 w 1436"/>
              <a:gd name="T21" fmla="*/ 0 h 213"/>
              <a:gd name="T22" fmla="*/ 766 w 1436"/>
              <a:gd name="T23" fmla="*/ 0 h 213"/>
              <a:gd name="T24" fmla="*/ 766 w 1436"/>
              <a:gd name="T25" fmla="*/ 213 h 213"/>
              <a:gd name="T26" fmla="*/ 670 w 1436"/>
              <a:gd name="T27" fmla="*/ 213 h 213"/>
              <a:gd name="T28" fmla="*/ 670 w 1436"/>
              <a:gd name="T29" fmla="*/ 0 h 213"/>
              <a:gd name="T30" fmla="*/ 1005 w 1436"/>
              <a:gd name="T31" fmla="*/ 50 h 213"/>
              <a:gd name="T32" fmla="*/ 1101 w 1436"/>
              <a:gd name="T33" fmla="*/ 50 h 213"/>
              <a:gd name="T34" fmla="*/ 1101 w 1436"/>
              <a:gd name="T35" fmla="*/ 213 h 213"/>
              <a:gd name="T36" fmla="*/ 1005 w 1436"/>
              <a:gd name="T37" fmla="*/ 213 h 213"/>
              <a:gd name="T38" fmla="*/ 1005 w 1436"/>
              <a:gd name="T39" fmla="*/ 50 h 213"/>
              <a:gd name="T40" fmla="*/ 1341 w 1436"/>
              <a:gd name="T41" fmla="*/ 25 h 213"/>
              <a:gd name="T42" fmla="*/ 1436 w 1436"/>
              <a:gd name="T43" fmla="*/ 25 h 213"/>
              <a:gd name="T44" fmla="*/ 1436 w 1436"/>
              <a:gd name="T45" fmla="*/ 213 h 213"/>
              <a:gd name="T46" fmla="*/ 1341 w 1436"/>
              <a:gd name="T47" fmla="*/ 213 h 213"/>
              <a:gd name="T48" fmla="*/ 1341 w 1436"/>
              <a:gd name="T49" fmla="*/ 25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6" h="213">
                <a:moveTo>
                  <a:pt x="0" y="140"/>
                </a:moveTo>
                <a:lnTo>
                  <a:pt x="95" y="140"/>
                </a:lnTo>
                <a:lnTo>
                  <a:pt x="95" y="213"/>
                </a:lnTo>
                <a:lnTo>
                  <a:pt x="0" y="213"/>
                </a:lnTo>
                <a:lnTo>
                  <a:pt x="0" y="140"/>
                </a:lnTo>
                <a:close/>
                <a:moveTo>
                  <a:pt x="335" y="119"/>
                </a:moveTo>
                <a:lnTo>
                  <a:pt x="431" y="119"/>
                </a:lnTo>
                <a:lnTo>
                  <a:pt x="431" y="213"/>
                </a:lnTo>
                <a:lnTo>
                  <a:pt x="335" y="213"/>
                </a:lnTo>
                <a:lnTo>
                  <a:pt x="335" y="119"/>
                </a:lnTo>
                <a:close/>
                <a:moveTo>
                  <a:pt x="670" y="0"/>
                </a:moveTo>
                <a:lnTo>
                  <a:pt x="766" y="0"/>
                </a:lnTo>
                <a:lnTo>
                  <a:pt x="766" y="213"/>
                </a:lnTo>
                <a:lnTo>
                  <a:pt x="670" y="213"/>
                </a:lnTo>
                <a:lnTo>
                  <a:pt x="670" y="0"/>
                </a:lnTo>
                <a:close/>
                <a:moveTo>
                  <a:pt x="1005" y="50"/>
                </a:moveTo>
                <a:lnTo>
                  <a:pt x="1101" y="50"/>
                </a:lnTo>
                <a:lnTo>
                  <a:pt x="1101" y="213"/>
                </a:lnTo>
                <a:lnTo>
                  <a:pt x="1005" y="213"/>
                </a:lnTo>
                <a:lnTo>
                  <a:pt x="1005" y="50"/>
                </a:lnTo>
                <a:close/>
                <a:moveTo>
                  <a:pt x="1341" y="25"/>
                </a:moveTo>
                <a:lnTo>
                  <a:pt x="1436" y="25"/>
                </a:lnTo>
                <a:lnTo>
                  <a:pt x="1436" y="213"/>
                </a:lnTo>
                <a:lnTo>
                  <a:pt x="1341" y="213"/>
                </a:lnTo>
                <a:lnTo>
                  <a:pt x="1341" y="25"/>
                </a:lnTo>
                <a:close/>
              </a:path>
            </a:pathLst>
          </a:custGeom>
          <a:solidFill>
            <a:srgbClr val="C5E0B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4" name="Rectangle 39">
            <a:extLst>
              <a:ext uri="{FF2B5EF4-FFF2-40B4-BE49-F238E27FC236}">
                <a16:creationId xmlns:a16="http://schemas.microsoft.com/office/drawing/2014/main" id="{3DAE9AEE-2282-2EE4-6E84-35768B8F0918}"/>
              </a:ext>
            </a:extLst>
          </p:cNvPr>
          <p:cNvSpPr>
            <a:spLocks noChangeArrowheads="1"/>
          </p:cNvSpPr>
          <p:nvPr/>
        </p:nvSpPr>
        <p:spPr bwMode="auto">
          <a:xfrm>
            <a:off x="3355976" y="6634163"/>
            <a:ext cx="34464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Calibri" panose="020F0502020204030204" pitchFamily="34" charset="0"/>
              </a:rPr>
              <a:t>98.15%</a:t>
            </a:r>
            <a:endParaRPr kumimoji="0" lang="en-US" altLang="en-US" sz="900" b="0" i="0" u="none" strike="noStrike" cap="none" normalizeH="0" baseline="0">
              <a:ln>
                <a:noFill/>
              </a:ln>
              <a:solidFill>
                <a:schemeClr val="tx1"/>
              </a:solidFill>
              <a:effectLst/>
            </a:endParaRPr>
          </a:p>
        </p:txBody>
      </p:sp>
      <p:sp>
        <p:nvSpPr>
          <p:cNvPr id="115" name="Rectangle 40">
            <a:extLst>
              <a:ext uri="{FF2B5EF4-FFF2-40B4-BE49-F238E27FC236}">
                <a16:creationId xmlns:a16="http://schemas.microsoft.com/office/drawing/2014/main" id="{958ECF1D-EDC0-87EC-771E-AB667F533D57}"/>
              </a:ext>
            </a:extLst>
          </p:cNvPr>
          <p:cNvSpPr>
            <a:spLocks noChangeArrowheads="1"/>
          </p:cNvSpPr>
          <p:nvPr/>
        </p:nvSpPr>
        <p:spPr bwMode="auto">
          <a:xfrm>
            <a:off x="3887788" y="6740525"/>
            <a:ext cx="34464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Calibri" panose="020F0502020204030204" pitchFamily="34" charset="0"/>
              </a:rPr>
              <a:t>86.91%</a:t>
            </a:r>
            <a:endParaRPr kumimoji="0" lang="en-US" altLang="en-US" sz="900" b="0" i="0" u="none" strike="noStrike" cap="none" normalizeH="0" baseline="0">
              <a:ln>
                <a:noFill/>
              </a:ln>
              <a:solidFill>
                <a:schemeClr val="tx1"/>
              </a:solidFill>
              <a:effectLst/>
            </a:endParaRPr>
          </a:p>
        </p:txBody>
      </p:sp>
      <p:sp>
        <p:nvSpPr>
          <p:cNvPr id="116" name="Rectangle 41">
            <a:extLst>
              <a:ext uri="{FF2B5EF4-FFF2-40B4-BE49-F238E27FC236}">
                <a16:creationId xmlns:a16="http://schemas.microsoft.com/office/drawing/2014/main" id="{E7650905-10D4-85F5-7431-B4C0DBA9E983}"/>
              </a:ext>
            </a:extLst>
          </p:cNvPr>
          <p:cNvSpPr>
            <a:spLocks noChangeArrowheads="1"/>
          </p:cNvSpPr>
          <p:nvPr/>
        </p:nvSpPr>
        <p:spPr bwMode="auto">
          <a:xfrm>
            <a:off x="4419601" y="6880225"/>
            <a:ext cx="34464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Calibri" panose="020F0502020204030204" pitchFamily="34" charset="0"/>
              </a:rPr>
              <a:t>72.04%</a:t>
            </a:r>
            <a:endParaRPr kumimoji="0" lang="en-US" altLang="en-US" sz="900" b="0" i="0" u="none" strike="noStrike" cap="none" normalizeH="0" baseline="0">
              <a:ln>
                <a:noFill/>
              </a:ln>
              <a:solidFill>
                <a:schemeClr val="tx1"/>
              </a:solidFill>
              <a:effectLst/>
            </a:endParaRPr>
          </a:p>
        </p:txBody>
      </p:sp>
      <p:sp>
        <p:nvSpPr>
          <p:cNvPr id="117" name="Rectangle 42">
            <a:extLst>
              <a:ext uri="{FF2B5EF4-FFF2-40B4-BE49-F238E27FC236}">
                <a16:creationId xmlns:a16="http://schemas.microsoft.com/office/drawing/2014/main" id="{2F66F046-4020-78CC-9287-A26E256C5F87}"/>
              </a:ext>
            </a:extLst>
          </p:cNvPr>
          <p:cNvSpPr>
            <a:spLocks noChangeArrowheads="1"/>
          </p:cNvSpPr>
          <p:nvPr/>
        </p:nvSpPr>
        <p:spPr bwMode="auto">
          <a:xfrm>
            <a:off x="4951413" y="6816725"/>
            <a:ext cx="34464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Calibri" panose="020F0502020204030204" pitchFamily="34" charset="0"/>
              </a:rPr>
              <a:t>78.56%</a:t>
            </a:r>
            <a:endParaRPr kumimoji="0" lang="en-US" altLang="en-US" sz="900" b="0" i="0" u="none" strike="noStrike" cap="none" normalizeH="0" baseline="0">
              <a:ln>
                <a:noFill/>
              </a:ln>
              <a:solidFill>
                <a:schemeClr val="tx1"/>
              </a:solidFill>
              <a:effectLst/>
            </a:endParaRPr>
          </a:p>
        </p:txBody>
      </p:sp>
      <p:sp>
        <p:nvSpPr>
          <p:cNvPr id="118" name="Rectangle 43">
            <a:extLst>
              <a:ext uri="{FF2B5EF4-FFF2-40B4-BE49-F238E27FC236}">
                <a16:creationId xmlns:a16="http://schemas.microsoft.com/office/drawing/2014/main" id="{F40314EB-B7AD-CA83-38D2-77DDC8701D50}"/>
              </a:ext>
            </a:extLst>
          </p:cNvPr>
          <p:cNvSpPr>
            <a:spLocks noChangeArrowheads="1"/>
          </p:cNvSpPr>
          <p:nvPr/>
        </p:nvSpPr>
        <p:spPr bwMode="auto">
          <a:xfrm>
            <a:off x="5484813" y="6696075"/>
            <a:ext cx="34464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Calibri" panose="020F0502020204030204" pitchFamily="34" charset="0"/>
              </a:rPr>
              <a:t>91.58%</a:t>
            </a:r>
            <a:endParaRPr kumimoji="0" lang="en-US" altLang="en-US" sz="900" b="0" i="0" u="none" strike="noStrike" cap="none" normalizeH="0" baseline="0">
              <a:ln>
                <a:noFill/>
              </a:ln>
              <a:solidFill>
                <a:schemeClr val="tx1"/>
              </a:solidFill>
              <a:effectLst/>
            </a:endParaRPr>
          </a:p>
        </p:txBody>
      </p:sp>
      <p:sp>
        <p:nvSpPr>
          <p:cNvPr id="119" name="Rectangle 44">
            <a:extLst>
              <a:ext uri="{FF2B5EF4-FFF2-40B4-BE49-F238E27FC236}">
                <a16:creationId xmlns:a16="http://schemas.microsoft.com/office/drawing/2014/main" id="{B3CD2EAD-9568-3226-8A9F-E77AFC931E61}"/>
              </a:ext>
            </a:extLst>
          </p:cNvPr>
          <p:cNvSpPr>
            <a:spLocks noChangeArrowheads="1"/>
          </p:cNvSpPr>
          <p:nvPr/>
        </p:nvSpPr>
        <p:spPr bwMode="auto">
          <a:xfrm>
            <a:off x="3533617" y="7457481"/>
            <a:ext cx="34464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Calibri" panose="020F0502020204030204" pitchFamily="34" charset="0"/>
              </a:rPr>
              <a:t>12.19%</a:t>
            </a:r>
            <a:endParaRPr kumimoji="0" lang="en-US" altLang="en-US" sz="900" b="0" i="0" u="none" strike="noStrike" cap="none" normalizeH="0" baseline="0">
              <a:ln>
                <a:noFill/>
              </a:ln>
              <a:solidFill>
                <a:schemeClr val="tx1"/>
              </a:solidFill>
              <a:effectLst/>
            </a:endParaRPr>
          </a:p>
        </p:txBody>
      </p:sp>
      <p:sp>
        <p:nvSpPr>
          <p:cNvPr id="120" name="Rectangle 45">
            <a:extLst>
              <a:ext uri="{FF2B5EF4-FFF2-40B4-BE49-F238E27FC236}">
                <a16:creationId xmlns:a16="http://schemas.microsoft.com/office/drawing/2014/main" id="{75370652-9526-5158-75A5-F94DE52254E2}"/>
              </a:ext>
            </a:extLst>
          </p:cNvPr>
          <p:cNvSpPr>
            <a:spLocks noChangeArrowheads="1"/>
          </p:cNvSpPr>
          <p:nvPr/>
        </p:nvSpPr>
        <p:spPr bwMode="auto">
          <a:xfrm>
            <a:off x="4074480" y="7417431"/>
            <a:ext cx="34464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Calibri" panose="020F0502020204030204" pitchFamily="34" charset="0"/>
              </a:rPr>
              <a:t>15.74%</a:t>
            </a:r>
            <a:endParaRPr kumimoji="0" lang="en-US" altLang="en-US" sz="900" b="0" i="0" u="none" strike="noStrike" cap="none" normalizeH="0" baseline="0">
              <a:ln>
                <a:noFill/>
              </a:ln>
              <a:solidFill>
                <a:schemeClr val="tx1"/>
              </a:solidFill>
              <a:effectLst/>
            </a:endParaRPr>
          </a:p>
        </p:txBody>
      </p:sp>
      <p:sp>
        <p:nvSpPr>
          <p:cNvPr id="121" name="Rectangle 46">
            <a:extLst>
              <a:ext uri="{FF2B5EF4-FFF2-40B4-BE49-F238E27FC236}">
                <a16:creationId xmlns:a16="http://schemas.microsoft.com/office/drawing/2014/main" id="{454B744D-362F-7DDA-EC6B-16DFA904D97F}"/>
              </a:ext>
            </a:extLst>
          </p:cNvPr>
          <p:cNvSpPr>
            <a:spLocks noChangeArrowheads="1"/>
          </p:cNvSpPr>
          <p:nvPr/>
        </p:nvSpPr>
        <p:spPr bwMode="auto">
          <a:xfrm>
            <a:off x="4605021" y="7231538"/>
            <a:ext cx="34464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Calibri" panose="020F0502020204030204" pitchFamily="34" charset="0"/>
              </a:rPr>
              <a:t>35.75%</a:t>
            </a:r>
            <a:endParaRPr kumimoji="0" lang="en-US" altLang="en-US" sz="900" b="0" i="0" u="none" strike="noStrike" cap="none" normalizeH="0" baseline="0">
              <a:ln>
                <a:noFill/>
              </a:ln>
              <a:solidFill>
                <a:schemeClr val="tx1"/>
              </a:solidFill>
              <a:effectLst/>
            </a:endParaRPr>
          </a:p>
        </p:txBody>
      </p:sp>
      <p:sp>
        <p:nvSpPr>
          <p:cNvPr id="122" name="Rectangle 47">
            <a:extLst>
              <a:ext uri="{FF2B5EF4-FFF2-40B4-BE49-F238E27FC236}">
                <a16:creationId xmlns:a16="http://schemas.microsoft.com/office/drawing/2014/main" id="{0708FC3A-1943-BE39-6803-36EA56F7C6C9}"/>
              </a:ext>
            </a:extLst>
          </p:cNvPr>
          <p:cNvSpPr>
            <a:spLocks noChangeArrowheads="1"/>
          </p:cNvSpPr>
          <p:nvPr/>
        </p:nvSpPr>
        <p:spPr bwMode="auto">
          <a:xfrm>
            <a:off x="5136198" y="7314468"/>
            <a:ext cx="34464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Calibri" panose="020F0502020204030204" pitchFamily="34" charset="0"/>
              </a:rPr>
              <a:t>27.37%</a:t>
            </a:r>
            <a:endParaRPr kumimoji="0" lang="en-US" altLang="en-US" sz="900" b="0" i="0" u="none" strike="noStrike" cap="none" normalizeH="0" baseline="0">
              <a:ln>
                <a:noFill/>
              </a:ln>
              <a:solidFill>
                <a:schemeClr val="tx1"/>
              </a:solidFill>
              <a:effectLst/>
            </a:endParaRPr>
          </a:p>
        </p:txBody>
      </p:sp>
      <p:sp>
        <p:nvSpPr>
          <p:cNvPr id="123" name="Rectangle 48">
            <a:extLst>
              <a:ext uri="{FF2B5EF4-FFF2-40B4-BE49-F238E27FC236}">
                <a16:creationId xmlns:a16="http://schemas.microsoft.com/office/drawing/2014/main" id="{01AD672E-5CD4-4827-B75B-E749BF1F4E49}"/>
              </a:ext>
            </a:extLst>
          </p:cNvPr>
          <p:cNvSpPr>
            <a:spLocks noChangeArrowheads="1"/>
          </p:cNvSpPr>
          <p:nvPr/>
        </p:nvSpPr>
        <p:spPr bwMode="auto">
          <a:xfrm>
            <a:off x="5675313" y="7275513"/>
            <a:ext cx="34464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Calibri" panose="020F0502020204030204" pitchFamily="34" charset="0"/>
              </a:rPr>
              <a:t>31.63%</a:t>
            </a:r>
            <a:endParaRPr kumimoji="0" lang="en-US" altLang="en-US" sz="900" b="0" i="0" u="none" strike="noStrike" cap="none" normalizeH="0" baseline="0">
              <a:ln>
                <a:noFill/>
              </a:ln>
              <a:solidFill>
                <a:schemeClr val="tx1"/>
              </a:solidFill>
              <a:effectLst/>
            </a:endParaRPr>
          </a:p>
        </p:txBody>
      </p:sp>
      <p:sp>
        <p:nvSpPr>
          <p:cNvPr id="124" name="Rectangle 49">
            <a:extLst>
              <a:ext uri="{FF2B5EF4-FFF2-40B4-BE49-F238E27FC236}">
                <a16:creationId xmlns:a16="http://schemas.microsoft.com/office/drawing/2014/main" id="{FDB34227-7145-53CA-E587-276AB759E203}"/>
              </a:ext>
            </a:extLst>
          </p:cNvPr>
          <p:cNvSpPr>
            <a:spLocks noChangeArrowheads="1"/>
          </p:cNvSpPr>
          <p:nvPr/>
        </p:nvSpPr>
        <p:spPr bwMode="auto">
          <a:xfrm>
            <a:off x="3432176" y="7739063"/>
            <a:ext cx="351058"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Calibri" panose="020F0502020204030204" pitchFamily="34" charset="0"/>
              </a:rPr>
              <a:t>Mar-21</a:t>
            </a:r>
            <a:endParaRPr kumimoji="0" lang="en-US" altLang="en-US" sz="900" b="0" i="0" u="none" strike="noStrike" cap="none" normalizeH="0" baseline="0">
              <a:ln>
                <a:noFill/>
              </a:ln>
              <a:solidFill>
                <a:schemeClr val="tx1"/>
              </a:solidFill>
              <a:effectLst/>
            </a:endParaRPr>
          </a:p>
        </p:txBody>
      </p:sp>
      <p:sp>
        <p:nvSpPr>
          <p:cNvPr id="125" name="Rectangle 50">
            <a:extLst>
              <a:ext uri="{FF2B5EF4-FFF2-40B4-BE49-F238E27FC236}">
                <a16:creationId xmlns:a16="http://schemas.microsoft.com/office/drawing/2014/main" id="{32D4CB15-4CF9-B6BA-2B00-D8F4A24E72D9}"/>
              </a:ext>
            </a:extLst>
          </p:cNvPr>
          <p:cNvSpPr>
            <a:spLocks noChangeArrowheads="1"/>
          </p:cNvSpPr>
          <p:nvPr/>
        </p:nvSpPr>
        <p:spPr bwMode="auto">
          <a:xfrm>
            <a:off x="3963988" y="7739063"/>
            <a:ext cx="351058"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Calibri" panose="020F0502020204030204" pitchFamily="34" charset="0"/>
              </a:rPr>
              <a:t>Mar-22</a:t>
            </a:r>
            <a:endParaRPr kumimoji="0" lang="en-US" altLang="en-US" sz="900" b="0" i="0" u="none" strike="noStrike" cap="none" normalizeH="0" baseline="0">
              <a:ln>
                <a:noFill/>
              </a:ln>
              <a:solidFill>
                <a:schemeClr val="tx1"/>
              </a:solidFill>
              <a:effectLst/>
            </a:endParaRPr>
          </a:p>
        </p:txBody>
      </p:sp>
      <p:sp>
        <p:nvSpPr>
          <p:cNvPr id="126" name="Rectangle 51">
            <a:extLst>
              <a:ext uri="{FF2B5EF4-FFF2-40B4-BE49-F238E27FC236}">
                <a16:creationId xmlns:a16="http://schemas.microsoft.com/office/drawing/2014/main" id="{DAFA5299-DE78-B88B-FE9D-0C8C0ACC8DF6}"/>
              </a:ext>
            </a:extLst>
          </p:cNvPr>
          <p:cNvSpPr>
            <a:spLocks noChangeArrowheads="1"/>
          </p:cNvSpPr>
          <p:nvPr/>
        </p:nvSpPr>
        <p:spPr bwMode="auto">
          <a:xfrm>
            <a:off x="4495801" y="7739063"/>
            <a:ext cx="351058"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Calibri" panose="020F0502020204030204" pitchFamily="34" charset="0"/>
              </a:rPr>
              <a:t>Mar-23</a:t>
            </a:r>
            <a:endParaRPr kumimoji="0" lang="en-US" altLang="en-US" sz="900" b="0" i="0" u="none" strike="noStrike" cap="none" normalizeH="0" baseline="0">
              <a:ln>
                <a:noFill/>
              </a:ln>
              <a:solidFill>
                <a:schemeClr val="tx1"/>
              </a:solidFill>
              <a:effectLst/>
            </a:endParaRPr>
          </a:p>
        </p:txBody>
      </p:sp>
      <p:sp>
        <p:nvSpPr>
          <p:cNvPr id="127" name="Rectangle 52">
            <a:extLst>
              <a:ext uri="{FF2B5EF4-FFF2-40B4-BE49-F238E27FC236}">
                <a16:creationId xmlns:a16="http://schemas.microsoft.com/office/drawing/2014/main" id="{EF2F792B-5B7C-F585-B160-281A2C512A1F}"/>
              </a:ext>
            </a:extLst>
          </p:cNvPr>
          <p:cNvSpPr>
            <a:spLocks noChangeArrowheads="1"/>
          </p:cNvSpPr>
          <p:nvPr/>
        </p:nvSpPr>
        <p:spPr bwMode="auto">
          <a:xfrm>
            <a:off x="5027613" y="7739063"/>
            <a:ext cx="351058"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Calibri" panose="020F0502020204030204" pitchFamily="34" charset="0"/>
              </a:rPr>
              <a:t>Mar-24</a:t>
            </a:r>
            <a:endParaRPr kumimoji="0" lang="en-US" altLang="en-US" sz="900" b="0" i="0" u="none" strike="noStrike" cap="none" normalizeH="0" baseline="0">
              <a:ln>
                <a:noFill/>
              </a:ln>
              <a:solidFill>
                <a:schemeClr val="tx1"/>
              </a:solidFill>
              <a:effectLst/>
            </a:endParaRPr>
          </a:p>
        </p:txBody>
      </p:sp>
      <p:sp>
        <p:nvSpPr>
          <p:cNvPr id="128" name="Rectangle 53">
            <a:extLst>
              <a:ext uri="{FF2B5EF4-FFF2-40B4-BE49-F238E27FC236}">
                <a16:creationId xmlns:a16="http://schemas.microsoft.com/office/drawing/2014/main" id="{9777547B-D0B9-E4A3-291C-A11C309627A6}"/>
              </a:ext>
            </a:extLst>
          </p:cNvPr>
          <p:cNvSpPr>
            <a:spLocks noChangeArrowheads="1"/>
          </p:cNvSpPr>
          <p:nvPr/>
        </p:nvSpPr>
        <p:spPr bwMode="auto">
          <a:xfrm>
            <a:off x="5559426" y="7739063"/>
            <a:ext cx="351058"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Calibri" panose="020F0502020204030204" pitchFamily="34" charset="0"/>
              </a:rPr>
              <a:t>Mar-25</a:t>
            </a:r>
            <a:endParaRPr kumimoji="0" lang="en-US" altLang="en-US" sz="900" b="0" i="0" u="none" strike="noStrike" cap="none" normalizeH="0" baseline="0">
              <a:ln>
                <a:noFill/>
              </a:ln>
              <a:solidFill>
                <a:schemeClr val="tx1"/>
              </a:solidFill>
              <a:effectLst/>
            </a:endParaRPr>
          </a:p>
        </p:txBody>
      </p:sp>
      <p:sp>
        <p:nvSpPr>
          <p:cNvPr id="129" name="Rectangle 54">
            <a:extLst>
              <a:ext uri="{FF2B5EF4-FFF2-40B4-BE49-F238E27FC236}">
                <a16:creationId xmlns:a16="http://schemas.microsoft.com/office/drawing/2014/main" id="{E1F454EA-0784-CD6C-B4A4-9FEBC586C021}"/>
              </a:ext>
            </a:extLst>
          </p:cNvPr>
          <p:cNvSpPr>
            <a:spLocks noChangeArrowheads="1"/>
          </p:cNvSpPr>
          <p:nvPr/>
        </p:nvSpPr>
        <p:spPr bwMode="auto">
          <a:xfrm>
            <a:off x="3616508" y="6185055"/>
            <a:ext cx="1971309"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6600"/>
                </a:solidFill>
                <a:effectLst/>
                <a:latin typeface="Calibri" panose="020F0502020204030204" pitchFamily="34" charset="0"/>
              </a:rPr>
              <a:t>Tax Burden v/s Interest Burden</a:t>
            </a:r>
            <a:endParaRPr kumimoji="0" lang="en-US" altLang="en-US" sz="1200" b="0" i="0" u="none" strike="noStrike" cap="none" normalizeH="0" baseline="0">
              <a:ln>
                <a:noFill/>
              </a:ln>
              <a:solidFill>
                <a:schemeClr val="tx1"/>
              </a:solidFill>
              <a:effectLst/>
            </a:endParaRPr>
          </a:p>
        </p:txBody>
      </p:sp>
      <p:sp>
        <p:nvSpPr>
          <p:cNvPr id="131" name="Rectangle 56">
            <a:extLst>
              <a:ext uri="{FF2B5EF4-FFF2-40B4-BE49-F238E27FC236}">
                <a16:creationId xmlns:a16="http://schemas.microsoft.com/office/drawing/2014/main" id="{F134407E-67E0-F040-F2B8-F62E9D7DE60F}"/>
              </a:ext>
            </a:extLst>
          </p:cNvPr>
          <p:cNvSpPr>
            <a:spLocks noChangeArrowheads="1"/>
          </p:cNvSpPr>
          <p:nvPr/>
        </p:nvSpPr>
        <p:spPr bwMode="auto">
          <a:xfrm>
            <a:off x="3950780" y="7908925"/>
            <a:ext cx="545021"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Calibri" panose="020F0502020204030204" pitchFamily="34" charset="0"/>
              </a:rPr>
              <a:t>Tax Burden</a:t>
            </a:r>
            <a:endParaRPr kumimoji="0" lang="en-US" altLang="en-US" sz="900" b="0" i="0" u="none" strike="noStrike" cap="none" normalizeH="0" baseline="0">
              <a:ln>
                <a:noFill/>
              </a:ln>
              <a:solidFill>
                <a:schemeClr val="tx1"/>
              </a:solidFill>
              <a:effectLst/>
            </a:endParaRPr>
          </a:p>
        </p:txBody>
      </p:sp>
      <p:sp>
        <p:nvSpPr>
          <p:cNvPr id="132" name="Rectangle 57">
            <a:extLst>
              <a:ext uri="{FF2B5EF4-FFF2-40B4-BE49-F238E27FC236}">
                <a16:creationId xmlns:a16="http://schemas.microsoft.com/office/drawing/2014/main" id="{4977E4CE-A23B-878D-842D-A7FCA5893845}"/>
              </a:ext>
            </a:extLst>
          </p:cNvPr>
          <p:cNvSpPr>
            <a:spLocks noChangeArrowheads="1"/>
          </p:cNvSpPr>
          <p:nvPr/>
        </p:nvSpPr>
        <p:spPr bwMode="auto">
          <a:xfrm>
            <a:off x="4709364" y="7942707"/>
            <a:ext cx="82730" cy="79240"/>
          </a:xfrm>
          <a:prstGeom prst="rect">
            <a:avLst/>
          </a:prstGeom>
          <a:solidFill>
            <a:srgbClr val="C5E0B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33" name="Rectangle 58">
            <a:extLst>
              <a:ext uri="{FF2B5EF4-FFF2-40B4-BE49-F238E27FC236}">
                <a16:creationId xmlns:a16="http://schemas.microsoft.com/office/drawing/2014/main" id="{B6163455-4767-83A2-6AB1-CA3DCF7633A9}"/>
              </a:ext>
            </a:extLst>
          </p:cNvPr>
          <p:cNvSpPr>
            <a:spLocks noChangeArrowheads="1"/>
          </p:cNvSpPr>
          <p:nvPr/>
        </p:nvSpPr>
        <p:spPr bwMode="auto">
          <a:xfrm>
            <a:off x="4818213" y="7908345"/>
            <a:ext cx="753411"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Calibri" panose="020F0502020204030204" pitchFamily="34" charset="0"/>
              </a:rPr>
              <a:t>Interest Burden</a:t>
            </a:r>
            <a:endParaRPr kumimoji="0" lang="en-US" altLang="en-US" sz="900" b="0" i="0" u="none" strike="noStrike" cap="none" normalizeH="0" baseline="0">
              <a:ln>
                <a:noFill/>
              </a:ln>
              <a:solidFill>
                <a:schemeClr val="tx1"/>
              </a:solidFill>
              <a:effectLst/>
            </a:endParaRPr>
          </a:p>
        </p:txBody>
      </p:sp>
      <p:sp>
        <p:nvSpPr>
          <p:cNvPr id="134" name="Rectangle 59">
            <a:extLst>
              <a:ext uri="{FF2B5EF4-FFF2-40B4-BE49-F238E27FC236}">
                <a16:creationId xmlns:a16="http://schemas.microsoft.com/office/drawing/2014/main" id="{86B57FA2-A83F-153B-3785-39AA15914670}"/>
              </a:ext>
            </a:extLst>
          </p:cNvPr>
          <p:cNvSpPr>
            <a:spLocks noChangeArrowheads="1"/>
          </p:cNvSpPr>
          <p:nvPr/>
        </p:nvSpPr>
        <p:spPr bwMode="auto">
          <a:xfrm>
            <a:off x="3186113" y="6245225"/>
            <a:ext cx="2832100" cy="1836738"/>
          </a:xfrm>
          <a:prstGeom prst="rect">
            <a:avLst/>
          </a:prstGeom>
          <a:noFill/>
          <a:ln w="6350" cap="flat">
            <a:no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5" name="Rectangle 57">
            <a:extLst>
              <a:ext uri="{FF2B5EF4-FFF2-40B4-BE49-F238E27FC236}">
                <a16:creationId xmlns:a16="http://schemas.microsoft.com/office/drawing/2014/main" id="{A642A5C9-4D05-2CAF-5EC6-F17E5F8D2877}"/>
              </a:ext>
            </a:extLst>
          </p:cNvPr>
          <p:cNvSpPr>
            <a:spLocks noChangeArrowheads="1"/>
          </p:cNvSpPr>
          <p:nvPr/>
        </p:nvSpPr>
        <p:spPr bwMode="auto">
          <a:xfrm>
            <a:off x="3846774" y="7949682"/>
            <a:ext cx="79431" cy="74163"/>
          </a:xfrm>
          <a:prstGeom prst="rect">
            <a:avLst/>
          </a:prstGeom>
          <a:solidFill>
            <a:srgbClr val="187C2C"/>
          </a:solidFill>
          <a:ln>
            <a:noFill/>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4035082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BEA63-05F4-65B7-AC06-0778171F382A}"/>
            </a:ext>
          </a:extLst>
        </p:cNvPr>
        <p:cNvGrpSpPr/>
        <p:nvPr/>
      </p:nvGrpSpPr>
      <p:grpSpPr>
        <a:xfrm>
          <a:off x="0" y="0"/>
          <a:ext cx="0" cy="0"/>
          <a:chOff x="0" y="0"/>
          <a:chExt cx="0" cy="0"/>
        </a:xfrm>
      </p:grpSpPr>
      <p:cxnSp>
        <p:nvCxnSpPr>
          <p:cNvPr id="3" name="Straight Arrow Connector 2">
            <a:extLst>
              <a:ext uri="{FF2B5EF4-FFF2-40B4-BE49-F238E27FC236}">
                <a16:creationId xmlns:a16="http://schemas.microsoft.com/office/drawing/2014/main" id="{597236B2-B4A6-A1C4-FDB5-C2D531713401}"/>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8" name="Picture 7" descr="Adani Renewables - Global Alliance For Sustainable Energy">
            <a:extLst>
              <a:ext uri="{FF2B5EF4-FFF2-40B4-BE49-F238E27FC236}">
                <a16:creationId xmlns:a16="http://schemas.microsoft.com/office/drawing/2014/main" id="{97DE4C1D-E676-5488-461A-F379DB7E106D}"/>
              </a:ext>
            </a:extLst>
          </p:cNvPr>
          <p:cNvPicPr>
            <a:picLocks noChangeAspect="1"/>
          </p:cNvPicPr>
          <p:nvPr/>
        </p:nvPicPr>
        <p:blipFill>
          <a:blip r:embed="rId2"/>
          <a:stretch>
            <a:fillRect/>
          </a:stretch>
        </p:blipFill>
        <p:spPr>
          <a:xfrm>
            <a:off x="5076000" y="0"/>
            <a:ext cx="1311468" cy="662728"/>
          </a:xfrm>
          <a:prstGeom prst="rect">
            <a:avLst/>
          </a:prstGeom>
        </p:spPr>
      </p:pic>
      <p:cxnSp>
        <p:nvCxnSpPr>
          <p:cNvPr id="14" name="Straight Arrow Connector 13">
            <a:extLst>
              <a:ext uri="{FF2B5EF4-FFF2-40B4-BE49-F238E27FC236}">
                <a16:creationId xmlns:a16="http://schemas.microsoft.com/office/drawing/2014/main" id="{1CC284FB-7179-BBCA-11FB-EC9A5F844D31}"/>
              </a:ext>
            </a:extLst>
          </p:cNvPr>
          <p:cNvCxnSpPr/>
          <p:nvPr/>
        </p:nvCxnSpPr>
        <p:spPr>
          <a:xfrm flipV="1">
            <a:off x="-5925" y="8787953"/>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022312A2-ACAA-C8EB-B769-0B0FFD0125FE}"/>
              </a:ext>
            </a:extLst>
          </p:cNvPr>
          <p:cNvGraphicFramePr>
            <a:graphicFrameLocks noGrp="1"/>
          </p:cNvGraphicFramePr>
          <p:nvPr>
            <p:extLst>
              <p:ext uri="{D42A27DB-BD31-4B8C-83A1-F6EECF244321}">
                <p14:modId xmlns:p14="http://schemas.microsoft.com/office/powerpoint/2010/main" val="3967881279"/>
              </p:ext>
            </p:extLst>
          </p:nvPr>
        </p:nvGraphicFramePr>
        <p:xfrm>
          <a:off x="196354" y="1781956"/>
          <a:ext cx="5824931" cy="1825954"/>
        </p:xfrm>
        <a:graphic>
          <a:graphicData uri="http://schemas.openxmlformats.org/drawingml/2006/table">
            <a:tbl>
              <a:tblPr bandRow="1">
                <a:tableStyleId>{5C22544A-7EE6-4342-B048-85BDC9FD1C3A}</a:tableStyleId>
              </a:tblPr>
              <a:tblGrid>
                <a:gridCol w="2228669">
                  <a:extLst>
                    <a:ext uri="{9D8B030D-6E8A-4147-A177-3AD203B41FA5}">
                      <a16:colId xmlns:a16="http://schemas.microsoft.com/office/drawing/2014/main" val="3199305287"/>
                    </a:ext>
                  </a:extLst>
                </a:gridCol>
                <a:gridCol w="696459">
                  <a:extLst>
                    <a:ext uri="{9D8B030D-6E8A-4147-A177-3AD203B41FA5}">
                      <a16:colId xmlns:a16="http://schemas.microsoft.com/office/drawing/2014/main" val="1369468679"/>
                    </a:ext>
                  </a:extLst>
                </a:gridCol>
                <a:gridCol w="734448">
                  <a:extLst>
                    <a:ext uri="{9D8B030D-6E8A-4147-A177-3AD203B41FA5}">
                      <a16:colId xmlns:a16="http://schemas.microsoft.com/office/drawing/2014/main" val="2087134749"/>
                    </a:ext>
                  </a:extLst>
                </a:gridCol>
                <a:gridCol w="721785">
                  <a:extLst>
                    <a:ext uri="{9D8B030D-6E8A-4147-A177-3AD203B41FA5}">
                      <a16:colId xmlns:a16="http://schemas.microsoft.com/office/drawing/2014/main" val="1234437038"/>
                    </a:ext>
                  </a:extLst>
                </a:gridCol>
                <a:gridCol w="721785">
                  <a:extLst>
                    <a:ext uri="{9D8B030D-6E8A-4147-A177-3AD203B41FA5}">
                      <a16:colId xmlns:a16="http://schemas.microsoft.com/office/drawing/2014/main" val="1903712493"/>
                    </a:ext>
                  </a:extLst>
                </a:gridCol>
                <a:gridCol w="721785">
                  <a:extLst>
                    <a:ext uri="{9D8B030D-6E8A-4147-A177-3AD203B41FA5}">
                      <a16:colId xmlns:a16="http://schemas.microsoft.com/office/drawing/2014/main" val="969987088"/>
                    </a:ext>
                  </a:extLst>
                </a:gridCol>
              </a:tblGrid>
              <a:tr h="182880">
                <a:tc>
                  <a:txBody>
                    <a:bodyPr/>
                    <a:lstStyle/>
                    <a:p>
                      <a:pPr lvl="0">
                        <a:buNone/>
                      </a:pPr>
                      <a:endParaRPr lang="en-US" sz="1100" b="1">
                        <a:effectLst/>
                      </a:endParaRP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a:effectLst/>
                        </a:rPr>
                        <a:t>Mar-21</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a:effectLst/>
                        </a:rPr>
                        <a:t>Mar-22</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a:effectLst/>
                        </a:rPr>
                        <a:t>Mar-23</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a:effectLst/>
                        </a:rPr>
                        <a:t>Mar-24</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a:effectLst/>
                        </a:rPr>
                        <a:t>Mar-25</a:t>
                      </a:r>
                    </a:p>
                  </a:txBody>
                  <a:tcPr marL="0" marR="0" marT="0" marB="0"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1855819249"/>
                  </a:ext>
                </a:extLst>
              </a:tr>
              <a:tr h="182880">
                <a:tc>
                  <a:txBody>
                    <a:bodyPr/>
                    <a:lstStyle/>
                    <a:p>
                      <a:pPr>
                        <a:buNone/>
                      </a:pPr>
                      <a:r>
                        <a:rPr lang="en-US" sz="1100">
                          <a:effectLst/>
                        </a:rPr>
                        <a:t>Profit After Tax </a:t>
                      </a:r>
                    </a:p>
                  </a:txBody>
                  <a:tcPr marL="0" marR="0" marT="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266</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425</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1167</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1506</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2327</a:t>
                      </a:r>
                    </a:p>
                  </a:txBody>
                  <a:tcPr marL="7620" marR="7620" marT="7620" marB="0" anchor="ctr">
                    <a:lnL>
                      <a:noFill/>
                    </a:lnL>
                    <a:lnR>
                      <a:noFill/>
                    </a:lnR>
                    <a:lnT>
                      <a:noFill/>
                    </a:lnT>
                    <a:lnB>
                      <a:noFill/>
                    </a:lnB>
                    <a:noFill/>
                  </a:tcPr>
                </a:tc>
                <a:extLst>
                  <a:ext uri="{0D108BD9-81ED-4DB2-BD59-A6C34878D82A}">
                    <a16:rowId xmlns:a16="http://schemas.microsoft.com/office/drawing/2014/main" val="2044536237"/>
                  </a:ext>
                </a:extLst>
              </a:tr>
              <a:tr h="182880">
                <a:tc>
                  <a:txBody>
                    <a:bodyPr/>
                    <a:lstStyle/>
                    <a:p>
                      <a:pPr>
                        <a:buNone/>
                      </a:pPr>
                      <a:r>
                        <a:rPr lang="en-US" sz="1100">
                          <a:effectLst/>
                        </a:rPr>
                        <a:t>Net Revenue</a:t>
                      </a:r>
                    </a:p>
                  </a:txBody>
                  <a:tcPr marL="0" marR="0" marT="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3124</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5133</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7792</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9220</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11212</a:t>
                      </a:r>
                    </a:p>
                  </a:txBody>
                  <a:tcPr marL="7620" marR="7620" marT="7620" marB="0"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473014270"/>
                  </a:ext>
                </a:extLst>
              </a:tr>
              <a:tr h="182880">
                <a:tc>
                  <a:txBody>
                    <a:bodyPr/>
                    <a:lstStyle/>
                    <a:p>
                      <a:pPr>
                        <a:buNone/>
                      </a:pPr>
                      <a:r>
                        <a:rPr lang="en-US" sz="1100" b="1">
                          <a:effectLst/>
                        </a:rPr>
                        <a:t>Net Profit Margin - A</a:t>
                      </a:r>
                    </a:p>
                  </a:txBody>
                  <a:tcPr marL="0" marR="0" marT="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8.51%</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8.28%</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14.98%</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16.33%</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20.75%</a:t>
                      </a:r>
                    </a:p>
                  </a:txBody>
                  <a:tcPr marL="7620" marR="7620" marT="7620" marB="0"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1873646941"/>
                  </a:ext>
                </a:extLst>
              </a:tr>
              <a:tr h="182880">
                <a:tc>
                  <a:txBody>
                    <a:bodyPr/>
                    <a:lstStyle/>
                    <a:p>
                      <a:pPr>
                        <a:buNone/>
                      </a:pPr>
                      <a:endParaRPr lang="en-US" sz="1100">
                        <a:effectLst/>
                      </a:endParaRPr>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extLst>
                  <a:ext uri="{0D108BD9-81ED-4DB2-BD59-A6C34878D82A}">
                    <a16:rowId xmlns:a16="http://schemas.microsoft.com/office/drawing/2014/main" val="63053146"/>
                  </a:ext>
                </a:extLst>
              </a:tr>
              <a:tr h="182880">
                <a:tc>
                  <a:txBody>
                    <a:bodyPr/>
                    <a:lstStyle/>
                    <a:p>
                      <a:pPr>
                        <a:buNone/>
                      </a:pPr>
                      <a:r>
                        <a:rPr lang="en-US" sz="1100">
                          <a:effectLst/>
                        </a:rPr>
                        <a:t>Net Revenue</a:t>
                      </a:r>
                    </a:p>
                  </a:txBody>
                  <a:tcPr marL="0" marR="0" marT="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3124</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5133</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7792</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9220</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11212</a:t>
                      </a:r>
                    </a:p>
                  </a:txBody>
                  <a:tcPr marL="7620" marR="7620" marT="7620" marB="0" anchor="ctr">
                    <a:lnL>
                      <a:noFill/>
                    </a:lnL>
                    <a:lnR>
                      <a:noFill/>
                    </a:lnR>
                    <a:lnT>
                      <a:noFill/>
                    </a:lnT>
                    <a:lnB>
                      <a:noFill/>
                    </a:lnB>
                    <a:noFill/>
                  </a:tcPr>
                </a:tc>
                <a:extLst>
                  <a:ext uri="{0D108BD9-81ED-4DB2-BD59-A6C34878D82A}">
                    <a16:rowId xmlns:a16="http://schemas.microsoft.com/office/drawing/2014/main" val="735388726"/>
                  </a:ext>
                </a:extLst>
              </a:tr>
              <a:tr h="182880">
                <a:tc>
                  <a:txBody>
                    <a:bodyPr/>
                    <a:lstStyle/>
                    <a:p>
                      <a:pPr>
                        <a:buNone/>
                      </a:pPr>
                      <a:r>
                        <a:rPr lang="en-US" sz="1100">
                          <a:effectLst/>
                        </a:rPr>
                        <a:t>Average Total Assets </a:t>
                      </a:r>
                    </a:p>
                  </a:txBody>
                  <a:tcPr marL="0" marR="0" marT="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23573</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43944</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63264</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77950</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99968</a:t>
                      </a:r>
                    </a:p>
                  </a:txBody>
                  <a:tcPr marL="7620" marR="7620" marT="7620" marB="0"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3431157793"/>
                  </a:ext>
                </a:extLst>
              </a:tr>
              <a:tr h="182880">
                <a:tc>
                  <a:txBody>
                    <a:bodyPr/>
                    <a:lstStyle/>
                    <a:p>
                      <a:pPr>
                        <a:buNone/>
                      </a:pPr>
                      <a:r>
                        <a:rPr lang="en-US" sz="1100" b="1">
                          <a:effectLst/>
                        </a:rPr>
                        <a:t>Asset Turnover - B</a:t>
                      </a:r>
                    </a:p>
                  </a:txBody>
                  <a:tcPr marL="0" marR="0" marT="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13.25%</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11.68%</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12.32%</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11.83%</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11.22%</a:t>
                      </a:r>
                    </a:p>
                  </a:txBody>
                  <a:tcPr marL="7620" marR="7620" marT="7620" marB="0"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2011889694"/>
                  </a:ext>
                </a:extLst>
              </a:tr>
              <a:tr h="182880">
                <a:tc>
                  <a:txBody>
                    <a:bodyPr/>
                    <a:lstStyle/>
                    <a:p>
                      <a:pPr>
                        <a:buNone/>
                      </a:pPr>
                      <a:endParaRPr lang="en-US" sz="1100">
                        <a:effectLst/>
                      </a:endParaRPr>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extLst>
                  <a:ext uri="{0D108BD9-81ED-4DB2-BD59-A6C34878D82A}">
                    <a16:rowId xmlns:a16="http://schemas.microsoft.com/office/drawing/2014/main" val="316005632"/>
                  </a:ext>
                </a:extLst>
              </a:tr>
              <a:tr h="180034">
                <a:tc>
                  <a:txBody>
                    <a:bodyPr/>
                    <a:lstStyle/>
                    <a:p>
                      <a:pPr>
                        <a:buNone/>
                      </a:pPr>
                      <a:r>
                        <a:rPr lang="en-US" sz="1100" b="1">
                          <a:solidFill>
                            <a:schemeClr val="bg1"/>
                          </a:solidFill>
                          <a:effectLst/>
                        </a:rPr>
                        <a:t>Return on Assets  - A*B</a:t>
                      </a:r>
                    </a:p>
                  </a:txBody>
                  <a:tcPr marL="0" marR="0" marT="0" marB="0" anchor="ctr">
                    <a:lnL>
                      <a:noFill/>
                    </a:lnL>
                    <a:lnR>
                      <a:noFill/>
                    </a:lnR>
                    <a:lnT>
                      <a:noFill/>
                    </a:lnT>
                    <a:lnB>
                      <a:noFill/>
                    </a:lnB>
                    <a:solidFill>
                      <a:srgbClr val="187C2C"/>
                    </a:solidFill>
                  </a:tcPr>
                </a:tc>
                <a:tc>
                  <a:txBody>
                    <a:bodyPr/>
                    <a:lstStyle/>
                    <a:p>
                      <a:pPr algn="r" fontAlgn="b">
                        <a:buNone/>
                      </a:pPr>
                      <a:r>
                        <a:rPr lang="en-IN" sz="1100" b="1" i="0" u="none" strike="noStrike">
                          <a:solidFill>
                            <a:schemeClr val="bg1"/>
                          </a:solidFill>
                          <a:effectLst/>
                          <a:latin typeface="Calibri" panose="020F0502020204030204" pitchFamily="34" charset="0"/>
                        </a:rPr>
                        <a:t>1.13%</a:t>
                      </a:r>
                    </a:p>
                  </a:txBody>
                  <a:tcPr marL="7620" marR="7620" marT="7620" marB="0" anchor="ctr">
                    <a:lnL>
                      <a:noFill/>
                    </a:lnL>
                    <a:lnR>
                      <a:noFill/>
                    </a:lnR>
                    <a:lnT>
                      <a:noFill/>
                    </a:lnT>
                    <a:lnB>
                      <a:noFill/>
                    </a:lnB>
                    <a:solidFill>
                      <a:srgbClr val="187C2C"/>
                    </a:solidFill>
                  </a:tcPr>
                </a:tc>
                <a:tc>
                  <a:txBody>
                    <a:bodyPr/>
                    <a:lstStyle/>
                    <a:p>
                      <a:pPr algn="r" fontAlgn="b">
                        <a:buNone/>
                      </a:pPr>
                      <a:r>
                        <a:rPr lang="en-IN" sz="1100" b="1" i="0" u="none" strike="noStrike">
                          <a:solidFill>
                            <a:schemeClr val="bg1"/>
                          </a:solidFill>
                          <a:effectLst/>
                          <a:latin typeface="Calibri" panose="020F0502020204030204" pitchFamily="34" charset="0"/>
                        </a:rPr>
                        <a:t>0.97%</a:t>
                      </a:r>
                    </a:p>
                  </a:txBody>
                  <a:tcPr marL="7620" marR="7620" marT="7620" marB="0" anchor="ctr">
                    <a:lnL>
                      <a:noFill/>
                    </a:lnL>
                    <a:lnR>
                      <a:noFill/>
                    </a:lnR>
                    <a:lnT>
                      <a:noFill/>
                    </a:lnT>
                    <a:lnB>
                      <a:noFill/>
                    </a:lnB>
                    <a:solidFill>
                      <a:srgbClr val="187C2C"/>
                    </a:solidFill>
                  </a:tcPr>
                </a:tc>
                <a:tc>
                  <a:txBody>
                    <a:bodyPr/>
                    <a:lstStyle/>
                    <a:p>
                      <a:pPr algn="r" fontAlgn="b">
                        <a:buNone/>
                      </a:pPr>
                      <a:r>
                        <a:rPr lang="en-IN" sz="1100" b="1" i="0" u="none" strike="noStrike">
                          <a:solidFill>
                            <a:schemeClr val="bg1"/>
                          </a:solidFill>
                          <a:effectLst/>
                          <a:latin typeface="Calibri" panose="020F0502020204030204" pitchFamily="34" charset="0"/>
                        </a:rPr>
                        <a:t>1.84%</a:t>
                      </a:r>
                    </a:p>
                  </a:txBody>
                  <a:tcPr marL="7620" marR="7620" marT="7620" marB="0" anchor="ctr">
                    <a:lnL>
                      <a:noFill/>
                    </a:lnL>
                    <a:lnR>
                      <a:noFill/>
                    </a:lnR>
                    <a:lnT>
                      <a:noFill/>
                    </a:lnT>
                    <a:lnB>
                      <a:noFill/>
                    </a:lnB>
                    <a:solidFill>
                      <a:srgbClr val="187C2C"/>
                    </a:solidFill>
                  </a:tcPr>
                </a:tc>
                <a:tc>
                  <a:txBody>
                    <a:bodyPr/>
                    <a:lstStyle/>
                    <a:p>
                      <a:pPr algn="r" fontAlgn="b">
                        <a:buNone/>
                      </a:pPr>
                      <a:r>
                        <a:rPr lang="en-IN" sz="1100" b="1" i="0" u="none" strike="noStrike">
                          <a:solidFill>
                            <a:schemeClr val="bg1"/>
                          </a:solidFill>
                          <a:effectLst/>
                          <a:latin typeface="Calibri" panose="020F0502020204030204" pitchFamily="34" charset="0"/>
                        </a:rPr>
                        <a:t>1.93%</a:t>
                      </a:r>
                    </a:p>
                  </a:txBody>
                  <a:tcPr marL="7620" marR="7620" marT="7620" marB="0" anchor="ctr">
                    <a:lnL>
                      <a:noFill/>
                    </a:lnL>
                    <a:lnR>
                      <a:noFill/>
                    </a:lnR>
                    <a:lnT>
                      <a:noFill/>
                    </a:lnT>
                    <a:lnB>
                      <a:noFill/>
                    </a:lnB>
                    <a:solidFill>
                      <a:srgbClr val="187C2C"/>
                    </a:solidFill>
                  </a:tcPr>
                </a:tc>
                <a:tc>
                  <a:txBody>
                    <a:bodyPr/>
                    <a:lstStyle/>
                    <a:p>
                      <a:pPr algn="r" fontAlgn="b">
                        <a:buNone/>
                      </a:pPr>
                      <a:r>
                        <a:rPr lang="en-IN" sz="1100" b="1" i="0" u="none" strike="noStrike" dirty="0">
                          <a:solidFill>
                            <a:schemeClr val="bg1"/>
                          </a:solidFill>
                          <a:effectLst/>
                          <a:latin typeface="Calibri" panose="020F0502020204030204" pitchFamily="34" charset="0"/>
                        </a:rPr>
                        <a:t>2.33%</a:t>
                      </a:r>
                    </a:p>
                  </a:txBody>
                  <a:tcPr marL="7620" marR="7620" marT="7620" marB="0" anchor="ctr">
                    <a:lnL>
                      <a:noFill/>
                    </a:lnL>
                    <a:lnR>
                      <a:noFill/>
                    </a:lnR>
                    <a:lnT>
                      <a:noFill/>
                    </a:lnT>
                    <a:lnB>
                      <a:noFill/>
                    </a:lnB>
                    <a:solidFill>
                      <a:srgbClr val="187C2C"/>
                    </a:solidFill>
                  </a:tcPr>
                </a:tc>
                <a:extLst>
                  <a:ext uri="{0D108BD9-81ED-4DB2-BD59-A6C34878D82A}">
                    <a16:rowId xmlns:a16="http://schemas.microsoft.com/office/drawing/2014/main" val="528863181"/>
                  </a:ext>
                </a:extLst>
              </a:tr>
            </a:tbl>
          </a:graphicData>
        </a:graphic>
      </p:graphicFrame>
      <p:graphicFrame>
        <p:nvGraphicFramePr>
          <p:cNvPr id="12" name="Table 11">
            <a:extLst>
              <a:ext uri="{FF2B5EF4-FFF2-40B4-BE49-F238E27FC236}">
                <a16:creationId xmlns:a16="http://schemas.microsoft.com/office/drawing/2014/main" id="{33DD82EC-3977-1014-928E-88D4CB25E65B}"/>
              </a:ext>
            </a:extLst>
          </p:cNvPr>
          <p:cNvGraphicFramePr>
            <a:graphicFrameLocks noGrp="1"/>
          </p:cNvGraphicFramePr>
          <p:nvPr>
            <p:extLst>
              <p:ext uri="{D42A27DB-BD31-4B8C-83A1-F6EECF244321}">
                <p14:modId xmlns:p14="http://schemas.microsoft.com/office/powerpoint/2010/main" val="2362066965"/>
              </p:ext>
            </p:extLst>
          </p:nvPr>
        </p:nvGraphicFramePr>
        <p:xfrm>
          <a:off x="196354" y="6733449"/>
          <a:ext cx="5813862" cy="1828800"/>
        </p:xfrm>
        <a:graphic>
          <a:graphicData uri="http://schemas.openxmlformats.org/drawingml/2006/table">
            <a:tbl>
              <a:tblPr bandRow="1">
                <a:tableStyleId>{5C22544A-7EE6-4342-B048-85BDC9FD1C3A}</a:tableStyleId>
              </a:tblPr>
              <a:tblGrid>
                <a:gridCol w="2224436">
                  <a:extLst>
                    <a:ext uri="{9D8B030D-6E8A-4147-A177-3AD203B41FA5}">
                      <a16:colId xmlns:a16="http://schemas.microsoft.com/office/drawing/2014/main" val="3570662513"/>
                    </a:ext>
                  </a:extLst>
                </a:gridCol>
                <a:gridCol w="695135">
                  <a:extLst>
                    <a:ext uri="{9D8B030D-6E8A-4147-A177-3AD203B41FA5}">
                      <a16:colId xmlns:a16="http://schemas.microsoft.com/office/drawing/2014/main" val="3145343677"/>
                    </a:ext>
                  </a:extLst>
                </a:gridCol>
                <a:gridCol w="733052">
                  <a:extLst>
                    <a:ext uri="{9D8B030D-6E8A-4147-A177-3AD203B41FA5}">
                      <a16:colId xmlns:a16="http://schemas.microsoft.com/office/drawing/2014/main" val="1428224310"/>
                    </a:ext>
                  </a:extLst>
                </a:gridCol>
                <a:gridCol w="720413">
                  <a:extLst>
                    <a:ext uri="{9D8B030D-6E8A-4147-A177-3AD203B41FA5}">
                      <a16:colId xmlns:a16="http://schemas.microsoft.com/office/drawing/2014/main" val="1633495844"/>
                    </a:ext>
                  </a:extLst>
                </a:gridCol>
                <a:gridCol w="720413">
                  <a:extLst>
                    <a:ext uri="{9D8B030D-6E8A-4147-A177-3AD203B41FA5}">
                      <a16:colId xmlns:a16="http://schemas.microsoft.com/office/drawing/2014/main" val="337200638"/>
                    </a:ext>
                  </a:extLst>
                </a:gridCol>
                <a:gridCol w="720413">
                  <a:extLst>
                    <a:ext uri="{9D8B030D-6E8A-4147-A177-3AD203B41FA5}">
                      <a16:colId xmlns:a16="http://schemas.microsoft.com/office/drawing/2014/main" val="1081338338"/>
                    </a:ext>
                  </a:extLst>
                </a:gridCol>
              </a:tblGrid>
              <a:tr h="182880">
                <a:tc>
                  <a:txBody>
                    <a:bodyPr/>
                    <a:lstStyle/>
                    <a:p>
                      <a:pPr>
                        <a:buNone/>
                      </a:pPr>
                      <a:endParaRPr lang="en-US" sz="1100" b="1">
                        <a:effectLst/>
                      </a:endParaRP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dirty="0">
                          <a:effectLst/>
                        </a:rPr>
                        <a:t>Mar-21</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a:effectLst/>
                        </a:rPr>
                        <a:t>Mar-22</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dirty="0">
                          <a:effectLst/>
                        </a:rPr>
                        <a:t>Mar-23</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dirty="0">
                          <a:effectLst/>
                        </a:rPr>
                        <a:t>Mar-24</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dirty="0">
                          <a:effectLst/>
                        </a:rPr>
                        <a:t>Mar-25</a:t>
                      </a:r>
                    </a:p>
                  </a:txBody>
                  <a:tcPr marL="0" marR="0" marT="0" marB="0"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360541080"/>
                  </a:ext>
                </a:extLst>
              </a:tr>
              <a:tr h="182880">
                <a:tc>
                  <a:txBody>
                    <a:bodyPr/>
                    <a:lstStyle/>
                    <a:p>
                      <a:pPr>
                        <a:buNone/>
                      </a:pPr>
                      <a:r>
                        <a:rPr lang="en-US" sz="1100">
                          <a:effectLst/>
                        </a:rPr>
                        <a:t>NOPAT</a:t>
                      </a:r>
                    </a:p>
                  </a:txBody>
                  <a:tcPr marL="0" marR="0" marT="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2235</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3170</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4984</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7416</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8247</a:t>
                      </a:r>
                    </a:p>
                  </a:txBody>
                  <a:tcPr marL="7620" marR="7620" marT="7620" marB="0" anchor="ctr">
                    <a:lnL>
                      <a:noFill/>
                    </a:lnL>
                    <a:lnR>
                      <a:noFill/>
                    </a:lnR>
                    <a:lnT>
                      <a:noFill/>
                    </a:lnT>
                    <a:lnB>
                      <a:noFill/>
                    </a:lnB>
                    <a:noFill/>
                  </a:tcPr>
                </a:tc>
                <a:extLst>
                  <a:ext uri="{0D108BD9-81ED-4DB2-BD59-A6C34878D82A}">
                    <a16:rowId xmlns:a16="http://schemas.microsoft.com/office/drawing/2014/main" val="515911657"/>
                  </a:ext>
                </a:extLst>
              </a:tr>
              <a:tr h="182880">
                <a:tc>
                  <a:txBody>
                    <a:bodyPr/>
                    <a:lstStyle/>
                    <a:p>
                      <a:pPr>
                        <a:buNone/>
                      </a:pPr>
                      <a:r>
                        <a:rPr lang="en-US" sz="1100">
                          <a:effectLst/>
                        </a:rPr>
                        <a:t>Net Revenue</a:t>
                      </a:r>
                    </a:p>
                  </a:txBody>
                  <a:tcPr marL="0" marR="0" marT="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3124</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5133</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7792</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9220</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11212</a:t>
                      </a:r>
                    </a:p>
                  </a:txBody>
                  <a:tcPr marL="7620" marR="7620" marT="7620" marB="0"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111651530"/>
                  </a:ext>
                </a:extLst>
              </a:tr>
              <a:tr h="182880">
                <a:tc>
                  <a:txBody>
                    <a:bodyPr/>
                    <a:lstStyle/>
                    <a:p>
                      <a:pPr>
                        <a:buNone/>
                      </a:pPr>
                      <a:r>
                        <a:rPr lang="en-US" sz="1100" b="1">
                          <a:effectLst/>
                        </a:rPr>
                        <a:t>NOPAT Margin - A</a:t>
                      </a:r>
                    </a:p>
                  </a:txBody>
                  <a:tcPr marL="0" marR="0" marT="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71.54%</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61.76%</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63.96%</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80.43%</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73.56%</a:t>
                      </a:r>
                    </a:p>
                  </a:txBody>
                  <a:tcPr marL="7620" marR="7620" marT="7620" marB="0"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3565793076"/>
                  </a:ext>
                </a:extLst>
              </a:tr>
              <a:tr h="182880">
                <a:tc>
                  <a:txBody>
                    <a:bodyPr/>
                    <a:lstStyle/>
                    <a:p>
                      <a:pPr>
                        <a:buNone/>
                      </a:pPr>
                      <a:endParaRPr lang="en-US" sz="1100">
                        <a:effectLst/>
                      </a:endParaRPr>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extLst>
                  <a:ext uri="{0D108BD9-81ED-4DB2-BD59-A6C34878D82A}">
                    <a16:rowId xmlns:a16="http://schemas.microsoft.com/office/drawing/2014/main" val="4108790808"/>
                  </a:ext>
                </a:extLst>
              </a:tr>
              <a:tr h="182880">
                <a:tc>
                  <a:txBody>
                    <a:bodyPr/>
                    <a:lstStyle/>
                    <a:p>
                      <a:pPr>
                        <a:buNone/>
                      </a:pPr>
                      <a:r>
                        <a:rPr lang="en-US" sz="1100">
                          <a:effectLst/>
                        </a:rPr>
                        <a:t>Net Revenue</a:t>
                      </a:r>
                    </a:p>
                  </a:txBody>
                  <a:tcPr marL="0" marR="0" marT="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3124</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5133</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7792</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9220</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11212</a:t>
                      </a:r>
                    </a:p>
                  </a:txBody>
                  <a:tcPr marL="7620" marR="7620" marT="7620" marB="0" anchor="ctr">
                    <a:lnL>
                      <a:noFill/>
                    </a:lnL>
                    <a:lnR>
                      <a:noFill/>
                    </a:lnR>
                    <a:lnT>
                      <a:noFill/>
                    </a:lnT>
                    <a:lnB>
                      <a:noFill/>
                    </a:lnB>
                    <a:noFill/>
                  </a:tcPr>
                </a:tc>
                <a:extLst>
                  <a:ext uri="{0D108BD9-81ED-4DB2-BD59-A6C34878D82A}">
                    <a16:rowId xmlns:a16="http://schemas.microsoft.com/office/drawing/2014/main" val="625462395"/>
                  </a:ext>
                </a:extLst>
              </a:tr>
              <a:tr h="182880">
                <a:tc>
                  <a:txBody>
                    <a:bodyPr/>
                    <a:lstStyle/>
                    <a:p>
                      <a:pPr>
                        <a:buNone/>
                      </a:pPr>
                      <a:r>
                        <a:rPr lang="en-US" sz="1100">
                          <a:effectLst/>
                        </a:rPr>
                        <a:t>Average Capital Employed</a:t>
                      </a:r>
                    </a:p>
                  </a:txBody>
                  <a:tcPr marL="0" marR="0" marT="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18727</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34138</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51679</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58466</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75754</a:t>
                      </a:r>
                    </a:p>
                  </a:txBody>
                  <a:tcPr marL="7620" marR="7620" marT="7620" marB="0"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322859300"/>
                  </a:ext>
                </a:extLst>
              </a:tr>
              <a:tr h="182880">
                <a:tc>
                  <a:txBody>
                    <a:bodyPr/>
                    <a:lstStyle/>
                    <a:p>
                      <a:pPr>
                        <a:buNone/>
                      </a:pPr>
                      <a:r>
                        <a:rPr lang="en-US" sz="1100" b="1">
                          <a:effectLst/>
                        </a:rPr>
                        <a:t>Capital Turnover - B</a:t>
                      </a:r>
                    </a:p>
                  </a:txBody>
                  <a:tcPr marL="0" marR="0" marT="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16.68%</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15.04%</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15.08%</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15.77%</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14.80%</a:t>
                      </a:r>
                    </a:p>
                  </a:txBody>
                  <a:tcPr marL="7620" marR="7620" marT="7620" marB="0"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1926402276"/>
                  </a:ext>
                </a:extLst>
              </a:tr>
              <a:tr h="182880">
                <a:tc>
                  <a:txBody>
                    <a:bodyPr/>
                    <a:lstStyle/>
                    <a:p>
                      <a:pPr>
                        <a:buNone/>
                      </a:pPr>
                      <a:endParaRPr lang="en-US" sz="1100">
                        <a:effectLst/>
                      </a:endParaRPr>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extLst>
                  <a:ext uri="{0D108BD9-81ED-4DB2-BD59-A6C34878D82A}">
                    <a16:rowId xmlns:a16="http://schemas.microsoft.com/office/drawing/2014/main" val="3321390301"/>
                  </a:ext>
                </a:extLst>
              </a:tr>
              <a:tr h="182880">
                <a:tc>
                  <a:txBody>
                    <a:bodyPr/>
                    <a:lstStyle/>
                    <a:p>
                      <a:pPr>
                        <a:buNone/>
                      </a:pPr>
                      <a:r>
                        <a:rPr lang="en-US" sz="1100" b="1">
                          <a:solidFill>
                            <a:schemeClr val="bg1"/>
                          </a:solidFill>
                          <a:effectLst/>
                        </a:rPr>
                        <a:t>Return on Capital Employed - A*B</a:t>
                      </a:r>
                    </a:p>
                  </a:txBody>
                  <a:tcPr marL="0" marR="0" marT="0" marB="0" anchor="ctr">
                    <a:lnL>
                      <a:noFill/>
                    </a:lnL>
                    <a:lnR>
                      <a:noFill/>
                    </a:lnR>
                    <a:lnT>
                      <a:noFill/>
                    </a:lnT>
                    <a:lnB>
                      <a:noFill/>
                    </a:lnB>
                    <a:solidFill>
                      <a:srgbClr val="187C2C"/>
                    </a:solidFill>
                  </a:tcPr>
                </a:tc>
                <a:tc>
                  <a:txBody>
                    <a:bodyPr/>
                    <a:lstStyle/>
                    <a:p>
                      <a:pPr algn="r" fontAlgn="b">
                        <a:buNone/>
                      </a:pPr>
                      <a:r>
                        <a:rPr lang="en-IN" sz="1100" b="1" i="0" u="none" strike="noStrike">
                          <a:solidFill>
                            <a:schemeClr val="bg1"/>
                          </a:solidFill>
                          <a:effectLst/>
                          <a:latin typeface="Calibri" panose="020F0502020204030204" pitchFamily="34" charset="0"/>
                        </a:rPr>
                        <a:t>11.93%</a:t>
                      </a:r>
                    </a:p>
                  </a:txBody>
                  <a:tcPr marL="7620" marR="7620" marT="7620" marB="0" anchor="ctr">
                    <a:lnL>
                      <a:noFill/>
                    </a:lnL>
                    <a:lnR>
                      <a:noFill/>
                    </a:lnR>
                    <a:lnT>
                      <a:noFill/>
                    </a:lnT>
                    <a:lnB>
                      <a:noFill/>
                    </a:lnB>
                    <a:solidFill>
                      <a:srgbClr val="187C2C"/>
                    </a:solidFill>
                  </a:tcPr>
                </a:tc>
                <a:tc>
                  <a:txBody>
                    <a:bodyPr/>
                    <a:lstStyle/>
                    <a:p>
                      <a:pPr algn="r" fontAlgn="b">
                        <a:buNone/>
                      </a:pPr>
                      <a:r>
                        <a:rPr lang="en-IN" sz="1100" b="1" i="0" u="none" strike="noStrike">
                          <a:solidFill>
                            <a:schemeClr val="bg1"/>
                          </a:solidFill>
                          <a:effectLst/>
                          <a:latin typeface="Calibri" panose="020F0502020204030204" pitchFamily="34" charset="0"/>
                        </a:rPr>
                        <a:t>9.29%</a:t>
                      </a:r>
                    </a:p>
                  </a:txBody>
                  <a:tcPr marL="7620" marR="7620" marT="7620" marB="0" anchor="ctr">
                    <a:lnL>
                      <a:noFill/>
                    </a:lnL>
                    <a:lnR>
                      <a:noFill/>
                    </a:lnR>
                    <a:lnT>
                      <a:noFill/>
                    </a:lnT>
                    <a:lnB>
                      <a:noFill/>
                    </a:lnB>
                    <a:solidFill>
                      <a:srgbClr val="187C2C"/>
                    </a:solidFill>
                  </a:tcPr>
                </a:tc>
                <a:tc>
                  <a:txBody>
                    <a:bodyPr/>
                    <a:lstStyle/>
                    <a:p>
                      <a:pPr algn="r" fontAlgn="b">
                        <a:buNone/>
                      </a:pPr>
                      <a:r>
                        <a:rPr lang="en-IN" sz="1100" b="1" i="0" u="none" strike="noStrike">
                          <a:solidFill>
                            <a:schemeClr val="bg1"/>
                          </a:solidFill>
                          <a:effectLst/>
                          <a:latin typeface="Calibri" panose="020F0502020204030204" pitchFamily="34" charset="0"/>
                        </a:rPr>
                        <a:t>9.64%</a:t>
                      </a:r>
                    </a:p>
                  </a:txBody>
                  <a:tcPr marL="7620" marR="7620" marT="7620" marB="0" anchor="ctr">
                    <a:lnL>
                      <a:noFill/>
                    </a:lnL>
                    <a:lnR>
                      <a:noFill/>
                    </a:lnR>
                    <a:lnT>
                      <a:noFill/>
                    </a:lnT>
                    <a:lnB>
                      <a:noFill/>
                    </a:lnB>
                    <a:solidFill>
                      <a:srgbClr val="187C2C"/>
                    </a:solidFill>
                  </a:tcPr>
                </a:tc>
                <a:tc>
                  <a:txBody>
                    <a:bodyPr/>
                    <a:lstStyle/>
                    <a:p>
                      <a:pPr algn="r" fontAlgn="b">
                        <a:buNone/>
                      </a:pPr>
                      <a:r>
                        <a:rPr lang="en-IN" sz="1100" b="1" i="0" u="none" strike="noStrike">
                          <a:solidFill>
                            <a:schemeClr val="bg1"/>
                          </a:solidFill>
                          <a:effectLst/>
                          <a:latin typeface="Calibri" panose="020F0502020204030204" pitchFamily="34" charset="0"/>
                        </a:rPr>
                        <a:t>12.68%</a:t>
                      </a:r>
                    </a:p>
                  </a:txBody>
                  <a:tcPr marL="7620" marR="7620" marT="7620" marB="0" anchor="ctr">
                    <a:lnL>
                      <a:noFill/>
                    </a:lnL>
                    <a:lnR>
                      <a:noFill/>
                    </a:lnR>
                    <a:lnT>
                      <a:noFill/>
                    </a:lnT>
                    <a:lnB>
                      <a:noFill/>
                    </a:lnB>
                    <a:solidFill>
                      <a:srgbClr val="187C2C"/>
                    </a:solidFill>
                  </a:tcPr>
                </a:tc>
                <a:tc>
                  <a:txBody>
                    <a:bodyPr/>
                    <a:lstStyle/>
                    <a:p>
                      <a:pPr algn="r" fontAlgn="b">
                        <a:buNone/>
                      </a:pPr>
                      <a:r>
                        <a:rPr lang="en-IN" sz="1100" b="1" i="0" u="none" strike="noStrike" dirty="0">
                          <a:solidFill>
                            <a:schemeClr val="bg1"/>
                          </a:solidFill>
                          <a:effectLst/>
                          <a:latin typeface="Calibri" panose="020F0502020204030204" pitchFamily="34" charset="0"/>
                        </a:rPr>
                        <a:t>10.89%</a:t>
                      </a:r>
                    </a:p>
                  </a:txBody>
                  <a:tcPr marL="7620" marR="7620" marT="7620" marB="0" anchor="ctr">
                    <a:lnL>
                      <a:noFill/>
                    </a:lnL>
                    <a:lnR>
                      <a:noFill/>
                    </a:lnR>
                    <a:lnT>
                      <a:noFill/>
                    </a:lnT>
                    <a:lnB>
                      <a:noFill/>
                    </a:lnB>
                    <a:solidFill>
                      <a:srgbClr val="187C2C"/>
                    </a:solidFill>
                  </a:tcPr>
                </a:tc>
                <a:extLst>
                  <a:ext uri="{0D108BD9-81ED-4DB2-BD59-A6C34878D82A}">
                    <a16:rowId xmlns:a16="http://schemas.microsoft.com/office/drawing/2014/main" val="237291779"/>
                  </a:ext>
                </a:extLst>
              </a:tr>
            </a:tbl>
          </a:graphicData>
        </a:graphic>
      </p:graphicFrame>
      <p:sp>
        <p:nvSpPr>
          <p:cNvPr id="10" name="Footer Placeholder 3">
            <a:extLst>
              <a:ext uri="{FF2B5EF4-FFF2-40B4-BE49-F238E27FC236}">
                <a16:creationId xmlns:a16="http://schemas.microsoft.com/office/drawing/2014/main" id="{71B15356-8784-DA74-C1CE-9518BB47D417}"/>
              </a:ext>
            </a:extLst>
          </p:cNvPr>
          <p:cNvSpPr>
            <a:spLocks noGrp="1"/>
          </p:cNvSpPr>
          <p:nvPr>
            <p:ph type="ftr" sz="quarter" idx="11"/>
          </p:nvPr>
        </p:nvSpPr>
        <p:spPr>
          <a:xfrm>
            <a:off x="-7551" y="8832134"/>
            <a:ext cx="6234928" cy="324563"/>
          </a:xfrm>
        </p:spPr>
        <p:txBody>
          <a:bodyPr/>
          <a:lstStyle/>
          <a:p>
            <a:pPr algn="l"/>
            <a:r>
              <a:rPr lang="en-US" sz="800">
                <a:ea typeface="Calibri"/>
                <a:cs typeface="Calibri"/>
              </a:rPr>
              <a:t>Disclaimer: This is only for educational purposes and we are not SEBI registered.</a:t>
            </a:r>
          </a:p>
        </p:txBody>
      </p:sp>
      <p:sp>
        <p:nvSpPr>
          <p:cNvPr id="11" name="Rectangle 10">
            <a:extLst>
              <a:ext uri="{FF2B5EF4-FFF2-40B4-BE49-F238E27FC236}">
                <a16:creationId xmlns:a16="http://schemas.microsoft.com/office/drawing/2014/main" id="{A2DDE36C-2BA1-1FD8-7F07-0BC21EFE3060}"/>
              </a:ext>
            </a:extLst>
          </p:cNvPr>
          <p:cNvSpPr/>
          <p:nvPr/>
        </p:nvSpPr>
        <p:spPr>
          <a:xfrm>
            <a:off x="98704" y="815933"/>
            <a:ext cx="6027421" cy="360000"/>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a:ea typeface="Calibri"/>
                <a:cs typeface="Calibri"/>
              </a:rPr>
              <a:t>DuPont Analysis</a:t>
            </a:r>
            <a:endParaRPr lang="en-US"/>
          </a:p>
        </p:txBody>
      </p:sp>
      <p:sp>
        <p:nvSpPr>
          <p:cNvPr id="25" name="Rectangle 24">
            <a:extLst>
              <a:ext uri="{FF2B5EF4-FFF2-40B4-BE49-F238E27FC236}">
                <a16:creationId xmlns:a16="http://schemas.microsoft.com/office/drawing/2014/main" id="{0FC6A31E-FCC6-69E3-9A30-BFC0CAB06855}"/>
              </a:ext>
            </a:extLst>
          </p:cNvPr>
          <p:cNvSpPr/>
          <p:nvPr/>
        </p:nvSpPr>
        <p:spPr>
          <a:xfrm>
            <a:off x="202109" y="1340255"/>
            <a:ext cx="5819174" cy="329810"/>
          </a:xfrm>
          <a:prstGeom prst="rect">
            <a:avLst/>
          </a:prstGeom>
          <a:solidFill>
            <a:srgbClr val="187C2C"/>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r>
              <a:rPr lang="en-US" sz="1400" b="1" dirty="0">
                <a:solidFill>
                  <a:schemeClr val="bg1"/>
                </a:solidFill>
                <a:ea typeface="Calibri"/>
                <a:cs typeface="Calibri"/>
              </a:rPr>
              <a:t>Return on Assets</a:t>
            </a:r>
          </a:p>
        </p:txBody>
      </p:sp>
      <p:sp>
        <p:nvSpPr>
          <p:cNvPr id="2" name="Rectangle 1">
            <a:extLst>
              <a:ext uri="{FF2B5EF4-FFF2-40B4-BE49-F238E27FC236}">
                <a16:creationId xmlns:a16="http://schemas.microsoft.com/office/drawing/2014/main" id="{5A29474A-AF02-1AC4-EF54-545FDCA90CBA}"/>
              </a:ext>
            </a:extLst>
          </p:cNvPr>
          <p:cNvSpPr/>
          <p:nvPr/>
        </p:nvSpPr>
        <p:spPr>
          <a:xfrm>
            <a:off x="202109" y="6227061"/>
            <a:ext cx="5819174" cy="329810"/>
          </a:xfrm>
          <a:prstGeom prst="rect">
            <a:avLst/>
          </a:prstGeom>
          <a:solidFill>
            <a:srgbClr val="187C2C"/>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r>
              <a:rPr lang="en-US" sz="1400" b="1">
                <a:solidFill>
                  <a:schemeClr val="bg1"/>
                </a:solidFill>
                <a:ea typeface="Calibri"/>
                <a:cs typeface="Calibri"/>
              </a:rPr>
              <a:t>Return on Capital Employed</a:t>
            </a:r>
          </a:p>
        </p:txBody>
      </p:sp>
      <p:sp>
        <p:nvSpPr>
          <p:cNvPr id="6" name="Slide Number Placeholder 6">
            <a:extLst>
              <a:ext uri="{FF2B5EF4-FFF2-40B4-BE49-F238E27FC236}">
                <a16:creationId xmlns:a16="http://schemas.microsoft.com/office/drawing/2014/main" id="{CC72066C-61D3-B509-08F8-FF2CB9ED8995}"/>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6</a:t>
            </a:fld>
            <a:endParaRPr lang="en-US"/>
          </a:p>
        </p:txBody>
      </p:sp>
      <p:grpSp>
        <p:nvGrpSpPr>
          <p:cNvPr id="54" name="Group 53">
            <a:extLst>
              <a:ext uri="{FF2B5EF4-FFF2-40B4-BE49-F238E27FC236}">
                <a16:creationId xmlns:a16="http://schemas.microsoft.com/office/drawing/2014/main" id="{2111B9F8-8F6F-CACC-2A12-06551D291B1B}"/>
              </a:ext>
            </a:extLst>
          </p:cNvPr>
          <p:cNvGrpSpPr/>
          <p:nvPr/>
        </p:nvGrpSpPr>
        <p:grpSpPr>
          <a:xfrm>
            <a:off x="134938" y="3862388"/>
            <a:ext cx="3060700" cy="2006600"/>
            <a:chOff x="134938" y="3862388"/>
            <a:chExt cx="3060700" cy="2006600"/>
          </a:xfrm>
        </p:grpSpPr>
        <p:sp>
          <p:nvSpPr>
            <p:cNvPr id="13" name="Rectangle 5">
              <a:extLst>
                <a:ext uri="{FF2B5EF4-FFF2-40B4-BE49-F238E27FC236}">
                  <a16:creationId xmlns:a16="http://schemas.microsoft.com/office/drawing/2014/main" id="{AD8374BD-8950-E3A4-926F-9A517717CC79}"/>
                </a:ext>
              </a:extLst>
            </p:cNvPr>
            <p:cNvSpPr>
              <a:spLocks noChangeArrowheads="1"/>
            </p:cNvSpPr>
            <p:nvPr/>
          </p:nvSpPr>
          <p:spPr bwMode="auto">
            <a:xfrm>
              <a:off x="341312" y="3862388"/>
              <a:ext cx="2691012" cy="2006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800"/>
            </a:p>
          </p:txBody>
        </p:sp>
        <p:sp>
          <p:nvSpPr>
            <p:cNvPr id="16" name="Rectangle 6">
              <a:extLst>
                <a:ext uri="{FF2B5EF4-FFF2-40B4-BE49-F238E27FC236}">
                  <a16:creationId xmlns:a16="http://schemas.microsoft.com/office/drawing/2014/main" id="{BA257C42-90EF-03CB-2BBE-EC303F3C8828}"/>
                </a:ext>
              </a:extLst>
            </p:cNvPr>
            <p:cNvSpPr>
              <a:spLocks noChangeArrowheads="1"/>
            </p:cNvSpPr>
            <p:nvPr/>
          </p:nvSpPr>
          <p:spPr bwMode="auto">
            <a:xfrm>
              <a:off x="569913" y="5154613"/>
              <a:ext cx="200025" cy="550863"/>
            </a:xfrm>
            <a:prstGeom prst="rect">
              <a:avLst/>
            </a:prstGeom>
            <a:solidFill>
              <a:srgbClr val="187C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800"/>
            </a:p>
          </p:txBody>
        </p:sp>
        <p:sp>
          <p:nvSpPr>
            <p:cNvPr id="23" name="Rectangle 7">
              <a:extLst>
                <a:ext uri="{FF2B5EF4-FFF2-40B4-BE49-F238E27FC236}">
                  <a16:creationId xmlns:a16="http://schemas.microsoft.com/office/drawing/2014/main" id="{F97EF72B-CA64-D208-34C0-48A4E9495588}"/>
                </a:ext>
              </a:extLst>
            </p:cNvPr>
            <p:cNvSpPr>
              <a:spLocks noChangeArrowheads="1"/>
            </p:cNvSpPr>
            <p:nvPr/>
          </p:nvSpPr>
          <p:spPr bwMode="auto">
            <a:xfrm>
              <a:off x="1071563" y="5233988"/>
              <a:ext cx="200025" cy="471488"/>
            </a:xfrm>
            <a:prstGeom prst="rect">
              <a:avLst/>
            </a:prstGeom>
            <a:solidFill>
              <a:srgbClr val="187C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800"/>
            </a:p>
          </p:txBody>
        </p:sp>
        <p:sp>
          <p:nvSpPr>
            <p:cNvPr id="27" name="Rectangle 8">
              <a:extLst>
                <a:ext uri="{FF2B5EF4-FFF2-40B4-BE49-F238E27FC236}">
                  <a16:creationId xmlns:a16="http://schemas.microsoft.com/office/drawing/2014/main" id="{D2F832CF-9AAC-6D32-8333-BC25271571D0}"/>
                </a:ext>
              </a:extLst>
            </p:cNvPr>
            <p:cNvSpPr>
              <a:spLocks noChangeArrowheads="1"/>
            </p:cNvSpPr>
            <p:nvPr/>
          </p:nvSpPr>
          <p:spPr bwMode="auto">
            <a:xfrm>
              <a:off x="1571626" y="4805363"/>
              <a:ext cx="200025" cy="900113"/>
            </a:xfrm>
            <a:prstGeom prst="rect">
              <a:avLst/>
            </a:prstGeom>
            <a:solidFill>
              <a:srgbClr val="187C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800"/>
            </a:p>
          </p:txBody>
        </p:sp>
        <p:sp>
          <p:nvSpPr>
            <p:cNvPr id="29" name="Rectangle 9">
              <a:extLst>
                <a:ext uri="{FF2B5EF4-FFF2-40B4-BE49-F238E27FC236}">
                  <a16:creationId xmlns:a16="http://schemas.microsoft.com/office/drawing/2014/main" id="{D92D9FCB-5F4F-83B7-706D-8ECE4436AE95}"/>
                </a:ext>
              </a:extLst>
            </p:cNvPr>
            <p:cNvSpPr>
              <a:spLocks noChangeArrowheads="1"/>
            </p:cNvSpPr>
            <p:nvPr/>
          </p:nvSpPr>
          <p:spPr bwMode="auto">
            <a:xfrm>
              <a:off x="2073276" y="4764088"/>
              <a:ext cx="200025" cy="941388"/>
            </a:xfrm>
            <a:prstGeom prst="rect">
              <a:avLst/>
            </a:prstGeom>
            <a:solidFill>
              <a:srgbClr val="187C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800"/>
            </a:p>
          </p:txBody>
        </p:sp>
        <p:sp>
          <p:nvSpPr>
            <p:cNvPr id="39" name="Rectangle 10">
              <a:extLst>
                <a:ext uri="{FF2B5EF4-FFF2-40B4-BE49-F238E27FC236}">
                  <a16:creationId xmlns:a16="http://schemas.microsoft.com/office/drawing/2014/main" id="{29164FCC-2C59-4C12-57C5-7BF3264D5E37}"/>
                </a:ext>
              </a:extLst>
            </p:cNvPr>
            <p:cNvSpPr>
              <a:spLocks noChangeArrowheads="1"/>
            </p:cNvSpPr>
            <p:nvPr/>
          </p:nvSpPr>
          <p:spPr bwMode="auto">
            <a:xfrm>
              <a:off x="2573338" y="4570413"/>
              <a:ext cx="200025" cy="1135063"/>
            </a:xfrm>
            <a:prstGeom prst="rect">
              <a:avLst/>
            </a:prstGeom>
            <a:solidFill>
              <a:srgbClr val="187C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800"/>
            </a:p>
          </p:txBody>
        </p:sp>
        <p:sp>
          <p:nvSpPr>
            <p:cNvPr id="41" name="Rectangle 11">
              <a:extLst>
                <a:ext uri="{FF2B5EF4-FFF2-40B4-BE49-F238E27FC236}">
                  <a16:creationId xmlns:a16="http://schemas.microsoft.com/office/drawing/2014/main" id="{A0A723E4-78EC-1F8F-37C4-BB4A3017A502}"/>
                </a:ext>
              </a:extLst>
            </p:cNvPr>
            <p:cNvSpPr>
              <a:spLocks noChangeArrowheads="1"/>
            </p:cNvSpPr>
            <p:nvPr/>
          </p:nvSpPr>
          <p:spPr bwMode="auto">
            <a:xfrm>
              <a:off x="537790" y="5031502"/>
              <a:ext cx="25648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1.13%</a:t>
              </a:r>
              <a:endParaRPr kumimoji="0" lang="en-US" altLang="en-US" sz="800" b="0" i="0" u="none" strike="noStrike" cap="none" normalizeH="0" baseline="0">
                <a:ln>
                  <a:noFill/>
                </a:ln>
                <a:solidFill>
                  <a:schemeClr val="tx1"/>
                </a:solidFill>
                <a:effectLst/>
              </a:endParaRPr>
            </a:p>
          </p:txBody>
        </p:sp>
        <p:sp>
          <p:nvSpPr>
            <p:cNvPr id="42" name="Rectangle 12">
              <a:extLst>
                <a:ext uri="{FF2B5EF4-FFF2-40B4-BE49-F238E27FC236}">
                  <a16:creationId xmlns:a16="http://schemas.microsoft.com/office/drawing/2014/main" id="{65CAC935-C4A9-B1BF-A8A3-898040F70CEA}"/>
                </a:ext>
              </a:extLst>
            </p:cNvPr>
            <p:cNvSpPr>
              <a:spLocks noChangeArrowheads="1"/>
            </p:cNvSpPr>
            <p:nvPr/>
          </p:nvSpPr>
          <p:spPr bwMode="auto">
            <a:xfrm>
              <a:off x="1061909" y="5117249"/>
              <a:ext cx="25648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0.97%</a:t>
              </a:r>
              <a:endParaRPr kumimoji="0" lang="en-US" altLang="en-US" sz="800" b="0" i="0" u="none" strike="noStrike" cap="none" normalizeH="0" baseline="0">
                <a:ln>
                  <a:noFill/>
                </a:ln>
                <a:solidFill>
                  <a:schemeClr val="tx1"/>
                </a:solidFill>
                <a:effectLst/>
              </a:endParaRPr>
            </a:p>
          </p:txBody>
        </p:sp>
        <p:sp>
          <p:nvSpPr>
            <p:cNvPr id="43" name="Rectangle 13">
              <a:extLst>
                <a:ext uri="{FF2B5EF4-FFF2-40B4-BE49-F238E27FC236}">
                  <a16:creationId xmlns:a16="http://schemas.microsoft.com/office/drawing/2014/main" id="{3172E973-6C94-EA88-9798-6EC175B0B565}"/>
                </a:ext>
              </a:extLst>
            </p:cNvPr>
            <p:cNvSpPr>
              <a:spLocks noChangeArrowheads="1"/>
            </p:cNvSpPr>
            <p:nvPr/>
          </p:nvSpPr>
          <p:spPr bwMode="auto">
            <a:xfrm>
              <a:off x="1556518" y="4695468"/>
              <a:ext cx="25648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1.84%</a:t>
              </a:r>
              <a:endParaRPr kumimoji="0" lang="en-US" altLang="en-US" sz="800" b="0" i="0" u="none" strike="noStrike" cap="none" normalizeH="0" baseline="0">
                <a:ln>
                  <a:noFill/>
                </a:ln>
                <a:solidFill>
                  <a:schemeClr val="tx1"/>
                </a:solidFill>
                <a:effectLst/>
              </a:endParaRPr>
            </a:p>
          </p:txBody>
        </p:sp>
        <p:sp>
          <p:nvSpPr>
            <p:cNvPr id="44" name="Rectangle 14">
              <a:extLst>
                <a:ext uri="{FF2B5EF4-FFF2-40B4-BE49-F238E27FC236}">
                  <a16:creationId xmlns:a16="http://schemas.microsoft.com/office/drawing/2014/main" id="{66F65D2A-7398-0B93-7F9F-213F5DE2BB38}"/>
                </a:ext>
              </a:extLst>
            </p:cNvPr>
            <p:cNvSpPr>
              <a:spLocks noChangeArrowheads="1"/>
            </p:cNvSpPr>
            <p:nvPr/>
          </p:nvSpPr>
          <p:spPr bwMode="auto">
            <a:xfrm>
              <a:off x="2045048" y="4640977"/>
              <a:ext cx="25648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1.93%</a:t>
              </a:r>
              <a:endParaRPr kumimoji="0" lang="en-US" altLang="en-US" sz="800" b="0" i="0" u="none" strike="noStrike" cap="none" normalizeH="0" baseline="0">
                <a:ln>
                  <a:noFill/>
                </a:ln>
                <a:solidFill>
                  <a:schemeClr val="tx1"/>
                </a:solidFill>
                <a:effectLst/>
              </a:endParaRPr>
            </a:p>
          </p:txBody>
        </p:sp>
        <p:sp>
          <p:nvSpPr>
            <p:cNvPr id="45" name="Rectangle 15">
              <a:extLst>
                <a:ext uri="{FF2B5EF4-FFF2-40B4-BE49-F238E27FC236}">
                  <a16:creationId xmlns:a16="http://schemas.microsoft.com/office/drawing/2014/main" id="{CB1C9762-AF59-DA43-8560-EF168051E9F2}"/>
                </a:ext>
              </a:extLst>
            </p:cNvPr>
            <p:cNvSpPr>
              <a:spLocks noChangeArrowheads="1"/>
            </p:cNvSpPr>
            <p:nvPr/>
          </p:nvSpPr>
          <p:spPr bwMode="auto">
            <a:xfrm>
              <a:off x="2545110" y="4447302"/>
              <a:ext cx="25648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2.33%</a:t>
              </a:r>
              <a:endParaRPr kumimoji="0" lang="en-US" altLang="en-US" sz="800" b="0" i="0" u="none" strike="noStrike" cap="none" normalizeH="0" baseline="0">
                <a:ln>
                  <a:noFill/>
                </a:ln>
                <a:solidFill>
                  <a:schemeClr val="tx1"/>
                </a:solidFill>
                <a:effectLst/>
              </a:endParaRPr>
            </a:p>
          </p:txBody>
        </p:sp>
        <p:sp>
          <p:nvSpPr>
            <p:cNvPr id="46" name="Rectangle 16">
              <a:extLst>
                <a:ext uri="{FF2B5EF4-FFF2-40B4-BE49-F238E27FC236}">
                  <a16:creationId xmlns:a16="http://schemas.microsoft.com/office/drawing/2014/main" id="{72BBB858-9AB4-2CA0-DD42-E3FF73AB570F}"/>
                </a:ext>
              </a:extLst>
            </p:cNvPr>
            <p:cNvSpPr>
              <a:spLocks noChangeArrowheads="1"/>
            </p:cNvSpPr>
            <p:nvPr/>
          </p:nvSpPr>
          <p:spPr bwMode="auto">
            <a:xfrm>
              <a:off x="509737" y="5735502"/>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Mar-21</a:t>
              </a:r>
              <a:endParaRPr kumimoji="0" lang="en-US" altLang="en-US" sz="800" b="0" i="0" u="none" strike="noStrike" cap="none" normalizeH="0" baseline="0">
                <a:ln>
                  <a:noFill/>
                </a:ln>
                <a:solidFill>
                  <a:schemeClr val="tx1"/>
                </a:solidFill>
                <a:effectLst/>
              </a:endParaRPr>
            </a:p>
          </p:txBody>
        </p:sp>
        <p:sp>
          <p:nvSpPr>
            <p:cNvPr id="47" name="Rectangle 17">
              <a:extLst>
                <a:ext uri="{FF2B5EF4-FFF2-40B4-BE49-F238E27FC236}">
                  <a16:creationId xmlns:a16="http://schemas.microsoft.com/office/drawing/2014/main" id="{E3A31A1B-2F62-01A1-0015-2FA12EAD0DC7}"/>
                </a:ext>
              </a:extLst>
            </p:cNvPr>
            <p:cNvSpPr>
              <a:spLocks noChangeArrowheads="1"/>
            </p:cNvSpPr>
            <p:nvPr/>
          </p:nvSpPr>
          <p:spPr bwMode="auto">
            <a:xfrm>
              <a:off x="1020220" y="5734146"/>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Mar-22</a:t>
              </a:r>
              <a:endParaRPr kumimoji="0" lang="en-US" altLang="en-US" sz="800" b="0" i="0" u="none" strike="noStrike" cap="none" normalizeH="0" baseline="0">
                <a:ln>
                  <a:noFill/>
                </a:ln>
                <a:solidFill>
                  <a:schemeClr val="tx1"/>
                </a:solidFill>
                <a:effectLst/>
              </a:endParaRPr>
            </a:p>
          </p:txBody>
        </p:sp>
        <p:sp>
          <p:nvSpPr>
            <p:cNvPr id="48" name="Rectangle 18">
              <a:extLst>
                <a:ext uri="{FF2B5EF4-FFF2-40B4-BE49-F238E27FC236}">
                  <a16:creationId xmlns:a16="http://schemas.microsoft.com/office/drawing/2014/main" id="{21818869-260C-55FB-8A8A-C96338845BF5}"/>
                </a:ext>
              </a:extLst>
            </p:cNvPr>
            <p:cNvSpPr>
              <a:spLocks noChangeArrowheads="1"/>
            </p:cNvSpPr>
            <p:nvPr/>
          </p:nvSpPr>
          <p:spPr bwMode="auto">
            <a:xfrm>
              <a:off x="1539604" y="5734145"/>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Mar-23</a:t>
              </a:r>
              <a:endParaRPr kumimoji="0" lang="en-US" altLang="en-US" sz="800" b="0" i="0" u="none" strike="noStrike" cap="none" normalizeH="0" baseline="0">
                <a:ln>
                  <a:noFill/>
                </a:ln>
                <a:solidFill>
                  <a:schemeClr val="tx1"/>
                </a:solidFill>
                <a:effectLst/>
              </a:endParaRPr>
            </a:p>
          </p:txBody>
        </p:sp>
        <p:sp>
          <p:nvSpPr>
            <p:cNvPr id="49" name="Rectangle 19">
              <a:extLst>
                <a:ext uri="{FF2B5EF4-FFF2-40B4-BE49-F238E27FC236}">
                  <a16:creationId xmlns:a16="http://schemas.microsoft.com/office/drawing/2014/main" id="{E9F8B3AD-3656-6C7F-C275-D262D92BC7FB}"/>
                </a:ext>
              </a:extLst>
            </p:cNvPr>
            <p:cNvSpPr>
              <a:spLocks noChangeArrowheads="1"/>
            </p:cNvSpPr>
            <p:nvPr/>
          </p:nvSpPr>
          <p:spPr bwMode="auto">
            <a:xfrm>
              <a:off x="2021932" y="5728431"/>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Mar-24</a:t>
              </a:r>
              <a:endParaRPr kumimoji="0" lang="en-US" altLang="en-US" sz="800" b="0" i="0" u="none" strike="noStrike" cap="none" normalizeH="0" baseline="0">
                <a:ln>
                  <a:noFill/>
                </a:ln>
                <a:solidFill>
                  <a:schemeClr val="tx1"/>
                </a:solidFill>
                <a:effectLst/>
              </a:endParaRPr>
            </a:p>
          </p:txBody>
        </p:sp>
        <p:sp>
          <p:nvSpPr>
            <p:cNvPr id="50" name="Rectangle 20">
              <a:extLst>
                <a:ext uri="{FF2B5EF4-FFF2-40B4-BE49-F238E27FC236}">
                  <a16:creationId xmlns:a16="http://schemas.microsoft.com/office/drawing/2014/main" id="{4693CF3E-B9FF-B384-185D-8D95E5CF00A6}"/>
                </a:ext>
              </a:extLst>
            </p:cNvPr>
            <p:cNvSpPr>
              <a:spLocks noChangeArrowheads="1"/>
            </p:cNvSpPr>
            <p:nvPr/>
          </p:nvSpPr>
          <p:spPr bwMode="auto">
            <a:xfrm>
              <a:off x="2541316" y="5732209"/>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Mar-25</a:t>
              </a:r>
              <a:endParaRPr kumimoji="0" lang="en-US" altLang="en-US" sz="800" b="0" i="0" u="none" strike="noStrike" cap="none" normalizeH="0" baseline="0">
                <a:ln>
                  <a:noFill/>
                </a:ln>
                <a:solidFill>
                  <a:schemeClr val="tx1"/>
                </a:solidFill>
                <a:effectLst/>
              </a:endParaRPr>
            </a:p>
          </p:txBody>
        </p:sp>
        <p:sp>
          <p:nvSpPr>
            <p:cNvPr id="51" name="Rectangle 21">
              <a:extLst>
                <a:ext uri="{FF2B5EF4-FFF2-40B4-BE49-F238E27FC236}">
                  <a16:creationId xmlns:a16="http://schemas.microsoft.com/office/drawing/2014/main" id="{2E48256F-B445-8609-1EF8-BEF96543A3F8}"/>
                </a:ext>
              </a:extLst>
            </p:cNvPr>
            <p:cNvSpPr>
              <a:spLocks noChangeArrowheads="1"/>
            </p:cNvSpPr>
            <p:nvPr/>
          </p:nvSpPr>
          <p:spPr bwMode="auto">
            <a:xfrm>
              <a:off x="1257301" y="3925888"/>
              <a:ext cx="111139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6600"/>
                  </a:solidFill>
                  <a:effectLst/>
                  <a:latin typeface="Calibri" panose="020F0502020204030204" pitchFamily="34" charset="0"/>
                </a:rPr>
                <a:t>Return on Assets </a:t>
              </a:r>
              <a:endParaRPr kumimoji="0" lang="en-US" altLang="en-US" sz="1200" b="0" i="0" u="none" strike="noStrike" cap="none" normalizeH="0" baseline="0">
                <a:ln>
                  <a:noFill/>
                </a:ln>
                <a:solidFill>
                  <a:schemeClr val="tx1"/>
                </a:solidFill>
                <a:effectLst/>
              </a:endParaRPr>
            </a:p>
          </p:txBody>
        </p:sp>
        <p:sp>
          <p:nvSpPr>
            <p:cNvPr id="52" name="Rectangle 22">
              <a:extLst>
                <a:ext uri="{FF2B5EF4-FFF2-40B4-BE49-F238E27FC236}">
                  <a16:creationId xmlns:a16="http://schemas.microsoft.com/office/drawing/2014/main" id="{0AFA8B5C-AF2A-C1A9-D288-634741757E5C}"/>
                </a:ext>
              </a:extLst>
            </p:cNvPr>
            <p:cNvSpPr>
              <a:spLocks noChangeArrowheads="1"/>
            </p:cNvSpPr>
            <p:nvPr/>
          </p:nvSpPr>
          <p:spPr bwMode="auto">
            <a:xfrm>
              <a:off x="134938" y="3862388"/>
              <a:ext cx="3060700" cy="2006600"/>
            </a:xfrm>
            <a:prstGeom prst="rect">
              <a:avLst/>
            </a:prstGeom>
            <a:noFill/>
            <a:ln w="6350" cap="flat">
              <a:no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sz="800"/>
            </a:p>
          </p:txBody>
        </p:sp>
      </p:grpSp>
      <p:grpSp>
        <p:nvGrpSpPr>
          <p:cNvPr id="109" name="Group 108">
            <a:extLst>
              <a:ext uri="{FF2B5EF4-FFF2-40B4-BE49-F238E27FC236}">
                <a16:creationId xmlns:a16="http://schemas.microsoft.com/office/drawing/2014/main" id="{6794A44C-48D4-ADA0-E753-A3F76B034EE4}"/>
              </a:ext>
            </a:extLst>
          </p:cNvPr>
          <p:cNvGrpSpPr/>
          <p:nvPr/>
        </p:nvGrpSpPr>
        <p:grpSpPr>
          <a:xfrm>
            <a:off x="3032324" y="3862387"/>
            <a:ext cx="3060700" cy="2269755"/>
            <a:chOff x="3032324" y="3862388"/>
            <a:chExt cx="3060700" cy="2219074"/>
          </a:xfrm>
        </p:grpSpPr>
        <p:sp>
          <p:nvSpPr>
            <p:cNvPr id="58" name="AutoShape 24">
              <a:extLst>
                <a:ext uri="{FF2B5EF4-FFF2-40B4-BE49-F238E27FC236}">
                  <a16:creationId xmlns:a16="http://schemas.microsoft.com/office/drawing/2014/main" id="{A41D84E1-F3BF-F273-DC8E-49148E5A5E2A}"/>
                </a:ext>
              </a:extLst>
            </p:cNvPr>
            <p:cNvSpPr>
              <a:spLocks noChangeAspect="1" noChangeArrowheads="1" noTextEdit="1"/>
            </p:cNvSpPr>
            <p:nvPr/>
          </p:nvSpPr>
          <p:spPr bwMode="auto">
            <a:xfrm>
              <a:off x="3032324" y="4074862"/>
              <a:ext cx="3060700" cy="200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59" name="Rectangle 26">
              <a:extLst>
                <a:ext uri="{FF2B5EF4-FFF2-40B4-BE49-F238E27FC236}">
                  <a16:creationId xmlns:a16="http://schemas.microsoft.com/office/drawing/2014/main" id="{43725E20-7E76-D797-CF05-244B02874C09}"/>
                </a:ext>
              </a:extLst>
            </p:cNvPr>
            <p:cNvSpPr>
              <a:spLocks noChangeArrowheads="1"/>
            </p:cNvSpPr>
            <p:nvPr/>
          </p:nvSpPr>
          <p:spPr bwMode="auto">
            <a:xfrm>
              <a:off x="3035499" y="3862388"/>
              <a:ext cx="3054350" cy="221574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60" name="Freeform 27">
              <a:extLst>
                <a:ext uri="{FF2B5EF4-FFF2-40B4-BE49-F238E27FC236}">
                  <a16:creationId xmlns:a16="http://schemas.microsoft.com/office/drawing/2014/main" id="{704BF9A4-B6C0-75FC-8014-8A11C91DC062}"/>
                </a:ext>
              </a:extLst>
            </p:cNvPr>
            <p:cNvSpPr>
              <a:spLocks noEditPoints="1"/>
            </p:cNvSpPr>
            <p:nvPr/>
          </p:nvSpPr>
          <p:spPr bwMode="auto">
            <a:xfrm>
              <a:off x="3251399" y="4741512"/>
              <a:ext cx="2459038" cy="922670"/>
            </a:xfrm>
            <a:custGeom>
              <a:avLst/>
              <a:gdLst>
                <a:gd name="T0" fmla="*/ 0 w 1549"/>
                <a:gd name="T1" fmla="*/ 0 h 555"/>
                <a:gd name="T2" fmla="*/ 104 w 1549"/>
                <a:gd name="T3" fmla="*/ 0 h 555"/>
                <a:gd name="T4" fmla="*/ 104 w 1549"/>
                <a:gd name="T5" fmla="*/ 555 h 555"/>
                <a:gd name="T6" fmla="*/ 0 w 1549"/>
                <a:gd name="T7" fmla="*/ 555 h 555"/>
                <a:gd name="T8" fmla="*/ 0 w 1549"/>
                <a:gd name="T9" fmla="*/ 0 h 555"/>
                <a:gd name="T10" fmla="*/ 361 w 1549"/>
                <a:gd name="T11" fmla="*/ 66 h 555"/>
                <a:gd name="T12" fmla="*/ 465 w 1549"/>
                <a:gd name="T13" fmla="*/ 66 h 555"/>
                <a:gd name="T14" fmla="*/ 465 w 1549"/>
                <a:gd name="T15" fmla="*/ 555 h 555"/>
                <a:gd name="T16" fmla="*/ 361 w 1549"/>
                <a:gd name="T17" fmla="*/ 555 h 555"/>
                <a:gd name="T18" fmla="*/ 361 w 1549"/>
                <a:gd name="T19" fmla="*/ 66 h 555"/>
                <a:gd name="T20" fmla="*/ 723 w 1549"/>
                <a:gd name="T21" fmla="*/ 40 h 555"/>
                <a:gd name="T22" fmla="*/ 826 w 1549"/>
                <a:gd name="T23" fmla="*/ 40 h 555"/>
                <a:gd name="T24" fmla="*/ 826 w 1549"/>
                <a:gd name="T25" fmla="*/ 555 h 555"/>
                <a:gd name="T26" fmla="*/ 723 w 1549"/>
                <a:gd name="T27" fmla="*/ 555 h 555"/>
                <a:gd name="T28" fmla="*/ 723 w 1549"/>
                <a:gd name="T29" fmla="*/ 40 h 555"/>
                <a:gd name="T30" fmla="*/ 1084 w 1549"/>
                <a:gd name="T31" fmla="*/ 60 h 555"/>
                <a:gd name="T32" fmla="*/ 1187 w 1549"/>
                <a:gd name="T33" fmla="*/ 60 h 555"/>
                <a:gd name="T34" fmla="*/ 1187 w 1549"/>
                <a:gd name="T35" fmla="*/ 555 h 555"/>
                <a:gd name="T36" fmla="*/ 1084 w 1549"/>
                <a:gd name="T37" fmla="*/ 555 h 555"/>
                <a:gd name="T38" fmla="*/ 1084 w 1549"/>
                <a:gd name="T39" fmla="*/ 60 h 555"/>
                <a:gd name="T40" fmla="*/ 1446 w 1549"/>
                <a:gd name="T41" fmla="*/ 85 h 555"/>
                <a:gd name="T42" fmla="*/ 1549 w 1549"/>
                <a:gd name="T43" fmla="*/ 85 h 555"/>
                <a:gd name="T44" fmla="*/ 1549 w 1549"/>
                <a:gd name="T45" fmla="*/ 555 h 555"/>
                <a:gd name="T46" fmla="*/ 1446 w 1549"/>
                <a:gd name="T47" fmla="*/ 555 h 555"/>
                <a:gd name="T48" fmla="*/ 1446 w 1549"/>
                <a:gd name="T49" fmla="*/ 85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49" h="555">
                  <a:moveTo>
                    <a:pt x="0" y="0"/>
                  </a:moveTo>
                  <a:lnTo>
                    <a:pt x="104" y="0"/>
                  </a:lnTo>
                  <a:lnTo>
                    <a:pt x="104" y="555"/>
                  </a:lnTo>
                  <a:lnTo>
                    <a:pt x="0" y="555"/>
                  </a:lnTo>
                  <a:lnTo>
                    <a:pt x="0" y="0"/>
                  </a:lnTo>
                  <a:close/>
                  <a:moveTo>
                    <a:pt x="361" y="66"/>
                  </a:moveTo>
                  <a:lnTo>
                    <a:pt x="465" y="66"/>
                  </a:lnTo>
                  <a:lnTo>
                    <a:pt x="465" y="555"/>
                  </a:lnTo>
                  <a:lnTo>
                    <a:pt x="361" y="555"/>
                  </a:lnTo>
                  <a:lnTo>
                    <a:pt x="361" y="66"/>
                  </a:lnTo>
                  <a:close/>
                  <a:moveTo>
                    <a:pt x="723" y="40"/>
                  </a:moveTo>
                  <a:lnTo>
                    <a:pt x="826" y="40"/>
                  </a:lnTo>
                  <a:lnTo>
                    <a:pt x="826" y="555"/>
                  </a:lnTo>
                  <a:lnTo>
                    <a:pt x="723" y="555"/>
                  </a:lnTo>
                  <a:lnTo>
                    <a:pt x="723" y="40"/>
                  </a:lnTo>
                  <a:close/>
                  <a:moveTo>
                    <a:pt x="1084" y="60"/>
                  </a:moveTo>
                  <a:lnTo>
                    <a:pt x="1187" y="60"/>
                  </a:lnTo>
                  <a:lnTo>
                    <a:pt x="1187" y="555"/>
                  </a:lnTo>
                  <a:lnTo>
                    <a:pt x="1084" y="555"/>
                  </a:lnTo>
                  <a:lnTo>
                    <a:pt x="1084" y="60"/>
                  </a:lnTo>
                  <a:close/>
                  <a:moveTo>
                    <a:pt x="1446" y="85"/>
                  </a:moveTo>
                  <a:lnTo>
                    <a:pt x="1549" y="85"/>
                  </a:lnTo>
                  <a:lnTo>
                    <a:pt x="1549" y="555"/>
                  </a:lnTo>
                  <a:lnTo>
                    <a:pt x="1446" y="555"/>
                  </a:lnTo>
                  <a:lnTo>
                    <a:pt x="1446" y="85"/>
                  </a:lnTo>
                  <a:close/>
                </a:path>
              </a:pathLst>
            </a:custGeom>
            <a:solidFill>
              <a:srgbClr val="C5E0B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61" name="Freeform 28">
              <a:extLst>
                <a:ext uri="{FF2B5EF4-FFF2-40B4-BE49-F238E27FC236}">
                  <a16:creationId xmlns:a16="http://schemas.microsoft.com/office/drawing/2014/main" id="{6649ED8E-9825-DFE6-64EF-684332E0C477}"/>
                </a:ext>
              </a:extLst>
            </p:cNvPr>
            <p:cNvSpPr>
              <a:spLocks noEditPoints="1"/>
            </p:cNvSpPr>
            <p:nvPr/>
          </p:nvSpPr>
          <p:spPr bwMode="auto">
            <a:xfrm>
              <a:off x="3416499" y="4503779"/>
              <a:ext cx="2457450" cy="1160404"/>
            </a:xfrm>
            <a:custGeom>
              <a:avLst/>
              <a:gdLst>
                <a:gd name="T0" fmla="*/ 0 w 1548"/>
                <a:gd name="T1" fmla="*/ 0 h 698"/>
                <a:gd name="T2" fmla="*/ 103 w 1548"/>
                <a:gd name="T3" fmla="*/ 0 h 698"/>
                <a:gd name="T4" fmla="*/ 103 w 1548"/>
                <a:gd name="T5" fmla="*/ 698 h 698"/>
                <a:gd name="T6" fmla="*/ 0 w 1548"/>
                <a:gd name="T7" fmla="*/ 698 h 698"/>
                <a:gd name="T8" fmla="*/ 0 w 1548"/>
                <a:gd name="T9" fmla="*/ 0 h 698"/>
                <a:gd name="T10" fmla="*/ 361 w 1548"/>
                <a:gd name="T11" fmla="*/ 69 h 698"/>
                <a:gd name="T12" fmla="*/ 464 w 1548"/>
                <a:gd name="T13" fmla="*/ 69 h 698"/>
                <a:gd name="T14" fmla="*/ 464 w 1548"/>
                <a:gd name="T15" fmla="*/ 698 h 698"/>
                <a:gd name="T16" fmla="*/ 361 w 1548"/>
                <a:gd name="T17" fmla="*/ 698 h 698"/>
                <a:gd name="T18" fmla="*/ 361 w 1548"/>
                <a:gd name="T19" fmla="*/ 69 h 698"/>
                <a:gd name="T20" fmla="*/ 722 w 1548"/>
                <a:gd name="T21" fmla="*/ 67 h 698"/>
                <a:gd name="T22" fmla="*/ 825 w 1548"/>
                <a:gd name="T23" fmla="*/ 67 h 698"/>
                <a:gd name="T24" fmla="*/ 825 w 1548"/>
                <a:gd name="T25" fmla="*/ 698 h 698"/>
                <a:gd name="T26" fmla="*/ 722 w 1548"/>
                <a:gd name="T27" fmla="*/ 698 h 698"/>
                <a:gd name="T28" fmla="*/ 722 w 1548"/>
                <a:gd name="T29" fmla="*/ 67 h 698"/>
                <a:gd name="T30" fmla="*/ 1083 w 1548"/>
                <a:gd name="T31" fmla="*/ 38 h 698"/>
                <a:gd name="T32" fmla="*/ 1186 w 1548"/>
                <a:gd name="T33" fmla="*/ 38 h 698"/>
                <a:gd name="T34" fmla="*/ 1186 w 1548"/>
                <a:gd name="T35" fmla="*/ 698 h 698"/>
                <a:gd name="T36" fmla="*/ 1083 w 1548"/>
                <a:gd name="T37" fmla="*/ 698 h 698"/>
                <a:gd name="T38" fmla="*/ 1083 w 1548"/>
                <a:gd name="T39" fmla="*/ 38 h 698"/>
                <a:gd name="T40" fmla="*/ 1445 w 1548"/>
                <a:gd name="T41" fmla="*/ 78 h 698"/>
                <a:gd name="T42" fmla="*/ 1548 w 1548"/>
                <a:gd name="T43" fmla="*/ 78 h 698"/>
                <a:gd name="T44" fmla="*/ 1548 w 1548"/>
                <a:gd name="T45" fmla="*/ 698 h 698"/>
                <a:gd name="T46" fmla="*/ 1445 w 1548"/>
                <a:gd name="T47" fmla="*/ 698 h 698"/>
                <a:gd name="T48" fmla="*/ 1445 w 1548"/>
                <a:gd name="T49" fmla="*/ 78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48" h="698">
                  <a:moveTo>
                    <a:pt x="0" y="0"/>
                  </a:moveTo>
                  <a:lnTo>
                    <a:pt x="103" y="0"/>
                  </a:lnTo>
                  <a:lnTo>
                    <a:pt x="103" y="698"/>
                  </a:lnTo>
                  <a:lnTo>
                    <a:pt x="0" y="698"/>
                  </a:lnTo>
                  <a:lnTo>
                    <a:pt x="0" y="0"/>
                  </a:lnTo>
                  <a:close/>
                  <a:moveTo>
                    <a:pt x="361" y="69"/>
                  </a:moveTo>
                  <a:lnTo>
                    <a:pt x="464" y="69"/>
                  </a:lnTo>
                  <a:lnTo>
                    <a:pt x="464" y="698"/>
                  </a:lnTo>
                  <a:lnTo>
                    <a:pt x="361" y="698"/>
                  </a:lnTo>
                  <a:lnTo>
                    <a:pt x="361" y="69"/>
                  </a:lnTo>
                  <a:close/>
                  <a:moveTo>
                    <a:pt x="722" y="67"/>
                  </a:moveTo>
                  <a:lnTo>
                    <a:pt x="825" y="67"/>
                  </a:lnTo>
                  <a:lnTo>
                    <a:pt x="825" y="698"/>
                  </a:lnTo>
                  <a:lnTo>
                    <a:pt x="722" y="698"/>
                  </a:lnTo>
                  <a:lnTo>
                    <a:pt x="722" y="67"/>
                  </a:lnTo>
                  <a:close/>
                  <a:moveTo>
                    <a:pt x="1083" y="38"/>
                  </a:moveTo>
                  <a:lnTo>
                    <a:pt x="1186" y="38"/>
                  </a:lnTo>
                  <a:lnTo>
                    <a:pt x="1186" y="698"/>
                  </a:lnTo>
                  <a:lnTo>
                    <a:pt x="1083" y="698"/>
                  </a:lnTo>
                  <a:lnTo>
                    <a:pt x="1083" y="38"/>
                  </a:lnTo>
                  <a:close/>
                  <a:moveTo>
                    <a:pt x="1445" y="78"/>
                  </a:moveTo>
                  <a:lnTo>
                    <a:pt x="1548" y="78"/>
                  </a:lnTo>
                  <a:lnTo>
                    <a:pt x="1548" y="698"/>
                  </a:lnTo>
                  <a:lnTo>
                    <a:pt x="1445" y="698"/>
                  </a:lnTo>
                  <a:lnTo>
                    <a:pt x="1445" y="78"/>
                  </a:lnTo>
                  <a:close/>
                </a:path>
              </a:pathLst>
            </a:custGeom>
            <a:solidFill>
              <a:srgbClr val="187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62" name="Rectangle 29">
              <a:extLst>
                <a:ext uri="{FF2B5EF4-FFF2-40B4-BE49-F238E27FC236}">
                  <a16:creationId xmlns:a16="http://schemas.microsoft.com/office/drawing/2014/main" id="{13FB1F01-1882-2B2B-9F76-6E8818EDB67D}"/>
                </a:ext>
              </a:extLst>
            </p:cNvPr>
            <p:cNvSpPr>
              <a:spLocks noChangeArrowheads="1"/>
            </p:cNvSpPr>
            <p:nvPr/>
          </p:nvSpPr>
          <p:spPr bwMode="auto">
            <a:xfrm>
              <a:off x="3119911" y="4641929"/>
              <a:ext cx="307777" cy="1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13.25%</a:t>
              </a:r>
              <a:endParaRPr kumimoji="0" lang="en-US" altLang="en-US" sz="800" b="0" i="0" u="none" strike="noStrike" cap="none" normalizeH="0" baseline="0">
                <a:ln>
                  <a:noFill/>
                </a:ln>
                <a:solidFill>
                  <a:schemeClr val="tx1"/>
                </a:solidFill>
                <a:effectLst/>
              </a:endParaRPr>
            </a:p>
          </p:txBody>
        </p:sp>
        <p:sp>
          <p:nvSpPr>
            <p:cNvPr id="63" name="Rectangle 30">
              <a:extLst>
                <a:ext uri="{FF2B5EF4-FFF2-40B4-BE49-F238E27FC236}">
                  <a16:creationId xmlns:a16="http://schemas.microsoft.com/office/drawing/2014/main" id="{23AF40B8-950D-13C6-72C8-A7A16755ACF1}"/>
                </a:ext>
              </a:extLst>
            </p:cNvPr>
            <p:cNvSpPr>
              <a:spLocks noChangeArrowheads="1"/>
            </p:cNvSpPr>
            <p:nvPr/>
          </p:nvSpPr>
          <p:spPr bwMode="auto">
            <a:xfrm>
              <a:off x="3695204" y="4744620"/>
              <a:ext cx="307777" cy="1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11.68%</a:t>
              </a:r>
              <a:endParaRPr kumimoji="0" lang="en-US" altLang="en-US" sz="800" b="0" i="0" u="none" strike="noStrike" cap="none" normalizeH="0" baseline="0">
                <a:ln>
                  <a:noFill/>
                </a:ln>
                <a:solidFill>
                  <a:schemeClr val="tx1"/>
                </a:solidFill>
                <a:effectLst/>
              </a:endParaRPr>
            </a:p>
          </p:txBody>
        </p:sp>
        <p:sp>
          <p:nvSpPr>
            <p:cNvPr id="64" name="Rectangle 31">
              <a:extLst>
                <a:ext uri="{FF2B5EF4-FFF2-40B4-BE49-F238E27FC236}">
                  <a16:creationId xmlns:a16="http://schemas.microsoft.com/office/drawing/2014/main" id="{34AF9BCE-0633-9546-8C25-C02326E24AAF}"/>
                </a:ext>
              </a:extLst>
            </p:cNvPr>
            <p:cNvSpPr>
              <a:spLocks noChangeArrowheads="1"/>
            </p:cNvSpPr>
            <p:nvPr/>
          </p:nvSpPr>
          <p:spPr bwMode="auto">
            <a:xfrm>
              <a:off x="4265117" y="4703274"/>
              <a:ext cx="307777" cy="1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12.32%</a:t>
              </a:r>
              <a:endParaRPr kumimoji="0" lang="en-US" altLang="en-US" sz="800" b="0" i="0" u="none" strike="noStrike" cap="none" normalizeH="0" baseline="0">
                <a:ln>
                  <a:noFill/>
                </a:ln>
                <a:solidFill>
                  <a:schemeClr val="tx1"/>
                </a:solidFill>
                <a:effectLst/>
              </a:endParaRPr>
            </a:p>
          </p:txBody>
        </p:sp>
        <p:sp>
          <p:nvSpPr>
            <p:cNvPr id="65" name="Rectangle 32">
              <a:extLst>
                <a:ext uri="{FF2B5EF4-FFF2-40B4-BE49-F238E27FC236}">
                  <a16:creationId xmlns:a16="http://schemas.microsoft.com/office/drawing/2014/main" id="{86A8774B-2E86-875F-9EC4-B56B3266EAA4}"/>
                </a:ext>
              </a:extLst>
            </p:cNvPr>
            <p:cNvSpPr>
              <a:spLocks noChangeArrowheads="1"/>
            </p:cNvSpPr>
            <p:nvPr/>
          </p:nvSpPr>
          <p:spPr bwMode="auto">
            <a:xfrm>
              <a:off x="4829475" y="4738894"/>
              <a:ext cx="307777" cy="1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11.83%</a:t>
              </a:r>
              <a:endParaRPr kumimoji="0" lang="en-US" altLang="en-US" sz="800" b="0" i="0" u="none" strike="noStrike" cap="none" normalizeH="0" baseline="0">
                <a:ln>
                  <a:noFill/>
                </a:ln>
                <a:solidFill>
                  <a:schemeClr val="tx1"/>
                </a:solidFill>
                <a:effectLst/>
              </a:endParaRPr>
            </a:p>
          </p:txBody>
        </p:sp>
        <p:sp>
          <p:nvSpPr>
            <p:cNvPr id="66" name="Rectangle 33">
              <a:extLst>
                <a:ext uri="{FF2B5EF4-FFF2-40B4-BE49-F238E27FC236}">
                  <a16:creationId xmlns:a16="http://schemas.microsoft.com/office/drawing/2014/main" id="{E068D1C6-7636-5BAB-958E-C0DC600C1712}"/>
                </a:ext>
              </a:extLst>
            </p:cNvPr>
            <p:cNvSpPr>
              <a:spLocks noChangeArrowheads="1"/>
            </p:cNvSpPr>
            <p:nvPr/>
          </p:nvSpPr>
          <p:spPr bwMode="auto">
            <a:xfrm>
              <a:off x="5399388" y="4775726"/>
              <a:ext cx="307777" cy="1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11.22%</a:t>
              </a:r>
              <a:endParaRPr kumimoji="0" lang="en-US" altLang="en-US" sz="800" b="0" i="0" u="none" strike="noStrike" cap="none" normalizeH="0" baseline="0">
                <a:ln>
                  <a:noFill/>
                </a:ln>
                <a:solidFill>
                  <a:schemeClr val="tx1"/>
                </a:solidFill>
                <a:effectLst/>
              </a:endParaRPr>
            </a:p>
          </p:txBody>
        </p:sp>
        <p:sp>
          <p:nvSpPr>
            <p:cNvPr id="67" name="Rectangle 34">
              <a:extLst>
                <a:ext uri="{FF2B5EF4-FFF2-40B4-BE49-F238E27FC236}">
                  <a16:creationId xmlns:a16="http://schemas.microsoft.com/office/drawing/2014/main" id="{37242C43-3928-3D75-CE43-43C8A5F606BB}"/>
                </a:ext>
              </a:extLst>
            </p:cNvPr>
            <p:cNvSpPr>
              <a:spLocks noChangeArrowheads="1"/>
            </p:cNvSpPr>
            <p:nvPr/>
          </p:nvSpPr>
          <p:spPr bwMode="auto">
            <a:xfrm>
              <a:off x="3351748" y="4397485"/>
              <a:ext cx="307777" cy="1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16.68%</a:t>
              </a:r>
              <a:endParaRPr kumimoji="0" lang="en-US" altLang="en-US" sz="800" b="0" i="0" u="none" strike="noStrike" cap="none" normalizeH="0" baseline="0">
                <a:ln>
                  <a:noFill/>
                </a:ln>
                <a:solidFill>
                  <a:schemeClr val="tx1"/>
                </a:solidFill>
                <a:effectLst/>
              </a:endParaRPr>
            </a:p>
          </p:txBody>
        </p:sp>
        <p:sp>
          <p:nvSpPr>
            <p:cNvPr id="68" name="Rectangle 35">
              <a:extLst>
                <a:ext uri="{FF2B5EF4-FFF2-40B4-BE49-F238E27FC236}">
                  <a16:creationId xmlns:a16="http://schemas.microsoft.com/office/drawing/2014/main" id="{6A49DFC5-0539-391C-9ED3-8EAB2D4D8AE0}"/>
                </a:ext>
              </a:extLst>
            </p:cNvPr>
            <p:cNvSpPr>
              <a:spLocks noChangeArrowheads="1"/>
            </p:cNvSpPr>
            <p:nvPr/>
          </p:nvSpPr>
          <p:spPr bwMode="auto">
            <a:xfrm>
              <a:off x="3932824" y="4511829"/>
              <a:ext cx="307777" cy="1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15.04%</a:t>
              </a:r>
              <a:endParaRPr kumimoji="0" lang="en-US" altLang="en-US" sz="800" b="0" i="0" u="none" strike="noStrike" cap="none" normalizeH="0" baseline="0">
                <a:ln>
                  <a:noFill/>
                </a:ln>
                <a:solidFill>
                  <a:schemeClr val="tx1"/>
                </a:solidFill>
                <a:effectLst/>
              </a:endParaRPr>
            </a:p>
          </p:txBody>
        </p:sp>
        <p:sp>
          <p:nvSpPr>
            <p:cNvPr id="89" name="Rectangle 36">
              <a:extLst>
                <a:ext uri="{FF2B5EF4-FFF2-40B4-BE49-F238E27FC236}">
                  <a16:creationId xmlns:a16="http://schemas.microsoft.com/office/drawing/2014/main" id="{1C1284A4-B1DC-D7C3-0374-D6A340EBEFBC}"/>
                </a:ext>
              </a:extLst>
            </p:cNvPr>
            <p:cNvSpPr>
              <a:spLocks noChangeArrowheads="1"/>
            </p:cNvSpPr>
            <p:nvPr/>
          </p:nvSpPr>
          <p:spPr bwMode="auto">
            <a:xfrm>
              <a:off x="4505326" y="4510719"/>
              <a:ext cx="307777" cy="1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15.08%</a:t>
              </a:r>
              <a:endParaRPr kumimoji="0" lang="en-US" altLang="en-US" sz="800" b="0" i="0" u="none" strike="noStrike" cap="none" normalizeH="0" baseline="0">
                <a:ln>
                  <a:noFill/>
                </a:ln>
                <a:solidFill>
                  <a:schemeClr val="tx1"/>
                </a:solidFill>
                <a:effectLst/>
              </a:endParaRPr>
            </a:p>
          </p:txBody>
        </p:sp>
        <p:sp>
          <p:nvSpPr>
            <p:cNvPr id="91" name="Rectangle 37">
              <a:extLst>
                <a:ext uri="{FF2B5EF4-FFF2-40B4-BE49-F238E27FC236}">
                  <a16:creationId xmlns:a16="http://schemas.microsoft.com/office/drawing/2014/main" id="{5C504533-50C4-59A0-697D-99B871A81791}"/>
                </a:ext>
              </a:extLst>
            </p:cNvPr>
            <p:cNvSpPr>
              <a:spLocks noChangeArrowheads="1"/>
            </p:cNvSpPr>
            <p:nvPr/>
          </p:nvSpPr>
          <p:spPr bwMode="auto">
            <a:xfrm>
              <a:off x="5082233" y="4467987"/>
              <a:ext cx="307777" cy="1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15.77%</a:t>
              </a:r>
              <a:endParaRPr kumimoji="0" lang="en-US" altLang="en-US" sz="800" b="0" i="0" u="none" strike="noStrike" cap="none" normalizeH="0" baseline="0">
                <a:ln>
                  <a:noFill/>
                </a:ln>
                <a:solidFill>
                  <a:schemeClr val="tx1"/>
                </a:solidFill>
                <a:effectLst/>
              </a:endParaRPr>
            </a:p>
          </p:txBody>
        </p:sp>
        <p:sp>
          <p:nvSpPr>
            <p:cNvPr id="96" name="Rectangle 38">
              <a:extLst>
                <a:ext uri="{FF2B5EF4-FFF2-40B4-BE49-F238E27FC236}">
                  <a16:creationId xmlns:a16="http://schemas.microsoft.com/office/drawing/2014/main" id="{2D3A414D-1851-8CBE-D5D9-C071028845E2}"/>
                </a:ext>
              </a:extLst>
            </p:cNvPr>
            <p:cNvSpPr>
              <a:spLocks noChangeArrowheads="1"/>
            </p:cNvSpPr>
            <p:nvPr/>
          </p:nvSpPr>
          <p:spPr bwMode="auto">
            <a:xfrm>
              <a:off x="5629771" y="4528000"/>
              <a:ext cx="307777" cy="1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14.80%</a:t>
              </a:r>
              <a:endParaRPr kumimoji="0" lang="en-US" altLang="en-US" sz="800" b="0" i="0" u="none" strike="noStrike" cap="none" normalizeH="0" baseline="0">
                <a:ln>
                  <a:noFill/>
                </a:ln>
                <a:solidFill>
                  <a:schemeClr val="tx1"/>
                </a:solidFill>
                <a:effectLst/>
              </a:endParaRPr>
            </a:p>
          </p:txBody>
        </p:sp>
        <p:sp>
          <p:nvSpPr>
            <p:cNvPr id="97" name="Rectangle 39">
              <a:extLst>
                <a:ext uri="{FF2B5EF4-FFF2-40B4-BE49-F238E27FC236}">
                  <a16:creationId xmlns:a16="http://schemas.microsoft.com/office/drawing/2014/main" id="{9CD36D30-EA51-F6FC-6F38-122712F89131}"/>
                </a:ext>
              </a:extLst>
            </p:cNvPr>
            <p:cNvSpPr>
              <a:spLocks noChangeArrowheads="1"/>
            </p:cNvSpPr>
            <p:nvPr/>
          </p:nvSpPr>
          <p:spPr bwMode="auto">
            <a:xfrm>
              <a:off x="3261050" y="5706118"/>
              <a:ext cx="312586" cy="1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Mar-21</a:t>
              </a:r>
              <a:endParaRPr kumimoji="0" lang="en-US" altLang="en-US" sz="800" b="0" i="0" u="none" strike="noStrike" cap="none" normalizeH="0" baseline="0">
                <a:ln>
                  <a:noFill/>
                </a:ln>
                <a:solidFill>
                  <a:schemeClr val="tx1"/>
                </a:solidFill>
                <a:effectLst/>
              </a:endParaRPr>
            </a:p>
          </p:txBody>
        </p:sp>
        <p:sp>
          <p:nvSpPr>
            <p:cNvPr id="98" name="Rectangle 40">
              <a:extLst>
                <a:ext uri="{FF2B5EF4-FFF2-40B4-BE49-F238E27FC236}">
                  <a16:creationId xmlns:a16="http://schemas.microsoft.com/office/drawing/2014/main" id="{729C9039-C555-4CD1-7A55-FC36AEAFB80C}"/>
                </a:ext>
              </a:extLst>
            </p:cNvPr>
            <p:cNvSpPr>
              <a:spLocks noChangeArrowheads="1"/>
            </p:cNvSpPr>
            <p:nvPr/>
          </p:nvSpPr>
          <p:spPr bwMode="auto">
            <a:xfrm>
              <a:off x="3833168" y="5706119"/>
              <a:ext cx="312586" cy="1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Mar-22</a:t>
              </a:r>
              <a:endParaRPr kumimoji="0" lang="en-US" altLang="en-US" sz="800" b="0" i="0" u="none" strike="noStrike" cap="none" normalizeH="0" baseline="0">
                <a:ln>
                  <a:noFill/>
                </a:ln>
                <a:solidFill>
                  <a:schemeClr val="tx1"/>
                </a:solidFill>
                <a:effectLst/>
              </a:endParaRPr>
            </a:p>
          </p:txBody>
        </p:sp>
        <p:sp>
          <p:nvSpPr>
            <p:cNvPr id="99" name="Rectangle 41">
              <a:extLst>
                <a:ext uri="{FF2B5EF4-FFF2-40B4-BE49-F238E27FC236}">
                  <a16:creationId xmlns:a16="http://schemas.microsoft.com/office/drawing/2014/main" id="{19042A8F-4947-D039-7CEC-E6838D9AC71C}"/>
                </a:ext>
              </a:extLst>
            </p:cNvPr>
            <p:cNvSpPr>
              <a:spLocks noChangeArrowheads="1"/>
            </p:cNvSpPr>
            <p:nvPr/>
          </p:nvSpPr>
          <p:spPr bwMode="auto">
            <a:xfrm>
              <a:off x="4411736" y="5699976"/>
              <a:ext cx="312586" cy="1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Mar-23</a:t>
              </a:r>
              <a:endParaRPr kumimoji="0" lang="en-US" altLang="en-US" sz="800" b="0" i="0" u="none" strike="noStrike" cap="none" normalizeH="0" baseline="0">
                <a:ln>
                  <a:noFill/>
                </a:ln>
                <a:solidFill>
                  <a:schemeClr val="tx1"/>
                </a:solidFill>
                <a:effectLst/>
              </a:endParaRPr>
            </a:p>
          </p:txBody>
        </p:sp>
        <p:sp>
          <p:nvSpPr>
            <p:cNvPr id="100" name="Rectangle 42">
              <a:extLst>
                <a:ext uri="{FF2B5EF4-FFF2-40B4-BE49-F238E27FC236}">
                  <a16:creationId xmlns:a16="http://schemas.microsoft.com/office/drawing/2014/main" id="{9D5335E1-785E-DF93-E6DD-992FE071D36B}"/>
                </a:ext>
              </a:extLst>
            </p:cNvPr>
            <p:cNvSpPr>
              <a:spLocks noChangeArrowheads="1"/>
            </p:cNvSpPr>
            <p:nvPr/>
          </p:nvSpPr>
          <p:spPr bwMode="auto">
            <a:xfrm>
              <a:off x="4984626" y="5695170"/>
              <a:ext cx="312586" cy="1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Mar-24</a:t>
              </a:r>
              <a:endParaRPr kumimoji="0" lang="en-US" altLang="en-US" sz="800" b="0" i="0" u="none" strike="noStrike" cap="none" normalizeH="0" baseline="0">
                <a:ln>
                  <a:noFill/>
                </a:ln>
                <a:solidFill>
                  <a:schemeClr val="tx1"/>
                </a:solidFill>
                <a:effectLst/>
              </a:endParaRPr>
            </a:p>
          </p:txBody>
        </p:sp>
        <p:sp>
          <p:nvSpPr>
            <p:cNvPr id="101" name="Rectangle 43">
              <a:extLst>
                <a:ext uri="{FF2B5EF4-FFF2-40B4-BE49-F238E27FC236}">
                  <a16:creationId xmlns:a16="http://schemas.microsoft.com/office/drawing/2014/main" id="{E132797D-B31F-C2B6-4F41-E3E960FF4A14}"/>
                </a:ext>
              </a:extLst>
            </p:cNvPr>
            <p:cNvSpPr>
              <a:spLocks noChangeArrowheads="1"/>
            </p:cNvSpPr>
            <p:nvPr/>
          </p:nvSpPr>
          <p:spPr bwMode="auto">
            <a:xfrm>
              <a:off x="5563194" y="5691671"/>
              <a:ext cx="312586" cy="1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Mar-25</a:t>
              </a:r>
              <a:endParaRPr kumimoji="0" lang="en-US" altLang="en-US" sz="800" b="0" i="0" u="none" strike="noStrike" cap="none" normalizeH="0" baseline="0">
                <a:ln>
                  <a:noFill/>
                </a:ln>
                <a:solidFill>
                  <a:schemeClr val="tx1"/>
                </a:solidFill>
                <a:effectLst/>
              </a:endParaRPr>
            </a:p>
          </p:txBody>
        </p:sp>
        <p:sp>
          <p:nvSpPr>
            <p:cNvPr id="102" name="Rectangle 44">
              <a:extLst>
                <a:ext uri="{FF2B5EF4-FFF2-40B4-BE49-F238E27FC236}">
                  <a16:creationId xmlns:a16="http://schemas.microsoft.com/office/drawing/2014/main" id="{68A5CD85-A9AD-0A88-2C18-DCD6BE69D0F2}"/>
                </a:ext>
              </a:extLst>
            </p:cNvPr>
            <p:cNvSpPr>
              <a:spLocks noChangeArrowheads="1"/>
            </p:cNvSpPr>
            <p:nvPr/>
          </p:nvSpPr>
          <p:spPr bwMode="auto">
            <a:xfrm>
              <a:off x="3505637" y="3876009"/>
              <a:ext cx="2274212" cy="19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6600"/>
                  </a:solidFill>
                  <a:effectLst/>
                  <a:latin typeface="Calibri" panose="020F0502020204030204" pitchFamily="34" charset="0"/>
                </a:rPr>
                <a:t>Asset Turnover v/s Capital Turnover</a:t>
              </a:r>
              <a:endParaRPr kumimoji="0" lang="en-US" altLang="en-US" sz="1200" b="0" i="0" u="none" strike="noStrike" cap="none" normalizeH="0" baseline="0">
                <a:ln>
                  <a:noFill/>
                </a:ln>
                <a:solidFill>
                  <a:schemeClr val="tx1"/>
                </a:solidFill>
                <a:effectLst/>
              </a:endParaRPr>
            </a:p>
          </p:txBody>
        </p:sp>
        <p:sp>
          <p:nvSpPr>
            <p:cNvPr id="103" name="Rectangle 45">
              <a:extLst>
                <a:ext uri="{FF2B5EF4-FFF2-40B4-BE49-F238E27FC236}">
                  <a16:creationId xmlns:a16="http://schemas.microsoft.com/office/drawing/2014/main" id="{11FC25AD-8C35-0C6E-76A6-77EFBCE4AB6F}"/>
                </a:ext>
              </a:extLst>
            </p:cNvPr>
            <p:cNvSpPr>
              <a:spLocks noChangeArrowheads="1"/>
            </p:cNvSpPr>
            <p:nvPr/>
          </p:nvSpPr>
          <p:spPr bwMode="auto">
            <a:xfrm>
              <a:off x="3839886" y="5917194"/>
              <a:ext cx="73553" cy="71696"/>
            </a:xfrm>
            <a:prstGeom prst="rect">
              <a:avLst/>
            </a:prstGeom>
            <a:solidFill>
              <a:srgbClr val="C5E0B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04" name="Rectangle 46">
              <a:extLst>
                <a:ext uri="{FF2B5EF4-FFF2-40B4-BE49-F238E27FC236}">
                  <a16:creationId xmlns:a16="http://schemas.microsoft.com/office/drawing/2014/main" id="{2C9E9F81-697A-B4F9-3102-6C1687B82503}"/>
                </a:ext>
              </a:extLst>
            </p:cNvPr>
            <p:cNvSpPr>
              <a:spLocks noChangeArrowheads="1"/>
            </p:cNvSpPr>
            <p:nvPr/>
          </p:nvSpPr>
          <p:spPr bwMode="auto">
            <a:xfrm>
              <a:off x="3951240" y="5886877"/>
              <a:ext cx="642805" cy="1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Asset Turnover</a:t>
              </a:r>
              <a:endParaRPr kumimoji="0" lang="en-US" altLang="en-US" sz="800" b="0" i="0" u="none" strike="noStrike" cap="none" normalizeH="0" baseline="0">
                <a:ln>
                  <a:noFill/>
                </a:ln>
                <a:solidFill>
                  <a:schemeClr val="tx1"/>
                </a:solidFill>
                <a:effectLst/>
              </a:endParaRPr>
            </a:p>
          </p:txBody>
        </p:sp>
        <p:sp>
          <p:nvSpPr>
            <p:cNvPr id="105" name="Rectangle 47">
              <a:extLst>
                <a:ext uri="{FF2B5EF4-FFF2-40B4-BE49-F238E27FC236}">
                  <a16:creationId xmlns:a16="http://schemas.microsoft.com/office/drawing/2014/main" id="{09502DD3-E3B5-7AD2-DF32-871EFD105FF4}"/>
                </a:ext>
              </a:extLst>
            </p:cNvPr>
            <p:cNvSpPr>
              <a:spLocks noChangeArrowheads="1"/>
            </p:cNvSpPr>
            <p:nvPr/>
          </p:nvSpPr>
          <p:spPr bwMode="auto">
            <a:xfrm>
              <a:off x="4837114" y="5917194"/>
              <a:ext cx="68033" cy="68293"/>
            </a:xfrm>
            <a:prstGeom prst="rect">
              <a:avLst/>
            </a:prstGeom>
            <a:solidFill>
              <a:srgbClr val="187C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06" name="Rectangle 48">
              <a:extLst>
                <a:ext uri="{FF2B5EF4-FFF2-40B4-BE49-F238E27FC236}">
                  <a16:creationId xmlns:a16="http://schemas.microsoft.com/office/drawing/2014/main" id="{848F5A36-86A3-91D7-1068-CB13A03AC387}"/>
                </a:ext>
              </a:extLst>
            </p:cNvPr>
            <p:cNvSpPr>
              <a:spLocks noChangeArrowheads="1"/>
            </p:cNvSpPr>
            <p:nvPr/>
          </p:nvSpPr>
          <p:spPr bwMode="auto">
            <a:xfrm>
              <a:off x="4942948" y="5886879"/>
              <a:ext cx="708527" cy="1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Capital Turnover</a:t>
              </a:r>
              <a:endParaRPr kumimoji="0" lang="en-US" altLang="en-US" sz="800" b="0" i="0" u="none" strike="noStrike" cap="none" normalizeH="0" baseline="0">
                <a:ln>
                  <a:noFill/>
                </a:ln>
                <a:solidFill>
                  <a:schemeClr val="tx1"/>
                </a:solidFill>
                <a:effectLst/>
              </a:endParaRPr>
            </a:p>
          </p:txBody>
        </p:sp>
        <p:sp>
          <p:nvSpPr>
            <p:cNvPr id="107" name="Rectangle 49">
              <a:extLst>
                <a:ext uri="{FF2B5EF4-FFF2-40B4-BE49-F238E27FC236}">
                  <a16:creationId xmlns:a16="http://schemas.microsoft.com/office/drawing/2014/main" id="{FD97656E-1D8E-CC7D-479F-7D1294E6C404}"/>
                </a:ext>
              </a:extLst>
            </p:cNvPr>
            <p:cNvSpPr>
              <a:spLocks noChangeArrowheads="1"/>
            </p:cNvSpPr>
            <p:nvPr/>
          </p:nvSpPr>
          <p:spPr bwMode="auto">
            <a:xfrm>
              <a:off x="3035499" y="4078187"/>
              <a:ext cx="3054350" cy="1999950"/>
            </a:xfrm>
            <a:prstGeom prst="rect">
              <a:avLst/>
            </a:prstGeom>
            <a:noFill/>
            <a:ln w="6350" cap="flat">
              <a:no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331751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7B216-6BC1-F601-501B-23B42A712C75}"/>
            </a:ext>
          </a:extLst>
        </p:cNvPr>
        <p:cNvGrpSpPr/>
        <p:nvPr/>
      </p:nvGrpSpPr>
      <p:grpSpPr>
        <a:xfrm>
          <a:off x="0" y="0"/>
          <a:ext cx="0" cy="0"/>
          <a:chOff x="0" y="0"/>
          <a:chExt cx="0" cy="0"/>
        </a:xfrm>
      </p:grpSpPr>
      <p:cxnSp>
        <p:nvCxnSpPr>
          <p:cNvPr id="3" name="Straight Arrow Connector 2">
            <a:extLst>
              <a:ext uri="{FF2B5EF4-FFF2-40B4-BE49-F238E27FC236}">
                <a16:creationId xmlns:a16="http://schemas.microsoft.com/office/drawing/2014/main" id="{F1B92A5C-C41B-9C66-7209-DBAA6013A719}"/>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8" name="Picture 7" descr="Adani Renewables - Global Alliance For Sustainable Energy">
            <a:extLst>
              <a:ext uri="{FF2B5EF4-FFF2-40B4-BE49-F238E27FC236}">
                <a16:creationId xmlns:a16="http://schemas.microsoft.com/office/drawing/2014/main" id="{D26573AA-FD99-B99F-BE6F-005B70C09263}"/>
              </a:ext>
            </a:extLst>
          </p:cNvPr>
          <p:cNvPicPr>
            <a:picLocks noChangeAspect="1"/>
          </p:cNvPicPr>
          <p:nvPr/>
        </p:nvPicPr>
        <p:blipFill>
          <a:blip r:embed="rId2"/>
          <a:stretch>
            <a:fillRect/>
          </a:stretch>
        </p:blipFill>
        <p:spPr>
          <a:xfrm>
            <a:off x="5076000" y="0"/>
            <a:ext cx="1311468" cy="662728"/>
          </a:xfrm>
          <a:prstGeom prst="rect">
            <a:avLst/>
          </a:prstGeom>
        </p:spPr>
      </p:pic>
      <p:cxnSp>
        <p:nvCxnSpPr>
          <p:cNvPr id="14" name="Straight Arrow Connector 13">
            <a:extLst>
              <a:ext uri="{FF2B5EF4-FFF2-40B4-BE49-F238E27FC236}">
                <a16:creationId xmlns:a16="http://schemas.microsoft.com/office/drawing/2014/main" id="{7EA10988-08FE-B3BB-8952-89C0E444C130}"/>
              </a:ext>
            </a:extLst>
          </p:cNvPr>
          <p:cNvCxnSpPr/>
          <p:nvPr/>
        </p:nvCxnSpPr>
        <p:spPr>
          <a:xfrm flipV="1">
            <a:off x="-5925" y="8787953"/>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AAD8050A-E687-E894-C24F-475449C10C2F}"/>
              </a:ext>
            </a:extLst>
          </p:cNvPr>
          <p:cNvSpPr/>
          <p:nvPr/>
        </p:nvSpPr>
        <p:spPr>
          <a:xfrm>
            <a:off x="202109" y="1340255"/>
            <a:ext cx="5819174" cy="329810"/>
          </a:xfrm>
          <a:prstGeom prst="rect">
            <a:avLst/>
          </a:prstGeom>
          <a:solidFill>
            <a:srgbClr val="187C2C"/>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r>
              <a:rPr lang="en-US" sz="1400" b="1">
                <a:solidFill>
                  <a:schemeClr val="bg1"/>
                </a:solidFill>
                <a:ea typeface="Calibri"/>
                <a:cs typeface="Calibri"/>
              </a:rPr>
              <a:t>Return on Invested Capital</a:t>
            </a:r>
          </a:p>
        </p:txBody>
      </p:sp>
      <p:graphicFrame>
        <p:nvGraphicFramePr>
          <p:cNvPr id="4" name="Table 3">
            <a:extLst>
              <a:ext uri="{FF2B5EF4-FFF2-40B4-BE49-F238E27FC236}">
                <a16:creationId xmlns:a16="http://schemas.microsoft.com/office/drawing/2014/main" id="{47E55D65-4237-522F-34B0-B410FBAFF761}"/>
              </a:ext>
            </a:extLst>
          </p:cNvPr>
          <p:cNvGraphicFramePr>
            <a:graphicFrameLocks noGrp="1"/>
          </p:cNvGraphicFramePr>
          <p:nvPr>
            <p:extLst>
              <p:ext uri="{D42A27DB-BD31-4B8C-83A1-F6EECF244321}">
                <p14:modId xmlns:p14="http://schemas.microsoft.com/office/powerpoint/2010/main" val="3241065534"/>
              </p:ext>
            </p:extLst>
          </p:nvPr>
        </p:nvGraphicFramePr>
        <p:xfrm>
          <a:off x="202109" y="1790938"/>
          <a:ext cx="5819174" cy="1828800"/>
        </p:xfrm>
        <a:graphic>
          <a:graphicData uri="http://schemas.openxmlformats.org/drawingml/2006/table">
            <a:tbl>
              <a:tblPr bandRow="1">
                <a:tableStyleId>{5C22544A-7EE6-4342-B048-85BDC9FD1C3A}</a:tableStyleId>
              </a:tblPr>
              <a:tblGrid>
                <a:gridCol w="2226468">
                  <a:extLst>
                    <a:ext uri="{9D8B030D-6E8A-4147-A177-3AD203B41FA5}">
                      <a16:colId xmlns:a16="http://schemas.microsoft.com/office/drawing/2014/main" val="55475332"/>
                    </a:ext>
                  </a:extLst>
                </a:gridCol>
                <a:gridCol w="695771">
                  <a:extLst>
                    <a:ext uri="{9D8B030D-6E8A-4147-A177-3AD203B41FA5}">
                      <a16:colId xmlns:a16="http://schemas.microsoft.com/office/drawing/2014/main" val="4245850165"/>
                    </a:ext>
                  </a:extLst>
                </a:gridCol>
                <a:gridCol w="733722">
                  <a:extLst>
                    <a:ext uri="{9D8B030D-6E8A-4147-A177-3AD203B41FA5}">
                      <a16:colId xmlns:a16="http://schemas.microsoft.com/office/drawing/2014/main" val="3319326741"/>
                    </a:ext>
                  </a:extLst>
                </a:gridCol>
                <a:gridCol w="721071">
                  <a:extLst>
                    <a:ext uri="{9D8B030D-6E8A-4147-A177-3AD203B41FA5}">
                      <a16:colId xmlns:a16="http://schemas.microsoft.com/office/drawing/2014/main" val="1935293293"/>
                    </a:ext>
                  </a:extLst>
                </a:gridCol>
                <a:gridCol w="721071">
                  <a:extLst>
                    <a:ext uri="{9D8B030D-6E8A-4147-A177-3AD203B41FA5}">
                      <a16:colId xmlns:a16="http://schemas.microsoft.com/office/drawing/2014/main" val="2736297870"/>
                    </a:ext>
                  </a:extLst>
                </a:gridCol>
                <a:gridCol w="721071">
                  <a:extLst>
                    <a:ext uri="{9D8B030D-6E8A-4147-A177-3AD203B41FA5}">
                      <a16:colId xmlns:a16="http://schemas.microsoft.com/office/drawing/2014/main" val="4225259647"/>
                    </a:ext>
                  </a:extLst>
                </a:gridCol>
              </a:tblGrid>
              <a:tr h="182880">
                <a:tc>
                  <a:txBody>
                    <a:bodyPr/>
                    <a:lstStyle/>
                    <a:p>
                      <a:pPr>
                        <a:buNone/>
                      </a:pPr>
                      <a:endParaRPr lang="en-US" sz="1100" b="1">
                        <a:effectLst/>
                      </a:endParaRP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dirty="0">
                          <a:effectLst/>
                        </a:rPr>
                        <a:t>Mar-21</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dirty="0">
                          <a:effectLst/>
                        </a:rPr>
                        <a:t>Mar-22</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dirty="0">
                          <a:effectLst/>
                        </a:rPr>
                        <a:t>Mar-23</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dirty="0">
                          <a:effectLst/>
                        </a:rPr>
                        <a:t>Mar-24</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100" b="1" dirty="0">
                          <a:effectLst/>
                        </a:rPr>
                        <a:t>Mar-25</a:t>
                      </a:r>
                    </a:p>
                  </a:txBody>
                  <a:tcPr marL="0" marR="0" marT="0" marB="0"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852388426"/>
                  </a:ext>
                </a:extLst>
              </a:tr>
              <a:tr h="182880">
                <a:tc>
                  <a:txBody>
                    <a:bodyPr/>
                    <a:lstStyle/>
                    <a:p>
                      <a:pPr>
                        <a:buNone/>
                      </a:pPr>
                      <a:r>
                        <a:rPr lang="en-US" sz="1100">
                          <a:effectLst/>
                        </a:rPr>
                        <a:t>NOPAT</a:t>
                      </a:r>
                    </a:p>
                  </a:txBody>
                  <a:tcPr marL="0" marR="0" marT="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2235</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3170</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4984</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7416</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8247</a:t>
                      </a:r>
                    </a:p>
                  </a:txBody>
                  <a:tcPr marL="7620" marR="7620" marT="7620" marB="0" anchor="ctr">
                    <a:lnL>
                      <a:noFill/>
                    </a:lnL>
                    <a:lnR>
                      <a:noFill/>
                    </a:lnR>
                    <a:lnT>
                      <a:noFill/>
                    </a:lnT>
                    <a:lnB>
                      <a:noFill/>
                    </a:lnB>
                    <a:noFill/>
                  </a:tcPr>
                </a:tc>
                <a:extLst>
                  <a:ext uri="{0D108BD9-81ED-4DB2-BD59-A6C34878D82A}">
                    <a16:rowId xmlns:a16="http://schemas.microsoft.com/office/drawing/2014/main" val="3911450118"/>
                  </a:ext>
                </a:extLst>
              </a:tr>
              <a:tr h="182880">
                <a:tc>
                  <a:txBody>
                    <a:bodyPr/>
                    <a:lstStyle/>
                    <a:p>
                      <a:pPr>
                        <a:buNone/>
                      </a:pPr>
                      <a:r>
                        <a:rPr lang="en-US" sz="1100">
                          <a:effectLst/>
                        </a:rPr>
                        <a:t>Net Revenue</a:t>
                      </a:r>
                    </a:p>
                  </a:txBody>
                  <a:tcPr marL="0" marR="0" marT="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3124</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5133</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7792</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9220</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11212</a:t>
                      </a:r>
                    </a:p>
                  </a:txBody>
                  <a:tcPr marL="7620" marR="7620" marT="7620" marB="0"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062758613"/>
                  </a:ext>
                </a:extLst>
              </a:tr>
              <a:tr h="182880">
                <a:tc>
                  <a:txBody>
                    <a:bodyPr/>
                    <a:lstStyle/>
                    <a:p>
                      <a:pPr>
                        <a:buNone/>
                      </a:pPr>
                      <a:r>
                        <a:rPr lang="en-US" sz="1100" b="1">
                          <a:effectLst/>
                        </a:rPr>
                        <a:t>NOPAT Margin - A</a:t>
                      </a:r>
                    </a:p>
                  </a:txBody>
                  <a:tcPr marL="0" marR="0" marT="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71.54%</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61.76%</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63.96%</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80.43%</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73.56%</a:t>
                      </a:r>
                    </a:p>
                  </a:txBody>
                  <a:tcPr marL="7620" marR="7620" marT="7620" marB="0"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2626751013"/>
                  </a:ext>
                </a:extLst>
              </a:tr>
              <a:tr h="182880">
                <a:tc>
                  <a:txBody>
                    <a:bodyPr/>
                    <a:lstStyle/>
                    <a:p>
                      <a:pPr lvl="0">
                        <a:buNone/>
                      </a:pPr>
                      <a:endParaRPr lang="en-US" sz="1100">
                        <a:effectLst/>
                      </a:endParaRPr>
                    </a:p>
                  </a:txBody>
                  <a:tcPr marL="0" marR="0" marT="0" marB="0" anchor="ctr">
                    <a:lnL w="0">
                      <a:noFill/>
                    </a:lnL>
                    <a:lnR w="0">
                      <a:noFill/>
                    </a:lnR>
                    <a:lnT>
                      <a:noFill/>
                    </a:lnT>
                    <a:lnB w="0">
                      <a:noFill/>
                    </a:lnB>
                    <a:noFill/>
                  </a:tcPr>
                </a:tc>
                <a:tc>
                  <a:txBody>
                    <a:bodyPr/>
                    <a:lstStyle/>
                    <a:p>
                      <a:pPr lvl="0">
                        <a:buNone/>
                      </a:pPr>
                      <a:endParaRPr lang="en-US" sz="1100"/>
                    </a:p>
                  </a:txBody>
                  <a:tcPr marL="0" marR="0" marT="0" marB="0" anchor="ctr">
                    <a:lnL w="0">
                      <a:noFill/>
                    </a:lnL>
                    <a:lnR w="0">
                      <a:noFill/>
                    </a:lnR>
                    <a:lnT>
                      <a:noFill/>
                    </a:lnT>
                    <a:lnB w="0">
                      <a:noFill/>
                    </a:lnB>
                    <a:noFill/>
                  </a:tcPr>
                </a:tc>
                <a:tc>
                  <a:txBody>
                    <a:bodyPr/>
                    <a:lstStyle/>
                    <a:p>
                      <a:pPr lvl="0">
                        <a:buNone/>
                      </a:pPr>
                      <a:endParaRPr lang="en-US" sz="1100"/>
                    </a:p>
                  </a:txBody>
                  <a:tcPr marL="0" marR="0" marT="0" marB="0" anchor="ctr">
                    <a:lnL w="0">
                      <a:noFill/>
                    </a:lnL>
                    <a:lnR w="0">
                      <a:noFill/>
                    </a:lnR>
                    <a:lnT>
                      <a:noFill/>
                    </a:lnT>
                    <a:lnB w="0">
                      <a:noFill/>
                    </a:lnB>
                    <a:noFill/>
                  </a:tcPr>
                </a:tc>
                <a:tc>
                  <a:txBody>
                    <a:bodyPr/>
                    <a:lstStyle/>
                    <a:p>
                      <a:pPr lvl="0">
                        <a:buNone/>
                      </a:pPr>
                      <a:endParaRPr lang="en-US" sz="1100"/>
                    </a:p>
                  </a:txBody>
                  <a:tcPr marL="0" marR="0" marT="0" marB="0" anchor="ctr">
                    <a:lnL w="0">
                      <a:noFill/>
                    </a:lnL>
                    <a:lnR w="0">
                      <a:noFill/>
                    </a:lnR>
                    <a:lnT>
                      <a:noFill/>
                    </a:lnT>
                    <a:lnB w="0">
                      <a:noFill/>
                    </a:lnB>
                    <a:noFill/>
                  </a:tcPr>
                </a:tc>
                <a:tc>
                  <a:txBody>
                    <a:bodyPr/>
                    <a:lstStyle/>
                    <a:p>
                      <a:pPr lvl="0">
                        <a:buNone/>
                      </a:pPr>
                      <a:endParaRPr lang="en-US" sz="1100"/>
                    </a:p>
                  </a:txBody>
                  <a:tcPr marL="0" marR="0" marT="0" marB="0" anchor="ctr">
                    <a:lnL w="0">
                      <a:noFill/>
                    </a:lnL>
                    <a:lnR w="0">
                      <a:noFill/>
                    </a:lnR>
                    <a:lnT>
                      <a:noFill/>
                    </a:lnT>
                    <a:lnB w="0">
                      <a:noFill/>
                    </a:lnB>
                    <a:noFill/>
                  </a:tcPr>
                </a:tc>
                <a:tc>
                  <a:txBody>
                    <a:bodyPr/>
                    <a:lstStyle/>
                    <a:p>
                      <a:pPr lvl="0">
                        <a:buNone/>
                      </a:pPr>
                      <a:endParaRPr lang="en-US" sz="1100"/>
                    </a:p>
                  </a:txBody>
                  <a:tcPr marL="0" marR="0" marT="0" marB="0" anchor="ctr">
                    <a:lnL w="0">
                      <a:noFill/>
                    </a:lnL>
                    <a:lnR w="0">
                      <a:noFill/>
                    </a:lnR>
                    <a:lnT>
                      <a:noFill/>
                    </a:lnT>
                    <a:lnB w="0">
                      <a:noFill/>
                    </a:lnB>
                    <a:noFill/>
                  </a:tcPr>
                </a:tc>
                <a:extLst>
                  <a:ext uri="{0D108BD9-81ED-4DB2-BD59-A6C34878D82A}">
                    <a16:rowId xmlns:a16="http://schemas.microsoft.com/office/drawing/2014/main" val="3433913438"/>
                  </a:ext>
                </a:extLst>
              </a:tr>
              <a:tr h="182880">
                <a:tc>
                  <a:txBody>
                    <a:bodyPr/>
                    <a:lstStyle/>
                    <a:p>
                      <a:pPr>
                        <a:buNone/>
                      </a:pPr>
                      <a:r>
                        <a:rPr lang="en-US" sz="1100">
                          <a:effectLst/>
                        </a:rPr>
                        <a:t>Net Revenue</a:t>
                      </a:r>
                    </a:p>
                  </a:txBody>
                  <a:tcPr marL="0" marR="0" marT="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3124</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5133</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7792</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9220</a:t>
                      </a:r>
                    </a:p>
                  </a:txBody>
                  <a:tcPr marL="7620" marR="7620" marT="7620" marB="0" anchor="ctr">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11212</a:t>
                      </a:r>
                    </a:p>
                  </a:txBody>
                  <a:tcPr marL="7620" marR="7620" marT="7620" marB="0" anchor="ctr">
                    <a:lnL>
                      <a:noFill/>
                    </a:lnL>
                    <a:lnR>
                      <a:noFill/>
                    </a:lnR>
                    <a:lnT>
                      <a:noFill/>
                    </a:lnT>
                    <a:lnB>
                      <a:noFill/>
                    </a:lnB>
                    <a:noFill/>
                  </a:tcPr>
                </a:tc>
                <a:extLst>
                  <a:ext uri="{0D108BD9-81ED-4DB2-BD59-A6C34878D82A}">
                    <a16:rowId xmlns:a16="http://schemas.microsoft.com/office/drawing/2014/main" val="500950944"/>
                  </a:ext>
                </a:extLst>
              </a:tr>
              <a:tr h="182880">
                <a:tc>
                  <a:txBody>
                    <a:bodyPr/>
                    <a:lstStyle/>
                    <a:p>
                      <a:pPr>
                        <a:buNone/>
                      </a:pPr>
                      <a:r>
                        <a:rPr lang="en-US" sz="1100">
                          <a:effectLst/>
                        </a:rPr>
                        <a:t>Invested Capital</a:t>
                      </a:r>
                    </a:p>
                  </a:txBody>
                  <a:tcPr marL="0" marR="0" marT="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20362</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33380</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53149</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65600</a:t>
                      </a:r>
                    </a:p>
                  </a:txBody>
                  <a:tcPr marL="7620" marR="7620" marT="7620" marB="0" anchor="ctr">
                    <a:lnL>
                      <a:noFill/>
                    </a:lnL>
                    <a:lnR>
                      <a:noFill/>
                    </a:lnR>
                    <a:lnT>
                      <a:noFill/>
                    </a:lnT>
                    <a:lnB>
                      <a:noFill/>
                    </a:lnB>
                    <a:solidFill>
                      <a:schemeClr val="accent6">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82058</a:t>
                      </a:r>
                    </a:p>
                  </a:txBody>
                  <a:tcPr marL="7620" marR="7620" marT="7620" marB="0"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494795099"/>
                  </a:ext>
                </a:extLst>
              </a:tr>
              <a:tr h="182880">
                <a:tc>
                  <a:txBody>
                    <a:bodyPr/>
                    <a:lstStyle/>
                    <a:p>
                      <a:pPr>
                        <a:buNone/>
                      </a:pPr>
                      <a:r>
                        <a:rPr lang="en-US" sz="1100" b="1">
                          <a:effectLst/>
                        </a:rPr>
                        <a:t>Capital Turnover Ratio - B</a:t>
                      </a:r>
                    </a:p>
                  </a:txBody>
                  <a:tcPr marL="0" marR="0" marT="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15.34%</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15.38%</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14.66%</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14.05%</a:t>
                      </a:r>
                    </a:p>
                  </a:txBody>
                  <a:tcPr marL="7620" marR="7620" marT="7620" marB="0" anchor="ctr">
                    <a:lnL>
                      <a:noFill/>
                    </a:lnL>
                    <a:lnR>
                      <a:noFill/>
                    </a:lnR>
                    <a:lnT>
                      <a:noFill/>
                    </a:lnT>
                    <a:lnB>
                      <a:noFill/>
                    </a:lnB>
                    <a:solidFill>
                      <a:schemeClr val="accent6">
                        <a:lumMod val="60000"/>
                        <a:lumOff val="40000"/>
                      </a:schemeClr>
                    </a:solidFill>
                  </a:tcPr>
                </a:tc>
                <a:tc>
                  <a:txBody>
                    <a:bodyPr/>
                    <a:lstStyle/>
                    <a:p>
                      <a:pPr algn="r" fontAlgn="b">
                        <a:buNone/>
                      </a:pPr>
                      <a:r>
                        <a:rPr lang="en-IN" sz="1100" b="1" i="0" u="none" strike="noStrike">
                          <a:solidFill>
                            <a:srgbClr val="000000"/>
                          </a:solidFill>
                          <a:effectLst/>
                          <a:latin typeface="Calibri" panose="020F0502020204030204" pitchFamily="34" charset="0"/>
                        </a:rPr>
                        <a:t>13.66%</a:t>
                      </a:r>
                    </a:p>
                  </a:txBody>
                  <a:tcPr marL="7620" marR="7620" marT="7620" marB="0"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2885848211"/>
                  </a:ext>
                </a:extLst>
              </a:tr>
              <a:tr h="182880">
                <a:tc>
                  <a:txBody>
                    <a:bodyPr/>
                    <a:lstStyle/>
                    <a:p>
                      <a:pPr>
                        <a:buNone/>
                      </a:pPr>
                      <a:endParaRPr lang="en-US" sz="1100">
                        <a:effectLst/>
                      </a:endParaRPr>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tc>
                  <a:txBody>
                    <a:bodyPr/>
                    <a:lstStyle/>
                    <a:p>
                      <a:pPr>
                        <a:buNone/>
                      </a:pPr>
                      <a:endParaRPr lang="en-US" sz="1100"/>
                    </a:p>
                  </a:txBody>
                  <a:tcPr marL="0" marR="0" marT="0" marB="0" anchor="ctr">
                    <a:lnL>
                      <a:noFill/>
                    </a:lnL>
                    <a:lnR>
                      <a:noFill/>
                    </a:lnR>
                    <a:lnT>
                      <a:noFill/>
                    </a:lnT>
                    <a:lnB>
                      <a:noFill/>
                    </a:lnB>
                    <a:noFill/>
                  </a:tcPr>
                </a:tc>
                <a:extLst>
                  <a:ext uri="{0D108BD9-81ED-4DB2-BD59-A6C34878D82A}">
                    <a16:rowId xmlns:a16="http://schemas.microsoft.com/office/drawing/2014/main" val="660033363"/>
                  </a:ext>
                </a:extLst>
              </a:tr>
              <a:tr h="182880">
                <a:tc>
                  <a:txBody>
                    <a:bodyPr/>
                    <a:lstStyle/>
                    <a:p>
                      <a:pPr>
                        <a:buNone/>
                      </a:pPr>
                      <a:r>
                        <a:rPr lang="en-US" sz="1100" b="1">
                          <a:solidFill>
                            <a:schemeClr val="bg1"/>
                          </a:solidFill>
                          <a:effectLst/>
                        </a:rPr>
                        <a:t>Return on Invested Capital - A*B</a:t>
                      </a:r>
                    </a:p>
                  </a:txBody>
                  <a:tcPr marL="0" marR="0" marT="0" marB="0" anchor="ctr">
                    <a:lnL>
                      <a:noFill/>
                    </a:lnL>
                    <a:lnR>
                      <a:noFill/>
                    </a:lnR>
                    <a:lnT>
                      <a:noFill/>
                    </a:lnT>
                    <a:lnB>
                      <a:noFill/>
                    </a:lnB>
                    <a:solidFill>
                      <a:srgbClr val="187C2C"/>
                    </a:solidFill>
                  </a:tcPr>
                </a:tc>
                <a:tc>
                  <a:txBody>
                    <a:bodyPr/>
                    <a:lstStyle/>
                    <a:p>
                      <a:pPr algn="r" fontAlgn="b">
                        <a:buNone/>
                      </a:pPr>
                      <a:r>
                        <a:rPr lang="en-IN" sz="1100" b="1" i="0" u="none" strike="noStrike">
                          <a:solidFill>
                            <a:schemeClr val="bg1"/>
                          </a:solidFill>
                          <a:effectLst/>
                          <a:latin typeface="Calibri" panose="020F0502020204030204" pitchFamily="34" charset="0"/>
                        </a:rPr>
                        <a:t>10.98%</a:t>
                      </a:r>
                    </a:p>
                  </a:txBody>
                  <a:tcPr marL="7620" marR="7620" marT="7620" marB="0" anchor="ctr">
                    <a:lnL>
                      <a:noFill/>
                    </a:lnL>
                    <a:lnR>
                      <a:noFill/>
                    </a:lnR>
                    <a:lnT>
                      <a:noFill/>
                    </a:lnT>
                    <a:lnB>
                      <a:noFill/>
                    </a:lnB>
                    <a:solidFill>
                      <a:srgbClr val="187C2C"/>
                    </a:solidFill>
                  </a:tcPr>
                </a:tc>
                <a:tc>
                  <a:txBody>
                    <a:bodyPr/>
                    <a:lstStyle/>
                    <a:p>
                      <a:pPr algn="r" fontAlgn="b">
                        <a:buNone/>
                      </a:pPr>
                      <a:r>
                        <a:rPr lang="en-IN" sz="1100" b="1" i="0" u="none" strike="noStrike">
                          <a:solidFill>
                            <a:schemeClr val="bg1"/>
                          </a:solidFill>
                          <a:effectLst/>
                          <a:latin typeface="Calibri" panose="020F0502020204030204" pitchFamily="34" charset="0"/>
                        </a:rPr>
                        <a:t>9.50%</a:t>
                      </a:r>
                    </a:p>
                  </a:txBody>
                  <a:tcPr marL="7620" marR="7620" marT="7620" marB="0" anchor="ctr">
                    <a:lnL>
                      <a:noFill/>
                    </a:lnL>
                    <a:lnR>
                      <a:noFill/>
                    </a:lnR>
                    <a:lnT>
                      <a:noFill/>
                    </a:lnT>
                    <a:lnB>
                      <a:noFill/>
                    </a:lnB>
                    <a:solidFill>
                      <a:srgbClr val="187C2C"/>
                    </a:solidFill>
                  </a:tcPr>
                </a:tc>
                <a:tc>
                  <a:txBody>
                    <a:bodyPr/>
                    <a:lstStyle/>
                    <a:p>
                      <a:pPr algn="r" fontAlgn="b">
                        <a:buNone/>
                      </a:pPr>
                      <a:r>
                        <a:rPr lang="en-IN" sz="1100" b="1" i="0" u="none" strike="noStrike">
                          <a:solidFill>
                            <a:schemeClr val="bg1"/>
                          </a:solidFill>
                          <a:effectLst/>
                          <a:latin typeface="Calibri" panose="020F0502020204030204" pitchFamily="34" charset="0"/>
                        </a:rPr>
                        <a:t>9.38%</a:t>
                      </a:r>
                    </a:p>
                  </a:txBody>
                  <a:tcPr marL="7620" marR="7620" marT="7620" marB="0" anchor="ctr">
                    <a:lnL>
                      <a:noFill/>
                    </a:lnL>
                    <a:lnR>
                      <a:noFill/>
                    </a:lnR>
                    <a:lnT>
                      <a:noFill/>
                    </a:lnT>
                    <a:lnB>
                      <a:noFill/>
                    </a:lnB>
                    <a:solidFill>
                      <a:srgbClr val="187C2C"/>
                    </a:solidFill>
                  </a:tcPr>
                </a:tc>
                <a:tc>
                  <a:txBody>
                    <a:bodyPr/>
                    <a:lstStyle/>
                    <a:p>
                      <a:pPr algn="r" fontAlgn="b">
                        <a:buNone/>
                      </a:pPr>
                      <a:r>
                        <a:rPr lang="en-IN" sz="1100" b="1" i="0" u="none" strike="noStrike">
                          <a:solidFill>
                            <a:schemeClr val="bg1"/>
                          </a:solidFill>
                          <a:effectLst/>
                          <a:latin typeface="Calibri" panose="020F0502020204030204" pitchFamily="34" charset="0"/>
                        </a:rPr>
                        <a:t>11.30%</a:t>
                      </a:r>
                    </a:p>
                  </a:txBody>
                  <a:tcPr marL="7620" marR="7620" marT="7620" marB="0" anchor="ctr">
                    <a:lnL>
                      <a:noFill/>
                    </a:lnL>
                    <a:lnR>
                      <a:noFill/>
                    </a:lnR>
                    <a:lnT>
                      <a:noFill/>
                    </a:lnT>
                    <a:lnB>
                      <a:noFill/>
                    </a:lnB>
                    <a:solidFill>
                      <a:srgbClr val="187C2C"/>
                    </a:solidFill>
                  </a:tcPr>
                </a:tc>
                <a:tc>
                  <a:txBody>
                    <a:bodyPr/>
                    <a:lstStyle/>
                    <a:p>
                      <a:pPr algn="r" fontAlgn="b">
                        <a:buNone/>
                      </a:pPr>
                      <a:r>
                        <a:rPr lang="en-IN" sz="1100" b="1" i="0" u="none" strike="noStrike" dirty="0">
                          <a:solidFill>
                            <a:schemeClr val="bg1"/>
                          </a:solidFill>
                          <a:effectLst/>
                          <a:latin typeface="Calibri" panose="020F0502020204030204" pitchFamily="34" charset="0"/>
                        </a:rPr>
                        <a:t>10.05%</a:t>
                      </a:r>
                    </a:p>
                  </a:txBody>
                  <a:tcPr marL="7620" marR="7620" marT="7620" marB="0" anchor="ctr">
                    <a:lnL>
                      <a:noFill/>
                    </a:lnL>
                    <a:lnR>
                      <a:noFill/>
                    </a:lnR>
                    <a:lnT>
                      <a:noFill/>
                    </a:lnT>
                    <a:lnB>
                      <a:noFill/>
                    </a:lnB>
                    <a:solidFill>
                      <a:srgbClr val="187C2C"/>
                    </a:solidFill>
                  </a:tcPr>
                </a:tc>
                <a:extLst>
                  <a:ext uri="{0D108BD9-81ED-4DB2-BD59-A6C34878D82A}">
                    <a16:rowId xmlns:a16="http://schemas.microsoft.com/office/drawing/2014/main" val="3513209111"/>
                  </a:ext>
                </a:extLst>
              </a:tr>
            </a:tbl>
          </a:graphicData>
        </a:graphic>
      </p:graphicFrame>
      <p:sp>
        <p:nvSpPr>
          <p:cNvPr id="11" name="Footer Placeholder 3">
            <a:extLst>
              <a:ext uri="{FF2B5EF4-FFF2-40B4-BE49-F238E27FC236}">
                <a16:creationId xmlns:a16="http://schemas.microsoft.com/office/drawing/2014/main" id="{38D6CD92-4A8B-93AB-E556-9DE8EC0B2696}"/>
              </a:ext>
            </a:extLst>
          </p:cNvPr>
          <p:cNvSpPr>
            <a:spLocks noGrp="1"/>
          </p:cNvSpPr>
          <p:nvPr>
            <p:ph type="ftr" sz="quarter" idx="11"/>
          </p:nvPr>
        </p:nvSpPr>
        <p:spPr>
          <a:xfrm>
            <a:off x="-7551" y="8832134"/>
            <a:ext cx="6234928" cy="324563"/>
          </a:xfrm>
        </p:spPr>
        <p:txBody>
          <a:bodyPr/>
          <a:lstStyle/>
          <a:p>
            <a:pPr algn="l"/>
            <a:r>
              <a:rPr lang="en-US" sz="800">
                <a:ea typeface="Calibri"/>
                <a:cs typeface="Calibri"/>
              </a:rPr>
              <a:t>Disclaimer: This is only for educational purposes and we are not SEBI registered.</a:t>
            </a:r>
          </a:p>
        </p:txBody>
      </p:sp>
      <p:sp>
        <p:nvSpPr>
          <p:cNvPr id="93" name="Rectangle 74">
            <a:extLst>
              <a:ext uri="{FF2B5EF4-FFF2-40B4-BE49-F238E27FC236}">
                <a16:creationId xmlns:a16="http://schemas.microsoft.com/office/drawing/2014/main" id="{83F13F52-121E-6BBB-F22F-934AE6DBBA77}"/>
              </a:ext>
            </a:extLst>
          </p:cNvPr>
          <p:cNvSpPr>
            <a:spLocks noChangeArrowheads="1"/>
          </p:cNvSpPr>
          <p:nvPr/>
        </p:nvSpPr>
        <p:spPr bwMode="auto">
          <a:xfrm>
            <a:off x="3361750" y="5848530"/>
            <a:ext cx="94044" cy="91421"/>
          </a:xfrm>
          <a:prstGeom prst="rect">
            <a:avLst/>
          </a:prstGeom>
          <a:solidFill>
            <a:schemeClr val="accent6">
              <a:lumMod val="40000"/>
              <a:lumOff val="60000"/>
            </a:schemeClr>
          </a:solidFill>
          <a:ln>
            <a:noFill/>
          </a:ln>
        </p:spPr>
        <p:txBody>
          <a:bodyPr vert="horz" wrap="square" lIns="91440" tIns="45720" rIns="91440" bIns="45720" numCol="1" anchor="t" anchorCtr="0" compatLnSpc="1">
            <a:prstTxWarp prst="textNoShape">
              <a:avLst/>
            </a:prstTxWarp>
          </a:bodyPr>
          <a:lstStyle/>
          <a:p>
            <a:endParaRPr lang="en-IN"/>
          </a:p>
        </p:txBody>
      </p:sp>
      <p:sp>
        <p:nvSpPr>
          <p:cNvPr id="10" name="Rectangle 9">
            <a:extLst>
              <a:ext uri="{FF2B5EF4-FFF2-40B4-BE49-F238E27FC236}">
                <a16:creationId xmlns:a16="http://schemas.microsoft.com/office/drawing/2014/main" id="{6DCFB54C-C94C-71A2-9A53-CCF8ACDDA96A}"/>
              </a:ext>
            </a:extLst>
          </p:cNvPr>
          <p:cNvSpPr/>
          <p:nvPr/>
        </p:nvSpPr>
        <p:spPr>
          <a:xfrm>
            <a:off x="98704" y="815933"/>
            <a:ext cx="6027421" cy="360000"/>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a:ea typeface="Calibri"/>
                <a:cs typeface="Calibri"/>
              </a:rPr>
              <a:t>DuPont Analysis</a:t>
            </a:r>
            <a:endParaRPr lang="en-US"/>
          </a:p>
        </p:txBody>
      </p:sp>
      <p:sp>
        <p:nvSpPr>
          <p:cNvPr id="6" name="Slide Number Placeholder 6">
            <a:extLst>
              <a:ext uri="{FF2B5EF4-FFF2-40B4-BE49-F238E27FC236}">
                <a16:creationId xmlns:a16="http://schemas.microsoft.com/office/drawing/2014/main" id="{9AB76C3A-A081-69C4-E8D6-8C746DF4B9F3}"/>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7</a:t>
            </a:fld>
            <a:endParaRPr lang="en-US"/>
          </a:p>
        </p:txBody>
      </p:sp>
      <p:grpSp>
        <p:nvGrpSpPr>
          <p:cNvPr id="96" name="Group 95">
            <a:extLst>
              <a:ext uri="{FF2B5EF4-FFF2-40B4-BE49-F238E27FC236}">
                <a16:creationId xmlns:a16="http://schemas.microsoft.com/office/drawing/2014/main" id="{05028953-49E3-44C4-2099-494043199862}"/>
              </a:ext>
            </a:extLst>
          </p:cNvPr>
          <p:cNvGrpSpPr/>
          <p:nvPr/>
        </p:nvGrpSpPr>
        <p:grpSpPr>
          <a:xfrm>
            <a:off x="175300" y="4107976"/>
            <a:ext cx="2940050" cy="1831975"/>
            <a:chOff x="168275" y="4195763"/>
            <a:chExt cx="2940050" cy="1831975"/>
          </a:xfrm>
        </p:grpSpPr>
        <p:sp>
          <p:nvSpPr>
            <p:cNvPr id="7" name="AutoShape 3">
              <a:extLst>
                <a:ext uri="{FF2B5EF4-FFF2-40B4-BE49-F238E27FC236}">
                  <a16:creationId xmlns:a16="http://schemas.microsoft.com/office/drawing/2014/main" id="{21A32BC4-28EF-1761-7C4D-AABB0F8FC282}"/>
                </a:ext>
              </a:extLst>
            </p:cNvPr>
            <p:cNvSpPr>
              <a:spLocks noChangeAspect="1" noChangeArrowheads="1" noTextEdit="1"/>
            </p:cNvSpPr>
            <p:nvPr/>
          </p:nvSpPr>
          <p:spPr bwMode="auto">
            <a:xfrm>
              <a:off x="168275" y="4198938"/>
              <a:ext cx="294005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2" name="Rectangle 5">
              <a:extLst>
                <a:ext uri="{FF2B5EF4-FFF2-40B4-BE49-F238E27FC236}">
                  <a16:creationId xmlns:a16="http://schemas.microsoft.com/office/drawing/2014/main" id="{924BA612-0004-3E75-9834-D9D7C3B1CC01}"/>
                </a:ext>
              </a:extLst>
            </p:cNvPr>
            <p:cNvSpPr>
              <a:spLocks noChangeArrowheads="1"/>
            </p:cNvSpPr>
            <p:nvPr/>
          </p:nvSpPr>
          <p:spPr bwMode="auto">
            <a:xfrm>
              <a:off x="171450" y="4195763"/>
              <a:ext cx="2933700" cy="182880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 name="Freeform 6">
              <a:extLst>
                <a:ext uri="{FF2B5EF4-FFF2-40B4-BE49-F238E27FC236}">
                  <a16:creationId xmlns:a16="http://schemas.microsoft.com/office/drawing/2014/main" id="{66337B7B-4B60-FE8A-B3EC-4A3417EA76A7}"/>
                </a:ext>
              </a:extLst>
            </p:cNvPr>
            <p:cNvSpPr>
              <a:spLocks noEditPoints="1"/>
            </p:cNvSpPr>
            <p:nvPr/>
          </p:nvSpPr>
          <p:spPr bwMode="auto">
            <a:xfrm>
              <a:off x="425450" y="4625976"/>
              <a:ext cx="2424113" cy="1023938"/>
            </a:xfrm>
            <a:custGeom>
              <a:avLst/>
              <a:gdLst>
                <a:gd name="T0" fmla="*/ 0 w 1527"/>
                <a:gd name="T1" fmla="*/ 71 h 645"/>
                <a:gd name="T2" fmla="*/ 139 w 1527"/>
                <a:gd name="T3" fmla="*/ 71 h 645"/>
                <a:gd name="T4" fmla="*/ 139 w 1527"/>
                <a:gd name="T5" fmla="*/ 645 h 645"/>
                <a:gd name="T6" fmla="*/ 0 w 1527"/>
                <a:gd name="T7" fmla="*/ 645 h 645"/>
                <a:gd name="T8" fmla="*/ 0 w 1527"/>
                <a:gd name="T9" fmla="*/ 71 h 645"/>
                <a:gd name="T10" fmla="*/ 348 w 1527"/>
                <a:gd name="T11" fmla="*/ 149 h 645"/>
                <a:gd name="T12" fmla="*/ 486 w 1527"/>
                <a:gd name="T13" fmla="*/ 149 h 645"/>
                <a:gd name="T14" fmla="*/ 486 w 1527"/>
                <a:gd name="T15" fmla="*/ 645 h 645"/>
                <a:gd name="T16" fmla="*/ 348 w 1527"/>
                <a:gd name="T17" fmla="*/ 645 h 645"/>
                <a:gd name="T18" fmla="*/ 348 w 1527"/>
                <a:gd name="T19" fmla="*/ 149 h 645"/>
                <a:gd name="T20" fmla="*/ 694 w 1527"/>
                <a:gd name="T21" fmla="*/ 132 h 645"/>
                <a:gd name="T22" fmla="*/ 833 w 1527"/>
                <a:gd name="T23" fmla="*/ 132 h 645"/>
                <a:gd name="T24" fmla="*/ 833 w 1527"/>
                <a:gd name="T25" fmla="*/ 645 h 645"/>
                <a:gd name="T26" fmla="*/ 694 w 1527"/>
                <a:gd name="T27" fmla="*/ 645 h 645"/>
                <a:gd name="T28" fmla="*/ 694 w 1527"/>
                <a:gd name="T29" fmla="*/ 132 h 645"/>
                <a:gd name="T30" fmla="*/ 1041 w 1527"/>
                <a:gd name="T31" fmla="*/ 0 h 645"/>
                <a:gd name="T32" fmla="*/ 1181 w 1527"/>
                <a:gd name="T33" fmla="*/ 0 h 645"/>
                <a:gd name="T34" fmla="*/ 1181 w 1527"/>
                <a:gd name="T35" fmla="*/ 645 h 645"/>
                <a:gd name="T36" fmla="*/ 1041 w 1527"/>
                <a:gd name="T37" fmla="*/ 645 h 645"/>
                <a:gd name="T38" fmla="*/ 1041 w 1527"/>
                <a:gd name="T39" fmla="*/ 0 h 645"/>
                <a:gd name="T40" fmla="*/ 1389 w 1527"/>
                <a:gd name="T41" fmla="*/ 55 h 645"/>
                <a:gd name="T42" fmla="*/ 1527 w 1527"/>
                <a:gd name="T43" fmla="*/ 55 h 645"/>
                <a:gd name="T44" fmla="*/ 1527 w 1527"/>
                <a:gd name="T45" fmla="*/ 645 h 645"/>
                <a:gd name="T46" fmla="*/ 1389 w 1527"/>
                <a:gd name="T47" fmla="*/ 645 h 645"/>
                <a:gd name="T48" fmla="*/ 1389 w 1527"/>
                <a:gd name="T49" fmla="*/ 55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27" h="645">
                  <a:moveTo>
                    <a:pt x="0" y="71"/>
                  </a:moveTo>
                  <a:lnTo>
                    <a:pt x="139" y="71"/>
                  </a:lnTo>
                  <a:lnTo>
                    <a:pt x="139" y="645"/>
                  </a:lnTo>
                  <a:lnTo>
                    <a:pt x="0" y="645"/>
                  </a:lnTo>
                  <a:lnTo>
                    <a:pt x="0" y="71"/>
                  </a:lnTo>
                  <a:close/>
                  <a:moveTo>
                    <a:pt x="348" y="149"/>
                  </a:moveTo>
                  <a:lnTo>
                    <a:pt x="486" y="149"/>
                  </a:lnTo>
                  <a:lnTo>
                    <a:pt x="486" y="645"/>
                  </a:lnTo>
                  <a:lnTo>
                    <a:pt x="348" y="645"/>
                  </a:lnTo>
                  <a:lnTo>
                    <a:pt x="348" y="149"/>
                  </a:lnTo>
                  <a:close/>
                  <a:moveTo>
                    <a:pt x="694" y="132"/>
                  </a:moveTo>
                  <a:lnTo>
                    <a:pt x="833" y="132"/>
                  </a:lnTo>
                  <a:lnTo>
                    <a:pt x="833" y="645"/>
                  </a:lnTo>
                  <a:lnTo>
                    <a:pt x="694" y="645"/>
                  </a:lnTo>
                  <a:lnTo>
                    <a:pt x="694" y="132"/>
                  </a:lnTo>
                  <a:close/>
                  <a:moveTo>
                    <a:pt x="1041" y="0"/>
                  </a:moveTo>
                  <a:lnTo>
                    <a:pt x="1181" y="0"/>
                  </a:lnTo>
                  <a:lnTo>
                    <a:pt x="1181" y="645"/>
                  </a:lnTo>
                  <a:lnTo>
                    <a:pt x="1041" y="645"/>
                  </a:lnTo>
                  <a:lnTo>
                    <a:pt x="1041" y="0"/>
                  </a:lnTo>
                  <a:close/>
                  <a:moveTo>
                    <a:pt x="1389" y="55"/>
                  </a:moveTo>
                  <a:lnTo>
                    <a:pt x="1527" y="55"/>
                  </a:lnTo>
                  <a:lnTo>
                    <a:pt x="1527" y="645"/>
                  </a:lnTo>
                  <a:lnTo>
                    <a:pt x="1389" y="645"/>
                  </a:lnTo>
                  <a:lnTo>
                    <a:pt x="1389" y="55"/>
                  </a:lnTo>
                  <a:close/>
                </a:path>
              </a:pathLst>
            </a:custGeom>
            <a:solidFill>
              <a:srgbClr val="187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6" name="Freeform 7">
              <a:extLst>
                <a:ext uri="{FF2B5EF4-FFF2-40B4-BE49-F238E27FC236}">
                  <a16:creationId xmlns:a16="http://schemas.microsoft.com/office/drawing/2014/main" id="{2E7EB134-7CC9-DFBB-57C9-D163252AFEA2}"/>
                </a:ext>
              </a:extLst>
            </p:cNvPr>
            <p:cNvSpPr>
              <a:spLocks/>
            </p:cNvSpPr>
            <p:nvPr/>
          </p:nvSpPr>
          <p:spPr bwMode="auto">
            <a:xfrm>
              <a:off x="536575" y="5487988"/>
              <a:ext cx="2203450" cy="42863"/>
            </a:xfrm>
            <a:custGeom>
              <a:avLst/>
              <a:gdLst>
                <a:gd name="T0" fmla="*/ 0 w 1388"/>
                <a:gd name="T1" fmla="*/ 6 h 27"/>
                <a:gd name="T2" fmla="*/ 347 w 1388"/>
                <a:gd name="T3" fmla="*/ 27 h 27"/>
                <a:gd name="T4" fmla="*/ 694 w 1388"/>
                <a:gd name="T5" fmla="*/ 24 h 27"/>
                <a:gd name="T6" fmla="*/ 1041 w 1388"/>
                <a:gd name="T7" fmla="*/ 0 h 27"/>
                <a:gd name="T8" fmla="*/ 1388 w 1388"/>
                <a:gd name="T9" fmla="*/ 15 h 27"/>
              </a:gdLst>
              <a:ahLst/>
              <a:cxnLst>
                <a:cxn ang="0">
                  <a:pos x="T0" y="T1"/>
                </a:cxn>
                <a:cxn ang="0">
                  <a:pos x="T2" y="T3"/>
                </a:cxn>
                <a:cxn ang="0">
                  <a:pos x="T4" y="T5"/>
                </a:cxn>
                <a:cxn ang="0">
                  <a:pos x="T6" y="T7"/>
                </a:cxn>
                <a:cxn ang="0">
                  <a:pos x="T8" y="T9"/>
                </a:cxn>
              </a:cxnLst>
              <a:rect l="0" t="0" r="r" b="b"/>
              <a:pathLst>
                <a:path w="1388" h="27">
                  <a:moveTo>
                    <a:pt x="0" y="6"/>
                  </a:moveTo>
                  <a:lnTo>
                    <a:pt x="347" y="27"/>
                  </a:lnTo>
                  <a:lnTo>
                    <a:pt x="694" y="24"/>
                  </a:lnTo>
                  <a:lnTo>
                    <a:pt x="1041" y="0"/>
                  </a:lnTo>
                  <a:lnTo>
                    <a:pt x="1388" y="15"/>
                  </a:lnTo>
                </a:path>
              </a:pathLst>
            </a:custGeom>
            <a:noFill/>
            <a:ln w="19050" cap="rnd">
              <a:solidFill>
                <a:srgbClr val="0033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2" name="Rectangle 8">
              <a:extLst>
                <a:ext uri="{FF2B5EF4-FFF2-40B4-BE49-F238E27FC236}">
                  <a16:creationId xmlns:a16="http://schemas.microsoft.com/office/drawing/2014/main" id="{D857C606-D1F6-E575-DF0A-E2F9CBB55F83}"/>
                </a:ext>
              </a:extLst>
            </p:cNvPr>
            <p:cNvSpPr>
              <a:spLocks noChangeArrowheads="1"/>
            </p:cNvSpPr>
            <p:nvPr/>
          </p:nvSpPr>
          <p:spPr bwMode="auto">
            <a:xfrm>
              <a:off x="393104" y="4622801"/>
              <a:ext cx="30777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71.54%</a:t>
              </a:r>
              <a:endParaRPr kumimoji="0" lang="en-US" altLang="en-US" sz="800" b="0" i="0" u="none" strike="noStrike" cap="none" normalizeH="0" baseline="0">
                <a:ln>
                  <a:noFill/>
                </a:ln>
                <a:solidFill>
                  <a:schemeClr val="tx1"/>
                </a:solidFill>
                <a:effectLst/>
              </a:endParaRPr>
            </a:p>
          </p:txBody>
        </p:sp>
        <p:sp>
          <p:nvSpPr>
            <p:cNvPr id="43" name="Rectangle 9">
              <a:extLst>
                <a:ext uri="{FF2B5EF4-FFF2-40B4-BE49-F238E27FC236}">
                  <a16:creationId xmlns:a16="http://schemas.microsoft.com/office/drawing/2014/main" id="{AE9CB319-03F8-4CBC-9BA5-A6B413F94C0B}"/>
                </a:ext>
              </a:extLst>
            </p:cNvPr>
            <p:cNvSpPr>
              <a:spLocks noChangeArrowheads="1"/>
            </p:cNvSpPr>
            <p:nvPr/>
          </p:nvSpPr>
          <p:spPr bwMode="auto">
            <a:xfrm>
              <a:off x="950416" y="4745912"/>
              <a:ext cx="30777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61.76%</a:t>
              </a:r>
              <a:endParaRPr kumimoji="0" lang="en-US" altLang="en-US" sz="800" b="0" i="0" u="none" strike="noStrike" cap="none" normalizeH="0" baseline="0">
                <a:ln>
                  <a:noFill/>
                </a:ln>
                <a:solidFill>
                  <a:schemeClr val="tx1"/>
                </a:solidFill>
                <a:effectLst/>
              </a:endParaRPr>
            </a:p>
          </p:txBody>
        </p:sp>
        <p:sp>
          <p:nvSpPr>
            <p:cNvPr id="59" name="Rectangle 10">
              <a:extLst>
                <a:ext uri="{FF2B5EF4-FFF2-40B4-BE49-F238E27FC236}">
                  <a16:creationId xmlns:a16="http://schemas.microsoft.com/office/drawing/2014/main" id="{4AEA6B29-0CA9-0ACA-4DCF-75FFA1493FC6}"/>
                </a:ext>
              </a:extLst>
            </p:cNvPr>
            <p:cNvSpPr>
              <a:spLocks noChangeArrowheads="1"/>
            </p:cNvSpPr>
            <p:nvPr/>
          </p:nvSpPr>
          <p:spPr bwMode="auto">
            <a:xfrm>
              <a:off x="1483616" y="4712574"/>
              <a:ext cx="30777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63.96%</a:t>
              </a:r>
              <a:endParaRPr kumimoji="0" lang="en-US" altLang="en-US" sz="800" b="0" i="0" u="none" strike="noStrike" cap="none" normalizeH="0" baseline="0">
                <a:ln>
                  <a:noFill/>
                </a:ln>
                <a:solidFill>
                  <a:schemeClr val="tx1"/>
                </a:solidFill>
                <a:effectLst/>
              </a:endParaRPr>
            </a:p>
          </p:txBody>
        </p:sp>
        <p:sp>
          <p:nvSpPr>
            <p:cNvPr id="65" name="Rectangle 11">
              <a:extLst>
                <a:ext uri="{FF2B5EF4-FFF2-40B4-BE49-F238E27FC236}">
                  <a16:creationId xmlns:a16="http://schemas.microsoft.com/office/drawing/2014/main" id="{943E234C-5803-FCBF-7843-5A4DE2676245}"/>
                </a:ext>
              </a:extLst>
            </p:cNvPr>
            <p:cNvSpPr>
              <a:spLocks noChangeArrowheads="1"/>
            </p:cNvSpPr>
            <p:nvPr/>
          </p:nvSpPr>
          <p:spPr bwMode="auto">
            <a:xfrm>
              <a:off x="2060305" y="4508678"/>
              <a:ext cx="30777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80.43%</a:t>
              </a:r>
              <a:endParaRPr kumimoji="0" lang="en-US" altLang="en-US" sz="800" b="0" i="0" u="none" strike="noStrike" cap="none" normalizeH="0" baseline="0">
                <a:ln>
                  <a:noFill/>
                </a:ln>
                <a:solidFill>
                  <a:schemeClr val="tx1"/>
                </a:solidFill>
                <a:effectLst/>
              </a:endParaRPr>
            </a:p>
          </p:txBody>
        </p:sp>
        <p:sp>
          <p:nvSpPr>
            <p:cNvPr id="66" name="Rectangle 12">
              <a:extLst>
                <a:ext uri="{FF2B5EF4-FFF2-40B4-BE49-F238E27FC236}">
                  <a16:creationId xmlns:a16="http://schemas.microsoft.com/office/drawing/2014/main" id="{BF4BE673-82A6-92AD-17D1-B32545A6BDCA}"/>
                </a:ext>
              </a:extLst>
            </p:cNvPr>
            <p:cNvSpPr>
              <a:spLocks noChangeArrowheads="1"/>
            </p:cNvSpPr>
            <p:nvPr/>
          </p:nvSpPr>
          <p:spPr bwMode="auto">
            <a:xfrm>
              <a:off x="2597623" y="4604311"/>
              <a:ext cx="30777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73.56%</a:t>
              </a:r>
              <a:endParaRPr kumimoji="0" lang="en-US" altLang="en-US" sz="800" b="0" i="0" u="none" strike="noStrike" cap="none" normalizeH="0" baseline="0">
                <a:ln>
                  <a:noFill/>
                </a:ln>
                <a:solidFill>
                  <a:schemeClr val="tx1"/>
                </a:solidFill>
                <a:effectLst/>
              </a:endParaRPr>
            </a:p>
          </p:txBody>
        </p:sp>
        <p:sp>
          <p:nvSpPr>
            <p:cNvPr id="67" name="Rectangle 13">
              <a:extLst>
                <a:ext uri="{FF2B5EF4-FFF2-40B4-BE49-F238E27FC236}">
                  <a16:creationId xmlns:a16="http://schemas.microsoft.com/office/drawing/2014/main" id="{36C0B258-491E-21E3-B7D3-0FBA9A07DC11}"/>
                </a:ext>
              </a:extLst>
            </p:cNvPr>
            <p:cNvSpPr>
              <a:spLocks noChangeArrowheads="1"/>
            </p:cNvSpPr>
            <p:nvPr/>
          </p:nvSpPr>
          <p:spPr bwMode="auto">
            <a:xfrm>
              <a:off x="450850" y="5384801"/>
              <a:ext cx="30777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11.93%</a:t>
              </a:r>
              <a:endParaRPr kumimoji="0" lang="en-US" altLang="en-US" sz="800" b="0" i="0" u="none" strike="noStrike" cap="none" normalizeH="0" baseline="0">
                <a:ln>
                  <a:noFill/>
                </a:ln>
                <a:solidFill>
                  <a:schemeClr val="tx1"/>
                </a:solidFill>
                <a:effectLst/>
              </a:endParaRPr>
            </a:p>
          </p:txBody>
        </p:sp>
        <p:sp>
          <p:nvSpPr>
            <p:cNvPr id="68" name="Rectangle 14">
              <a:extLst>
                <a:ext uri="{FF2B5EF4-FFF2-40B4-BE49-F238E27FC236}">
                  <a16:creationId xmlns:a16="http://schemas.microsoft.com/office/drawing/2014/main" id="{19FC9479-D88B-A112-663E-F282C37FBA08}"/>
                </a:ext>
              </a:extLst>
            </p:cNvPr>
            <p:cNvSpPr>
              <a:spLocks noChangeArrowheads="1"/>
            </p:cNvSpPr>
            <p:nvPr/>
          </p:nvSpPr>
          <p:spPr bwMode="auto">
            <a:xfrm>
              <a:off x="1001713" y="5418138"/>
              <a:ext cx="25648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9.29%</a:t>
              </a:r>
              <a:endParaRPr kumimoji="0" lang="en-US" altLang="en-US" sz="800" b="0" i="0" u="none" strike="noStrike" cap="none" normalizeH="0" baseline="0">
                <a:ln>
                  <a:noFill/>
                </a:ln>
                <a:solidFill>
                  <a:schemeClr val="tx1"/>
                </a:solidFill>
                <a:effectLst/>
              </a:endParaRPr>
            </a:p>
          </p:txBody>
        </p:sp>
        <p:sp>
          <p:nvSpPr>
            <p:cNvPr id="69" name="Rectangle 15">
              <a:extLst>
                <a:ext uri="{FF2B5EF4-FFF2-40B4-BE49-F238E27FC236}">
                  <a16:creationId xmlns:a16="http://schemas.microsoft.com/office/drawing/2014/main" id="{BCC8CEDA-B248-4AD4-C6CA-CD5156D7FF79}"/>
                </a:ext>
              </a:extLst>
            </p:cNvPr>
            <p:cNvSpPr>
              <a:spLocks noChangeArrowheads="1"/>
            </p:cNvSpPr>
            <p:nvPr/>
          </p:nvSpPr>
          <p:spPr bwMode="auto">
            <a:xfrm>
              <a:off x="1544638" y="5416551"/>
              <a:ext cx="25648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9.64%</a:t>
              </a:r>
              <a:endParaRPr kumimoji="0" lang="en-US" altLang="en-US" sz="800" b="0" i="0" u="none" strike="noStrike" cap="none" normalizeH="0" baseline="0">
                <a:ln>
                  <a:noFill/>
                </a:ln>
                <a:solidFill>
                  <a:schemeClr val="tx1"/>
                </a:solidFill>
                <a:effectLst/>
              </a:endParaRPr>
            </a:p>
          </p:txBody>
        </p:sp>
        <p:sp>
          <p:nvSpPr>
            <p:cNvPr id="70" name="Rectangle 16">
              <a:extLst>
                <a:ext uri="{FF2B5EF4-FFF2-40B4-BE49-F238E27FC236}">
                  <a16:creationId xmlns:a16="http://schemas.microsoft.com/office/drawing/2014/main" id="{634E339D-8C7E-7586-2820-B4061650411D}"/>
                </a:ext>
              </a:extLst>
            </p:cNvPr>
            <p:cNvSpPr>
              <a:spLocks noChangeArrowheads="1"/>
            </p:cNvSpPr>
            <p:nvPr/>
          </p:nvSpPr>
          <p:spPr bwMode="auto">
            <a:xfrm>
              <a:off x="2103438" y="5367338"/>
              <a:ext cx="30777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12.68%</a:t>
              </a:r>
              <a:endParaRPr kumimoji="0" lang="en-US" altLang="en-US" sz="800" b="0" i="0" u="none" strike="noStrike" cap="none" normalizeH="0" baseline="0">
                <a:ln>
                  <a:noFill/>
                </a:ln>
                <a:solidFill>
                  <a:schemeClr val="tx1"/>
                </a:solidFill>
                <a:effectLst/>
              </a:endParaRPr>
            </a:p>
          </p:txBody>
        </p:sp>
        <p:sp>
          <p:nvSpPr>
            <p:cNvPr id="71" name="Rectangle 17">
              <a:extLst>
                <a:ext uri="{FF2B5EF4-FFF2-40B4-BE49-F238E27FC236}">
                  <a16:creationId xmlns:a16="http://schemas.microsoft.com/office/drawing/2014/main" id="{A16FF709-FF3F-21F1-1725-18DA6E65964C}"/>
                </a:ext>
              </a:extLst>
            </p:cNvPr>
            <p:cNvSpPr>
              <a:spLocks noChangeArrowheads="1"/>
            </p:cNvSpPr>
            <p:nvPr/>
          </p:nvSpPr>
          <p:spPr bwMode="auto">
            <a:xfrm>
              <a:off x="2638425" y="5407026"/>
              <a:ext cx="30777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10.89%</a:t>
              </a:r>
              <a:endParaRPr kumimoji="0" lang="en-US" altLang="en-US" sz="800" b="0" i="0" u="none" strike="noStrike" cap="none" normalizeH="0" baseline="0">
                <a:ln>
                  <a:noFill/>
                </a:ln>
                <a:solidFill>
                  <a:schemeClr val="tx1"/>
                </a:solidFill>
                <a:effectLst/>
              </a:endParaRPr>
            </a:p>
          </p:txBody>
        </p:sp>
        <p:sp>
          <p:nvSpPr>
            <p:cNvPr id="72" name="Rectangle 18">
              <a:extLst>
                <a:ext uri="{FF2B5EF4-FFF2-40B4-BE49-F238E27FC236}">
                  <a16:creationId xmlns:a16="http://schemas.microsoft.com/office/drawing/2014/main" id="{C2289ED6-F39C-BAB0-6F4F-EE309031D2F6}"/>
                </a:ext>
              </a:extLst>
            </p:cNvPr>
            <p:cNvSpPr>
              <a:spLocks noChangeArrowheads="1"/>
            </p:cNvSpPr>
            <p:nvPr/>
          </p:nvSpPr>
          <p:spPr bwMode="auto">
            <a:xfrm>
              <a:off x="383215" y="5652572"/>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Mar-21</a:t>
              </a:r>
              <a:endParaRPr kumimoji="0" lang="en-US" altLang="en-US" sz="800" b="0" i="0" u="none" strike="noStrike" cap="none" normalizeH="0" baseline="0">
                <a:ln>
                  <a:noFill/>
                </a:ln>
                <a:solidFill>
                  <a:schemeClr val="tx1"/>
                </a:solidFill>
                <a:effectLst/>
              </a:endParaRPr>
            </a:p>
          </p:txBody>
        </p:sp>
        <p:sp>
          <p:nvSpPr>
            <p:cNvPr id="73" name="Rectangle 19">
              <a:extLst>
                <a:ext uri="{FF2B5EF4-FFF2-40B4-BE49-F238E27FC236}">
                  <a16:creationId xmlns:a16="http://schemas.microsoft.com/office/drawing/2014/main" id="{0915D5DC-4CC0-0405-AEED-CD6918BC38DD}"/>
                </a:ext>
              </a:extLst>
            </p:cNvPr>
            <p:cNvSpPr>
              <a:spLocks noChangeArrowheads="1"/>
            </p:cNvSpPr>
            <p:nvPr/>
          </p:nvSpPr>
          <p:spPr bwMode="auto">
            <a:xfrm>
              <a:off x="939158" y="5647693"/>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Mar-22</a:t>
              </a:r>
              <a:endParaRPr kumimoji="0" lang="en-US" altLang="en-US" sz="800" b="0" i="0" u="none" strike="noStrike" cap="none" normalizeH="0" baseline="0">
                <a:ln>
                  <a:noFill/>
                </a:ln>
                <a:solidFill>
                  <a:schemeClr val="tx1"/>
                </a:solidFill>
                <a:effectLst/>
              </a:endParaRPr>
            </a:p>
          </p:txBody>
        </p:sp>
        <p:sp>
          <p:nvSpPr>
            <p:cNvPr id="74" name="Rectangle 20">
              <a:extLst>
                <a:ext uri="{FF2B5EF4-FFF2-40B4-BE49-F238E27FC236}">
                  <a16:creationId xmlns:a16="http://schemas.microsoft.com/office/drawing/2014/main" id="{C9BA9E8F-E7DB-8F45-F14F-81CEE32AC35A}"/>
                </a:ext>
              </a:extLst>
            </p:cNvPr>
            <p:cNvSpPr>
              <a:spLocks noChangeArrowheads="1"/>
            </p:cNvSpPr>
            <p:nvPr/>
          </p:nvSpPr>
          <p:spPr bwMode="auto">
            <a:xfrm>
              <a:off x="1487109" y="5649914"/>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Mar-23</a:t>
              </a:r>
              <a:endParaRPr kumimoji="0" lang="en-US" altLang="en-US" sz="800" b="0" i="0" u="none" strike="noStrike" cap="none" normalizeH="0" baseline="0">
                <a:ln>
                  <a:noFill/>
                </a:ln>
                <a:solidFill>
                  <a:schemeClr val="tx1"/>
                </a:solidFill>
                <a:effectLst/>
              </a:endParaRPr>
            </a:p>
          </p:txBody>
        </p:sp>
        <p:sp>
          <p:nvSpPr>
            <p:cNvPr id="75" name="Rectangle 21">
              <a:extLst>
                <a:ext uri="{FF2B5EF4-FFF2-40B4-BE49-F238E27FC236}">
                  <a16:creationId xmlns:a16="http://schemas.microsoft.com/office/drawing/2014/main" id="{F2AD3F78-6236-34AD-85C5-4049BCC989AB}"/>
                </a:ext>
              </a:extLst>
            </p:cNvPr>
            <p:cNvSpPr>
              <a:spLocks noChangeArrowheads="1"/>
            </p:cNvSpPr>
            <p:nvPr/>
          </p:nvSpPr>
          <p:spPr bwMode="auto">
            <a:xfrm>
              <a:off x="2043052" y="5647692"/>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Mar-24</a:t>
              </a:r>
              <a:endParaRPr kumimoji="0" lang="en-US" altLang="en-US" sz="800" b="0" i="0" u="none" strike="noStrike" cap="none" normalizeH="0" baseline="0">
                <a:ln>
                  <a:noFill/>
                </a:ln>
                <a:solidFill>
                  <a:schemeClr val="tx1"/>
                </a:solidFill>
                <a:effectLst/>
              </a:endParaRPr>
            </a:p>
          </p:txBody>
        </p:sp>
        <p:sp>
          <p:nvSpPr>
            <p:cNvPr id="76" name="Rectangle 22">
              <a:extLst>
                <a:ext uri="{FF2B5EF4-FFF2-40B4-BE49-F238E27FC236}">
                  <a16:creationId xmlns:a16="http://schemas.microsoft.com/office/drawing/2014/main" id="{C9467B6B-A968-30C5-BD73-56B4A8E28690}"/>
                </a:ext>
              </a:extLst>
            </p:cNvPr>
            <p:cNvSpPr>
              <a:spLocks noChangeArrowheads="1"/>
            </p:cNvSpPr>
            <p:nvPr/>
          </p:nvSpPr>
          <p:spPr bwMode="auto">
            <a:xfrm>
              <a:off x="2591003" y="5647691"/>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Mar-25</a:t>
              </a:r>
              <a:endParaRPr kumimoji="0" lang="en-US" altLang="en-US" sz="800" b="0" i="0" u="none" strike="noStrike" cap="none" normalizeH="0" baseline="0">
                <a:ln>
                  <a:noFill/>
                </a:ln>
                <a:solidFill>
                  <a:schemeClr val="tx1"/>
                </a:solidFill>
                <a:effectLst/>
              </a:endParaRPr>
            </a:p>
          </p:txBody>
        </p:sp>
        <p:sp>
          <p:nvSpPr>
            <p:cNvPr id="77" name="Rectangle 23">
              <a:extLst>
                <a:ext uri="{FF2B5EF4-FFF2-40B4-BE49-F238E27FC236}">
                  <a16:creationId xmlns:a16="http://schemas.microsoft.com/office/drawing/2014/main" id="{916B3411-73CC-B03F-4255-6C458861EEE2}"/>
                </a:ext>
              </a:extLst>
            </p:cNvPr>
            <p:cNvSpPr>
              <a:spLocks noChangeArrowheads="1"/>
            </p:cNvSpPr>
            <p:nvPr/>
          </p:nvSpPr>
          <p:spPr bwMode="auto">
            <a:xfrm>
              <a:off x="889490" y="4259799"/>
              <a:ext cx="156677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6600"/>
                  </a:solidFill>
                  <a:effectLst/>
                  <a:latin typeface="Calibri" panose="020F0502020204030204" pitchFamily="34" charset="0"/>
                </a:rPr>
                <a:t>ROCE V/S NOPAT Margin</a:t>
              </a:r>
              <a:endParaRPr kumimoji="0" lang="en-US" altLang="en-US" sz="1200" b="0" i="0" u="none" strike="noStrike" cap="none" normalizeH="0" baseline="0">
                <a:ln>
                  <a:noFill/>
                </a:ln>
                <a:solidFill>
                  <a:schemeClr val="tx1"/>
                </a:solidFill>
                <a:effectLst/>
              </a:endParaRPr>
            </a:p>
          </p:txBody>
        </p:sp>
        <p:sp>
          <p:nvSpPr>
            <p:cNvPr id="78" name="Rectangle 24">
              <a:extLst>
                <a:ext uri="{FF2B5EF4-FFF2-40B4-BE49-F238E27FC236}">
                  <a16:creationId xmlns:a16="http://schemas.microsoft.com/office/drawing/2014/main" id="{02F77C59-F96A-F25E-6201-CE1100B9F7FB}"/>
                </a:ext>
              </a:extLst>
            </p:cNvPr>
            <p:cNvSpPr>
              <a:spLocks noChangeArrowheads="1"/>
            </p:cNvSpPr>
            <p:nvPr/>
          </p:nvSpPr>
          <p:spPr bwMode="auto">
            <a:xfrm>
              <a:off x="631712" y="5901176"/>
              <a:ext cx="157163" cy="41275"/>
            </a:xfrm>
            <a:prstGeom prst="rect">
              <a:avLst/>
            </a:prstGeom>
            <a:solidFill>
              <a:srgbClr val="187C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5" name="Rectangle 25">
              <a:extLst>
                <a:ext uri="{FF2B5EF4-FFF2-40B4-BE49-F238E27FC236}">
                  <a16:creationId xmlns:a16="http://schemas.microsoft.com/office/drawing/2014/main" id="{5623C879-C4AF-BD31-44C5-A4CC26FCD85C}"/>
                </a:ext>
              </a:extLst>
            </p:cNvPr>
            <p:cNvSpPr>
              <a:spLocks noChangeArrowheads="1"/>
            </p:cNvSpPr>
            <p:nvPr/>
          </p:nvSpPr>
          <p:spPr bwMode="auto">
            <a:xfrm>
              <a:off x="807251" y="5854856"/>
              <a:ext cx="63318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NOPAT Margin</a:t>
              </a:r>
              <a:endParaRPr kumimoji="0" lang="en-US" altLang="en-US" sz="800" b="0" i="0" u="none" strike="noStrike" cap="none" normalizeH="0" baseline="0">
                <a:ln>
                  <a:noFill/>
                </a:ln>
                <a:solidFill>
                  <a:schemeClr val="tx1"/>
                </a:solidFill>
                <a:effectLst/>
              </a:endParaRPr>
            </a:p>
          </p:txBody>
        </p:sp>
        <p:sp>
          <p:nvSpPr>
            <p:cNvPr id="92" name="Line 26">
              <a:extLst>
                <a:ext uri="{FF2B5EF4-FFF2-40B4-BE49-F238E27FC236}">
                  <a16:creationId xmlns:a16="http://schemas.microsoft.com/office/drawing/2014/main" id="{57FA4E09-1808-F4D6-CC6B-F84D5900DD9A}"/>
                </a:ext>
              </a:extLst>
            </p:cNvPr>
            <p:cNvSpPr>
              <a:spLocks noChangeShapeType="1"/>
            </p:cNvSpPr>
            <p:nvPr/>
          </p:nvSpPr>
          <p:spPr bwMode="auto">
            <a:xfrm>
              <a:off x="1559718" y="5921989"/>
              <a:ext cx="155575" cy="0"/>
            </a:xfrm>
            <a:prstGeom prst="line">
              <a:avLst/>
            </a:prstGeom>
            <a:noFill/>
            <a:ln w="19050" cap="rnd">
              <a:solidFill>
                <a:srgbClr val="0033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4" name="Rectangle 27">
              <a:extLst>
                <a:ext uri="{FF2B5EF4-FFF2-40B4-BE49-F238E27FC236}">
                  <a16:creationId xmlns:a16="http://schemas.microsoft.com/office/drawing/2014/main" id="{2802713C-8EC6-6846-F1D5-B2FAE340BFD8}"/>
                </a:ext>
              </a:extLst>
            </p:cNvPr>
            <p:cNvSpPr>
              <a:spLocks noChangeArrowheads="1"/>
            </p:cNvSpPr>
            <p:nvPr/>
          </p:nvSpPr>
          <p:spPr bwMode="auto">
            <a:xfrm>
              <a:off x="1759980" y="5851226"/>
              <a:ext cx="118622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Return on Capital Employed</a:t>
              </a:r>
              <a:endParaRPr kumimoji="0" lang="en-US" altLang="en-US" sz="800" b="0" i="0" u="none" strike="noStrike" cap="none" normalizeH="0" baseline="0">
                <a:ln>
                  <a:noFill/>
                </a:ln>
                <a:solidFill>
                  <a:schemeClr val="tx1"/>
                </a:solidFill>
                <a:effectLst/>
              </a:endParaRPr>
            </a:p>
          </p:txBody>
        </p:sp>
        <p:sp>
          <p:nvSpPr>
            <p:cNvPr id="95" name="Rectangle 28">
              <a:extLst>
                <a:ext uri="{FF2B5EF4-FFF2-40B4-BE49-F238E27FC236}">
                  <a16:creationId xmlns:a16="http://schemas.microsoft.com/office/drawing/2014/main" id="{1FCA3F67-38F1-A0DA-1A3A-FFACD877A360}"/>
                </a:ext>
              </a:extLst>
            </p:cNvPr>
            <p:cNvSpPr>
              <a:spLocks noChangeArrowheads="1"/>
            </p:cNvSpPr>
            <p:nvPr/>
          </p:nvSpPr>
          <p:spPr bwMode="auto">
            <a:xfrm>
              <a:off x="171450" y="4202113"/>
              <a:ext cx="2933700" cy="1822450"/>
            </a:xfrm>
            <a:prstGeom prst="rect">
              <a:avLst/>
            </a:prstGeom>
            <a:noFill/>
            <a:ln w="6350" cap="flat">
              <a:no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grpSp>
        <p:nvGrpSpPr>
          <p:cNvPr id="166" name="Group 165">
            <a:extLst>
              <a:ext uri="{FF2B5EF4-FFF2-40B4-BE49-F238E27FC236}">
                <a16:creationId xmlns:a16="http://schemas.microsoft.com/office/drawing/2014/main" id="{543ADAD0-CE9B-8050-2179-9421176CDAF2}"/>
              </a:ext>
            </a:extLst>
          </p:cNvPr>
          <p:cNvGrpSpPr/>
          <p:nvPr/>
        </p:nvGrpSpPr>
        <p:grpSpPr>
          <a:xfrm>
            <a:off x="3107829" y="4111625"/>
            <a:ext cx="2871787" cy="1919287"/>
            <a:chOff x="3109913" y="4111625"/>
            <a:chExt cx="2871787" cy="1919287"/>
          </a:xfrm>
        </p:grpSpPr>
        <p:sp>
          <p:nvSpPr>
            <p:cNvPr id="115" name="AutoShape 30">
              <a:extLst>
                <a:ext uri="{FF2B5EF4-FFF2-40B4-BE49-F238E27FC236}">
                  <a16:creationId xmlns:a16="http://schemas.microsoft.com/office/drawing/2014/main" id="{433CDDBD-DB7A-3265-F3D5-D918C4963E00}"/>
                </a:ext>
              </a:extLst>
            </p:cNvPr>
            <p:cNvSpPr>
              <a:spLocks noChangeAspect="1" noChangeArrowheads="1" noTextEdit="1"/>
            </p:cNvSpPr>
            <p:nvPr/>
          </p:nvSpPr>
          <p:spPr bwMode="auto">
            <a:xfrm>
              <a:off x="3109913" y="4111625"/>
              <a:ext cx="2871787"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7" name="Rectangle 32">
              <a:extLst>
                <a:ext uri="{FF2B5EF4-FFF2-40B4-BE49-F238E27FC236}">
                  <a16:creationId xmlns:a16="http://schemas.microsoft.com/office/drawing/2014/main" id="{F43D53AE-BB8D-C7BA-742F-FB8725F6492A}"/>
                </a:ext>
              </a:extLst>
            </p:cNvPr>
            <p:cNvSpPr>
              <a:spLocks noChangeArrowheads="1"/>
            </p:cNvSpPr>
            <p:nvPr/>
          </p:nvSpPr>
          <p:spPr bwMode="auto">
            <a:xfrm>
              <a:off x="3266440" y="4114800"/>
              <a:ext cx="2712085" cy="19161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8" name="Rectangle 33">
              <a:extLst>
                <a:ext uri="{FF2B5EF4-FFF2-40B4-BE49-F238E27FC236}">
                  <a16:creationId xmlns:a16="http://schemas.microsoft.com/office/drawing/2014/main" id="{BB15AF18-76E1-69BA-EC3F-3DFE0CC852C9}"/>
                </a:ext>
              </a:extLst>
            </p:cNvPr>
            <p:cNvSpPr>
              <a:spLocks noChangeArrowheads="1"/>
            </p:cNvSpPr>
            <p:nvPr/>
          </p:nvSpPr>
          <p:spPr bwMode="auto">
            <a:xfrm>
              <a:off x="3414713" y="4411663"/>
              <a:ext cx="2317750" cy="1157288"/>
            </a:xfrm>
            <a:prstGeom prst="rect">
              <a:avLst/>
            </a:prstGeom>
            <a:noFill/>
            <a:ln w="6350" cap="flat">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9" name="Freeform 34">
              <a:extLst>
                <a:ext uri="{FF2B5EF4-FFF2-40B4-BE49-F238E27FC236}">
                  <a16:creationId xmlns:a16="http://schemas.microsoft.com/office/drawing/2014/main" id="{5D73DAD3-0E1A-174B-2617-4676F924FA26}"/>
                </a:ext>
              </a:extLst>
            </p:cNvPr>
            <p:cNvSpPr>
              <a:spLocks noEditPoints="1"/>
            </p:cNvSpPr>
            <p:nvPr/>
          </p:nvSpPr>
          <p:spPr bwMode="auto">
            <a:xfrm>
              <a:off x="3492500" y="4794250"/>
              <a:ext cx="2008187" cy="774700"/>
            </a:xfrm>
            <a:custGeom>
              <a:avLst/>
              <a:gdLst>
                <a:gd name="T0" fmla="*/ 0 w 1265"/>
                <a:gd name="T1" fmla="*/ 353 h 488"/>
                <a:gd name="T2" fmla="*/ 97 w 1265"/>
                <a:gd name="T3" fmla="*/ 353 h 488"/>
                <a:gd name="T4" fmla="*/ 97 w 1265"/>
                <a:gd name="T5" fmla="*/ 488 h 488"/>
                <a:gd name="T6" fmla="*/ 0 w 1265"/>
                <a:gd name="T7" fmla="*/ 488 h 488"/>
                <a:gd name="T8" fmla="*/ 0 w 1265"/>
                <a:gd name="T9" fmla="*/ 353 h 488"/>
                <a:gd name="T10" fmla="*/ 292 w 1265"/>
                <a:gd name="T11" fmla="*/ 299 h 488"/>
                <a:gd name="T12" fmla="*/ 389 w 1265"/>
                <a:gd name="T13" fmla="*/ 299 h 488"/>
                <a:gd name="T14" fmla="*/ 389 w 1265"/>
                <a:gd name="T15" fmla="*/ 488 h 488"/>
                <a:gd name="T16" fmla="*/ 292 w 1265"/>
                <a:gd name="T17" fmla="*/ 488 h 488"/>
                <a:gd name="T18" fmla="*/ 292 w 1265"/>
                <a:gd name="T19" fmla="*/ 299 h 488"/>
                <a:gd name="T20" fmla="*/ 584 w 1265"/>
                <a:gd name="T21" fmla="*/ 213 h 488"/>
                <a:gd name="T22" fmla="*/ 681 w 1265"/>
                <a:gd name="T23" fmla="*/ 213 h 488"/>
                <a:gd name="T24" fmla="*/ 681 w 1265"/>
                <a:gd name="T25" fmla="*/ 488 h 488"/>
                <a:gd name="T26" fmla="*/ 584 w 1265"/>
                <a:gd name="T27" fmla="*/ 488 h 488"/>
                <a:gd name="T28" fmla="*/ 584 w 1265"/>
                <a:gd name="T29" fmla="*/ 213 h 488"/>
                <a:gd name="T30" fmla="*/ 876 w 1265"/>
                <a:gd name="T31" fmla="*/ 62 h 488"/>
                <a:gd name="T32" fmla="*/ 973 w 1265"/>
                <a:gd name="T33" fmla="*/ 62 h 488"/>
                <a:gd name="T34" fmla="*/ 973 w 1265"/>
                <a:gd name="T35" fmla="*/ 488 h 488"/>
                <a:gd name="T36" fmla="*/ 876 w 1265"/>
                <a:gd name="T37" fmla="*/ 488 h 488"/>
                <a:gd name="T38" fmla="*/ 876 w 1265"/>
                <a:gd name="T39" fmla="*/ 62 h 488"/>
                <a:gd name="T40" fmla="*/ 1168 w 1265"/>
                <a:gd name="T41" fmla="*/ 0 h 488"/>
                <a:gd name="T42" fmla="*/ 1265 w 1265"/>
                <a:gd name="T43" fmla="*/ 0 h 488"/>
                <a:gd name="T44" fmla="*/ 1265 w 1265"/>
                <a:gd name="T45" fmla="*/ 488 h 488"/>
                <a:gd name="T46" fmla="*/ 1168 w 1265"/>
                <a:gd name="T47" fmla="*/ 488 h 488"/>
                <a:gd name="T48" fmla="*/ 1168 w 1265"/>
                <a:gd name="T49" fmla="*/ 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65" h="488">
                  <a:moveTo>
                    <a:pt x="0" y="353"/>
                  </a:moveTo>
                  <a:lnTo>
                    <a:pt x="97" y="353"/>
                  </a:lnTo>
                  <a:lnTo>
                    <a:pt x="97" y="488"/>
                  </a:lnTo>
                  <a:lnTo>
                    <a:pt x="0" y="488"/>
                  </a:lnTo>
                  <a:lnTo>
                    <a:pt x="0" y="353"/>
                  </a:lnTo>
                  <a:close/>
                  <a:moveTo>
                    <a:pt x="292" y="299"/>
                  </a:moveTo>
                  <a:lnTo>
                    <a:pt x="389" y="299"/>
                  </a:lnTo>
                  <a:lnTo>
                    <a:pt x="389" y="488"/>
                  </a:lnTo>
                  <a:lnTo>
                    <a:pt x="292" y="488"/>
                  </a:lnTo>
                  <a:lnTo>
                    <a:pt x="292" y="299"/>
                  </a:lnTo>
                  <a:close/>
                  <a:moveTo>
                    <a:pt x="584" y="213"/>
                  </a:moveTo>
                  <a:lnTo>
                    <a:pt x="681" y="213"/>
                  </a:lnTo>
                  <a:lnTo>
                    <a:pt x="681" y="488"/>
                  </a:lnTo>
                  <a:lnTo>
                    <a:pt x="584" y="488"/>
                  </a:lnTo>
                  <a:lnTo>
                    <a:pt x="584" y="213"/>
                  </a:lnTo>
                  <a:close/>
                  <a:moveTo>
                    <a:pt x="876" y="62"/>
                  </a:moveTo>
                  <a:lnTo>
                    <a:pt x="973" y="62"/>
                  </a:lnTo>
                  <a:lnTo>
                    <a:pt x="973" y="488"/>
                  </a:lnTo>
                  <a:lnTo>
                    <a:pt x="876" y="488"/>
                  </a:lnTo>
                  <a:lnTo>
                    <a:pt x="876" y="62"/>
                  </a:lnTo>
                  <a:close/>
                  <a:moveTo>
                    <a:pt x="1168" y="0"/>
                  </a:moveTo>
                  <a:lnTo>
                    <a:pt x="1265" y="0"/>
                  </a:lnTo>
                  <a:lnTo>
                    <a:pt x="1265" y="488"/>
                  </a:lnTo>
                  <a:lnTo>
                    <a:pt x="1168" y="488"/>
                  </a:lnTo>
                  <a:lnTo>
                    <a:pt x="1168" y="0"/>
                  </a:lnTo>
                  <a:close/>
                </a:path>
              </a:pathLst>
            </a:custGeom>
            <a:solidFill>
              <a:srgbClr val="C5E0B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20" name="Freeform 35">
              <a:extLst>
                <a:ext uri="{FF2B5EF4-FFF2-40B4-BE49-F238E27FC236}">
                  <a16:creationId xmlns:a16="http://schemas.microsoft.com/office/drawing/2014/main" id="{896811F7-FA70-F6DF-B4BF-D45145396B41}"/>
                </a:ext>
              </a:extLst>
            </p:cNvPr>
            <p:cNvSpPr>
              <a:spLocks noEditPoints="1"/>
            </p:cNvSpPr>
            <p:nvPr/>
          </p:nvSpPr>
          <p:spPr bwMode="auto">
            <a:xfrm>
              <a:off x="3646488" y="4487863"/>
              <a:ext cx="2008187" cy="1081088"/>
            </a:xfrm>
            <a:custGeom>
              <a:avLst/>
              <a:gdLst>
                <a:gd name="T0" fmla="*/ 0 w 1265"/>
                <a:gd name="T1" fmla="*/ 491 h 681"/>
                <a:gd name="T2" fmla="*/ 98 w 1265"/>
                <a:gd name="T3" fmla="*/ 491 h 681"/>
                <a:gd name="T4" fmla="*/ 98 w 1265"/>
                <a:gd name="T5" fmla="*/ 681 h 681"/>
                <a:gd name="T6" fmla="*/ 0 w 1265"/>
                <a:gd name="T7" fmla="*/ 681 h 681"/>
                <a:gd name="T8" fmla="*/ 0 w 1265"/>
                <a:gd name="T9" fmla="*/ 491 h 681"/>
                <a:gd name="T10" fmla="*/ 292 w 1265"/>
                <a:gd name="T11" fmla="*/ 369 h 681"/>
                <a:gd name="T12" fmla="*/ 389 w 1265"/>
                <a:gd name="T13" fmla="*/ 369 h 681"/>
                <a:gd name="T14" fmla="*/ 389 w 1265"/>
                <a:gd name="T15" fmla="*/ 681 h 681"/>
                <a:gd name="T16" fmla="*/ 292 w 1265"/>
                <a:gd name="T17" fmla="*/ 681 h 681"/>
                <a:gd name="T18" fmla="*/ 292 w 1265"/>
                <a:gd name="T19" fmla="*/ 369 h 681"/>
                <a:gd name="T20" fmla="*/ 584 w 1265"/>
                <a:gd name="T21" fmla="*/ 207 h 681"/>
                <a:gd name="T22" fmla="*/ 681 w 1265"/>
                <a:gd name="T23" fmla="*/ 207 h 681"/>
                <a:gd name="T24" fmla="*/ 681 w 1265"/>
                <a:gd name="T25" fmla="*/ 681 h 681"/>
                <a:gd name="T26" fmla="*/ 584 w 1265"/>
                <a:gd name="T27" fmla="*/ 681 h 681"/>
                <a:gd name="T28" fmla="*/ 584 w 1265"/>
                <a:gd name="T29" fmla="*/ 207 h 681"/>
                <a:gd name="T30" fmla="*/ 876 w 1265"/>
                <a:gd name="T31" fmla="*/ 121 h 681"/>
                <a:gd name="T32" fmla="*/ 973 w 1265"/>
                <a:gd name="T33" fmla="*/ 121 h 681"/>
                <a:gd name="T34" fmla="*/ 973 w 1265"/>
                <a:gd name="T35" fmla="*/ 681 h 681"/>
                <a:gd name="T36" fmla="*/ 876 w 1265"/>
                <a:gd name="T37" fmla="*/ 681 h 681"/>
                <a:gd name="T38" fmla="*/ 876 w 1265"/>
                <a:gd name="T39" fmla="*/ 121 h 681"/>
                <a:gd name="T40" fmla="*/ 1168 w 1265"/>
                <a:gd name="T41" fmla="*/ 0 h 681"/>
                <a:gd name="T42" fmla="*/ 1265 w 1265"/>
                <a:gd name="T43" fmla="*/ 0 h 681"/>
                <a:gd name="T44" fmla="*/ 1265 w 1265"/>
                <a:gd name="T45" fmla="*/ 681 h 681"/>
                <a:gd name="T46" fmla="*/ 1168 w 1265"/>
                <a:gd name="T47" fmla="*/ 681 h 681"/>
                <a:gd name="T48" fmla="*/ 1168 w 1265"/>
                <a:gd name="T49" fmla="*/ 0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65" h="681">
                  <a:moveTo>
                    <a:pt x="0" y="491"/>
                  </a:moveTo>
                  <a:lnTo>
                    <a:pt x="98" y="491"/>
                  </a:lnTo>
                  <a:lnTo>
                    <a:pt x="98" y="681"/>
                  </a:lnTo>
                  <a:lnTo>
                    <a:pt x="0" y="681"/>
                  </a:lnTo>
                  <a:lnTo>
                    <a:pt x="0" y="491"/>
                  </a:lnTo>
                  <a:close/>
                  <a:moveTo>
                    <a:pt x="292" y="369"/>
                  </a:moveTo>
                  <a:lnTo>
                    <a:pt x="389" y="369"/>
                  </a:lnTo>
                  <a:lnTo>
                    <a:pt x="389" y="681"/>
                  </a:lnTo>
                  <a:lnTo>
                    <a:pt x="292" y="681"/>
                  </a:lnTo>
                  <a:lnTo>
                    <a:pt x="292" y="369"/>
                  </a:lnTo>
                  <a:close/>
                  <a:moveTo>
                    <a:pt x="584" y="207"/>
                  </a:moveTo>
                  <a:lnTo>
                    <a:pt x="681" y="207"/>
                  </a:lnTo>
                  <a:lnTo>
                    <a:pt x="681" y="681"/>
                  </a:lnTo>
                  <a:lnTo>
                    <a:pt x="584" y="681"/>
                  </a:lnTo>
                  <a:lnTo>
                    <a:pt x="584" y="207"/>
                  </a:lnTo>
                  <a:close/>
                  <a:moveTo>
                    <a:pt x="876" y="121"/>
                  </a:moveTo>
                  <a:lnTo>
                    <a:pt x="973" y="121"/>
                  </a:lnTo>
                  <a:lnTo>
                    <a:pt x="973" y="681"/>
                  </a:lnTo>
                  <a:lnTo>
                    <a:pt x="876" y="681"/>
                  </a:lnTo>
                  <a:lnTo>
                    <a:pt x="876" y="121"/>
                  </a:lnTo>
                  <a:close/>
                  <a:moveTo>
                    <a:pt x="1168" y="0"/>
                  </a:moveTo>
                  <a:lnTo>
                    <a:pt x="1265" y="0"/>
                  </a:lnTo>
                  <a:lnTo>
                    <a:pt x="1265" y="681"/>
                  </a:lnTo>
                  <a:lnTo>
                    <a:pt x="1168" y="681"/>
                  </a:lnTo>
                  <a:lnTo>
                    <a:pt x="1168" y="0"/>
                  </a:lnTo>
                  <a:close/>
                </a:path>
              </a:pathLst>
            </a:custGeom>
            <a:solidFill>
              <a:srgbClr val="187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21" name="Freeform 36">
              <a:extLst>
                <a:ext uri="{FF2B5EF4-FFF2-40B4-BE49-F238E27FC236}">
                  <a16:creationId xmlns:a16="http://schemas.microsoft.com/office/drawing/2014/main" id="{21CA1A5F-8896-160A-A7D4-D0675FA6F2DE}"/>
                </a:ext>
              </a:extLst>
            </p:cNvPr>
            <p:cNvSpPr>
              <a:spLocks/>
            </p:cNvSpPr>
            <p:nvPr/>
          </p:nvSpPr>
          <p:spPr bwMode="auto">
            <a:xfrm>
              <a:off x="3646488" y="4479925"/>
              <a:ext cx="1854200" cy="928688"/>
            </a:xfrm>
            <a:custGeom>
              <a:avLst/>
              <a:gdLst>
                <a:gd name="T0" fmla="*/ 0 w 1168"/>
                <a:gd name="T1" fmla="*/ 0 h 585"/>
                <a:gd name="T2" fmla="*/ 292 w 1168"/>
                <a:gd name="T3" fmla="*/ 585 h 585"/>
                <a:gd name="T4" fmla="*/ 584 w 1168"/>
                <a:gd name="T5" fmla="*/ 542 h 585"/>
                <a:gd name="T6" fmla="*/ 876 w 1168"/>
                <a:gd name="T7" fmla="*/ 203 h 585"/>
                <a:gd name="T8" fmla="*/ 1168 w 1168"/>
                <a:gd name="T9" fmla="*/ 576 h 585"/>
              </a:gdLst>
              <a:ahLst/>
              <a:cxnLst>
                <a:cxn ang="0">
                  <a:pos x="T0" y="T1"/>
                </a:cxn>
                <a:cxn ang="0">
                  <a:pos x="T2" y="T3"/>
                </a:cxn>
                <a:cxn ang="0">
                  <a:pos x="T4" y="T5"/>
                </a:cxn>
                <a:cxn ang="0">
                  <a:pos x="T6" y="T7"/>
                </a:cxn>
                <a:cxn ang="0">
                  <a:pos x="T8" y="T9"/>
                </a:cxn>
              </a:cxnLst>
              <a:rect l="0" t="0" r="r" b="b"/>
              <a:pathLst>
                <a:path w="1168" h="585">
                  <a:moveTo>
                    <a:pt x="0" y="0"/>
                  </a:moveTo>
                  <a:lnTo>
                    <a:pt x="292" y="585"/>
                  </a:lnTo>
                  <a:lnTo>
                    <a:pt x="584" y="542"/>
                  </a:lnTo>
                  <a:lnTo>
                    <a:pt x="876" y="203"/>
                  </a:lnTo>
                  <a:lnTo>
                    <a:pt x="1168" y="576"/>
                  </a:lnTo>
                </a:path>
              </a:pathLst>
            </a:custGeom>
            <a:noFill/>
            <a:ln w="19050" cap="rnd">
              <a:solidFill>
                <a:srgbClr val="0033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2" name="Rectangle 37">
              <a:extLst>
                <a:ext uri="{FF2B5EF4-FFF2-40B4-BE49-F238E27FC236}">
                  <a16:creationId xmlns:a16="http://schemas.microsoft.com/office/drawing/2014/main" id="{3FC652C5-B1F0-CD93-243A-A485F090235C}"/>
                </a:ext>
              </a:extLst>
            </p:cNvPr>
            <p:cNvSpPr>
              <a:spLocks noChangeArrowheads="1"/>
            </p:cNvSpPr>
            <p:nvPr/>
          </p:nvSpPr>
          <p:spPr bwMode="auto">
            <a:xfrm>
              <a:off x="3443685" y="5252324"/>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2224</a:t>
              </a:r>
              <a:endParaRPr kumimoji="0" lang="en-US" altLang="en-US" sz="800" b="0" i="0" u="none" strike="noStrike" cap="none" normalizeH="0" baseline="0">
                <a:ln>
                  <a:noFill/>
                </a:ln>
                <a:solidFill>
                  <a:schemeClr val="tx1"/>
                </a:solidFill>
                <a:effectLst/>
              </a:endParaRPr>
            </a:p>
          </p:txBody>
        </p:sp>
        <p:sp>
          <p:nvSpPr>
            <p:cNvPr id="123" name="Rectangle 38">
              <a:extLst>
                <a:ext uri="{FF2B5EF4-FFF2-40B4-BE49-F238E27FC236}">
                  <a16:creationId xmlns:a16="http://schemas.microsoft.com/office/drawing/2014/main" id="{680805CF-81CD-38FE-1761-BED928D54EA9}"/>
                </a:ext>
              </a:extLst>
            </p:cNvPr>
            <p:cNvSpPr>
              <a:spLocks noChangeArrowheads="1"/>
            </p:cNvSpPr>
            <p:nvPr/>
          </p:nvSpPr>
          <p:spPr bwMode="auto">
            <a:xfrm>
              <a:off x="3923010" y="5161837"/>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3106</a:t>
              </a:r>
              <a:endParaRPr kumimoji="0" lang="en-US" altLang="en-US" sz="800" b="0" i="0" u="none" strike="noStrike" cap="none" normalizeH="0" baseline="0">
                <a:ln>
                  <a:noFill/>
                </a:ln>
                <a:solidFill>
                  <a:schemeClr val="tx1"/>
                </a:solidFill>
                <a:effectLst/>
              </a:endParaRPr>
            </a:p>
          </p:txBody>
        </p:sp>
        <p:sp>
          <p:nvSpPr>
            <p:cNvPr id="124" name="Rectangle 39">
              <a:extLst>
                <a:ext uri="{FF2B5EF4-FFF2-40B4-BE49-F238E27FC236}">
                  <a16:creationId xmlns:a16="http://schemas.microsoft.com/office/drawing/2014/main" id="{000A8445-5DF0-D7DB-0649-9B0F052728FE}"/>
                </a:ext>
              </a:extLst>
            </p:cNvPr>
            <p:cNvSpPr>
              <a:spLocks noChangeArrowheads="1"/>
            </p:cNvSpPr>
            <p:nvPr/>
          </p:nvSpPr>
          <p:spPr bwMode="auto">
            <a:xfrm>
              <a:off x="4371892" y="5028407"/>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4531</a:t>
              </a:r>
              <a:endParaRPr kumimoji="0" lang="en-US" altLang="en-US" sz="800" b="0" i="0" u="none" strike="noStrike" cap="none" normalizeH="0" baseline="0">
                <a:ln>
                  <a:noFill/>
                </a:ln>
                <a:solidFill>
                  <a:schemeClr val="tx1"/>
                </a:solidFill>
                <a:effectLst/>
              </a:endParaRPr>
            </a:p>
          </p:txBody>
        </p:sp>
        <p:sp>
          <p:nvSpPr>
            <p:cNvPr id="125" name="Rectangle 40">
              <a:extLst>
                <a:ext uri="{FF2B5EF4-FFF2-40B4-BE49-F238E27FC236}">
                  <a16:creationId xmlns:a16="http://schemas.microsoft.com/office/drawing/2014/main" id="{AF1B72DE-E697-D5B2-EE9A-E6EF87987065}"/>
                </a:ext>
              </a:extLst>
            </p:cNvPr>
            <p:cNvSpPr>
              <a:spLocks noChangeArrowheads="1"/>
            </p:cNvSpPr>
            <p:nvPr/>
          </p:nvSpPr>
          <p:spPr bwMode="auto">
            <a:xfrm>
              <a:off x="4761463" y="4787258"/>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7005</a:t>
              </a:r>
              <a:endParaRPr kumimoji="0" lang="en-US" altLang="en-US" sz="800" b="0" i="0" u="none" strike="noStrike" cap="none" normalizeH="0" baseline="0">
                <a:ln>
                  <a:noFill/>
                </a:ln>
                <a:solidFill>
                  <a:schemeClr val="tx1"/>
                </a:solidFill>
                <a:effectLst/>
              </a:endParaRPr>
            </a:p>
          </p:txBody>
        </p:sp>
        <p:sp>
          <p:nvSpPr>
            <p:cNvPr id="126" name="Rectangle 41">
              <a:extLst>
                <a:ext uri="{FF2B5EF4-FFF2-40B4-BE49-F238E27FC236}">
                  <a16:creationId xmlns:a16="http://schemas.microsoft.com/office/drawing/2014/main" id="{EF76149E-7C6D-7A24-EF7A-158D4794FD15}"/>
                </a:ext>
              </a:extLst>
            </p:cNvPr>
            <p:cNvSpPr>
              <a:spLocks noChangeArrowheads="1"/>
            </p:cNvSpPr>
            <p:nvPr/>
          </p:nvSpPr>
          <p:spPr bwMode="auto">
            <a:xfrm>
              <a:off x="5295503" y="4686300"/>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8033</a:t>
              </a:r>
              <a:endParaRPr kumimoji="0" lang="en-US" altLang="en-US" sz="800" b="0" i="0" u="none" strike="noStrike" cap="none" normalizeH="0" baseline="0">
                <a:ln>
                  <a:noFill/>
                </a:ln>
                <a:solidFill>
                  <a:schemeClr val="tx1"/>
                </a:solidFill>
                <a:effectLst/>
              </a:endParaRPr>
            </a:p>
          </p:txBody>
        </p:sp>
        <p:sp>
          <p:nvSpPr>
            <p:cNvPr id="127" name="Rectangle 42">
              <a:extLst>
                <a:ext uri="{FF2B5EF4-FFF2-40B4-BE49-F238E27FC236}">
                  <a16:creationId xmlns:a16="http://schemas.microsoft.com/office/drawing/2014/main" id="{1B6C7A07-4170-91F8-D475-8AE124C478AD}"/>
                </a:ext>
              </a:extLst>
            </p:cNvPr>
            <p:cNvSpPr>
              <a:spLocks noChangeArrowheads="1"/>
            </p:cNvSpPr>
            <p:nvPr/>
          </p:nvSpPr>
          <p:spPr bwMode="auto">
            <a:xfrm>
              <a:off x="3626842" y="5161837"/>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3124</a:t>
              </a:r>
              <a:endParaRPr kumimoji="0" lang="en-US" altLang="en-US" sz="800" b="0" i="0" u="none" strike="noStrike" cap="none" normalizeH="0" baseline="0">
                <a:ln>
                  <a:noFill/>
                </a:ln>
                <a:solidFill>
                  <a:schemeClr val="tx1"/>
                </a:solidFill>
                <a:effectLst/>
              </a:endParaRPr>
            </a:p>
          </p:txBody>
        </p:sp>
        <p:sp>
          <p:nvSpPr>
            <p:cNvPr id="128" name="Rectangle 43">
              <a:extLst>
                <a:ext uri="{FF2B5EF4-FFF2-40B4-BE49-F238E27FC236}">
                  <a16:creationId xmlns:a16="http://schemas.microsoft.com/office/drawing/2014/main" id="{0EE0C48B-E7BB-E187-2E12-9E62D09166AF}"/>
                </a:ext>
              </a:extLst>
            </p:cNvPr>
            <p:cNvSpPr>
              <a:spLocks noChangeArrowheads="1"/>
            </p:cNvSpPr>
            <p:nvPr/>
          </p:nvSpPr>
          <p:spPr bwMode="auto">
            <a:xfrm>
              <a:off x="4080031" y="4968876"/>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5133</a:t>
              </a:r>
              <a:endParaRPr kumimoji="0" lang="en-US" altLang="en-US" sz="800" b="0" i="0" u="none" strike="noStrike" cap="none" normalizeH="0" baseline="0">
                <a:ln>
                  <a:noFill/>
                </a:ln>
                <a:solidFill>
                  <a:schemeClr val="tx1"/>
                </a:solidFill>
                <a:effectLst/>
              </a:endParaRPr>
            </a:p>
          </p:txBody>
        </p:sp>
        <p:sp>
          <p:nvSpPr>
            <p:cNvPr id="129" name="Rectangle 44">
              <a:extLst>
                <a:ext uri="{FF2B5EF4-FFF2-40B4-BE49-F238E27FC236}">
                  <a16:creationId xmlns:a16="http://schemas.microsoft.com/office/drawing/2014/main" id="{3495EAAC-D6D5-B6A7-A3C1-FF17ECCE35EF}"/>
                </a:ext>
              </a:extLst>
            </p:cNvPr>
            <p:cNvSpPr>
              <a:spLocks noChangeArrowheads="1"/>
            </p:cNvSpPr>
            <p:nvPr/>
          </p:nvSpPr>
          <p:spPr bwMode="auto">
            <a:xfrm>
              <a:off x="4539854" y="4712613"/>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7792</a:t>
              </a:r>
              <a:endParaRPr kumimoji="0" lang="en-US" altLang="en-US" sz="800" b="0" i="0" u="none" strike="noStrike" cap="none" normalizeH="0" baseline="0">
                <a:ln>
                  <a:noFill/>
                </a:ln>
                <a:solidFill>
                  <a:schemeClr val="tx1"/>
                </a:solidFill>
                <a:effectLst/>
              </a:endParaRPr>
            </a:p>
          </p:txBody>
        </p:sp>
        <p:sp>
          <p:nvSpPr>
            <p:cNvPr id="130" name="Rectangle 45">
              <a:extLst>
                <a:ext uri="{FF2B5EF4-FFF2-40B4-BE49-F238E27FC236}">
                  <a16:creationId xmlns:a16="http://schemas.microsoft.com/office/drawing/2014/main" id="{DDD8B240-19FE-3EF7-50DE-2799702A1928}"/>
                </a:ext>
              </a:extLst>
            </p:cNvPr>
            <p:cNvSpPr>
              <a:spLocks noChangeArrowheads="1"/>
            </p:cNvSpPr>
            <p:nvPr/>
          </p:nvSpPr>
          <p:spPr bwMode="auto">
            <a:xfrm>
              <a:off x="5001221" y="4575532"/>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9220</a:t>
              </a:r>
              <a:endParaRPr kumimoji="0" lang="en-US" altLang="en-US" sz="800" b="0" i="0" u="none" strike="noStrike" cap="none" normalizeH="0" baseline="0">
                <a:ln>
                  <a:noFill/>
                </a:ln>
                <a:solidFill>
                  <a:schemeClr val="tx1"/>
                </a:solidFill>
                <a:effectLst/>
              </a:endParaRPr>
            </a:p>
          </p:txBody>
        </p:sp>
        <p:sp>
          <p:nvSpPr>
            <p:cNvPr id="131" name="Rectangle 46">
              <a:extLst>
                <a:ext uri="{FF2B5EF4-FFF2-40B4-BE49-F238E27FC236}">
                  <a16:creationId xmlns:a16="http://schemas.microsoft.com/office/drawing/2014/main" id="{A928D35F-6DBD-6CF8-BBFA-296A4E082B2B}"/>
                </a:ext>
              </a:extLst>
            </p:cNvPr>
            <p:cNvSpPr>
              <a:spLocks noChangeArrowheads="1"/>
            </p:cNvSpPr>
            <p:nvPr/>
          </p:nvSpPr>
          <p:spPr bwMode="auto">
            <a:xfrm>
              <a:off x="5446548" y="4382253"/>
              <a:ext cx="25648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11212</a:t>
              </a:r>
              <a:endParaRPr kumimoji="0" lang="en-US" altLang="en-US" sz="800" b="0" i="0" u="none" strike="noStrike" cap="none" normalizeH="0" baseline="0">
                <a:ln>
                  <a:noFill/>
                </a:ln>
                <a:solidFill>
                  <a:schemeClr val="tx1"/>
                </a:solidFill>
                <a:effectLst/>
              </a:endParaRPr>
            </a:p>
          </p:txBody>
        </p:sp>
        <p:sp>
          <p:nvSpPr>
            <p:cNvPr id="132" name="Rectangle 47">
              <a:extLst>
                <a:ext uri="{FF2B5EF4-FFF2-40B4-BE49-F238E27FC236}">
                  <a16:creationId xmlns:a16="http://schemas.microsoft.com/office/drawing/2014/main" id="{5311FA2F-0159-397A-8EB2-EA5CE1BD2E45}"/>
                </a:ext>
              </a:extLst>
            </p:cNvPr>
            <p:cNvSpPr>
              <a:spLocks noChangeArrowheads="1"/>
            </p:cNvSpPr>
            <p:nvPr/>
          </p:nvSpPr>
          <p:spPr bwMode="auto">
            <a:xfrm>
              <a:off x="3714750" y="4437063"/>
              <a:ext cx="18114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4.23</a:t>
              </a:r>
              <a:endParaRPr kumimoji="0" lang="en-US" altLang="en-US" sz="800" b="0" i="0" u="none" strike="noStrike" cap="none" normalizeH="0" baseline="0">
                <a:ln>
                  <a:noFill/>
                </a:ln>
                <a:solidFill>
                  <a:schemeClr val="tx1"/>
                </a:solidFill>
                <a:effectLst/>
              </a:endParaRPr>
            </a:p>
          </p:txBody>
        </p:sp>
        <p:sp>
          <p:nvSpPr>
            <p:cNvPr id="133" name="Rectangle 48">
              <a:extLst>
                <a:ext uri="{FF2B5EF4-FFF2-40B4-BE49-F238E27FC236}">
                  <a16:creationId xmlns:a16="http://schemas.microsoft.com/office/drawing/2014/main" id="{BE5DBD54-366D-349D-7080-89B21B906D0A}"/>
                </a:ext>
              </a:extLst>
            </p:cNvPr>
            <p:cNvSpPr>
              <a:spLocks noChangeArrowheads="1"/>
            </p:cNvSpPr>
            <p:nvPr/>
          </p:nvSpPr>
          <p:spPr bwMode="auto">
            <a:xfrm>
              <a:off x="4025602" y="5406312"/>
              <a:ext cx="18114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0.62</a:t>
              </a:r>
              <a:endParaRPr kumimoji="0" lang="en-US" altLang="en-US" sz="800" b="0" i="0" u="none" strike="noStrike" cap="none" normalizeH="0" baseline="0">
                <a:ln>
                  <a:noFill/>
                </a:ln>
                <a:solidFill>
                  <a:schemeClr val="tx1"/>
                </a:solidFill>
                <a:effectLst/>
              </a:endParaRPr>
            </a:p>
          </p:txBody>
        </p:sp>
        <p:sp>
          <p:nvSpPr>
            <p:cNvPr id="134" name="Rectangle 49">
              <a:extLst>
                <a:ext uri="{FF2B5EF4-FFF2-40B4-BE49-F238E27FC236}">
                  <a16:creationId xmlns:a16="http://schemas.microsoft.com/office/drawing/2014/main" id="{EF9A7E79-0E6F-71EA-87B1-E9AD9DDD53EE}"/>
                </a:ext>
              </a:extLst>
            </p:cNvPr>
            <p:cNvSpPr>
              <a:spLocks noChangeArrowheads="1"/>
            </p:cNvSpPr>
            <p:nvPr/>
          </p:nvSpPr>
          <p:spPr bwMode="auto">
            <a:xfrm>
              <a:off x="4518502" y="5328364"/>
              <a:ext cx="18114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0.89</a:t>
              </a:r>
              <a:endParaRPr kumimoji="0" lang="en-US" altLang="en-US" sz="800" b="0" i="0" u="none" strike="noStrike" cap="none" normalizeH="0" baseline="0">
                <a:ln>
                  <a:noFill/>
                </a:ln>
                <a:solidFill>
                  <a:schemeClr val="tx1"/>
                </a:solidFill>
                <a:effectLst/>
              </a:endParaRPr>
            </a:p>
          </p:txBody>
        </p:sp>
        <p:sp>
          <p:nvSpPr>
            <p:cNvPr id="135" name="Rectangle 50">
              <a:extLst>
                <a:ext uri="{FF2B5EF4-FFF2-40B4-BE49-F238E27FC236}">
                  <a16:creationId xmlns:a16="http://schemas.microsoft.com/office/drawing/2014/main" id="{78868838-F0F4-02A9-C501-6E631D5E9B30}"/>
                </a:ext>
              </a:extLst>
            </p:cNvPr>
            <p:cNvSpPr>
              <a:spLocks noChangeArrowheads="1"/>
            </p:cNvSpPr>
            <p:nvPr/>
          </p:nvSpPr>
          <p:spPr bwMode="auto">
            <a:xfrm>
              <a:off x="4976813" y="4692650"/>
              <a:ext cx="18114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2.98</a:t>
              </a:r>
              <a:endParaRPr kumimoji="0" lang="en-US" altLang="en-US" sz="800" b="0" i="0" u="none" strike="noStrike" cap="none" normalizeH="0" baseline="0">
                <a:ln>
                  <a:noFill/>
                </a:ln>
                <a:solidFill>
                  <a:schemeClr val="tx1"/>
                </a:solidFill>
                <a:effectLst/>
              </a:endParaRPr>
            </a:p>
          </p:txBody>
        </p:sp>
        <p:sp>
          <p:nvSpPr>
            <p:cNvPr id="136" name="Rectangle 51">
              <a:extLst>
                <a:ext uri="{FF2B5EF4-FFF2-40B4-BE49-F238E27FC236}">
                  <a16:creationId xmlns:a16="http://schemas.microsoft.com/office/drawing/2014/main" id="{DEE81D4C-C06F-ED26-3059-C4F9CA2E06B0}"/>
                </a:ext>
              </a:extLst>
            </p:cNvPr>
            <p:cNvSpPr>
              <a:spLocks noChangeArrowheads="1"/>
            </p:cNvSpPr>
            <p:nvPr/>
          </p:nvSpPr>
          <p:spPr bwMode="auto">
            <a:xfrm>
              <a:off x="5442578" y="5379761"/>
              <a:ext cx="18114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0.68</a:t>
              </a:r>
              <a:endParaRPr kumimoji="0" lang="en-US" altLang="en-US" sz="800" b="0" i="0" u="none" strike="noStrike" cap="none" normalizeH="0" baseline="0">
                <a:ln>
                  <a:noFill/>
                </a:ln>
                <a:solidFill>
                  <a:schemeClr val="tx1"/>
                </a:solidFill>
                <a:effectLst/>
              </a:endParaRPr>
            </a:p>
          </p:txBody>
        </p:sp>
        <p:sp>
          <p:nvSpPr>
            <p:cNvPr id="153" name="Rectangle 68">
              <a:extLst>
                <a:ext uri="{FF2B5EF4-FFF2-40B4-BE49-F238E27FC236}">
                  <a16:creationId xmlns:a16="http://schemas.microsoft.com/office/drawing/2014/main" id="{08506736-FEF3-E95E-F243-5D9A3EC9AB19}"/>
                </a:ext>
              </a:extLst>
            </p:cNvPr>
            <p:cNvSpPr>
              <a:spLocks noChangeArrowheads="1"/>
            </p:cNvSpPr>
            <p:nvPr/>
          </p:nvSpPr>
          <p:spPr bwMode="auto">
            <a:xfrm>
              <a:off x="3493770" y="5569268"/>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Mar-21</a:t>
              </a:r>
              <a:endParaRPr kumimoji="0" lang="en-US" altLang="en-US" sz="800" b="0" i="0" u="none" strike="noStrike" cap="none" normalizeH="0" baseline="0">
                <a:ln>
                  <a:noFill/>
                </a:ln>
                <a:solidFill>
                  <a:schemeClr val="tx1"/>
                </a:solidFill>
                <a:effectLst/>
              </a:endParaRPr>
            </a:p>
          </p:txBody>
        </p:sp>
        <p:sp>
          <p:nvSpPr>
            <p:cNvPr id="154" name="Rectangle 69">
              <a:extLst>
                <a:ext uri="{FF2B5EF4-FFF2-40B4-BE49-F238E27FC236}">
                  <a16:creationId xmlns:a16="http://schemas.microsoft.com/office/drawing/2014/main" id="{580D1B63-2881-141E-E75E-55FF7C90C32E}"/>
                </a:ext>
              </a:extLst>
            </p:cNvPr>
            <p:cNvSpPr>
              <a:spLocks noChangeArrowheads="1"/>
            </p:cNvSpPr>
            <p:nvPr/>
          </p:nvSpPr>
          <p:spPr bwMode="auto">
            <a:xfrm>
              <a:off x="3962400" y="5566728"/>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Mar-22</a:t>
              </a:r>
              <a:endParaRPr kumimoji="0" lang="en-US" altLang="en-US" sz="800" b="0" i="0" u="none" strike="noStrike" cap="none" normalizeH="0" baseline="0">
                <a:ln>
                  <a:noFill/>
                </a:ln>
                <a:solidFill>
                  <a:schemeClr val="tx1"/>
                </a:solidFill>
                <a:effectLst/>
              </a:endParaRPr>
            </a:p>
          </p:txBody>
        </p:sp>
        <p:sp>
          <p:nvSpPr>
            <p:cNvPr id="155" name="Rectangle 70">
              <a:extLst>
                <a:ext uri="{FF2B5EF4-FFF2-40B4-BE49-F238E27FC236}">
                  <a16:creationId xmlns:a16="http://schemas.microsoft.com/office/drawing/2014/main" id="{020D4B4D-9DFE-2AD1-2583-E292E976F1A2}"/>
                </a:ext>
              </a:extLst>
            </p:cNvPr>
            <p:cNvSpPr>
              <a:spLocks noChangeArrowheads="1"/>
            </p:cNvSpPr>
            <p:nvPr/>
          </p:nvSpPr>
          <p:spPr bwMode="auto">
            <a:xfrm>
              <a:off x="4428490" y="5566728"/>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Mar-23</a:t>
              </a:r>
              <a:endParaRPr kumimoji="0" lang="en-US" altLang="en-US" sz="800" b="0" i="0" u="none" strike="noStrike" cap="none" normalizeH="0" baseline="0">
                <a:ln>
                  <a:noFill/>
                </a:ln>
                <a:solidFill>
                  <a:schemeClr val="tx1"/>
                </a:solidFill>
                <a:effectLst/>
              </a:endParaRPr>
            </a:p>
          </p:txBody>
        </p:sp>
        <p:sp>
          <p:nvSpPr>
            <p:cNvPr id="156" name="Rectangle 71">
              <a:extLst>
                <a:ext uri="{FF2B5EF4-FFF2-40B4-BE49-F238E27FC236}">
                  <a16:creationId xmlns:a16="http://schemas.microsoft.com/office/drawing/2014/main" id="{477D0AAA-AB28-8E73-17AF-99286084EEE3}"/>
                </a:ext>
              </a:extLst>
            </p:cNvPr>
            <p:cNvSpPr>
              <a:spLocks noChangeArrowheads="1"/>
            </p:cNvSpPr>
            <p:nvPr/>
          </p:nvSpPr>
          <p:spPr bwMode="auto">
            <a:xfrm>
              <a:off x="4889500" y="5573668"/>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Mar-24</a:t>
              </a:r>
              <a:endParaRPr kumimoji="0" lang="en-US" altLang="en-US" sz="800" b="0" i="0" u="none" strike="noStrike" cap="none" normalizeH="0" baseline="0">
                <a:ln>
                  <a:noFill/>
                </a:ln>
                <a:solidFill>
                  <a:schemeClr val="tx1"/>
                </a:solidFill>
                <a:effectLst/>
              </a:endParaRPr>
            </a:p>
          </p:txBody>
        </p:sp>
        <p:sp>
          <p:nvSpPr>
            <p:cNvPr id="157" name="Rectangle 72">
              <a:extLst>
                <a:ext uri="{FF2B5EF4-FFF2-40B4-BE49-F238E27FC236}">
                  <a16:creationId xmlns:a16="http://schemas.microsoft.com/office/drawing/2014/main" id="{2E094A91-1342-5835-F431-38B1E429F7E3}"/>
                </a:ext>
              </a:extLst>
            </p:cNvPr>
            <p:cNvSpPr>
              <a:spLocks noChangeArrowheads="1"/>
            </p:cNvSpPr>
            <p:nvPr/>
          </p:nvSpPr>
          <p:spPr bwMode="auto">
            <a:xfrm>
              <a:off x="5353050" y="5571808"/>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Mar-25</a:t>
              </a:r>
              <a:endParaRPr kumimoji="0" lang="en-US" altLang="en-US" sz="800" b="0" i="0" u="none" strike="noStrike" cap="none" normalizeH="0" baseline="0">
                <a:ln>
                  <a:noFill/>
                </a:ln>
                <a:solidFill>
                  <a:schemeClr val="tx1"/>
                </a:solidFill>
                <a:effectLst/>
              </a:endParaRPr>
            </a:p>
          </p:txBody>
        </p:sp>
        <p:sp>
          <p:nvSpPr>
            <p:cNvPr id="158" name="Rectangle 73">
              <a:extLst>
                <a:ext uri="{FF2B5EF4-FFF2-40B4-BE49-F238E27FC236}">
                  <a16:creationId xmlns:a16="http://schemas.microsoft.com/office/drawing/2014/main" id="{83B276D9-952E-0BDC-8A37-AC855C0CFED6}"/>
                </a:ext>
              </a:extLst>
            </p:cNvPr>
            <p:cNvSpPr>
              <a:spLocks noChangeArrowheads="1"/>
            </p:cNvSpPr>
            <p:nvPr/>
          </p:nvSpPr>
          <p:spPr bwMode="auto">
            <a:xfrm>
              <a:off x="3729434" y="4150004"/>
              <a:ext cx="163044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6600"/>
                  </a:solidFill>
                  <a:effectLst/>
                  <a:latin typeface="Calibri" panose="020F0502020204030204" pitchFamily="34" charset="0"/>
                </a:rPr>
                <a:t>Revenue v/s EBIT v/s DOL</a:t>
              </a:r>
              <a:endParaRPr kumimoji="0" lang="en-US" altLang="en-US" sz="1200" b="0" i="0" u="none" strike="noStrike" cap="none" normalizeH="0" baseline="0">
                <a:ln>
                  <a:noFill/>
                </a:ln>
                <a:solidFill>
                  <a:schemeClr val="tx1"/>
                </a:solidFill>
                <a:effectLst/>
              </a:endParaRPr>
            </a:p>
          </p:txBody>
        </p:sp>
        <p:sp>
          <p:nvSpPr>
            <p:cNvPr id="159" name="Rectangle 74">
              <a:extLst>
                <a:ext uri="{FF2B5EF4-FFF2-40B4-BE49-F238E27FC236}">
                  <a16:creationId xmlns:a16="http://schemas.microsoft.com/office/drawing/2014/main" id="{4004E10E-7212-F70F-D049-D91AB7E2467A}"/>
                </a:ext>
              </a:extLst>
            </p:cNvPr>
            <p:cNvSpPr>
              <a:spLocks noChangeArrowheads="1"/>
            </p:cNvSpPr>
            <p:nvPr/>
          </p:nvSpPr>
          <p:spPr bwMode="auto">
            <a:xfrm>
              <a:off x="3522413" y="5826126"/>
              <a:ext cx="153987" cy="54590"/>
            </a:xfrm>
            <a:prstGeom prst="rect">
              <a:avLst/>
            </a:prstGeom>
            <a:solidFill>
              <a:srgbClr val="C5E0B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60" name="Rectangle 75">
              <a:extLst>
                <a:ext uri="{FF2B5EF4-FFF2-40B4-BE49-F238E27FC236}">
                  <a16:creationId xmlns:a16="http://schemas.microsoft.com/office/drawing/2014/main" id="{42978EFE-D698-9227-B36D-B054BB9BC893}"/>
                </a:ext>
              </a:extLst>
            </p:cNvPr>
            <p:cNvSpPr>
              <a:spLocks noChangeArrowheads="1"/>
            </p:cNvSpPr>
            <p:nvPr/>
          </p:nvSpPr>
          <p:spPr bwMode="auto">
            <a:xfrm>
              <a:off x="3692342" y="5786974"/>
              <a:ext cx="116378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Profit before Interest &amp; Tax</a:t>
              </a:r>
              <a:endParaRPr kumimoji="0" lang="en-US" altLang="en-US" sz="800" b="0" i="0" u="none" strike="noStrike" cap="none" normalizeH="0" baseline="0">
                <a:ln>
                  <a:noFill/>
                </a:ln>
                <a:solidFill>
                  <a:schemeClr val="tx1"/>
                </a:solidFill>
                <a:effectLst/>
              </a:endParaRPr>
            </a:p>
          </p:txBody>
        </p:sp>
        <p:sp>
          <p:nvSpPr>
            <p:cNvPr id="161" name="Rectangle 76">
              <a:extLst>
                <a:ext uri="{FF2B5EF4-FFF2-40B4-BE49-F238E27FC236}">
                  <a16:creationId xmlns:a16="http://schemas.microsoft.com/office/drawing/2014/main" id="{F36DE900-A997-D406-4097-18DD3F14DC7B}"/>
                </a:ext>
              </a:extLst>
            </p:cNvPr>
            <p:cNvSpPr>
              <a:spLocks noChangeArrowheads="1"/>
            </p:cNvSpPr>
            <p:nvPr/>
          </p:nvSpPr>
          <p:spPr bwMode="auto">
            <a:xfrm>
              <a:off x="4972844" y="5826126"/>
              <a:ext cx="153987" cy="57719"/>
            </a:xfrm>
            <a:prstGeom prst="rect">
              <a:avLst/>
            </a:prstGeom>
            <a:solidFill>
              <a:srgbClr val="187C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62" name="Rectangle 77">
              <a:extLst>
                <a:ext uri="{FF2B5EF4-FFF2-40B4-BE49-F238E27FC236}">
                  <a16:creationId xmlns:a16="http://schemas.microsoft.com/office/drawing/2014/main" id="{2EDBE2C9-55E7-8199-7CAB-B399340853C8}"/>
                </a:ext>
              </a:extLst>
            </p:cNvPr>
            <p:cNvSpPr>
              <a:spLocks noChangeArrowheads="1"/>
            </p:cNvSpPr>
            <p:nvPr/>
          </p:nvSpPr>
          <p:spPr bwMode="auto">
            <a:xfrm>
              <a:off x="5158715" y="5784414"/>
              <a:ext cx="545021"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Net Revenue</a:t>
              </a:r>
              <a:endParaRPr kumimoji="0" lang="en-US" altLang="en-US" sz="800" b="0" i="0" u="none" strike="noStrike" cap="none" normalizeH="0" baseline="0">
                <a:ln>
                  <a:noFill/>
                </a:ln>
                <a:solidFill>
                  <a:schemeClr val="tx1"/>
                </a:solidFill>
                <a:effectLst/>
              </a:endParaRPr>
            </a:p>
          </p:txBody>
        </p:sp>
        <p:sp>
          <p:nvSpPr>
            <p:cNvPr id="163" name="Line 78">
              <a:extLst>
                <a:ext uri="{FF2B5EF4-FFF2-40B4-BE49-F238E27FC236}">
                  <a16:creationId xmlns:a16="http://schemas.microsoft.com/office/drawing/2014/main" id="{5D050BFF-63C8-BCC4-A110-B14615338478}"/>
                </a:ext>
              </a:extLst>
            </p:cNvPr>
            <p:cNvSpPr>
              <a:spLocks noChangeShapeType="1"/>
            </p:cNvSpPr>
            <p:nvPr/>
          </p:nvSpPr>
          <p:spPr bwMode="auto">
            <a:xfrm>
              <a:off x="4622649" y="5969356"/>
              <a:ext cx="153987" cy="0"/>
            </a:xfrm>
            <a:prstGeom prst="line">
              <a:avLst/>
            </a:prstGeom>
            <a:noFill/>
            <a:ln w="19050" cap="rnd">
              <a:solidFill>
                <a:srgbClr val="0033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64" name="Rectangle 79">
              <a:extLst>
                <a:ext uri="{FF2B5EF4-FFF2-40B4-BE49-F238E27FC236}">
                  <a16:creationId xmlns:a16="http://schemas.microsoft.com/office/drawing/2014/main" id="{7D4233FC-F525-6375-26F0-7231F339D728}"/>
                </a:ext>
              </a:extLst>
            </p:cNvPr>
            <p:cNvSpPr>
              <a:spLocks noChangeArrowheads="1"/>
            </p:cNvSpPr>
            <p:nvPr/>
          </p:nvSpPr>
          <p:spPr bwMode="auto">
            <a:xfrm>
              <a:off x="4810140" y="5907801"/>
              <a:ext cx="17633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DOL</a:t>
              </a:r>
              <a:endParaRPr kumimoji="0" lang="en-US" altLang="en-US" sz="800" b="0" i="0" u="none" strike="noStrike" cap="none" normalizeH="0" baseline="0">
                <a:ln>
                  <a:noFill/>
                </a:ln>
                <a:solidFill>
                  <a:schemeClr val="tx1"/>
                </a:solidFill>
                <a:effectLst/>
              </a:endParaRPr>
            </a:p>
          </p:txBody>
        </p:sp>
        <p:sp>
          <p:nvSpPr>
            <p:cNvPr id="165" name="Rectangle 80">
              <a:extLst>
                <a:ext uri="{FF2B5EF4-FFF2-40B4-BE49-F238E27FC236}">
                  <a16:creationId xmlns:a16="http://schemas.microsoft.com/office/drawing/2014/main" id="{85E6DAFD-F7E4-8F94-1C11-49B3DB7B97D4}"/>
                </a:ext>
              </a:extLst>
            </p:cNvPr>
            <p:cNvSpPr>
              <a:spLocks noChangeArrowheads="1"/>
            </p:cNvSpPr>
            <p:nvPr/>
          </p:nvSpPr>
          <p:spPr bwMode="auto">
            <a:xfrm>
              <a:off x="3113088" y="4114800"/>
              <a:ext cx="2865437" cy="1822450"/>
            </a:xfrm>
            <a:prstGeom prst="rect">
              <a:avLst/>
            </a:prstGeom>
            <a:noFill/>
            <a:ln w="6350" cap="flat">
              <a:no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grpSp>
        <p:nvGrpSpPr>
          <p:cNvPr id="206" name="Group 205">
            <a:extLst>
              <a:ext uri="{FF2B5EF4-FFF2-40B4-BE49-F238E27FC236}">
                <a16:creationId xmlns:a16="http://schemas.microsoft.com/office/drawing/2014/main" id="{C2D4BC1D-F2AF-3001-D9EC-08E095CE7EF8}"/>
              </a:ext>
            </a:extLst>
          </p:cNvPr>
          <p:cNvGrpSpPr/>
          <p:nvPr/>
        </p:nvGrpSpPr>
        <p:grpSpPr>
          <a:xfrm>
            <a:off x="130175" y="6234113"/>
            <a:ext cx="3134181" cy="1990725"/>
            <a:chOff x="130175" y="6234113"/>
            <a:chExt cx="3232150" cy="1990725"/>
          </a:xfrm>
        </p:grpSpPr>
        <p:sp>
          <p:nvSpPr>
            <p:cNvPr id="170" name="AutoShape 82">
              <a:extLst>
                <a:ext uri="{FF2B5EF4-FFF2-40B4-BE49-F238E27FC236}">
                  <a16:creationId xmlns:a16="http://schemas.microsoft.com/office/drawing/2014/main" id="{99D26D8D-2BD2-4D41-92F7-C76E3E9C3D76}"/>
                </a:ext>
              </a:extLst>
            </p:cNvPr>
            <p:cNvSpPr>
              <a:spLocks noChangeAspect="1" noChangeArrowheads="1" noTextEdit="1"/>
            </p:cNvSpPr>
            <p:nvPr/>
          </p:nvSpPr>
          <p:spPr bwMode="auto">
            <a:xfrm>
              <a:off x="130175" y="6234113"/>
              <a:ext cx="323215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1" name="Rectangle 84">
              <a:extLst>
                <a:ext uri="{FF2B5EF4-FFF2-40B4-BE49-F238E27FC236}">
                  <a16:creationId xmlns:a16="http://schemas.microsoft.com/office/drawing/2014/main" id="{5A2EDFFA-EB61-E403-6CA1-62C9E5BC7BC1}"/>
                </a:ext>
              </a:extLst>
            </p:cNvPr>
            <p:cNvSpPr>
              <a:spLocks noChangeArrowheads="1"/>
            </p:cNvSpPr>
            <p:nvPr/>
          </p:nvSpPr>
          <p:spPr bwMode="auto">
            <a:xfrm>
              <a:off x="133350" y="6237288"/>
              <a:ext cx="3225800" cy="1984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2" name="Freeform 85">
              <a:extLst>
                <a:ext uri="{FF2B5EF4-FFF2-40B4-BE49-F238E27FC236}">
                  <a16:creationId xmlns:a16="http://schemas.microsoft.com/office/drawing/2014/main" id="{5C9AE568-2078-E01C-A6FB-0DADA0BC63D1}"/>
                </a:ext>
              </a:extLst>
            </p:cNvPr>
            <p:cNvSpPr>
              <a:spLocks noEditPoints="1"/>
            </p:cNvSpPr>
            <p:nvPr/>
          </p:nvSpPr>
          <p:spPr bwMode="auto">
            <a:xfrm>
              <a:off x="398463" y="6656388"/>
              <a:ext cx="2695575" cy="1354138"/>
            </a:xfrm>
            <a:custGeom>
              <a:avLst/>
              <a:gdLst>
                <a:gd name="T0" fmla="*/ 0 w 1698"/>
                <a:gd name="T1" fmla="*/ 25 h 853"/>
                <a:gd name="T2" fmla="*/ 173 w 1698"/>
                <a:gd name="T3" fmla="*/ 25 h 853"/>
                <a:gd name="T4" fmla="*/ 173 w 1698"/>
                <a:gd name="T5" fmla="*/ 853 h 853"/>
                <a:gd name="T6" fmla="*/ 0 w 1698"/>
                <a:gd name="T7" fmla="*/ 853 h 853"/>
                <a:gd name="T8" fmla="*/ 0 w 1698"/>
                <a:gd name="T9" fmla="*/ 25 h 853"/>
                <a:gd name="T10" fmla="*/ 381 w 1698"/>
                <a:gd name="T11" fmla="*/ 136 h 853"/>
                <a:gd name="T12" fmla="*/ 555 w 1698"/>
                <a:gd name="T13" fmla="*/ 136 h 853"/>
                <a:gd name="T14" fmla="*/ 555 w 1698"/>
                <a:gd name="T15" fmla="*/ 853 h 853"/>
                <a:gd name="T16" fmla="*/ 381 w 1698"/>
                <a:gd name="T17" fmla="*/ 853 h 853"/>
                <a:gd name="T18" fmla="*/ 381 w 1698"/>
                <a:gd name="T19" fmla="*/ 136 h 853"/>
                <a:gd name="T20" fmla="*/ 763 w 1698"/>
                <a:gd name="T21" fmla="*/ 146 h 853"/>
                <a:gd name="T22" fmla="*/ 936 w 1698"/>
                <a:gd name="T23" fmla="*/ 146 h 853"/>
                <a:gd name="T24" fmla="*/ 936 w 1698"/>
                <a:gd name="T25" fmla="*/ 853 h 853"/>
                <a:gd name="T26" fmla="*/ 763 w 1698"/>
                <a:gd name="T27" fmla="*/ 853 h 853"/>
                <a:gd name="T28" fmla="*/ 763 w 1698"/>
                <a:gd name="T29" fmla="*/ 146 h 853"/>
                <a:gd name="T30" fmla="*/ 1144 w 1698"/>
                <a:gd name="T31" fmla="*/ 0 h 853"/>
                <a:gd name="T32" fmla="*/ 1317 w 1698"/>
                <a:gd name="T33" fmla="*/ 0 h 853"/>
                <a:gd name="T34" fmla="*/ 1317 w 1698"/>
                <a:gd name="T35" fmla="*/ 853 h 853"/>
                <a:gd name="T36" fmla="*/ 1144 w 1698"/>
                <a:gd name="T37" fmla="*/ 853 h 853"/>
                <a:gd name="T38" fmla="*/ 1144 w 1698"/>
                <a:gd name="T39" fmla="*/ 0 h 853"/>
                <a:gd name="T40" fmla="*/ 1525 w 1698"/>
                <a:gd name="T41" fmla="*/ 95 h 853"/>
                <a:gd name="T42" fmla="*/ 1698 w 1698"/>
                <a:gd name="T43" fmla="*/ 95 h 853"/>
                <a:gd name="T44" fmla="*/ 1698 w 1698"/>
                <a:gd name="T45" fmla="*/ 853 h 853"/>
                <a:gd name="T46" fmla="*/ 1525 w 1698"/>
                <a:gd name="T47" fmla="*/ 853 h 853"/>
                <a:gd name="T48" fmla="*/ 1525 w 1698"/>
                <a:gd name="T49" fmla="*/ 95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98" h="853">
                  <a:moveTo>
                    <a:pt x="0" y="25"/>
                  </a:moveTo>
                  <a:lnTo>
                    <a:pt x="173" y="25"/>
                  </a:lnTo>
                  <a:lnTo>
                    <a:pt x="173" y="853"/>
                  </a:lnTo>
                  <a:lnTo>
                    <a:pt x="0" y="853"/>
                  </a:lnTo>
                  <a:lnTo>
                    <a:pt x="0" y="25"/>
                  </a:lnTo>
                  <a:close/>
                  <a:moveTo>
                    <a:pt x="381" y="136"/>
                  </a:moveTo>
                  <a:lnTo>
                    <a:pt x="555" y="136"/>
                  </a:lnTo>
                  <a:lnTo>
                    <a:pt x="555" y="853"/>
                  </a:lnTo>
                  <a:lnTo>
                    <a:pt x="381" y="853"/>
                  </a:lnTo>
                  <a:lnTo>
                    <a:pt x="381" y="136"/>
                  </a:lnTo>
                  <a:close/>
                  <a:moveTo>
                    <a:pt x="763" y="146"/>
                  </a:moveTo>
                  <a:lnTo>
                    <a:pt x="936" y="146"/>
                  </a:lnTo>
                  <a:lnTo>
                    <a:pt x="936" y="853"/>
                  </a:lnTo>
                  <a:lnTo>
                    <a:pt x="763" y="853"/>
                  </a:lnTo>
                  <a:lnTo>
                    <a:pt x="763" y="146"/>
                  </a:lnTo>
                  <a:close/>
                  <a:moveTo>
                    <a:pt x="1144" y="0"/>
                  </a:moveTo>
                  <a:lnTo>
                    <a:pt x="1317" y="0"/>
                  </a:lnTo>
                  <a:lnTo>
                    <a:pt x="1317" y="853"/>
                  </a:lnTo>
                  <a:lnTo>
                    <a:pt x="1144" y="853"/>
                  </a:lnTo>
                  <a:lnTo>
                    <a:pt x="1144" y="0"/>
                  </a:lnTo>
                  <a:close/>
                  <a:moveTo>
                    <a:pt x="1525" y="95"/>
                  </a:moveTo>
                  <a:lnTo>
                    <a:pt x="1698" y="95"/>
                  </a:lnTo>
                  <a:lnTo>
                    <a:pt x="1698" y="853"/>
                  </a:lnTo>
                  <a:lnTo>
                    <a:pt x="1525" y="853"/>
                  </a:lnTo>
                  <a:lnTo>
                    <a:pt x="1525" y="95"/>
                  </a:lnTo>
                  <a:close/>
                </a:path>
              </a:pathLst>
            </a:custGeom>
            <a:solidFill>
              <a:srgbClr val="187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3" name="Rectangle 86">
              <a:extLst>
                <a:ext uri="{FF2B5EF4-FFF2-40B4-BE49-F238E27FC236}">
                  <a16:creationId xmlns:a16="http://schemas.microsoft.com/office/drawing/2014/main" id="{3BC72143-52F1-4D69-09E8-E8F24D3BA514}"/>
                </a:ext>
              </a:extLst>
            </p:cNvPr>
            <p:cNvSpPr>
              <a:spLocks noChangeArrowheads="1"/>
            </p:cNvSpPr>
            <p:nvPr/>
          </p:nvSpPr>
          <p:spPr bwMode="auto">
            <a:xfrm>
              <a:off x="377190" y="6576417"/>
              <a:ext cx="30777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10.98%</a:t>
              </a:r>
              <a:endParaRPr kumimoji="0" lang="en-US" altLang="en-US" sz="800" b="0" i="0" u="none" strike="noStrike" cap="none" normalizeH="0" baseline="0">
                <a:ln>
                  <a:noFill/>
                </a:ln>
                <a:solidFill>
                  <a:schemeClr val="tx1"/>
                </a:solidFill>
                <a:effectLst/>
              </a:endParaRPr>
            </a:p>
          </p:txBody>
        </p:sp>
        <p:sp>
          <p:nvSpPr>
            <p:cNvPr id="185" name="Rectangle 87">
              <a:extLst>
                <a:ext uri="{FF2B5EF4-FFF2-40B4-BE49-F238E27FC236}">
                  <a16:creationId xmlns:a16="http://schemas.microsoft.com/office/drawing/2014/main" id="{7A4219A0-C63D-BE5C-6DC7-15E12A0404BC}"/>
                </a:ext>
              </a:extLst>
            </p:cNvPr>
            <p:cNvSpPr>
              <a:spLocks noChangeArrowheads="1"/>
            </p:cNvSpPr>
            <p:nvPr/>
          </p:nvSpPr>
          <p:spPr bwMode="auto">
            <a:xfrm>
              <a:off x="1015683" y="6759579"/>
              <a:ext cx="25648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9.50%</a:t>
              </a:r>
              <a:endParaRPr kumimoji="0" lang="en-US" altLang="en-US" sz="800" b="0" i="0" u="none" strike="noStrike" cap="none" normalizeH="0" baseline="0">
                <a:ln>
                  <a:noFill/>
                </a:ln>
                <a:solidFill>
                  <a:schemeClr val="tx1"/>
                </a:solidFill>
                <a:effectLst/>
              </a:endParaRPr>
            </a:p>
          </p:txBody>
        </p:sp>
        <p:sp>
          <p:nvSpPr>
            <p:cNvPr id="187" name="Rectangle 88">
              <a:extLst>
                <a:ext uri="{FF2B5EF4-FFF2-40B4-BE49-F238E27FC236}">
                  <a16:creationId xmlns:a16="http://schemas.microsoft.com/office/drawing/2014/main" id="{18E9C77A-81DF-DD7A-1D25-EEF13E40CBD5}"/>
                </a:ext>
              </a:extLst>
            </p:cNvPr>
            <p:cNvSpPr>
              <a:spLocks noChangeArrowheads="1"/>
            </p:cNvSpPr>
            <p:nvPr/>
          </p:nvSpPr>
          <p:spPr bwMode="auto">
            <a:xfrm>
              <a:off x="1618010" y="6776724"/>
              <a:ext cx="25648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9.38%</a:t>
              </a:r>
              <a:endParaRPr kumimoji="0" lang="en-US" altLang="en-US" sz="800" b="0" i="0" u="none" strike="noStrike" cap="none" normalizeH="0" baseline="0">
                <a:ln>
                  <a:noFill/>
                </a:ln>
                <a:solidFill>
                  <a:schemeClr val="tx1"/>
                </a:solidFill>
                <a:effectLst/>
              </a:endParaRPr>
            </a:p>
          </p:txBody>
        </p:sp>
        <p:sp>
          <p:nvSpPr>
            <p:cNvPr id="189" name="Rectangle 89">
              <a:extLst>
                <a:ext uri="{FF2B5EF4-FFF2-40B4-BE49-F238E27FC236}">
                  <a16:creationId xmlns:a16="http://schemas.microsoft.com/office/drawing/2014/main" id="{AFE6D2B0-8B48-C6CE-3E88-4215E9E7D070}"/>
                </a:ext>
              </a:extLst>
            </p:cNvPr>
            <p:cNvSpPr>
              <a:spLocks noChangeArrowheads="1"/>
            </p:cNvSpPr>
            <p:nvPr/>
          </p:nvSpPr>
          <p:spPr bwMode="auto">
            <a:xfrm>
              <a:off x="2200910" y="6542604"/>
              <a:ext cx="30777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11.30%</a:t>
              </a:r>
              <a:endParaRPr kumimoji="0" lang="en-US" altLang="en-US" sz="800" b="0" i="0" u="none" strike="noStrike" cap="none" normalizeH="0" baseline="0">
                <a:ln>
                  <a:noFill/>
                </a:ln>
                <a:solidFill>
                  <a:schemeClr val="tx1"/>
                </a:solidFill>
                <a:effectLst/>
              </a:endParaRPr>
            </a:p>
          </p:txBody>
        </p:sp>
        <p:sp>
          <p:nvSpPr>
            <p:cNvPr id="193" name="Rectangle 90">
              <a:extLst>
                <a:ext uri="{FF2B5EF4-FFF2-40B4-BE49-F238E27FC236}">
                  <a16:creationId xmlns:a16="http://schemas.microsoft.com/office/drawing/2014/main" id="{4A5E3351-7C88-A594-FAAC-6F250B9EBAA5}"/>
                </a:ext>
              </a:extLst>
            </p:cNvPr>
            <p:cNvSpPr>
              <a:spLocks noChangeArrowheads="1"/>
            </p:cNvSpPr>
            <p:nvPr/>
          </p:nvSpPr>
          <p:spPr bwMode="auto">
            <a:xfrm>
              <a:off x="2800052" y="6694170"/>
              <a:ext cx="30777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10.05%</a:t>
              </a:r>
              <a:endParaRPr kumimoji="0" lang="en-US" altLang="en-US" sz="800" b="0" i="0" u="none" strike="noStrike" cap="none" normalizeH="0" baseline="0">
                <a:ln>
                  <a:noFill/>
                </a:ln>
                <a:solidFill>
                  <a:schemeClr val="tx1"/>
                </a:solidFill>
                <a:effectLst/>
              </a:endParaRPr>
            </a:p>
          </p:txBody>
        </p:sp>
        <p:sp>
          <p:nvSpPr>
            <p:cNvPr id="199" name="Rectangle 91">
              <a:extLst>
                <a:ext uri="{FF2B5EF4-FFF2-40B4-BE49-F238E27FC236}">
                  <a16:creationId xmlns:a16="http://schemas.microsoft.com/office/drawing/2014/main" id="{3BCCFE40-43F9-A51D-8EDE-A22EB074685B}"/>
                </a:ext>
              </a:extLst>
            </p:cNvPr>
            <p:cNvSpPr>
              <a:spLocks noChangeArrowheads="1"/>
            </p:cNvSpPr>
            <p:nvPr/>
          </p:nvSpPr>
          <p:spPr bwMode="auto">
            <a:xfrm>
              <a:off x="381413" y="8009772"/>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Mar-21</a:t>
              </a:r>
              <a:endParaRPr kumimoji="0" lang="en-US" altLang="en-US" sz="800" b="0" i="0" u="none" strike="noStrike" cap="none" normalizeH="0" baseline="0">
                <a:ln>
                  <a:noFill/>
                </a:ln>
                <a:solidFill>
                  <a:schemeClr val="tx1"/>
                </a:solidFill>
                <a:effectLst/>
              </a:endParaRPr>
            </a:p>
          </p:txBody>
        </p:sp>
        <p:sp>
          <p:nvSpPr>
            <p:cNvPr id="200" name="Rectangle 92">
              <a:extLst>
                <a:ext uri="{FF2B5EF4-FFF2-40B4-BE49-F238E27FC236}">
                  <a16:creationId xmlns:a16="http://schemas.microsoft.com/office/drawing/2014/main" id="{0FB79096-F16A-1733-1408-F047EBA7E0B4}"/>
                </a:ext>
              </a:extLst>
            </p:cNvPr>
            <p:cNvSpPr>
              <a:spLocks noChangeArrowheads="1"/>
            </p:cNvSpPr>
            <p:nvPr/>
          </p:nvSpPr>
          <p:spPr bwMode="auto">
            <a:xfrm>
              <a:off x="989535" y="8007232"/>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Mar-22</a:t>
              </a:r>
              <a:endParaRPr kumimoji="0" lang="en-US" altLang="en-US" sz="800" b="0" i="0" u="none" strike="noStrike" cap="none" normalizeH="0" baseline="0">
                <a:ln>
                  <a:noFill/>
                </a:ln>
                <a:solidFill>
                  <a:schemeClr val="tx1"/>
                </a:solidFill>
                <a:effectLst/>
              </a:endParaRPr>
            </a:p>
          </p:txBody>
        </p:sp>
        <p:sp>
          <p:nvSpPr>
            <p:cNvPr id="201" name="Rectangle 93">
              <a:extLst>
                <a:ext uri="{FF2B5EF4-FFF2-40B4-BE49-F238E27FC236}">
                  <a16:creationId xmlns:a16="http://schemas.microsoft.com/office/drawing/2014/main" id="{FD44CDA1-30B0-964A-8A73-60A168C80041}"/>
                </a:ext>
              </a:extLst>
            </p:cNvPr>
            <p:cNvSpPr>
              <a:spLocks noChangeArrowheads="1"/>
            </p:cNvSpPr>
            <p:nvPr/>
          </p:nvSpPr>
          <p:spPr bwMode="auto">
            <a:xfrm>
              <a:off x="1594285" y="8007232"/>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Mar-23</a:t>
              </a:r>
              <a:endParaRPr kumimoji="0" lang="en-US" altLang="en-US" sz="800" b="0" i="0" u="none" strike="noStrike" cap="none" normalizeH="0" baseline="0">
                <a:ln>
                  <a:noFill/>
                </a:ln>
                <a:solidFill>
                  <a:schemeClr val="tx1"/>
                </a:solidFill>
                <a:effectLst/>
              </a:endParaRPr>
            </a:p>
          </p:txBody>
        </p:sp>
        <p:sp>
          <p:nvSpPr>
            <p:cNvPr id="202" name="Rectangle 94">
              <a:extLst>
                <a:ext uri="{FF2B5EF4-FFF2-40B4-BE49-F238E27FC236}">
                  <a16:creationId xmlns:a16="http://schemas.microsoft.com/office/drawing/2014/main" id="{8A2FFA22-D521-B747-42FE-54BB9BB23095}"/>
                </a:ext>
              </a:extLst>
            </p:cNvPr>
            <p:cNvSpPr>
              <a:spLocks noChangeArrowheads="1"/>
            </p:cNvSpPr>
            <p:nvPr/>
          </p:nvSpPr>
          <p:spPr bwMode="auto">
            <a:xfrm>
              <a:off x="2198505" y="8009772"/>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Mar-24</a:t>
              </a:r>
              <a:endParaRPr kumimoji="0" lang="en-US" altLang="en-US" sz="800" b="0" i="0" u="none" strike="noStrike" cap="none" normalizeH="0" baseline="0">
                <a:ln>
                  <a:noFill/>
                </a:ln>
                <a:solidFill>
                  <a:schemeClr val="tx1"/>
                </a:solidFill>
                <a:effectLst/>
              </a:endParaRPr>
            </a:p>
          </p:txBody>
        </p:sp>
        <p:sp>
          <p:nvSpPr>
            <p:cNvPr id="203" name="Rectangle 95">
              <a:extLst>
                <a:ext uri="{FF2B5EF4-FFF2-40B4-BE49-F238E27FC236}">
                  <a16:creationId xmlns:a16="http://schemas.microsoft.com/office/drawing/2014/main" id="{5C3A9D80-F08B-141D-07F2-DE829C134DD3}"/>
                </a:ext>
              </a:extLst>
            </p:cNvPr>
            <p:cNvSpPr>
              <a:spLocks noChangeArrowheads="1"/>
            </p:cNvSpPr>
            <p:nvPr/>
          </p:nvSpPr>
          <p:spPr bwMode="auto">
            <a:xfrm>
              <a:off x="2802725" y="8010526"/>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Mar-25</a:t>
              </a:r>
              <a:endParaRPr kumimoji="0" lang="en-US" altLang="en-US" sz="800" b="0" i="0" u="none" strike="noStrike" cap="none" normalizeH="0" baseline="0">
                <a:ln>
                  <a:noFill/>
                </a:ln>
                <a:solidFill>
                  <a:schemeClr val="tx1"/>
                </a:solidFill>
                <a:effectLst/>
              </a:endParaRPr>
            </a:p>
          </p:txBody>
        </p:sp>
        <p:sp>
          <p:nvSpPr>
            <p:cNvPr id="204" name="Rectangle 96">
              <a:extLst>
                <a:ext uri="{FF2B5EF4-FFF2-40B4-BE49-F238E27FC236}">
                  <a16:creationId xmlns:a16="http://schemas.microsoft.com/office/drawing/2014/main" id="{2BAEFB29-7923-4D3C-CB74-003C2BEB7159}"/>
                </a:ext>
              </a:extLst>
            </p:cNvPr>
            <p:cNvSpPr>
              <a:spLocks noChangeArrowheads="1"/>
            </p:cNvSpPr>
            <p:nvPr/>
          </p:nvSpPr>
          <p:spPr bwMode="auto">
            <a:xfrm>
              <a:off x="900217" y="6269158"/>
              <a:ext cx="169206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6600"/>
                  </a:solidFill>
                  <a:effectLst/>
                  <a:latin typeface="Calibri" panose="020F0502020204030204" pitchFamily="34" charset="0"/>
                </a:rPr>
                <a:t>Return on Invested Capital</a:t>
              </a:r>
              <a:endParaRPr kumimoji="0" lang="en-US" altLang="en-US" sz="1200" b="0" i="0" u="none" strike="noStrike" cap="none" normalizeH="0" baseline="0">
                <a:ln>
                  <a:noFill/>
                </a:ln>
                <a:solidFill>
                  <a:schemeClr val="tx1"/>
                </a:solidFill>
                <a:effectLst/>
              </a:endParaRPr>
            </a:p>
          </p:txBody>
        </p:sp>
        <p:sp>
          <p:nvSpPr>
            <p:cNvPr id="205" name="Rectangle 97">
              <a:extLst>
                <a:ext uri="{FF2B5EF4-FFF2-40B4-BE49-F238E27FC236}">
                  <a16:creationId xmlns:a16="http://schemas.microsoft.com/office/drawing/2014/main" id="{70743941-490E-3298-AF3B-3A0A70F0248C}"/>
                </a:ext>
              </a:extLst>
            </p:cNvPr>
            <p:cNvSpPr>
              <a:spLocks noChangeArrowheads="1"/>
            </p:cNvSpPr>
            <p:nvPr/>
          </p:nvSpPr>
          <p:spPr bwMode="auto">
            <a:xfrm>
              <a:off x="133350" y="6237288"/>
              <a:ext cx="3225800" cy="1984375"/>
            </a:xfrm>
            <a:prstGeom prst="rect">
              <a:avLst/>
            </a:prstGeom>
            <a:noFill/>
            <a:ln w="6350" cap="flat">
              <a:no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
        <p:nvSpPr>
          <p:cNvPr id="212" name="Rectangle 102">
            <a:extLst>
              <a:ext uri="{FF2B5EF4-FFF2-40B4-BE49-F238E27FC236}">
                <a16:creationId xmlns:a16="http://schemas.microsoft.com/office/drawing/2014/main" id="{64122415-2A6B-33EB-C0FF-1A3507D7F2A6}"/>
              </a:ext>
            </a:extLst>
          </p:cNvPr>
          <p:cNvSpPr>
            <a:spLocks noChangeArrowheads="1"/>
          </p:cNvSpPr>
          <p:nvPr/>
        </p:nvSpPr>
        <p:spPr bwMode="auto">
          <a:xfrm>
            <a:off x="3424238" y="6554788"/>
            <a:ext cx="2387600" cy="1192213"/>
          </a:xfrm>
          <a:prstGeom prst="rect">
            <a:avLst/>
          </a:prstGeom>
          <a:noFill/>
          <a:ln w="6350" cap="flat">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380" name="Group 379">
            <a:extLst>
              <a:ext uri="{FF2B5EF4-FFF2-40B4-BE49-F238E27FC236}">
                <a16:creationId xmlns:a16="http://schemas.microsoft.com/office/drawing/2014/main" id="{151BF1A4-BC8E-9E4D-6753-8B6DAA6AA0DF}"/>
              </a:ext>
            </a:extLst>
          </p:cNvPr>
          <p:cNvGrpSpPr/>
          <p:nvPr/>
        </p:nvGrpSpPr>
        <p:grpSpPr>
          <a:xfrm>
            <a:off x="3130512" y="6269604"/>
            <a:ext cx="2995613" cy="2258762"/>
            <a:chOff x="3192463" y="6045281"/>
            <a:chExt cx="2995612" cy="2105222"/>
          </a:xfrm>
        </p:grpSpPr>
        <p:sp>
          <p:nvSpPr>
            <p:cNvPr id="329" name="AutoShape 203">
              <a:extLst>
                <a:ext uri="{FF2B5EF4-FFF2-40B4-BE49-F238E27FC236}">
                  <a16:creationId xmlns:a16="http://schemas.microsoft.com/office/drawing/2014/main" id="{C0EAFE4A-7099-E64E-878E-1940FB0AFC00}"/>
                </a:ext>
              </a:extLst>
            </p:cNvPr>
            <p:cNvSpPr>
              <a:spLocks noChangeAspect="1" noChangeArrowheads="1" noTextEdit="1"/>
            </p:cNvSpPr>
            <p:nvPr/>
          </p:nvSpPr>
          <p:spPr bwMode="auto">
            <a:xfrm>
              <a:off x="3192463" y="6175375"/>
              <a:ext cx="2995612" cy="187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330" name="Rectangle 205">
              <a:extLst>
                <a:ext uri="{FF2B5EF4-FFF2-40B4-BE49-F238E27FC236}">
                  <a16:creationId xmlns:a16="http://schemas.microsoft.com/office/drawing/2014/main" id="{C3B042D8-BE42-B4EC-A4AB-7BBD3989FC90}"/>
                </a:ext>
              </a:extLst>
            </p:cNvPr>
            <p:cNvSpPr>
              <a:spLocks noChangeArrowheads="1"/>
            </p:cNvSpPr>
            <p:nvPr/>
          </p:nvSpPr>
          <p:spPr bwMode="auto">
            <a:xfrm>
              <a:off x="3354130" y="6178550"/>
              <a:ext cx="2715200" cy="1863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331" name="Freeform 206">
              <a:extLst>
                <a:ext uri="{FF2B5EF4-FFF2-40B4-BE49-F238E27FC236}">
                  <a16:creationId xmlns:a16="http://schemas.microsoft.com/office/drawing/2014/main" id="{8AF3BA6E-D134-6D0B-4FFB-1C39D1ED9E0D}"/>
                </a:ext>
              </a:extLst>
            </p:cNvPr>
            <p:cNvSpPr>
              <a:spLocks noEditPoints="1"/>
            </p:cNvSpPr>
            <p:nvPr/>
          </p:nvSpPr>
          <p:spPr bwMode="auto">
            <a:xfrm>
              <a:off x="3551238" y="6611938"/>
              <a:ext cx="2132012" cy="1049338"/>
            </a:xfrm>
            <a:custGeom>
              <a:avLst/>
              <a:gdLst>
                <a:gd name="T0" fmla="*/ 0 w 1343"/>
                <a:gd name="T1" fmla="*/ 478 h 661"/>
                <a:gd name="T2" fmla="*/ 104 w 1343"/>
                <a:gd name="T3" fmla="*/ 478 h 661"/>
                <a:gd name="T4" fmla="*/ 104 w 1343"/>
                <a:gd name="T5" fmla="*/ 661 h 661"/>
                <a:gd name="T6" fmla="*/ 0 w 1343"/>
                <a:gd name="T7" fmla="*/ 661 h 661"/>
                <a:gd name="T8" fmla="*/ 0 w 1343"/>
                <a:gd name="T9" fmla="*/ 478 h 661"/>
                <a:gd name="T10" fmla="*/ 311 w 1343"/>
                <a:gd name="T11" fmla="*/ 406 h 661"/>
                <a:gd name="T12" fmla="*/ 413 w 1343"/>
                <a:gd name="T13" fmla="*/ 406 h 661"/>
                <a:gd name="T14" fmla="*/ 413 w 1343"/>
                <a:gd name="T15" fmla="*/ 661 h 661"/>
                <a:gd name="T16" fmla="*/ 311 w 1343"/>
                <a:gd name="T17" fmla="*/ 661 h 661"/>
                <a:gd name="T18" fmla="*/ 311 w 1343"/>
                <a:gd name="T19" fmla="*/ 406 h 661"/>
                <a:gd name="T20" fmla="*/ 620 w 1343"/>
                <a:gd name="T21" fmla="*/ 288 h 661"/>
                <a:gd name="T22" fmla="*/ 724 w 1343"/>
                <a:gd name="T23" fmla="*/ 288 h 661"/>
                <a:gd name="T24" fmla="*/ 724 w 1343"/>
                <a:gd name="T25" fmla="*/ 661 h 661"/>
                <a:gd name="T26" fmla="*/ 620 w 1343"/>
                <a:gd name="T27" fmla="*/ 661 h 661"/>
                <a:gd name="T28" fmla="*/ 620 w 1343"/>
                <a:gd name="T29" fmla="*/ 288 h 661"/>
                <a:gd name="T30" fmla="*/ 930 w 1343"/>
                <a:gd name="T31" fmla="*/ 85 h 661"/>
                <a:gd name="T32" fmla="*/ 1033 w 1343"/>
                <a:gd name="T33" fmla="*/ 85 h 661"/>
                <a:gd name="T34" fmla="*/ 1033 w 1343"/>
                <a:gd name="T35" fmla="*/ 661 h 661"/>
                <a:gd name="T36" fmla="*/ 930 w 1343"/>
                <a:gd name="T37" fmla="*/ 661 h 661"/>
                <a:gd name="T38" fmla="*/ 930 w 1343"/>
                <a:gd name="T39" fmla="*/ 85 h 661"/>
                <a:gd name="T40" fmla="*/ 1240 w 1343"/>
                <a:gd name="T41" fmla="*/ 0 h 661"/>
                <a:gd name="T42" fmla="*/ 1343 w 1343"/>
                <a:gd name="T43" fmla="*/ 0 h 661"/>
                <a:gd name="T44" fmla="*/ 1343 w 1343"/>
                <a:gd name="T45" fmla="*/ 661 h 661"/>
                <a:gd name="T46" fmla="*/ 1240 w 1343"/>
                <a:gd name="T47" fmla="*/ 661 h 661"/>
                <a:gd name="T48" fmla="*/ 1240 w 1343"/>
                <a:gd name="T49" fmla="*/ 0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43" h="661">
                  <a:moveTo>
                    <a:pt x="0" y="478"/>
                  </a:moveTo>
                  <a:lnTo>
                    <a:pt x="104" y="478"/>
                  </a:lnTo>
                  <a:lnTo>
                    <a:pt x="104" y="661"/>
                  </a:lnTo>
                  <a:lnTo>
                    <a:pt x="0" y="661"/>
                  </a:lnTo>
                  <a:lnTo>
                    <a:pt x="0" y="478"/>
                  </a:lnTo>
                  <a:close/>
                  <a:moveTo>
                    <a:pt x="311" y="406"/>
                  </a:moveTo>
                  <a:lnTo>
                    <a:pt x="413" y="406"/>
                  </a:lnTo>
                  <a:lnTo>
                    <a:pt x="413" y="661"/>
                  </a:lnTo>
                  <a:lnTo>
                    <a:pt x="311" y="661"/>
                  </a:lnTo>
                  <a:lnTo>
                    <a:pt x="311" y="406"/>
                  </a:lnTo>
                  <a:close/>
                  <a:moveTo>
                    <a:pt x="620" y="288"/>
                  </a:moveTo>
                  <a:lnTo>
                    <a:pt x="724" y="288"/>
                  </a:lnTo>
                  <a:lnTo>
                    <a:pt x="724" y="661"/>
                  </a:lnTo>
                  <a:lnTo>
                    <a:pt x="620" y="661"/>
                  </a:lnTo>
                  <a:lnTo>
                    <a:pt x="620" y="288"/>
                  </a:lnTo>
                  <a:close/>
                  <a:moveTo>
                    <a:pt x="930" y="85"/>
                  </a:moveTo>
                  <a:lnTo>
                    <a:pt x="1033" y="85"/>
                  </a:lnTo>
                  <a:lnTo>
                    <a:pt x="1033" y="661"/>
                  </a:lnTo>
                  <a:lnTo>
                    <a:pt x="930" y="661"/>
                  </a:lnTo>
                  <a:lnTo>
                    <a:pt x="930" y="85"/>
                  </a:lnTo>
                  <a:close/>
                  <a:moveTo>
                    <a:pt x="1240" y="0"/>
                  </a:moveTo>
                  <a:lnTo>
                    <a:pt x="1343" y="0"/>
                  </a:lnTo>
                  <a:lnTo>
                    <a:pt x="1343" y="661"/>
                  </a:lnTo>
                  <a:lnTo>
                    <a:pt x="1240" y="661"/>
                  </a:lnTo>
                  <a:lnTo>
                    <a:pt x="1240" y="0"/>
                  </a:lnTo>
                  <a:close/>
                </a:path>
              </a:pathLst>
            </a:custGeom>
            <a:solidFill>
              <a:srgbClr val="187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332" name="Freeform 207">
              <a:extLst>
                <a:ext uri="{FF2B5EF4-FFF2-40B4-BE49-F238E27FC236}">
                  <a16:creationId xmlns:a16="http://schemas.microsoft.com/office/drawing/2014/main" id="{409E87E4-47BA-2E4D-1EAB-B171F8BEAF82}"/>
                </a:ext>
              </a:extLst>
            </p:cNvPr>
            <p:cNvSpPr>
              <a:spLocks noEditPoints="1"/>
            </p:cNvSpPr>
            <p:nvPr/>
          </p:nvSpPr>
          <p:spPr bwMode="auto">
            <a:xfrm>
              <a:off x="3716338" y="7356475"/>
              <a:ext cx="2130425" cy="304800"/>
            </a:xfrm>
            <a:custGeom>
              <a:avLst/>
              <a:gdLst>
                <a:gd name="T0" fmla="*/ 0 w 1342"/>
                <a:gd name="T1" fmla="*/ 170 h 192"/>
                <a:gd name="T2" fmla="*/ 103 w 1342"/>
                <a:gd name="T3" fmla="*/ 170 h 192"/>
                <a:gd name="T4" fmla="*/ 103 w 1342"/>
                <a:gd name="T5" fmla="*/ 192 h 192"/>
                <a:gd name="T6" fmla="*/ 0 w 1342"/>
                <a:gd name="T7" fmla="*/ 192 h 192"/>
                <a:gd name="T8" fmla="*/ 0 w 1342"/>
                <a:gd name="T9" fmla="*/ 170 h 192"/>
                <a:gd name="T10" fmla="*/ 309 w 1342"/>
                <a:gd name="T11" fmla="*/ 156 h 192"/>
                <a:gd name="T12" fmla="*/ 413 w 1342"/>
                <a:gd name="T13" fmla="*/ 156 h 192"/>
                <a:gd name="T14" fmla="*/ 413 w 1342"/>
                <a:gd name="T15" fmla="*/ 192 h 192"/>
                <a:gd name="T16" fmla="*/ 309 w 1342"/>
                <a:gd name="T17" fmla="*/ 192 h 192"/>
                <a:gd name="T18" fmla="*/ 309 w 1342"/>
                <a:gd name="T19" fmla="*/ 156 h 192"/>
                <a:gd name="T20" fmla="*/ 620 w 1342"/>
                <a:gd name="T21" fmla="*/ 96 h 192"/>
                <a:gd name="T22" fmla="*/ 723 w 1342"/>
                <a:gd name="T23" fmla="*/ 96 h 192"/>
                <a:gd name="T24" fmla="*/ 723 w 1342"/>
                <a:gd name="T25" fmla="*/ 192 h 192"/>
                <a:gd name="T26" fmla="*/ 620 w 1342"/>
                <a:gd name="T27" fmla="*/ 192 h 192"/>
                <a:gd name="T28" fmla="*/ 620 w 1342"/>
                <a:gd name="T29" fmla="*/ 96 h 192"/>
                <a:gd name="T30" fmla="*/ 929 w 1342"/>
                <a:gd name="T31" fmla="*/ 68 h 192"/>
                <a:gd name="T32" fmla="*/ 1033 w 1342"/>
                <a:gd name="T33" fmla="*/ 68 h 192"/>
                <a:gd name="T34" fmla="*/ 1033 w 1342"/>
                <a:gd name="T35" fmla="*/ 192 h 192"/>
                <a:gd name="T36" fmla="*/ 929 w 1342"/>
                <a:gd name="T37" fmla="*/ 192 h 192"/>
                <a:gd name="T38" fmla="*/ 929 w 1342"/>
                <a:gd name="T39" fmla="*/ 68 h 192"/>
                <a:gd name="T40" fmla="*/ 1239 w 1342"/>
                <a:gd name="T41" fmla="*/ 0 h 192"/>
                <a:gd name="T42" fmla="*/ 1342 w 1342"/>
                <a:gd name="T43" fmla="*/ 0 h 192"/>
                <a:gd name="T44" fmla="*/ 1342 w 1342"/>
                <a:gd name="T45" fmla="*/ 192 h 192"/>
                <a:gd name="T46" fmla="*/ 1239 w 1342"/>
                <a:gd name="T47" fmla="*/ 192 h 192"/>
                <a:gd name="T48" fmla="*/ 1239 w 1342"/>
                <a:gd name="T49"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42" h="192">
                  <a:moveTo>
                    <a:pt x="0" y="170"/>
                  </a:moveTo>
                  <a:lnTo>
                    <a:pt x="103" y="170"/>
                  </a:lnTo>
                  <a:lnTo>
                    <a:pt x="103" y="192"/>
                  </a:lnTo>
                  <a:lnTo>
                    <a:pt x="0" y="192"/>
                  </a:lnTo>
                  <a:lnTo>
                    <a:pt x="0" y="170"/>
                  </a:lnTo>
                  <a:close/>
                  <a:moveTo>
                    <a:pt x="309" y="156"/>
                  </a:moveTo>
                  <a:lnTo>
                    <a:pt x="413" y="156"/>
                  </a:lnTo>
                  <a:lnTo>
                    <a:pt x="413" y="192"/>
                  </a:lnTo>
                  <a:lnTo>
                    <a:pt x="309" y="192"/>
                  </a:lnTo>
                  <a:lnTo>
                    <a:pt x="309" y="156"/>
                  </a:lnTo>
                  <a:close/>
                  <a:moveTo>
                    <a:pt x="620" y="96"/>
                  </a:moveTo>
                  <a:lnTo>
                    <a:pt x="723" y="96"/>
                  </a:lnTo>
                  <a:lnTo>
                    <a:pt x="723" y="192"/>
                  </a:lnTo>
                  <a:lnTo>
                    <a:pt x="620" y="192"/>
                  </a:lnTo>
                  <a:lnTo>
                    <a:pt x="620" y="96"/>
                  </a:lnTo>
                  <a:close/>
                  <a:moveTo>
                    <a:pt x="929" y="68"/>
                  </a:moveTo>
                  <a:lnTo>
                    <a:pt x="1033" y="68"/>
                  </a:lnTo>
                  <a:lnTo>
                    <a:pt x="1033" y="192"/>
                  </a:lnTo>
                  <a:lnTo>
                    <a:pt x="929" y="192"/>
                  </a:lnTo>
                  <a:lnTo>
                    <a:pt x="929" y="68"/>
                  </a:lnTo>
                  <a:close/>
                  <a:moveTo>
                    <a:pt x="1239" y="0"/>
                  </a:moveTo>
                  <a:lnTo>
                    <a:pt x="1342" y="0"/>
                  </a:lnTo>
                  <a:lnTo>
                    <a:pt x="1342" y="192"/>
                  </a:lnTo>
                  <a:lnTo>
                    <a:pt x="1239" y="192"/>
                  </a:lnTo>
                  <a:lnTo>
                    <a:pt x="1239" y="0"/>
                  </a:lnTo>
                  <a:close/>
                </a:path>
              </a:pathLst>
            </a:custGeom>
            <a:solidFill>
              <a:srgbClr val="C5E0B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333" name="Freeform 208">
              <a:extLst>
                <a:ext uri="{FF2B5EF4-FFF2-40B4-BE49-F238E27FC236}">
                  <a16:creationId xmlns:a16="http://schemas.microsoft.com/office/drawing/2014/main" id="{96F27B01-B577-C8C6-BA39-310D74930D16}"/>
                </a:ext>
              </a:extLst>
            </p:cNvPr>
            <p:cNvSpPr>
              <a:spLocks/>
            </p:cNvSpPr>
            <p:nvPr/>
          </p:nvSpPr>
          <p:spPr bwMode="auto">
            <a:xfrm>
              <a:off x="3714750" y="6543675"/>
              <a:ext cx="1968500" cy="962025"/>
            </a:xfrm>
            <a:custGeom>
              <a:avLst/>
              <a:gdLst>
                <a:gd name="T0" fmla="*/ 0 w 1240"/>
                <a:gd name="T1" fmla="*/ 478 h 606"/>
                <a:gd name="T2" fmla="*/ 311 w 1240"/>
                <a:gd name="T3" fmla="*/ 425 h 606"/>
                <a:gd name="T4" fmla="*/ 620 w 1240"/>
                <a:gd name="T5" fmla="*/ 0 h 606"/>
                <a:gd name="T6" fmla="*/ 930 w 1240"/>
                <a:gd name="T7" fmla="*/ 606 h 606"/>
                <a:gd name="T8" fmla="*/ 1240 w 1240"/>
                <a:gd name="T9" fmla="*/ 17 h 606"/>
              </a:gdLst>
              <a:ahLst/>
              <a:cxnLst>
                <a:cxn ang="0">
                  <a:pos x="T0" y="T1"/>
                </a:cxn>
                <a:cxn ang="0">
                  <a:pos x="T2" y="T3"/>
                </a:cxn>
                <a:cxn ang="0">
                  <a:pos x="T4" y="T5"/>
                </a:cxn>
                <a:cxn ang="0">
                  <a:pos x="T6" y="T7"/>
                </a:cxn>
                <a:cxn ang="0">
                  <a:pos x="T8" y="T9"/>
                </a:cxn>
              </a:cxnLst>
              <a:rect l="0" t="0" r="r" b="b"/>
              <a:pathLst>
                <a:path w="1240" h="606">
                  <a:moveTo>
                    <a:pt x="0" y="478"/>
                  </a:moveTo>
                  <a:lnTo>
                    <a:pt x="311" y="425"/>
                  </a:lnTo>
                  <a:lnTo>
                    <a:pt x="620" y="0"/>
                  </a:lnTo>
                  <a:lnTo>
                    <a:pt x="930" y="606"/>
                  </a:lnTo>
                  <a:lnTo>
                    <a:pt x="1240" y="17"/>
                  </a:lnTo>
                </a:path>
              </a:pathLst>
            </a:custGeom>
            <a:noFill/>
            <a:ln w="19050" cap="rnd">
              <a:solidFill>
                <a:srgbClr val="0033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34" name="Rectangle 209">
              <a:extLst>
                <a:ext uri="{FF2B5EF4-FFF2-40B4-BE49-F238E27FC236}">
                  <a16:creationId xmlns:a16="http://schemas.microsoft.com/office/drawing/2014/main" id="{B897AFE1-2AEC-B2D7-AEA7-2D5C09F9976F}"/>
                </a:ext>
              </a:extLst>
            </p:cNvPr>
            <p:cNvSpPr>
              <a:spLocks noChangeArrowheads="1"/>
            </p:cNvSpPr>
            <p:nvPr/>
          </p:nvSpPr>
          <p:spPr bwMode="auto">
            <a:xfrm>
              <a:off x="3521631" y="7265988"/>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2224</a:t>
              </a:r>
              <a:endParaRPr kumimoji="0" lang="en-US" altLang="en-US" sz="800" b="0" i="0" u="none" strike="noStrike" cap="none" normalizeH="0" baseline="0">
                <a:ln>
                  <a:noFill/>
                </a:ln>
                <a:solidFill>
                  <a:schemeClr val="tx1"/>
                </a:solidFill>
                <a:effectLst/>
              </a:endParaRPr>
            </a:p>
          </p:txBody>
        </p:sp>
        <p:sp>
          <p:nvSpPr>
            <p:cNvPr id="335" name="Rectangle 210">
              <a:extLst>
                <a:ext uri="{FF2B5EF4-FFF2-40B4-BE49-F238E27FC236}">
                  <a16:creationId xmlns:a16="http://schemas.microsoft.com/office/drawing/2014/main" id="{2CEDF494-39DE-3087-3A1B-EC7529AC8DBD}"/>
                </a:ext>
              </a:extLst>
            </p:cNvPr>
            <p:cNvSpPr>
              <a:spLocks noChangeArrowheads="1"/>
            </p:cNvSpPr>
            <p:nvPr/>
          </p:nvSpPr>
          <p:spPr bwMode="auto">
            <a:xfrm>
              <a:off x="4008355" y="7121721"/>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3106</a:t>
              </a:r>
              <a:endParaRPr kumimoji="0" lang="en-US" altLang="en-US" sz="800" b="0" i="0" u="none" strike="noStrike" cap="none" normalizeH="0" baseline="0">
                <a:ln>
                  <a:noFill/>
                </a:ln>
                <a:solidFill>
                  <a:schemeClr val="tx1"/>
                </a:solidFill>
                <a:effectLst/>
              </a:endParaRPr>
            </a:p>
          </p:txBody>
        </p:sp>
        <p:sp>
          <p:nvSpPr>
            <p:cNvPr id="336" name="Rectangle 211">
              <a:extLst>
                <a:ext uri="{FF2B5EF4-FFF2-40B4-BE49-F238E27FC236}">
                  <a16:creationId xmlns:a16="http://schemas.microsoft.com/office/drawing/2014/main" id="{7C527903-CD80-857C-1CEF-084DB9ACC89A}"/>
                </a:ext>
              </a:extLst>
            </p:cNvPr>
            <p:cNvSpPr>
              <a:spLocks noChangeArrowheads="1"/>
            </p:cNvSpPr>
            <p:nvPr/>
          </p:nvSpPr>
          <p:spPr bwMode="auto">
            <a:xfrm>
              <a:off x="4514652" y="6963131"/>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4531</a:t>
              </a:r>
              <a:endParaRPr kumimoji="0" lang="en-US" altLang="en-US" sz="800" b="0" i="0" u="none" strike="noStrike" cap="none" normalizeH="0" baseline="0">
                <a:ln>
                  <a:noFill/>
                </a:ln>
                <a:solidFill>
                  <a:schemeClr val="tx1"/>
                </a:solidFill>
                <a:effectLst/>
              </a:endParaRPr>
            </a:p>
          </p:txBody>
        </p:sp>
        <p:sp>
          <p:nvSpPr>
            <p:cNvPr id="337" name="Rectangle 212">
              <a:extLst>
                <a:ext uri="{FF2B5EF4-FFF2-40B4-BE49-F238E27FC236}">
                  <a16:creationId xmlns:a16="http://schemas.microsoft.com/office/drawing/2014/main" id="{C2C77800-28C9-6D85-423A-1B953CB53B41}"/>
                </a:ext>
              </a:extLst>
            </p:cNvPr>
            <p:cNvSpPr>
              <a:spLocks noChangeArrowheads="1"/>
            </p:cNvSpPr>
            <p:nvPr/>
          </p:nvSpPr>
          <p:spPr bwMode="auto">
            <a:xfrm>
              <a:off x="4999677" y="6640318"/>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7005</a:t>
              </a:r>
              <a:endParaRPr kumimoji="0" lang="en-US" altLang="en-US" sz="800" b="0" i="0" u="none" strike="noStrike" cap="none" normalizeH="0" baseline="0">
                <a:ln>
                  <a:noFill/>
                </a:ln>
                <a:solidFill>
                  <a:schemeClr val="tx1"/>
                </a:solidFill>
                <a:effectLst/>
              </a:endParaRPr>
            </a:p>
          </p:txBody>
        </p:sp>
        <p:sp>
          <p:nvSpPr>
            <p:cNvPr id="338" name="Rectangle 213">
              <a:extLst>
                <a:ext uri="{FF2B5EF4-FFF2-40B4-BE49-F238E27FC236}">
                  <a16:creationId xmlns:a16="http://schemas.microsoft.com/office/drawing/2014/main" id="{AA8ADB48-F2C9-E410-AC17-A2B6B30779C1}"/>
                </a:ext>
              </a:extLst>
            </p:cNvPr>
            <p:cNvSpPr>
              <a:spLocks noChangeArrowheads="1"/>
            </p:cNvSpPr>
            <p:nvPr/>
          </p:nvSpPr>
          <p:spPr bwMode="auto">
            <a:xfrm>
              <a:off x="5453459" y="6507332"/>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8033</a:t>
              </a:r>
              <a:endParaRPr kumimoji="0" lang="en-US" altLang="en-US" sz="800" b="0" i="0" u="none" strike="noStrike" cap="none" normalizeH="0" baseline="0">
                <a:ln>
                  <a:noFill/>
                </a:ln>
                <a:solidFill>
                  <a:schemeClr val="tx1"/>
                </a:solidFill>
                <a:effectLst/>
              </a:endParaRPr>
            </a:p>
          </p:txBody>
        </p:sp>
        <p:sp>
          <p:nvSpPr>
            <p:cNvPr id="339" name="Rectangle 214">
              <a:extLst>
                <a:ext uri="{FF2B5EF4-FFF2-40B4-BE49-F238E27FC236}">
                  <a16:creationId xmlns:a16="http://schemas.microsoft.com/office/drawing/2014/main" id="{4692C690-AB85-CD65-0AA8-40391AEBAFD8}"/>
                </a:ext>
              </a:extLst>
            </p:cNvPr>
            <p:cNvSpPr>
              <a:spLocks noChangeArrowheads="1"/>
            </p:cNvSpPr>
            <p:nvPr/>
          </p:nvSpPr>
          <p:spPr bwMode="auto">
            <a:xfrm>
              <a:off x="3716808" y="7518677"/>
              <a:ext cx="15388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266</a:t>
              </a:r>
              <a:endParaRPr kumimoji="0" lang="en-US" altLang="en-US" sz="800" b="0" i="0" u="none" strike="noStrike" cap="none" normalizeH="0" baseline="0">
                <a:ln>
                  <a:noFill/>
                </a:ln>
                <a:solidFill>
                  <a:schemeClr val="tx1"/>
                </a:solidFill>
                <a:effectLst/>
              </a:endParaRPr>
            </a:p>
          </p:txBody>
        </p:sp>
        <p:sp>
          <p:nvSpPr>
            <p:cNvPr id="340" name="Rectangle 215">
              <a:extLst>
                <a:ext uri="{FF2B5EF4-FFF2-40B4-BE49-F238E27FC236}">
                  <a16:creationId xmlns:a16="http://schemas.microsoft.com/office/drawing/2014/main" id="{4DE8F4C5-4371-EA9A-55EE-48C86C78239C}"/>
                </a:ext>
              </a:extLst>
            </p:cNvPr>
            <p:cNvSpPr>
              <a:spLocks noChangeArrowheads="1"/>
            </p:cNvSpPr>
            <p:nvPr/>
          </p:nvSpPr>
          <p:spPr bwMode="auto">
            <a:xfrm>
              <a:off x="4214525" y="7498281"/>
              <a:ext cx="15388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425</a:t>
              </a:r>
              <a:endParaRPr kumimoji="0" lang="en-US" altLang="en-US" sz="800" b="0" i="0" u="none" strike="noStrike" cap="none" normalizeH="0" baseline="0">
                <a:ln>
                  <a:noFill/>
                </a:ln>
                <a:solidFill>
                  <a:schemeClr val="tx1"/>
                </a:solidFill>
                <a:effectLst/>
              </a:endParaRPr>
            </a:p>
          </p:txBody>
        </p:sp>
        <p:sp>
          <p:nvSpPr>
            <p:cNvPr id="341" name="Rectangle 216">
              <a:extLst>
                <a:ext uri="{FF2B5EF4-FFF2-40B4-BE49-F238E27FC236}">
                  <a16:creationId xmlns:a16="http://schemas.microsoft.com/office/drawing/2014/main" id="{5AF4E359-A6A5-7D65-F078-7834BBE9E838}"/>
                </a:ext>
              </a:extLst>
            </p:cNvPr>
            <p:cNvSpPr>
              <a:spLocks noChangeArrowheads="1"/>
            </p:cNvSpPr>
            <p:nvPr/>
          </p:nvSpPr>
          <p:spPr bwMode="auto">
            <a:xfrm>
              <a:off x="4698131" y="7403942"/>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1167</a:t>
              </a:r>
              <a:endParaRPr kumimoji="0" lang="en-US" altLang="en-US" sz="800" b="0" i="0" u="none" strike="noStrike" cap="none" normalizeH="0" baseline="0">
                <a:ln>
                  <a:noFill/>
                </a:ln>
                <a:solidFill>
                  <a:schemeClr val="tx1"/>
                </a:solidFill>
                <a:effectLst/>
              </a:endParaRPr>
            </a:p>
          </p:txBody>
        </p:sp>
        <p:sp>
          <p:nvSpPr>
            <p:cNvPr id="342" name="Rectangle 217">
              <a:extLst>
                <a:ext uri="{FF2B5EF4-FFF2-40B4-BE49-F238E27FC236}">
                  <a16:creationId xmlns:a16="http://schemas.microsoft.com/office/drawing/2014/main" id="{CB4B1DCD-ACB5-1D63-E0EB-E9A007CF7BEF}"/>
                </a:ext>
              </a:extLst>
            </p:cNvPr>
            <p:cNvSpPr>
              <a:spLocks noChangeArrowheads="1"/>
            </p:cNvSpPr>
            <p:nvPr/>
          </p:nvSpPr>
          <p:spPr bwMode="auto">
            <a:xfrm>
              <a:off x="5248275" y="7360490"/>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1506</a:t>
              </a:r>
              <a:endParaRPr kumimoji="0" lang="en-US" altLang="en-US" sz="800" b="0" i="0" u="none" strike="noStrike" cap="none" normalizeH="0" baseline="0">
                <a:ln>
                  <a:noFill/>
                </a:ln>
                <a:solidFill>
                  <a:schemeClr val="tx1"/>
                </a:solidFill>
                <a:effectLst/>
              </a:endParaRPr>
            </a:p>
          </p:txBody>
        </p:sp>
        <p:sp>
          <p:nvSpPr>
            <p:cNvPr id="343" name="Rectangle 218">
              <a:extLst>
                <a:ext uri="{FF2B5EF4-FFF2-40B4-BE49-F238E27FC236}">
                  <a16:creationId xmlns:a16="http://schemas.microsoft.com/office/drawing/2014/main" id="{D66A9EB0-1C0A-F8F0-F155-F4E7B1003B79}"/>
                </a:ext>
              </a:extLst>
            </p:cNvPr>
            <p:cNvSpPr>
              <a:spLocks noChangeArrowheads="1"/>
            </p:cNvSpPr>
            <p:nvPr/>
          </p:nvSpPr>
          <p:spPr bwMode="auto">
            <a:xfrm>
              <a:off x="5688410" y="7243944"/>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2327</a:t>
              </a:r>
              <a:endParaRPr kumimoji="0" lang="en-US" altLang="en-US" sz="800" b="0" i="0" u="none" strike="noStrike" cap="none" normalizeH="0" baseline="0">
                <a:ln>
                  <a:noFill/>
                </a:ln>
                <a:solidFill>
                  <a:schemeClr val="tx1"/>
                </a:solidFill>
                <a:effectLst/>
              </a:endParaRPr>
            </a:p>
          </p:txBody>
        </p:sp>
        <p:sp>
          <p:nvSpPr>
            <p:cNvPr id="344" name="Rectangle 219">
              <a:extLst>
                <a:ext uri="{FF2B5EF4-FFF2-40B4-BE49-F238E27FC236}">
                  <a16:creationId xmlns:a16="http://schemas.microsoft.com/office/drawing/2014/main" id="{36BFBB06-F4C0-7491-1A98-5DEF3CBB35F8}"/>
                </a:ext>
              </a:extLst>
            </p:cNvPr>
            <p:cNvSpPr>
              <a:spLocks noChangeArrowheads="1"/>
            </p:cNvSpPr>
            <p:nvPr/>
          </p:nvSpPr>
          <p:spPr bwMode="auto">
            <a:xfrm>
              <a:off x="3663703" y="7173833"/>
              <a:ext cx="18114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1.22</a:t>
              </a:r>
              <a:endParaRPr kumimoji="0" lang="en-US" altLang="en-US" sz="800" b="0" i="0" u="none" strike="noStrike" cap="none" normalizeH="0" baseline="0">
                <a:ln>
                  <a:noFill/>
                </a:ln>
                <a:solidFill>
                  <a:schemeClr val="tx1"/>
                </a:solidFill>
                <a:effectLst/>
              </a:endParaRPr>
            </a:p>
          </p:txBody>
        </p:sp>
        <p:sp>
          <p:nvSpPr>
            <p:cNvPr id="345" name="Rectangle 220">
              <a:extLst>
                <a:ext uri="{FF2B5EF4-FFF2-40B4-BE49-F238E27FC236}">
                  <a16:creationId xmlns:a16="http://schemas.microsoft.com/office/drawing/2014/main" id="{DB0659DF-C0C4-542B-E552-56418FA66F4C}"/>
                </a:ext>
              </a:extLst>
            </p:cNvPr>
            <p:cNvSpPr>
              <a:spLocks noChangeArrowheads="1"/>
            </p:cNvSpPr>
            <p:nvPr/>
          </p:nvSpPr>
          <p:spPr bwMode="auto">
            <a:xfrm>
              <a:off x="4218930" y="7195183"/>
              <a:ext cx="18114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1.51</a:t>
              </a:r>
              <a:endParaRPr kumimoji="0" lang="en-US" altLang="en-US" sz="800" b="0" i="0" u="none" strike="noStrike" cap="none" normalizeH="0" baseline="0">
                <a:ln>
                  <a:noFill/>
                </a:ln>
                <a:solidFill>
                  <a:schemeClr val="tx1"/>
                </a:solidFill>
                <a:effectLst/>
              </a:endParaRPr>
            </a:p>
          </p:txBody>
        </p:sp>
        <p:sp>
          <p:nvSpPr>
            <p:cNvPr id="346" name="Rectangle 221">
              <a:extLst>
                <a:ext uri="{FF2B5EF4-FFF2-40B4-BE49-F238E27FC236}">
                  <a16:creationId xmlns:a16="http://schemas.microsoft.com/office/drawing/2014/main" id="{A8E643F8-C201-8CB9-A8B0-1A1D9DC3DDF8}"/>
                </a:ext>
              </a:extLst>
            </p:cNvPr>
            <p:cNvSpPr>
              <a:spLocks noChangeArrowheads="1"/>
            </p:cNvSpPr>
            <p:nvPr/>
          </p:nvSpPr>
          <p:spPr bwMode="auto">
            <a:xfrm>
              <a:off x="4714875" y="6450013"/>
              <a:ext cx="18114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3.81</a:t>
              </a:r>
              <a:endParaRPr kumimoji="0" lang="en-US" altLang="en-US" sz="800" b="0" i="0" u="none" strike="noStrike" cap="none" normalizeH="0" baseline="0">
                <a:ln>
                  <a:noFill/>
                </a:ln>
                <a:solidFill>
                  <a:schemeClr val="tx1"/>
                </a:solidFill>
                <a:effectLst/>
              </a:endParaRPr>
            </a:p>
          </p:txBody>
        </p:sp>
        <p:sp>
          <p:nvSpPr>
            <p:cNvPr id="347" name="Rectangle 222">
              <a:extLst>
                <a:ext uri="{FF2B5EF4-FFF2-40B4-BE49-F238E27FC236}">
                  <a16:creationId xmlns:a16="http://schemas.microsoft.com/office/drawing/2014/main" id="{17687BD5-BBC3-D7A8-45D2-B54E012F0D05}"/>
                </a:ext>
              </a:extLst>
            </p:cNvPr>
            <p:cNvSpPr>
              <a:spLocks noChangeArrowheads="1"/>
            </p:cNvSpPr>
            <p:nvPr/>
          </p:nvSpPr>
          <p:spPr bwMode="auto">
            <a:xfrm>
              <a:off x="5112142" y="7498281"/>
              <a:ext cx="18114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0.53</a:t>
              </a:r>
              <a:endParaRPr kumimoji="0" lang="en-US" altLang="en-US" sz="800" b="0" i="0" u="none" strike="noStrike" cap="none" normalizeH="0" baseline="0">
                <a:ln>
                  <a:noFill/>
                </a:ln>
                <a:solidFill>
                  <a:schemeClr val="tx1"/>
                </a:solidFill>
                <a:effectLst/>
              </a:endParaRPr>
            </a:p>
          </p:txBody>
        </p:sp>
        <p:sp>
          <p:nvSpPr>
            <p:cNvPr id="348" name="Rectangle 223">
              <a:extLst>
                <a:ext uri="{FF2B5EF4-FFF2-40B4-BE49-F238E27FC236}">
                  <a16:creationId xmlns:a16="http://schemas.microsoft.com/office/drawing/2014/main" id="{EC330DD6-302B-EA5D-E29D-76EE82A98D7A}"/>
                </a:ext>
              </a:extLst>
            </p:cNvPr>
            <p:cNvSpPr>
              <a:spLocks noChangeArrowheads="1"/>
            </p:cNvSpPr>
            <p:nvPr/>
          </p:nvSpPr>
          <p:spPr bwMode="auto">
            <a:xfrm>
              <a:off x="5701622" y="6487676"/>
              <a:ext cx="18114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3.71</a:t>
              </a:r>
              <a:endParaRPr kumimoji="0" lang="en-US" altLang="en-US" sz="800" b="0" i="0" u="none" strike="noStrike" cap="none" normalizeH="0" baseline="0">
                <a:ln>
                  <a:noFill/>
                </a:ln>
                <a:solidFill>
                  <a:schemeClr val="tx1"/>
                </a:solidFill>
                <a:effectLst/>
              </a:endParaRPr>
            </a:p>
          </p:txBody>
        </p:sp>
        <p:sp>
          <p:nvSpPr>
            <p:cNvPr id="367" name="Rectangle 242">
              <a:extLst>
                <a:ext uri="{FF2B5EF4-FFF2-40B4-BE49-F238E27FC236}">
                  <a16:creationId xmlns:a16="http://schemas.microsoft.com/office/drawing/2014/main" id="{97F69A4B-9BDC-327B-F801-C63DDF522DCE}"/>
                </a:ext>
              </a:extLst>
            </p:cNvPr>
            <p:cNvSpPr>
              <a:spLocks noChangeArrowheads="1"/>
            </p:cNvSpPr>
            <p:nvPr/>
          </p:nvSpPr>
          <p:spPr bwMode="auto">
            <a:xfrm>
              <a:off x="3555791" y="7659370"/>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Mar-21</a:t>
              </a:r>
              <a:endParaRPr kumimoji="0" lang="en-US" altLang="en-US" sz="800" b="0" i="0" u="none" strike="noStrike" cap="none" normalizeH="0" baseline="0">
                <a:ln>
                  <a:noFill/>
                </a:ln>
                <a:solidFill>
                  <a:schemeClr val="tx1"/>
                </a:solidFill>
                <a:effectLst/>
              </a:endParaRPr>
            </a:p>
          </p:txBody>
        </p:sp>
        <p:sp>
          <p:nvSpPr>
            <p:cNvPr id="368" name="Rectangle 243">
              <a:extLst>
                <a:ext uri="{FF2B5EF4-FFF2-40B4-BE49-F238E27FC236}">
                  <a16:creationId xmlns:a16="http://schemas.microsoft.com/office/drawing/2014/main" id="{770EE6D8-9FD7-D914-7281-BEB3026AB020}"/>
                </a:ext>
              </a:extLst>
            </p:cNvPr>
            <p:cNvSpPr>
              <a:spLocks noChangeArrowheads="1"/>
            </p:cNvSpPr>
            <p:nvPr/>
          </p:nvSpPr>
          <p:spPr bwMode="auto">
            <a:xfrm>
              <a:off x="4049713" y="7659212"/>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Mar-22</a:t>
              </a:r>
              <a:endParaRPr kumimoji="0" lang="en-US" altLang="en-US" sz="800" b="0" i="0" u="none" strike="noStrike" cap="none" normalizeH="0" baseline="0">
                <a:ln>
                  <a:noFill/>
                </a:ln>
                <a:solidFill>
                  <a:schemeClr val="tx1"/>
                </a:solidFill>
                <a:effectLst/>
              </a:endParaRPr>
            </a:p>
          </p:txBody>
        </p:sp>
        <p:sp>
          <p:nvSpPr>
            <p:cNvPr id="369" name="Rectangle 244">
              <a:extLst>
                <a:ext uri="{FF2B5EF4-FFF2-40B4-BE49-F238E27FC236}">
                  <a16:creationId xmlns:a16="http://schemas.microsoft.com/office/drawing/2014/main" id="{908EC06D-0BE9-734D-73CC-46689145B109}"/>
                </a:ext>
              </a:extLst>
            </p:cNvPr>
            <p:cNvSpPr>
              <a:spLocks noChangeArrowheads="1"/>
            </p:cNvSpPr>
            <p:nvPr/>
          </p:nvSpPr>
          <p:spPr bwMode="auto">
            <a:xfrm>
              <a:off x="4541838" y="7664252"/>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Mar-23</a:t>
              </a:r>
              <a:endParaRPr kumimoji="0" lang="en-US" altLang="en-US" sz="800" b="0" i="0" u="none" strike="noStrike" cap="none" normalizeH="0" baseline="0">
                <a:ln>
                  <a:noFill/>
                </a:ln>
                <a:solidFill>
                  <a:schemeClr val="tx1"/>
                </a:solidFill>
                <a:effectLst/>
              </a:endParaRPr>
            </a:p>
          </p:txBody>
        </p:sp>
        <p:sp>
          <p:nvSpPr>
            <p:cNvPr id="370" name="Rectangle 245">
              <a:extLst>
                <a:ext uri="{FF2B5EF4-FFF2-40B4-BE49-F238E27FC236}">
                  <a16:creationId xmlns:a16="http://schemas.microsoft.com/office/drawing/2014/main" id="{C86F9930-4E72-D979-5517-1225EC245D6E}"/>
                </a:ext>
              </a:extLst>
            </p:cNvPr>
            <p:cNvSpPr>
              <a:spLocks noChangeArrowheads="1"/>
            </p:cNvSpPr>
            <p:nvPr/>
          </p:nvSpPr>
          <p:spPr bwMode="auto">
            <a:xfrm>
              <a:off x="5041583" y="7664251"/>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Mar-24</a:t>
              </a:r>
              <a:endParaRPr kumimoji="0" lang="en-US" altLang="en-US" sz="800" b="0" i="0" u="none" strike="noStrike" cap="none" normalizeH="0" baseline="0">
                <a:ln>
                  <a:noFill/>
                </a:ln>
                <a:solidFill>
                  <a:schemeClr val="tx1"/>
                </a:solidFill>
                <a:effectLst/>
              </a:endParaRPr>
            </a:p>
          </p:txBody>
        </p:sp>
        <p:sp>
          <p:nvSpPr>
            <p:cNvPr id="371" name="Rectangle 246">
              <a:extLst>
                <a:ext uri="{FF2B5EF4-FFF2-40B4-BE49-F238E27FC236}">
                  <a16:creationId xmlns:a16="http://schemas.microsoft.com/office/drawing/2014/main" id="{7857B19C-DFAA-4ACF-F586-96E42745508E}"/>
                </a:ext>
              </a:extLst>
            </p:cNvPr>
            <p:cNvSpPr>
              <a:spLocks noChangeArrowheads="1"/>
            </p:cNvSpPr>
            <p:nvPr/>
          </p:nvSpPr>
          <p:spPr bwMode="auto">
            <a:xfrm>
              <a:off x="5530132" y="7663578"/>
              <a:ext cx="31258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Mar-25</a:t>
              </a:r>
              <a:endParaRPr kumimoji="0" lang="en-US" altLang="en-US" sz="800" b="0" i="0" u="none" strike="noStrike" cap="none" normalizeH="0" baseline="0">
                <a:ln>
                  <a:noFill/>
                </a:ln>
                <a:solidFill>
                  <a:schemeClr val="tx1"/>
                </a:solidFill>
                <a:effectLst/>
              </a:endParaRPr>
            </a:p>
          </p:txBody>
        </p:sp>
        <p:sp>
          <p:nvSpPr>
            <p:cNvPr id="372" name="Rectangle 247">
              <a:extLst>
                <a:ext uri="{FF2B5EF4-FFF2-40B4-BE49-F238E27FC236}">
                  <a16:creationId xmlns:a16="http://schemas.microsoft.com/office/drawing/2014/main" id="{291197DA-85B9-6416-1B35-7370729260DA}"/>
                </a:ext>
              </a:extLst>
            </p:cNvPr>
            <p:cNvSpPr>
              <a:spLocks noChangeArrowheads="1"/>
            </p:cNvSpPr>
            <p:nvPr/>
          </p:nvSpPr>
          <p:spPr bwMode="auto">
            <a:xfrm>
              <a:off x="4012691" y="6045281"/>
              <a:ext cx="133459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6600"/>
                  </a:solidFill>
                  <a:effectLst/>
                  <a:latin typeface="Calibri" panose="020F0502020204030204" pitchFamily="34" charset="0"/>
                </a:rPr>
                <a:t>EBIT vs/s PAT v/s DFL</a:t>
              </a:r>
              <a:endParaRPr kumimoji="0" lang="en-US" altLang="en-US" sz="1200" b="0" i="0" u="none" strike="noStrike" cap="none" normalizeH="0" baseline="0">
                <a:ln>
                  <a:noFill/>
                </a:ln>
                <a:solidFill>
                  <a:schemeClr val="tx1"/>
                </a:solidFill>
                <a:effectLst/>
              </a:endParaRPr>
            </a:p>
          </p:txBody>
        </p:sp>
        <p:sp>
          <p:nvSpPr>
            <p:cNvPr id="373" name="Rectangle 248">
              <a:extLst>
                <a:ext uri="{FF2B5EF4-FFF2-40B4-BE49-F238E27FC236}">
                  <a16:creationId xmlns:a16="http://schemas.microsoft.com/office/drawing/2014/main" id="{C6DAF3E7-BB0C-B1D1-AA26-6A29E61DA2F4}"/>
                </a:ext>
              </a:extLst>
            </p:cNvPr>
            <p:cNvSpPr>
              <a:spLocks noChangeArrowheads="1"/>
            </p:cNvSpPr>
            <p:nvPr/>
          </p:nvSpPr>
          <p:spPr bwMode="auto">
            <a:xfrm>
              <a:off x="3568065" y="7923212"/>
              <a:ext cx="158750" cy="41275"/>
            </a:xfrm>
            <a:prstGeom prst="rect">
              <a:avLst/>
            </a:prstGeom>
            <a:solidFill>
              <a:srgbClr val="187C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374" name="Rectangle 249">
              <a:extLst>
                <a:ext uri="{FF2B5EF4-FFF2-40B4-BE49-F238E27FC236}">
                  <a16:creationId xmlns:a16="http://schemas.microsoft.com/office/drawing/2014/main" id="{55ED846D-1404-97B7-782F-6E1FACE95EF1}"/>
                </a:ext>
              </a:extLst>
            </p:cNvPr>
            <p:cNvSpPr>
              <a:spLocks noChangeArrowheads="1"/>
            </p:cNvSpPr>
            <p:nvPr/>
          </p:nvSpPr>
          <p:spPr bwMode="auto">
            <a:xfrm>
              <a:off x="3759918" y="7881698"/>
              <a:ext cx="116378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Profit before Interest &amp; Tax</a:t>
              </a:r>
              <a:endParaRPr kumimoji="0" lang="en-US" altLang="en-US" sz="800" b="0" i="0" u="none" strike="noStrike" cap="none" normalizeH="0" baseline="0">
                <a:ln>
                  <a:noFill/>
                </a:ln>
                <a:solidFill>
                  <a:schemeClr val="tx1"/>
                </a:solidFill>
                <a:effectLst/>
              </a:endParaRPr>
            </a:p>
          </p:txBody>
        </p:sp>
        <p:sp>
          <p:nvSpPr>
            <p:cNvPr id="375" name="Rectangle 250">
              <a:extLst>
                <a:ext uri="{FF2B5EF4-FFF2-40B4-BE49-F238E27FC236}">
                  <a16:creationId xmlns:a16="http://schemas.microsoft.com/office/drawing/2014/main" id="{9A802DFA-851F-7DA7-F0C4-E9FF3216EEB3}"/>
                </a:ext>
              </a:extLst>
            </p:cNvPr>
            <p:cNvSpPr>
              <a:spLocks noChangeArrowheads="1"/>
            </p:cNvSpPr>
            <p:nvPr/>
          </p:nvSpPr>
          <p:spPr bwMode="auto">
            <a:xfrm>
              <a:off x="5089525" y="7923212"/>
              <a:ext cx="158750" cy="41275"/>
            </a:xfrm>
            <a:prstGeom prst="rect">
              <a:avLst/>
            </a:prstGeom>
            <a:solidFill>
              <a:srgbClr val="C5E0B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376" name="Rectangle 251">
              <a:extLst>
                <a:ext uri="{FF2B5EF4-FFF2-40B4-BE49-F238E27FC236}">
                  <a16:creationId xmlns:a16="http://schemas.microsoft.com/office/drawing/2014/main" id="{A3358015-BC58-AFE2-603E-CCE726759AF2}"/>
                </a:ext>
              </a:extLst>
            </p:cNvPr>
            <p:cNvSpPr>
              <a:spLocks noChangeArrowheads="1"/>
            </p:cNvSpPr>
            <p:nvPr/>
          </p:nvSpPr>
          <p:spPr bwMode="auto">
            <a:xfrm>
              <a:off x="5287395" y="7878684"/>
              <a:ext cx="65081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Profit After Tax</a:t>
              </a:r>
              <a:endParaRPr kumimoji="0" lang="en-US" altLang="en-US" sz="800" b="0" i="0" u="none" strike="noStrike" cap="none" normalizeH="0" baseline="0">
                <a:ln>
                  <a:noFill/>
                </a:ln>
                <a:solidFill>
                  <a:schemeClr val="tx1"/>
                </a:solidFill>
                <a:effectLst/>
              </a:endParaRPr>
            </a:p>
          </p:txBody>
        </p:sp>
        <p:sp>
          <p:nvSpPr>
            <p:cNvPr id="377" name="Line 252">
              <a:extLst>
                <a:ext uri="{FF2B5EF4-FFF2-40B4-BE49-F238E27FC236}">
                  <a16:creationId xmlns:a16="http://schemas.microsoft.com/office/drawing/2014/main" id="{2DF475C6-8558-9FBC-3956-FC4F9E9A8B58}"/>
                </a:ext>
              </a:extLst>
            </p:cNvPr>
            <p:cNvSpPr>
              <a:spLocks noChangeShapeType="1"/>
            </p:cNvSpPr>
            <p:nvPr/>
          </p:nvSpPr>
          <p:spPr bwMode="auto">
            <a:xfrm>
              <a:off x="4797273" y="8081791"/>
              <a:ext cx="160337" cy="0"/>
            </a:xfrm>
            <a:prstGeom prst="line">
              <a:avLst/>
            </a:prstGeom>
            <a:noFill/>
            <a:ln w="19050" cap="rnd">
              <a:solidFill>
                <a:srgbClr val="0033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78" name="Rectangle 253">
              <a:extLst>
                <a:ext uri="{FF2B5EF4-FFF2-40B4-BE49-F238E27FC236}">
                  <a16:creationId xmlns:a16="http://schemas.microsoft.com/office/drawing/2014/main" id="{378DA0E4-C28E-CB96-659A-F00578FA95AE}"/>
                </a:ext>
              </a:extLst>
            </p:cNvPr>
            <p:cNvSpPr>
              <a:spLocks noChangeArrowheads="1"/>
            </p:cNvSpPr>
            <p:nvPr/>
          </p:nvSpPr>
          <p:spPr bwMode="auto">
            <a:xfrm>
              <a:off x="5004961" y="8027392"/>
              <a:ext cx="15388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rgbClr val="000000"/>
                  </a:solidFill>
                  <a:effectLst/>
                  <a:latin typeface="Calibri" panose="020F0502020204030204" pitchFamily="34" charset="0"/>
                </a:rPr>
                <a:t>DFL</a:t>
              </a:r>
              <a:endParaRPr kumimoji="0" lang="en-US" altLang="en-US" sz="800" b="0" i="0" u="none" strike="noStrike" cap="none" normalizeH="0" baseline="0" dirty="0">
                <a:ln>
                  <a:noFill/>
                </a:ln>
                <a:solidFill>
                  <a:schemeClr val="tx1"/>
                </a:solidFill>
                <a:effectLst/>
              </a:endParaRPr>
            </a:p>
          </p:txBody>
        </p:sp>
        <p:sp>
          <p:nvSpPr>
            <p:cNvPr id="379" name="Rectangle 254">
              <a:extLst>
                <a:ext uri="{FF2B5EF4-FFF2-40B4-BE49-F238E27FC236}">
                  <a16:creationId xmlns:a16="http://schemas.microsoft.com/office/drawing/2014/main" id="{2021FA82-9708-299A-F57C-17A41077269B}"/>
                </a:ext>
              </a:extLst>
            </p:cNvPr>
            <p:cNvSpPr>
              <a:spLocks noChangeArrowheads="1"/>
            </p:cNvSpPr>
            <p:nvPr/>
          </p:nvSpPr>
          <p:spPr bwMode="auto">
            <a:xfrm>
              <a:off x="3195638" y="6178550"/>
              <a:ext cx="2989262" cy="1863725"/>
            </a:xfrm>
            <a:prstGeom prst="rect">
              <a:avLst/>
            </a:prstGeom>
            <a:noFill/>
            <a:ln w="6350" cap="flat">
              <a:no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2464682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EA67F-C5FA-D79A-219F-5A6F87C44970}"/>
            </a:ext>
          </a:extLst>
        </p:cNvPr>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1808755C-2BA9-DBA2-9EF0-7588E0E85B40}"/>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9" name="Picture 8" descr="Adani Renewables - Global Alliance For Sustainable Energy">
            <a:extLst>
              <a:ext uri="{FF2B5EF4-FFF2-40B4-BE49-F238E27FC236}">
                <a16:creationId xmlns:a16="http://schemas.microsoft.com/office/drawing/2014/main" id="{5DA2FDB8-DCD4-7DCC-8BE8-76A5C6FC8ABF}"/>
              </a:ext>
            </a:extLst>
          </p:cNvPr>
          <p:cNvPicPr>
            <a:picLocks noChangeAspect="1"/>
          </p:cNvPicPr>
          <p:nvPr/>
        </p:nvPicPr>
        <p:blipFill>
          <a:blip r:embed="rId2"/>
          <a:stretch>
            <a:fillRect/>
          </a:stretch>
        </p:blipFill>
        <p:spPr>
          <a:xfrm>
            <a:off x="5076000" y="0"/>
            <a:ext cx="1311468" cy="662728"/>
          </a:xfrm>
          <a:prstGeom prst="rect">
            <a:avLst/>
          </a:prstGeom>
        </p:spPr>
      </p:pic>
      <p:cxnSp>
        <p:nvCxnSpPr>
          <p:cNvPr id="13" name="Straight Arrow Connector 12">
            <a:extLst>
              <a:ext uri="{FF2B5EF4-FFF2-40B4-BE49-F238E27FC236}">
                <a16:creationId xmlns:a16="http://schemas.microsoft.com/office/drawing/2014/main" id="{DC1F81B1-DE3A-76B1-363A-60362A3B8C37}"/>
              </a:ext>
            </a:extLst>
          </p:cNvPr>
          <p:cNvCxnSpPr/>
          <p:nvPr/>
        </p:nvCxnSpPr>
        <p:spPr>
          <a:xfrm flipV="1">
            <a:off x="-5925" y="8787953"/>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1BA96B99-D2FD-02C5-8A97-52A8F5069AE5}"/>
              </a:ext>
            </a:extLst>
          </p:cNvPr>
          <p:cNvSpPr>
            <a:spLocks noGrp="1"/>
          </p:cNvSpPr>
          <p:nvPr>
            <p:ph type="ftr" sz="quarter" idx="11"/>
          </p:nvPr>
        </p:nvSpPr>
        <p:spPr>
          <a:xfrm>
            <a:off x="-7551" y="8832134"/>
            <a:ext cx="6234928" cy="324563"/>
          </a:xfrm>
        </p:spPr>
        <p:txBody>
          <a:bodyPr/>
          <a:lstStyle/>
          <a:p>
            <a:pPr algn="l"/>
            <a:r>
              <a:rPr lang="en-US" sz="800">
                <a:ea typeface="Calibri"/>
                <a:cs typeface="Calibri"/>
              </a:rPr>
              <a:t>Disclaimer: This is only for educational purposes and we are not SEBI registered.</a:t>
            </a:r>
          </a:p>
        </p:txBody>
      </p:sp>
      <p:sp>
        <p:nvSpPr>
          <p:cNvPr id="10" name="Rectangle 9">
            <a:extLst>
              <a:ext uri="{FF2B5EF4-FFF2-40B4-BE49-F238E27FC236}">
                <a16:creationId xmlns:a16="http://schemas.microsoft.com/office/drawing/2014/main" id="{EBE990AF-5A32-0586-9E3D-CE5C12477EF4}"/>
              </a:ext>
            </a:extLst>
          </p:cNvPr>
          <p:cNvSpPr/>
          <p:nvPr/>
        </p:nvSpPr>
        <p:spPr>
          <a:xfrm>
            <a:off x="98704" y="815933"/>
            <a:ext cx="6027421" cy="360000"/>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ea typeface="Calibri"/>
                <a:cs typeface="Calibri"/>
              </a:rPr>
              <a:t>Altman Z Score</a:t>
            </a:r>
          </a:p>
        </p:txBody>
      </p:sp>
      <p:sp>
        <p:nvSpPr>
          <p:cNvPr id="11" name="Slide Number Placeholder 6">
            <a:extLst>
              <a:ext uri="{FF2B5EF4-FFF2-40B4-BE49-F238E27FC236}">
                <a16:creationId xmlns:a16="http://schemas.microsoft.com/office/drawing/2014/main" id="{EF42E3D8-687C-92FD-C147-104FF0AB141C}"/>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8</a:t>
            </a:fld>
            <a:endParaRPr lang="en-US"/>
          </a:p>
        </p:txBody>
      </p:sp>
      <p:graphicFrame>
        <p:nvGraphicFramePr>
          <p:cNvPr id="18" name="Table 17">
            <a:extLst>
              <a:ext uri="{FF2B5EF4-FFF2-40B4-BE49-F238E27FC236}">
                <a16:creationId xmlns:a16="http://schemas.microsoft.com/office/drawing/2014/main" id="{94796B40-D82F-7919-2F45-7A444FDB92D8}"/>
              </a:ext>
            </a:extLst>
          </p:cNvPr>
          <p:cNvGraphicFramePr>
            <a:graphicFrameLocks noGrp="1"/>
          </p:cNvGraphicFramePr>
          <p:nvPr>
            <p:extLst>
              <p:ext uri="{D42A27DB-BD31-4B8C-83A1-F6EECF244321}">
                <p14:modId xmlns:p14="http://schemas.microsoft.com/office/powerpoint/2010/main" val="239168141"/>
              </p:ext>
            </p:extLst>
          </p:nvPr>
        </p:nvGraphicFramePr>
        <p:xfrm>
          <a:off x="98704" y="1281767"/>
          <a:ext cx="5966815" cy="5991000"/>
        </p:xfrm>
        <a:graphic>
          <a:graphicData uri="http://schemas.openxmlformats.org/drawingml/2006/table">
            <a:tbl>
              <a:tblPr>
                <a:tableStyleId>{5C22544A-7EE6-4342-B048-85BDC9FD1C3A}</a:tableStyleId>
              </a:tblPr>
              <a:tblGrid>
                <a:gridCol w="2622995">
                  <a:extLst>
                    <a:ext uri="{9D8B030D-6E8A-4147-A177-3AD203B41FA5}">
                      <a16:colId xmlns:a16="http://schemas.microsoft.com/office/drawing/2014/main" val="3629477066"/>
                    </a:ext>
                  </a:extLst>
                </a:gridCol>
                <a:gridCol w="668764">
                  <a:extLst>
                    <a:ext uri="{9D8B030D-6E8A-4147-A177-3AD203B41FA5}">
                      <a16:colId xmlns:a16="http://schemas.microsoft.com/office/drawing/2014/main" val="3597650288"/>
                    </a:ext>
                  </a:extLst>
                </a:gridCol>
                <a:gridCol w="668764">
                  <a:extLst>
                    <a:ext uri="{9D8B030D-6E8A-4147-A177-3AD203B41FA5}">
                      <a16:colId xmlns:a16="http://schemas.microsoft.com/office/drawing/2014/main" val="1075652732"/>
                    </a:ext>
                  </a:extLst>
                </a:gridCol>
                <a:gridCol w="668764">
                  <a:extLst>
                    <a:ext uri="{9D8B030D-6E8A-4147-A177-3AD203B41FA5}">
                      <a16:colId xmlns:a16="http://schemas.microsoft.com/office/drawing/2014/main" val="3406681020"/>
                    </a:ext>
                  </a:extLst>
                </a:gridCol>
                <a:gridCol w="668764">
                  <a:extLst>
                    <a:ext uri="{9D8B030D-6E8A-4147-A177-3AD203B41FA5}">
                      <a16:colId xmlns:a16="http://schemas.microsoft.com/office/drawing/2014/main" val="3422438321"/>
                    </a:ext>
                  </a:extLst>
                </a:gridCol>
                <a:gridCol w="668764">
                  <a:extLst>
                    <a:ext uri="{9D8B030D-6E8A-4147-A177-3AD203B41FA5}">
                      <a16:colId xmlns:a16="http://schemas.microsoft.com/office/drawing/2014/main" val="442667314"/>
                    </a:ext>
                  </a:extLst>
                </a:gridCol>
              </a:tblGrid>
              <a:tr h="172086">
                <a:tc gridSpan="6">
                  <a:txBody>
                    <a:bodyPr/>
                    <a:lstStyle/>
                    <a:p>
                      <a:pPr algn="ctr" fontAlgn="b">
                        <a:buNone/>
                      </a:pPr>
                      <a:r>
                        <a:rPr lang="en-IN" sz="1100" b="1" u="none" strike="noStrike" dirty="0">
                          <a:solidFill>
                            <a:schemeClr val="bg1"/>
                          </a:solidFill>
                          <a:effectLst/>
                        </a:rPr>
                        <a:t>Working Capital / Total Assets </a:t>
                      </a:r>
                      <a:endParaRPr lang="en-IN" sz="1100" b="1" i="0" u="none" strike="noStrike" dirty="0">
                        <a:solidFill>
                          <a:schemeClr val="bg1"/>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187C2C"/>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411010283"/>
                  </a:ext>
                </a:extLst>
              </a:tr>
              <a:tr h="172086">
                <a:tc>
                  <a:txBody>
                    <a:bodyPr/>
                    <a:lstStyle/>
                    <a:p>
                      <a:pPr algn="l" fontAlgn="b">
                        <a:buNone/>
                      </a:pP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Mar-21</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Mar-22</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Mar-23</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Mar-24</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Mar-25</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3998172115"/>
                  </a:ext>
                </a:extLst>
              </a:tr>
              <a:tr h="172086">
                <a:tc>
                  <a:txBody>
                    <a:bodyPr/>
                    <a:lstStyle/>
                    <a:p>
                      <a:pPr algn="l" fontAlgn="b">
                        <a:buNone/>
                      </a:pPr>
                      <a:r>
                        <a:rPr lang="en-IN" sz="1100" u="none" strike="noStrike" dirty="0">
                          <a:effectLst/>
                        </a:rPr>
                        <a:t>Working Capital</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3052.0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413.0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7527.0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 (5013.0)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2526.0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5026547"/>
                  </a:ext>
                </a:extLst>
              </a:tr>
              <a:tr h="172086">
                <a:tc>
                  <a:txBody>
                    <a:bodyPr/>
                    <a:lstStyle/>
                    <a:p>
                      <a:pPr algn="l" fontAlgn="b">
                        <a:buNone/>
                      </a:pPr>
                      <a:r>
                        <a:rPr lang="en-IN" sz="1100" u="none" strike="noStrike" dirty="0">
                          <a:effectLst/>
                        </a:rPr>
                        <a:t>Total Assets</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23557.5</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43823.0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62931.5</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77497.5</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99425.0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337721625"/>
                  </a:ext>
                </a:extLst>
              </a:tr>
              <a:tr h="172086">
                <a:tc>
                  <a:txBody>
                    <a:bodyPr/>
                    <a:lstStyle/>
                    <a:p>
                      <a:pPr algn="l" fontAlgn="b">
                        <a:buNone/>
                      </a:pPr>
                      <a:r>
                        <a:rPr lang="en-US" sz="1100" b="1" u="none" strike="noStrike" dirty="0">
                          <a:effectLst/>
                        </a:rPr>
                        <a:t>Working Capital / Total Assets - A</a:t>
                      </a:r>
                      <a:endParaRPr lang="en-US"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12.96%</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0.94%</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11.96%</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-6.47%</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2.54%</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4041959605"/>
                  </a:ext>
                </a:extLst>
              </a:tr>
              <a:tr h="172086">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916768"/>
                  </a:ext>
                </a:extLst>
              </a:tr>
              <a:tr h="172086">
                <a:tc gridSpan="6">
                  <a:txBody>
                    <a:bodyPr/>
                    <a:lstStyle/>
                    <a:p>
                      <a:pPr algn="ctr" fontAlgn="b">
                        <a:buNone/>
                      </a:pPr>
                      <a:r>
                        <a:rPr lang="en-IN" sz="1100" b="1" u="none" strike="noStrike" dirty="0">
                          <a:solidFill>
                            <a:schemeClr val="bg1"/>
                          </a:solidFill>
                          <a:effectLst/>
                        </a:rPr>
                        <a:t>Retained Earnings / Total Assets </a:t>
                      </a:r>
                      <a:endParaRPr lang="en-IN" sz="1100" b="1" i="0" u="none" strike="noStrike" dirty="0">
                        <a:solidFill>
                          <a:schemeClr val="bg1"/>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187C2C"/>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208209194"/>
                  </a:ext>
                </a:extLst>
              </a:tr>
              <a:tr h="172086">
                <a:tc>
                  <a:txBody>
                    <a:bodyPr/>
                    <a:lstStyle/>
                    <a:p>
                      <a:pPr algn="l" fontAlgn="b">
                        <a:buNone/>
                      </a:pPr>
                      <a:r>
                        <a:rPr lang="en-IN" sz="1100" u="none" strike="noStrike" dirty="0">
                          <a:effectLst/>
                        </a:rPr>
                        <a:t>Retained Earnings</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 (718.0)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 (313.0)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582.0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1592.0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3031.0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1463736"/>
                  </a:ext>
                </a:extLst>
              </a:tr>
              <a:tr h="172086">
                <a:tc>
                  <a:txBody>
                    <a:bodyPr/>
                    <a:lstStyle/>
                    <a:p>
                      <a:pPr algn="l" fontAlgn="b">
                        <a:buNone/>
                      </a:pPr>
                      <a:r>
                        <a:rPr lang="en-IN" sz="1100" u="none" strike="noStrike" dirty="0">
                          <a:effectLst/>
                        </a:rPr>
                        <a:t>Total Assets</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a:effectLst/>
                        </a:rPr>
                        <a:t>23557.5</a:t>
                      </a:r>
                      <a:endParaRPr lang="en-IN" sz="1100" b="0" i="0" u="none" strike="noStrike">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43823.0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62931.5</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77497.5</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99425.0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526187574"/>
                  </a:ext>
                </a:extLst>
              </a:tr>
              <a:tr h="172086">
                <a:tc>
                  <a:txBody>
                    <a:bodyPr/>
                    <a:lstStyle/>
                    <a:p>
                      <a:pPr algn="l" fontAlgn="b">
                        <a:buNone/>
                      </a:pPr>
                      <a:r>
                        <a:rPr lang="en-US" sz="1100" b="1" u="none" strike="noStrike" dirty="0">
                          <a:effectLst/>
                        </a:rPr>
                        <a:t>Retained Earnings / Total Assets - B</a:t>
                      </a:r>
                      <a:endParaRPr lang="en-US"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a:effectLst/>
                        </a:rPr>
                        <a:t>-3.05%</a:t>
                      </a:r>
                      <a:endParaRPr lang="en-IN" sz="1100" b="1" i="0" u="none" strike="noStrike">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-0.71%</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0.92%</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2.05%</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3.05%</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1420728131"/>
                  </a:ext>
                </a:extLst>
              </a:tr>
              <a:tr h="172086">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81085570"/>
                  </a:ext>
                </a:extLst>
              </a:tr>
              <a:tr h="172086">
                <a:tc gridSpan="6">
                  <a:txBody>
                    <a:bodyPr/>
                    <a:lstStyle/>
                    <a:p>
                      <a:pPr algn="ctr" fontAlgn="b">
                        <a:buNone/>
                      </a:pPr>
                      <a:r>
                        <a:rPr lang="en-IN" sz="1100" b="1" u="none" strike="noStrike" dirty="0">
                          <a:solidFill>
                            <a:schemeClr val="bg1"/>
                          </a:solidFill>
                          <a:effectLst/>
                        </a:rPr>
                        <a:t>EBIT / Total Assets</a:t>
                      </a:r>
                      <a:endParaRPr lang="en-IN" sz="1100" b="1" i="0" u="none" strike="noStrike" dirty="0">
                        <a:solidFill>
                          <a:schemeClr val="bg1"/>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187C2C"/>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35359172"/>
                  </a:ext>
                </a:extLst>
              </a:tr>
              <a:tr h="172086">
                <a:tc>
                  <a:txBody>
                    <a:bodyPr/>
                    <a:lstStyle/>
                    <a:p>
                      <a:pPr algn="l" fontAlgn="b">
                        <a:buNone/>
                      </a:pPr>
                      <a:r>
                        <a:rPr lang="en-IN" sz="1100" u="none" strike="noStrike" dirty="0">
                          <a:effectLst/>
                        </a:rPr>
                        <a:t>EBIT</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2146.0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3170.0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4337.0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6759.0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7707.0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61240585"/>
                  </a:ext>
                </a:extLst>
              </a:tr>
              <a:tr h="172086">
                <a:tc>
                  <a:txBody>
                    <a:bodyPr/>
                    <a:lstStyle/>
                    <a:p>
                      <a:pPr algn="l" fontAlgn="b">
                        <a:buNone/>
                      </a:pPr>
                      <a:r>
                        <a:rPr lang="en-IN" sz="1100" u="none" strike="noStrike" dirty="0">
                          <a:effectLst/>
                        </a:rPr>
                        <a:t>Total Assets</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23557.5</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43823.0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62931.5</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77497.5</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99425.0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823918175"/>
                  </a:ext>
                </a:extLst>
              </a:tr>
              <a:tr h="172086">
                <a:tc>
                  <a:txBody>
                    <a:bodyPr/>
                    <a:lstStyle/>
                    <a:p>
                      <a:pPr algn="l" fontAlgn="b">
                        <a:buNone/>
                      </a:pPr>
                      <a:r>
                        <a:rPr lang="en-IN" sz="1100" b="1" u="none" strike="noStrike" dirty="0">
                          <a:effectLst/>
                        </a:rPr>
                        <a:t>EBIT / Total Assets - C</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9.11%</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7.23%</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6.89%</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8.72%</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7.75%</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1414359991"/>
                  </a:ext>
                </a:extLst>
              </a:tr>
              <a:tr h="172086">
                <a:tc>
                  <a:txBody>
                    <a:bodyPr/>
                    <a:lstStyle/>
                    <a:p>
                      <a:pPr algn="l" fontAlgn="b">
                        <a:buNone/>
                      </a:pPr>
                      <a:endParaRPr lang="en-IN" sz="1100" b="1" i="0" u="none" strike="noStrike">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1" i="0" u="none" strike="noStrike">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1" i="0" u="none" strike="noStrike">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1" i="0" u="none" strike="noStrike">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0442936"/>
                  </a:ext>
                </a:extLst>
              </a:tr>
              <a:tr h="172086">
                <a:tc gridSpan="6">
                  <a:txBody>
                    <a:bodyPr/>
                    <a:lstStyle/>
                    <a:p>
                      <a:pPr algn="ctr" fontAlgn="b">
                        <a:buNone/>
                      </a:pPr>
                      <a:r>
                        <a:rPr lang="en-IN" sz="1100" b="1" u="none" strike="noStrike" dirty="0">
                          <a:solidFill>
                            <a:schemeClr val="bg1"/>
                          </a:solidFill>
                          <a:effectLst/>
                        </a:rPr>
                        <a:t>Market Capitalisation / Total Liabilities </a:t>
                      </a:r>
                      <a:endParaRPr lang="en-IN" sz="1100" b="1" i="0" u="none" strike="noStrike" dirty="0">
                        <a:solidFill>
                          <a:schemeClr val="bg1"/>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187C2C"/>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362070841"/>
                  </a:ext>
                </a:extLst>
              </a:tr>
              <a:tr h="172086">
                <a:tc>
                  <a:txBody>
                    <a:bodyPr/>
                    <a:lstStyle/>
                    <a:p>
                      <a:pPr algn="l" fontAlgn="b">
                        <a:buNone/>
                      </a:pPr>
                      <a:r>
                        <a:rPr lang="en-IN" sz="1100" u="none" strike="noStrike" dirty="0">
                          <a:effectLst/>
                        </a:rPr>
                        <a:t>Market Capitalisation </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137991.7</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340123.1</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173178.7</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292596.5</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165951.2</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5461649"/>
                  </a:ext>
                </a:extLst>
              </a:tr>
              <a:tr h="172086">
                <a:tc>
                  <a:txBody>
                    <a:bodyPr/>
                    <a:lstStyle/>
                    <a:p>
                      <a:pPr algn="l" fontAlgn="b">
                        <a:buNone/>
                      </a:pPr>
                      <a:r>
                        <a:rPr lang="en-IN" sz="1100" u="none" strike="noStrike" dirty="0">
                          <a:effectLst/>
                        </a:rPr>
                        <a:t>Total Liabilities</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23557.5</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43823.0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62931.5</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77497.5</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99425.0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46734147"/>
                  </a:ext>
                </a:extLst>
              </a:tr>
              <a:tr h="172086">
                <a:tc>
                  <a:txBody>
                    <a:bodyPr/>
                    <a:lstStyle/>
                    <a:p>
                      <a:pPr algn="l" fontAlgn="b">
                        <a:buNone/>
                      </a:pPr>
                      <a:r>
                        <a:rPr lang="fr-FR" sz="1100" b="1" u="none" strike="noStrike" dirty="0">
                          <a:effectLst/>
                        </a:rPr>
                        <a:t>Market Capitalisation / Total Liabilities - D</a:t>
                      </a:r>
                      <a:endParaRPr lang="fr-FR"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585.77%</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776.13%</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275.19%</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377.56%</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166.91%</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323517936"/>
                  </a:ext>
                </a:extLst>
              </a:tr>
              <a:tr h="172086">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39895266"/>
                  </a:ext>
                </a:extLst>
              </a:tr>
              <a:tr h="172086">
                <a:tc gridSpan="6">
                  <a:txBody>
                    <a:bodyPr/>
                    <a:lstStyle/>
                    <a:p>
                      <a:pPr algn="ctr" fontAlgn="b">
                        <a:buNone/>
                      </a:pPr>
                      <a:r>
                        <a:rPr lang="en-IN" sz="1100" b="1" u="none" strike="noStrike" dirty="0">
                          <a:solidFill>
                            <a:schemeClr val="bg1"/>
                          </a:solidFill>
                          <a:effectLst/>
                        </a:rPr>
                        <a:t>Sales / Total Assets </a:t>
                      </a:r>
                      <a:endParaRPr lang="en-IN" sz="1100" b="1" i="0" u="none" strike="noStrike" dirty="0">
                        <a:solidFill>
                          <a:schemeClr val="bg1"/>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187C2C"/>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46488660"/>
                  </a:ext>
                </a:extLst>
              </a:tr>
              <a:tr h="172086">
                <a:tc>
                  <a:txBody>
                    <a:bodyPr/>
                    <a:lstStyle/>
                    <a:p>
                      <a:pPr algn="l" fontAlgn="b">
                        <a:buNone/>
                      </a:pPr>
                      <a:r>
                        <a:rPr lang="en-IN" sz="1100" u="none" strike="noStrike" dirty="0">
                          <a:effectLst/>
                        </a:rPr>
                        <a:t>Sales</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3124.0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5133.0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7776.0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9220.0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11212.0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5699090"/>
                  </a:ext>
                </a:extLst>
              </a:tr>
              <a:tr h="172086">
                <a:tc>
                  <a:txBody>
                    <a:bodyPr/>
                    <a:lstStyle/>
                    <a:p>
                      <a:pPr algn="l" fontAlgn="b">
                        <a:buNone/>
                      </a:pPr>
                      <a:r>
                        <a:rPr lang="en-IN" sz="1100" u="none" strike="noStrike" dirty="0">
                          <a:effectLst/>
                        </a:rPr>
                        <a:t>Total Assets</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23557.5</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43823.0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62931.5</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77497.5</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b">
                        <a:buNone/>
                      </a:pPr>
                      <a:r>
                        <a:rPr lang="en-IN" sz="1100" u="none" strike="noStrike" dirty="0">
                          <a:effectLst/>
                        </a:rPr>
                        <a:t>99425.0</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45177689"/>
                  </a:ext>
                </a:extLst>
              </a:tr>
              <a:tr h="172086">
                <a:tc>
                  <a:txBody>
                    <a:bodyPr/>
                    <a:lstStyle/>
                    <a:p>
                      <a:pPr algn="l" fontAlgn="b">
                        <a:buNone/>
                      </a:pPr>
                      <a:r>
                        <a:rPr lang="en-IN" sz="1100" b="1" u="none" strike="noStrike" dirty="0">
                          <a:effectLst/>
                        </a:rPr>
                        <a:t>Sales / Total Assets - E</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a:effectLst/>
                        </a:rPr>
                        <a:t>13.26%</a:t>
                      </a:r>
                      <a:endParaRPr lang="en-IN" sz="1100" b="1" i="0" u="none" strike="noStrike">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11.71%</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12.36%</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11.90%</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11.28%</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741846677"/>
                  </a:ext>
                </a:extLst>
              </a:tr>
            </a:tbl>
          </a:graphicData>
        </a:graphic>
      </p:graphicFrame>
      <p:graphicFrame>
        <p:nvGraphicFramePr>
          <p:cNvPr id="21" name="Table 20">
            <a:extLst>
              <a:ext uri="{FF2B5EF4-FFF2-40B4-BE49-F238E27FC236}">
                <a16:creationId xmlns:a16="http://schemas.microsoft.com/office/drawing/2014/main" id="{D2A77FBA-C2E4-21E3-9C7B-FC798155D9E3}"/>
              </a:ext>
            </a:extLst>
          </p:cNvPr>
          <p:cNvGraphicFramePr>
            <a:graphicFrameLocks noGrp="1"/>
          </p:cNvGraphicFramePr>
          <p:nvPr>
            <p:extLst>
              <p:ext uri="{D42A27DB-BD31-4B8C-83A1-F6EECF244321}">
                <p14:modId xmlns:p14="http://schemas.microsoft.com/office/powerpoint/2010/main" val="375404353"/>
              </p:ext>
            </p:extLst>
          </p:nvPr>
        </p:nvGraphicFramePr>
        <p:xfrm>
          <a:off x="98705" y="7397083"/>
          <a:ext cx="5966815" cy="1065240"/>
        </p:xfrm>
        <a:graphic>
          <a:graphicData uri="http://schemas.openxmlformats.org/drawingml/2006/table">
            <a:tbl>
              <a:tblPr>
                <a:tableStyleId>{5C22544A-7EE6-4342-B048-85BDC9FD1C3A}</a:tableStyleId>
              </a:tblPr>
              <a:tblGrid>
                <a:gridCol w="2410815">
                  <a:extLst>
                    <a:ext uri="{9D8B030D-6E8A-4147-A177-3AD203B41FA5}">
                      <a16:colId xmlns:a16="http://schemas.microsoft.com/office/drawing/2014/main" val="2411179530"/>
                    </a:ext>
                  </a:extLst>
                </a:gridCol>
                <a:gridCol w="711200">
                  <a:extLst>
                    <a:ext uri="{9D8B030D-6E8A-4147-A177-3AD203B41FA5}">
                      <a16:colId xmlns:a16="http://schemas.microsoft.com/office/drawing/2014/main" val="3559976160"/>
                    </a:ext>
                  </a:extLst>
                </a:gridCol>
                <a:gridCol w="711200">
                  <a:extLst>
                    <a:ext uri="{9D8B030D-6E8A-4147-A177-3AD203B41FA5}">
                      <a16:colId xmlns:a16="http://schemas.microsoft.com/office/drawing/2014/main" val="905089544"/>
                    </a:ext>
                  </a:extLst>
                </a:gridCol>
                <a:gridCol w="711200">
                  <a:extLst>
                    <a:ext uri="{9D8B030D-6E8A-4147-A177-3AD203B41FA5}">
                      <a16:colId xmlns:a16="http://schemas.microsoft.com/office/drawing/2014/main" val="3710826860"/>
                    </a:ext>
                  </a:extLst>
                </a:gridCol>
                <a:gridCol w="711200">
                  <a:extLst>
                    <a:ext uri="{9D8B030D-6E8A-4147-A177-3AD203B41FA5}">
                      <a16:colId xmlns:a16="http://schemas.microsoft.com/office/drawing/2014/main" val="2457072602"/>
                    </a:ext>
                  </a:extLst>
                </a:gridCol>
                <a:gridCol w="711200">
                  <a:extLst>
                    <a:ext uri="{9D8B030D-6E8A-4147-A177-3AD203B41FA5}">
                      <a16:colId xmlns:a16="http://schemas.microsoft.com/office/drawing/2014/main" val="149907208"/>
                    </a:ext>
                  </a:extLst>
                </a:gridCol>
              </a:tblGrid>
              <a:tr h="265300">
                <a:tc gridSpan="6">
                  <a:txBody>
                    <a:bodyPr/>
                    <a:lstStyle/>
                    <a:p>
                      <a:pPr algn="ctr" fontAlgn="ctr">
                        <a:buNone/>
                      </a:pPr>
                      <a:r>
                        <a:rPr lang="en-IN" sz="1800" b="1" u="none" strike="noStrike" dirty="0">
                          <a:solidFill>
                            <a:schemeClr val="bg1"/>
                          </a:solidFill>
                          <a:effectLst/>
                        </a:rPr>
                        <a:t>Altman Z Score</a:t>
                      </a:r>
                      <a:endParaRPr lang="en-IN" sz="1800" b="1" i="0" u="none" strike="noStrike" dirty="0">
                        <a:solidFill>
                          <a:schemeClr val="bg1"/>
                        </a:solidFill>
                        <a:effectLst/>
                        <a:latin typeface="Calibri" panose="020F0502020204030204" pitchFamily="34" charset="0"/>
                      </a:endParaRPr>
                    </a:p>
                  </a:txBody>
                  <a:tcPr marL="36000" marR="36000" marT="36000" marB="3600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187C2C"/>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251503519"/>
                  </a:ext>
                </a:extLst>
              </a:tr>
              <a:tr h="239640">
                <a:tc>
                  <a:txBody>
                    <a:bodyPr/>
                    <a:lstStyle/>
                    <a:p>
                      <a:pPr algn="l" fontAlgn="b">
                        <a:buNone/>
                      </a:pP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Mar-21</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Mar-22</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Mar-23</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Mar-24</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r" fontAlgn="b">
                        <a:buNone/>
                      </a:pPr>
                      <a:r>
                        <a:rPr lang="en-IN" sz="1100" b="1" u="none" strike="noStrike" dirty="0">
                          <a:effectLst/>
                        </a:rPr>
                        <a:t>Mar-25</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1879610633"/>
                  </a:ext>
                </a:extLst>
              </a:tr>
              <a:tr h="239640">
                <a:tc>
                  <a:txBody>
                    <a:bodyPr/>
                    <a:lstStyle/>
                    <a:p>
                      <a:pPr algn="l" fontAlgn="b">
                        <a:buNone/>
                      </a:pPr>
                      <a:r>
                        <a:rPr lang="en-IN" sz="1100" u="none" strike="noStrike" dirty="0">
                          <a:effectLst/>
                        </a:rPr>
                        <a:t>Z Score</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4.06</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5.01</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2.16</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2.62</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buNone/>
                      </a:pPr>
                      <a:r>
                        <a:rPr lang="en-IN" sz="1100" u="none" strike="noStrike" dirty="0">
                          <a:effectLst/>
                        </a:rPr>
                        <a:t>1.44</a:t>
                      </a:r>
                      <a:endParaRPr lang="en-IN" sz="1100" b="0"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12319834"/>
                  </a:ext>
                </a:extLst>
              </a:tr>
              <a:tr h="239640">
                <a:tc>
                  <a:txBody>
                    <a:bodyPr/>
                    <a:lstStyle/>
                    <a:p>
                      <a:pPr algn="l" fontAlgn="b">
                        <a:buNone/>
                      </a:pPr>
                      <a:r>
                        <a:rPr lang="en-IN" sz="1100" b="1" u="none" strike="noStrike" dirty="0">
                          <a:effectLst/>
                        </a:rPr>
                        <a:t>Financial Stability </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fontAlgn="b">
                        <a:buNone/>
                      </a:pPr>
                      <a:r>
                        <a:rPr lang="en-IN" sz="1100" b="1" u="none" strike="noStrike" dirty="0">
                          <a:effectLst/>
                        </a:rPr>
                        <a:t>Strong</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fontAlgn="b">
                        <a:buNone/>
                      </a:pPr>
                      <a:r>
                        <a:rPr lang="en-IN" sz="1100" b="1" u="none" strike="noStrike" dirty="0">
                          <a:effectLst/>
                        </a:rPr>
                        <a:t>Strong</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fontAlgn="b">
                        <a:buNone/>
                      </a:pPr>
                      <a:r>
                        <a:rPr lang="en-IN" sz="1100" b="1" u="none" strike="noStrike" dirty="0">
                          <a:effectLst/>
                        </a:rPr>
                        <a:t>Moderate</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fontAlgn="b">
                        <a:buNone/>
                      </a:pPr>
                      <a:r>
                        <a:rPr lang="en-IN" sz="1100" b="1" u="none" strike="noStrike" dirty="0">
                          <a:effectLst/>
                        </a:rPr>
                        <a:t>Moderate</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fontAlgn="b">
                        <a:buNone/>
                      </a:pPr>
                      <a:r>
                        <a:rPr lang="en-IN" sz="1100" b="1" u="none" strike="noStrike" dirty="0">
                          <a:effectLst/>
                        </a:rPr>
                        <a:t>Weak</a:t>
                      </a:r>
                      <a:endParaRPr lang="en-IN" sz="1100" b="1" i="0" u="none" strike="noStrike" dirty="0">
                        <a:solidFill>
                          <a:srgbClr val="000000"/>
                        </a:solidFill>
                        <a:effectLst/>
                        <a:latin typeface="Calibri" panose="020F0502020204030204" pitchFamily="34" charset="0"/>
                      </a:endParaRPr>
                    </a:p>
                  </a:txBody>
                  <a:tcPr marL="36000" marR="36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117139755"/>
                  </a:ext>
                </a:extLst>
              </a:tr>
            </a:tbl>
          </a:graphicData>
        </a:graphic>
      </p:graphicFrame>
    </p:spTree>
    <p:extLst>
      <p:ext uri="{BB962C8B-B14F-4D97-AF65-F5344CB8AC3E}">
        <p14:creationId xmlns:p14="http://schemas.microsoft.com/office/powerpoint/2010/main" val="3858031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1F320-345D-E12A-82DA-25D1EAF7170F}"/>
            </a:ext>
          </a:extLst>
        </p:cNvPr>
        <p:cNvGrpSpPr/>
        <p:nvPr/>
      </p:nvGrpSpPr>
      <p:grpSpPr>
        <a:xfrm>
          <a:off x="0" y="0"/>
          <a:ext cx="0" cy="0"/>
          <a:chOff x="0" y="0"/>
          <a:chExt cx="0" cy="0"/>
        </a:xfrm>
      </p:grpSpPr>
      <p:cxnSp>
        <p:nvCxnSpPr>
          <p:cNvPr id="3" name="Straight Arrow Connector 2">
            <a:extLst>
              <a:ext uri="{FF2B5EF4-FFF2-40B4-BE49-F238E27FC236}">
                <a16:creationId xmlns:a16="http://schemas.microsoft.com/office/drawing/2014/main" id="{54E205A4-AAAF-D083-BCBC-C5FA1234DF9A}"/>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8" name="Picture 7" descr="Adani Renewables - Global Alliance For Sustainable Energy">
            <a:extLst>
              <a:ext uri="{FF2B5EF4-FFF2-40B4-BE49-F238E27FC236}">
                <a16:creationId xmlns:a16="http://schemas.microsoft.com/office/drawing/2014/main" id="{D6CD0FDE-0605-C39A-037D-30DFF24C35A8}"/>
              </a:ext>
            </a:extLst>
          </p:cNvPr>
          <p:cNvPicPr>
            <a:picLocks noChangeAspect="1"/>
          </p:cNvPicPr>
          <p:nvPr/>
        </p:nvPicPr>
        <p:blipFill>
          <a:blip r:embed="rId2"/>
          <a:stretch>
            <a:fillRect/>
          </a:stretch>
        </p:blipFill>
        <p:spPr>
          <a:xfrm>
            <a:off x="5076000" y="0"/>
            <a:ext cx="1311468" cy="662728"/>
          </a:xfrm>
          <a:prstGeom prst="rect">
            <a:avLst/>
          </a:prstGeom>
        </p:spPr>
      </p:pic>
      <p:cxnSp>
        <p:nvCxnSpPr>
          <p:cNvPr id="14" name="Straight Arrow Connector 13">
            <a:extLst>
              <a:ext uri="{FF2B5EF4-FFF2-40B4-BE49-F238E27FC236}">
                <a16:creationId xmlns:a16="http://schemas.microsoft.com/office/drawing/2014/main" id="{389E6B6E-7D86-C654-51B9-599A4B9AAB97}"/>
              </a:ext>
            </a:extLst>
          </p:cNvPr>
          <p:cNvCxnSpPr/>
          <p:nvPr/>
        </p:nvCxnSpPr>
        <p:spPr>
          <a:xfrm flipV="1">
            <a:off x="-5925" y="8787953"/>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DABF0C00-2CB5-C9B8-7B8A-9A2639DC37E7}"/>
              </a:ext>
            </a:extLst>
          </p:cNvPr>
          <p:cNvGraphicFramePr>
            <a:graphicFrameLocks noGrp="1"/>
          </p:cNvGraphicFramePr>
          <p:nvPr>
            <p:extLst>
              <p:ext uri="{D42A27DB-BD31-4B8C-83A1-F6EECF244321}">
                <p14:modId xmlns:p14="http://schemas.microsoft.com/office/powerpoint/2010/main" val="3019453881"/>
              </p:ext>
            </p:extLst>
          </p:nvPr>
        </p:nvGraphicFramePr>
        <p:xfrm>
          <a:off x="109181" y="3782395"/>
          <a:ext cx="6043863" cy="1292525"/>
        </p:xfrm>
        <a:graphic>
          <a:graphicData uri="http://schemas.openxmlformats.org/drawingml/2006/table">
            <a:tbl>
              <a:tblPr bandRow="1">
                <a:tableStyleId>{5C22544A-7EE6-4342-B048-85BDC9FD1C3A}</a:tableStyleId>
              </a:tblPr>
              <a:tblGrid>
                <a:gridCol w="2227652">
                  <a:extLst>
                    <a:ext uri="{9D8B030D-6E8A-4147-A177-3AD203B41FA5}">
                      <a16:colId xmlns:a16="http://schemas.microsoft.com/office/drawing/2014/main" val="333426947"/>
                    </a:ext>
                  </a:extLst>
                </a:gridCol>
                <a:gridCol w="602559">
                  <a:extLst>
                    <a:ext uri="{9D8B030D-6E8A-4147-A177-3AD203B41FA5}">
                      <a16:colId xmlns:a16="http://schemas.microsoft.com/office/drawing/2014/main" val="3809698042"/>
                    </a:ext>
                  </a:extLst>
                </a:gridCol>
                <a:gridCol w="657337">
                  <a:extLst>
                    <a:ext uri="{9D8B030D-6E8A-4147-A177-3AD203B41FA5}">
                      <a16:colId xmlns:a16="http://schemas.microsoft.com/office/drawing/2014/main" val="2094659134"/>
                    </a:ext>
                  </a:extLst>
                </a:gridCol>
                <a:gridCol w="620820">
                  <a:extLst>
                    <a:ext uri="{9D8B030D-6E8A-4147-A177-3AD203B41FA5}">
                      <a16:colId xmlns:a16="http://schemas.microsoft.com/office/drawing/2014/main" val="644682739"/>
                    </a:ext>
                  </a:extLst>
                </a:gridCol>
                <a:gridCol w="651547">
                  <a:extLst>
                    <a:ext uri="{9D8B030D-6E8A-4147-A177-3AD203B41FA5}">
                      <a16:colId xmlns:a16="http://schemas.microsoft.com/office/drawing/2014/main" val="2845030392"/>
                    </a:ext>
                  </a:extLst>
                </a:gridCol>
                <a:gridCol w="676665">
                  <a:extLst>
                    <a:ext uri="{9D8B030D-6E8A-4147-A177-3AD203B41FA5}">
                      <a16:colId xmlns:a16="http://schemas.microsoft.com/office/drawing/2014/main" val="2014746262"/>
                    </a:ext>
                  </a:extLst>
                </a:gridCol>
                <a:gridCol w="607283">
                  <a:extLst>
                    <a:ext uri="{9D8B030D-6E8A-4147-A177-3AD203B41FA5}">
                      <a16:colId xmlns:a16="http://schemas.microsoft.com/office/drawing/2014/main" val="3512100816"/>
                    </a:ext>
                  </a:extLst>
                </a:gridCol>
              </a:tblGrid>
              <a:tr h="182880">
                <a:tc>
                  <a:txBody>
                    <a:bodyPr/>
                    <a:lstStyle/>
                    <a:p>
                      <a:pPr>
                        <a:buNone/>
                      </a:pPr>
                      <a:endParaRPr lang="en-US" sz="1200" b="1">
                        <a:solidFill>
                          <a:schemeClr val="tx1"/>
                        </a:solidFill>
                        <a:effectLst/>
                      </a:endParaRP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200" b="1" dirty="0">
                          <a:solidFill>
                            <a:schemeClr val="tx1"/>
                          </a:solidFill>
                          <a:effectLst/>
                        </a:rPr>
                        <a:t>FY20</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200" b="1" dirty="0">
                          <a:solidFill>
                            <a:schemeClr val="tx1"/>
                          </a:solidFill>
                          <a:effectLst/>
                        </a:rPr>
                        <a:t>FY21</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200" b="1" dirty="0">
                          <a:solidFill>
                            <a:schemeClr val="tx1"/>
                          </a:solidFill>
                          <a:effectLst/>
                        </a:rPr>
                        <a:t>FY22</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200" b="1" dirty="0">
                          <a:solidFill>
                            <a:schemeClr val="tx1"/>
                          </a:solidFill>
                          <a:effectLst/>
                        </a:rPr>
                        <a:t>FY23</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200" b="1" dirty="0">
                          <a:solidFill>
                            <a:schemeClr val="tx1"/>
                          </a:solidFill>
                          <a:effectLst/>
                        </a:rPr>
                        <a:t>FY24</a:t>
                      </a:r>
                    </a:p>
                  </a:txBody>
                  <a:tcPr marL="0" marR="0" marT="0" marB="0" anchor="ctr">
                    <a:lnL>
                      <a:noFill/>
                    </a:lnL>
                    <a:lnR>
                      <a:noFill/>
                    </a:lnR>
                    <a:lnT>
                      <a:noFill/>
                    </a:lnT>
                    <a:lnB>
                      <a:noFill/>
                    </a:lnB>
                    <a:solidFill>
                      <a:schemeClr val="accent6">
                        <a:lumMod val="60000"/>
                        <a:lumOff val="40000"/>
                      </a:schemeClr>
                    </a:solidFill>
                  </a:tcPr>
                </a:tc>
                <a:tc>
                  <a:txBody>
                    <a:bodyPr/>
                    <a:lstStyle/>
                    <a:p>
                      <a:pPr algn="r">
                        <a:buNone/>
                      </a:pPr>
                      <a:r>
                        <a:rPr lang="en-US" sz="1200" b="1" dirty="0">
                          <a:solidFill>
                            <a:schemeClr val="tx1"/>
                          </a:solidFill>
                          <a:effectLst/>
                        </a:rPr>
                        <a:t>YTD</a:t>
                      </a:r>
                    </a:p>
                  </a:txBody>
                  <a:tcPr marL="0" marR="0" marT="0" marB="0"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3807582503"/>
                  </a:ext>
                </a:extLst>
              </a:tr>
              <a:tr h="228600">
                <a:tc>
                  <a:txBody>
                    <a:bodyPr/>
                    <a:lstStyle/>
                    <a:p>
                      <a:pPr algn="l">
                        <a:buNone/>
                      </a:pPr>
                      <a:r>
                        <a:rPr lang="en-US" sz="1200" b="1" dirty="0">
                          <a:effectLst/>
                        </a:rPr>
                        <a:t>Stock Beta</a:t>
                      </a:r>
                    </a:p>
                  </a:txBody>
                  <a:tcPr marL="0" marR="0" marT="0" marB="0" anchor="ctr">
                    <a:lnL>
                      <a:noFill/>
                    </a:lnL>
                    <a:lnR>
                      <a:noFill/>
                    </a:lnR>
                    <a:lnT>
                      <a:noFill/>
                    </a:lnT>
                    <a:lnB>
                      <a:noFill/>
                    </a:lnB>
                    <a:noFill/>
                  </a:tcPr>
                </a:tc>
                <a:tc>
                  <a:txBody>
                    <a:bodyPr/>
                    <a:lstStyle/>
                    <a:p>
                      <a:pPr algn="r">
                        <a:buNone/>
                      </a:pPr>
                      <a:r>
                        <a:rPr lang="en-US" sz="1200"/>
                        <a:t>0.71</a:t>
                      </a:r>
                    </a:p>
                  </a:txBody>
                  <a:tcPr marL="0" marR="0" marT="0" marB="0" anchor="ctr">
                    <a:lnL>
                      <a:noFill/>
                    </a:lnL>
                    <a:lnR>
                      <a:noFill/>
                    </a:lnR>
                    <a:lnT>
                      <a:noFill/>
                    </a:lnT>
                    <a:lnB>
                      <a:noFill/>
                    </a:lnB>
                    <a:noFill/>
                  </a:tcPr>
                </a:tc>
                <a:tc>
                  <a:txBody>
                    <a:bodyPr/>
                    <a:lstStyle/>
                    <a:p>
                      <a:pPr algn="r">
                        <a:buNone/>
                      </a:pPr>
                      <a:r>
                        <a:rPr lang="en-US" sz="1200"/>
                        <a:t>0.82</a:t>
                      </a:r>
                    </a:p>
                  </a:txBody>
                  <a:tcPr marL="0" marR="0" marT="0" marB="0" anchor="ctr">
                    <a:lnL>
                      <a:noFill/>
                    </a:lnL>
                    <a:lnR>
                      <a:noFill/>
                    </a:lnR>
                    <a:lnT>
                      <a:noFill/>
                    </a:lnT>
                    <a:lnB>
                      <a:noFill/>
                    </a:lnB>
                    <a:noFill/>
                  </a:tcPr>
                </a:tc>
                <a:tc>
                  <a:txBody>
                    <a:bodyPr/>
                    <a:lstStyle/>
                    <a:p>
                      <a:pPr algn="r">
                        <a:buNone/>
                      </a:pPr>
                      <a:r>
                        <a:rPr lang="en-US" sz="1200"/>
                        <a:t>1.15</a:t>
                      </a:r>
                    </a:p>
                  </a:txBody>
                  <a:tcPr marL="0" marR="0" marT="0" marB="0" anchor="ctr">
                    <a:lnL>
                      <a:noFill/>
                    </a:lnL>
                    <a:lnR>
                      <a:noFill/>
                    </a:lnR>
                    <a:lnT>
                      <a:noFill/>
                    </a:lnT>
                    <a:lnB>
                      <a:noFill/>
                    </a:lnB>
                    <a:noFill/>
                  </a:tcPr>
                </a:tc>
                <a:tc>
                  <a:txBody>
                    <a:bodyPr/>
                    <a:lstStyle/>
                    <a:p>
                      <a:pPr algn="r">
                        <a:buNone/>
                      </a:pPr>
                      <a:r>
                        <a:rPr lang="en-US" sz="1200"/>
                        <a:t>1.70</a:t>
                      </a:r>
                    </a:p>
                  </a:txBody>
                  <a:tcPr marL="0" marR="0" marT="0" marB="0" anchor="ctr">
                    <a:lnL>
                      <a:noFill/>
                    </a:lnL>
                    <a:lnR>
                      <a:noFill/>
                    </a:lnR>
                    <a:lnT>
                      <a:noFill/>
                    </a:lnT>
                    <a:lnB>
                      <a:noFill/>
                    </a:lnB>
                    <a:noFill/>
                  </a:tcPr>
                </a:tc>
                <a:tc>
                  <a:txBody>
                    <a:bodyPr/>
                    <a:lstStyle/>
                    <a:p>
                      <a:pPr algn="r">
                        <a:buNone/>
                      </a:pPr>
                      <a:r>
                        <a:rPr lang="en-US" sz="1200"/>
                        <a:t>1.59</a:t>
                      </a:r>
                    </a:p>
                  </a:txBody>
                  <a:tcPr marL="0" marR="0" marT="0" marB="0" anchor="ctr">
                    <a:lnL>
                      <a:noFill/>
                    </a:lnL>
                    <a:lnR>
                      <a:noFill/>
                    </a:lnR>
                    <a:lnT>
                      <a:noFill/>
                    </a:lnT>
                    <a:lnB>
                      <a:noFill/>
                    </a:lnB>
                    <a:noFill/>
                  </a:tcPr>
                </a:tc>
                <a:tc>
                  <a:txBody>
                    <a:bodyPr/>
                    <a:lstStyle/>
                    <a:p>
                      <a:pPr algn="r">
                        <a:buNone/>
                      </a:pPr>
                      <a:r>
                        <a:rPr lang="en-US" sz="1200"/>
                        <a:t>1.64</a:t>
                      </a:r>
                    </a:p>
                  </a:txBody>
                  <a:tcPr marL="0" marR="0" marT="0" marB="0" anchor="ctr">
                    <a:lnL>
                      <a:noFill/>
                    </a:lnL>
                    <a:lnR>
                      <a:noFill/>
                    </a:lnR>
                    <a:lnT>
                      <a:noFill/>
                    </a:lnT>
                    <a:lnB>
                      <a:noFill/>
                    </a:lnB>
                    <a:noFill/>
                  </a:tcPr>
                </a:tc>
                <a:extLst>
                  <a:ext uri="{0D108BD9-81ED-4DB2-BD59-A6C34878D82A}">
                    <a16:rowId xmlns:a16="http://schemas.microsoft.com/office/drawing/2014/main" val="2489587034"/>
                  </a:ext>
                </a:extLst>
              </a:tr>
              <a:tr h="228600">
                <a:tc>
                  <a:txBody>
                    <a:bodyPr/>
                    <a:lstStyle/>
                    <a:p>
                      <a:pPr algn="l">
                        <a:buNone/>
                      </a:pPr>
                      <a:r>
                        <a:rPr lang="en-US" sz="1200" b="1">
                          <a:effectLst/>
                        </a:rPr>
                        <a:t>Yearly Stock Returns</a:t>
                      </a:r>
                    </a:p>
                  </a:txBody>
                  <a:tcPr marL="0" marR="0" marT="0" marB="0" anchor="ctr">
                    <a:lnL>
                      <a:noFill/>
                    </a:lnL>
                    <a:lnR>
                      <a:noFill/>
                    </a:lnR>
                    <a:lnT>
                      <a:noFill/>
                    </a:lnT>
                    <a:lnB>
                      <a:noFill/>
                    </a:lnB>
                    <a:solidFill>
                      <a:schemeClr val="accent6">
                        <a:lumMod val="40000"/>
                        <a:lumOff val="60000"/>
                      </a:schemeClr>
                    </a:solidFill>
                  </a:tcPr>
                </a:tc>
                <a:tc>
                  <a:txBody>
                    <a:bodyPr/>
                    <a:lstStyle/>
                    <a:p>
                      <a:pPr algn="r">
                        <a:buNone/>
                      </a:pPr>
                      <a:r>
                        <a:rPr lang="en-US" sz="1200"/>
                        <a:t>502.68%</a:t>
                      </a:r>
                    </a:p>
                  </a:txBody>
                  <a:tcPr marL="0" marR="0" marT="0" marB="0" anchor="ctr">
                    <a:lnL>
                      <a:noFill/>
                    </a:lnL>
                    <a:lnR>
                      <a:noFill/>
                    </a:lnR>
                    <a:lnT>
                      <a:noFill/>
                    </a:lnT>
                    <a:lnB>
                      <a:noFill/>
                    </a:lnB>
                    <a:solidFill>
                      <a:schemeClr val="accent6">
                        <a:lumMod val="40000"/>
                        <a:lumOff val="60000"/>
                      </a:schemeClr>
                    </a:solidFill>
                  </a:tcPr>
                </a:tc>
                <a:tc>
                  <a:txBody>
                    <a:bodyPr/>
                    <a:lstStyle/>
                    <a:p>
                      <a:pPr algn="r">
                        <a:buNone/>
                      </a:pPr>
                      <a:r>
                        <a:rPr lang="en-US" sz="1200"/>
                        <a:t>26.35%</a:t>
                      </a:r>
                    </a:p>
                  </a:txBody>
                  <a:tcPr marL="0" marR="0" marT="0" marB="0" anchor="ctr">
                    <a:lnL>
                      <a:noFill/>
                    </a:lnL>
                    <a:lnR>
                      <a:noFill/>
                    </a:lnR>
                    <a:lnT>
                      <a:noFill/>
                    </a:lnT>
                    <a:lnB>
                      <a:noFill/>
                    </a:lnB>
                    <a:solidFill>
                      <a:schemeClr val="accent6">
                        <a:lumMod val="40000"/>
                        <a:lumOff val="60000"/>
                      </a:schemeClr>
                    </a:solidFill>
                  </a:tcPr>
                </a:tc>
                <a:tc>
                  <a:txBody>
                    <a:bodyPr/>
                    <a:lstStyle/>
                    <a:p>
                      <a:pPr algn="r">
                        <a:buNone/>
                      </a:pPr>
                      <a:r>
                        <a:rPr lang="en-US" sz="1200"/>
                        <a:t>45.18%</a:t>
                      </a:r>
                    </a:p>
                  </a:txBody>
                  <a:tcPr marL="0" marR="0" marT="0" marB="0" anchor="ctr">
                    <a:lnL>
                      <a:noFill/>
                    </a:lnL>
                    <a:lnR>
                      <a:noFill/>
                    </a:lnR>
                    <a:lnT>
                      <a:noFill/>
                    </a:lnT>
                    <a:lnB>
                      <a:noFill/>
                    </a:lnB>
                    <a:solidFill>
                      <a:schemeClr val="accent6">
                        <a:lumMod val="40000"/>
                        <a:lumOff val="60000"/>
                      </a:schemeClr>
                    </a:solidFill>
                  </a:tcPr>
                </a:tc>
                <a:tc>
                  <a:txBody>
                    <a:bodyPr/>
                    <a:lstStyle/>
                    <a:p>
                      <a:pPr algn="r">
                        <a:buNone/>
                      </a:pPr>
                      <a:r>
                        <a:rPr lang="en-US" sz="1200"/>
                        <a:t>-17.29%</a:t>
                      </a:r>
                    </a:p>
                  </a:txBody>
                  <a:tcPr marL="0" marR="0" marT="0" marB="0" anchor="ctr">
                    <a:lnL>
                      <a:noFill/>
                    </a:lnL>
                    <a:lnR>
                      <a:noFill/>
                    </a:lnR>
                    <a:lnT>
                      <a:noFill/>
                    </a:lnT>
                    <a:lnB>
                      <a:noFill/>
                    </a:lnB>
                    <a:solidFill>
                      <a:schemeClr val="accent6">
                        <a:lumMod val="40000"/>
                        <a:lumOff val="60000"/>
                      </a:schemeClr>
                    </a:solidFill>
                  </a:tcPr>
                </a:tc>
                <a:tc>
                  <a:txBody>
                    <a:bodyPr/>
                    <a:lstStyle/>
                    <a:p>
                      <a:pPr algn="r">
                        <a:buNone/>
                      </a:pPr>
                      <a:r>
                        <a:rPr lang="en-US" sz="1200"/>
                        <a:t>-34.86%</a:t>
                      </a:r>
                    </a:p>
                  </a:txBody>
                  <a:tcPr marL="0" marR="0" marT="0" marB="0" anchor="ctr">
                    <a:lnL>
                      <a:noFill/>
                    </a:lnL>
                    <a:lnR>
                      <a:noFill/>
                    </a:lnR>
                    <a:lnT>
                      <a:noFill/>
                    </a:lnT>
                    <a:lnB>
                      <a:noFill/>
                    </a:lnB>
                    <a:solidFill>
                      <a:schemeClr val="accent6">
                        <a:lumMod val="40000"/>
                        <a:lumOff val="60000"/>
                      </a:schemeClr>
                    </a:solidFill>
                  </a:tcPr>
                </a:tc>
                <a:tc>
                  <a:txBody>
                    <a:bodyPr/>
                    <a:lstStyle/>
                    <a:p>
                      <a:pPr algn="r">
                        <a:buNone/>
                      </a:pPr>
                      <a:r>
                        <a:rPr lang="en-US" sz="1200"/>
                        <a:t>-1.41%</a:t>
                      </a:r>
                    </a:p>
                  </a:txBody>
                  <a:tcPr marL="0" marR="0" marT="0" marB="0" anchor="ctr">
                    <a:lnL>
                      <a:noFill/>
                    </a:lnL>
                    <a:lnR>
                      <a:noFill/>
                    </a:lnR>
                    <a:lnT>
                      <a:noFill/>
                    </a:lnT>
                    <a:lnB>
                      <a:noFill/>
                    </a:lnB>
                    <a:solidFill>
                      <a:schemeClr val="accent6">
                        <a:lumMod val="40000"/>
                        <a:lumOff val="60000"/>
                      </a:schemeClr>
                    </a:solidFill>
                  </a:tcPr>
                </a:tc>
                <a:extLst>
                  <a:ext uri="{0D108BD9-81ED-4DB2-BD59-A6C34878D82A}">
                    <a16:rowId xmlns:a16="http://schemas.microsoft.com/office/drawing/2014/main" val="4074825526"/>
                  </a:ext>
                </a:extLst>
              </a:tr>
              <a:tr h="228600">
                <a:tc>
                  <a:txBody>
                    <a:bodyPr/>
                    <a:lstStyle/>
                    <a:p>
                      <a:pPr algn="l">
                        <a:buNone/>
                      </a:pPr>
                      <a:r>
                        <a:rPr lang="en-US" sz="1200" b="1">
                          <a:effectLst/>
                        </a:rPr>
                        <a:t>Average Monthly Volumes Traded</a:t>
                      </a:r>
                    </a:p>
                  </a:txBody>
                  <a:tcPr marL="0" marR="0" marT="0" marB="0" anchor="ctr">
                    <a:lnL>
                      <a:noFill/>
                    </a:lnL>
                    <a:lnR>
                      <a:noFill/>
                    </a:lnR>
                    <a:lnT>
                      <a:noFill/>
                    </a:lnT>
                    <a:lnB>
                      <a:noFill/>
                    </a:lnB>
                    <a:noFill/>
                  </a:tcPr>
                </a:tc>
                <a:tc>
                  <a:txBody>
                    <a:bodyPr/>
                    <a:lstStyle/>
                    <a:p>
                      <a:pPr algn="r">
                        <a:buNone/>
                      </a:pPr>
                      <a:r>
                        <a:rPr lang="en-US" sz="1200">
                          <a:effectLst/>
                        </a:rPr>
                        <a:t> </a:t>
                      </a:r>
                      <a:r>
                        <a:rPr lang="en-US" sz="1200"/>
                        <a:t>33.83M</a:t>
                      </a:r>
                      <a:r>
                        <a:rPr lang="en-US" sz="1200">
                          <a:effectLst/>
                        </a:rPr>
                        <a:t> </a:t>
                      </a:r>
                      <a:endParaRPr lang="en-US" sz="1200"/>
                    </a:p>
                  </a:txBody>
                  <a:tcPr marL="0" marR="0" marT="0" marB="0" anchor="ctr">
                    <a:lnL>
                      <a:noFill/>
                    </a:lnL>
                    <a:lnR>
                      <a:noFill/>
                    </a:lnR>
                    <a:lnT>
                      <a:noFill/>
                    </a:lnT>
                    <a:lnB>
                      <a:noFill/>
                    </a:lnB>
                    <a:noFill/>
                  </a:tcPr>
                </a:tc>
                <a:tc>
                  <a:txBody>
                    <a:bodyPr/>
                    <a:lstStyle/>
                    <a:p>
                      <a:pPr algn="r">
                        <a:buNone/>
                      </a:pPr>
                      <a:r>
                        <a:rPr lang="en-US" sz="1200">
                          <a:effectLst/>
                        </a:rPr>
                        <a:t> </a:t>
                      </a:r>
                      <a:r>
                        <a:rPr lang="en-US" sz="1200"/>
                        <a:t>24.12M</a:t>
                      </a:r>
                      <a:r>
                        <a:rPr lang="en-US" sz="1200">
                          <a:effectLst/>
                        </a:rPr>
                        <a:t> </a:t>
                      </a:r>
                      <a:endParaRPr lang="en-US" sz="1200"/>
                    </a:p>
                  </a:txBody>
                  <a:tcPr marL="0" marR="0" marT="0" marB="0" anchor="ctr">
                    <a:lnL>
                      <a:noFill/>
                    </a:lnL>
                    <a:lnR>
                      <a:noFill/>
                    </a:lnR>
                    <a:lnT>
                      <a:noFill/>
                    </a:lnT>
                    <a:lnB>
                      <a:noFill/>
                    </a:lnB>
                    <a:noFill/>
                  </a:tcPr>
                </a:tc>
                <a:tc>
                  <a:txBody>
                    <a:bodyPr/>
                    <a:lstStyle/>
                    <a:p>
                      <a:pPr algn="r">
                        <a:buNone/>
                      </a:pPr>
                      <a:r>
                        <a:rPr lang="en-US" sz="1200">
                          <a:effectLst/>
                        </a:rPr>
                        <a:t> </a:t>
                      </a:r>
                      <a:r>
                        <a:rPr lang="en-US" sz="1200"/>
                        <a:t>32.54M</a:t>
                      </a:r>
                      <a:r>
                        <a:rPr lang="en-US" sz="1200">
                          <a:effectLst/>
                        </a:rPr>
                        <a:t> </a:t>
                      </a:r>
                      <a:endParaRPr lang="en-US" sz="1200"/>
                    </a:p>
                  </a:txBody>
                  <a:tcPr marL="0" marR="0" marT="0" marB="0" anchor="ctr">
                    <a:lnL>
                      <a:noFill/>
                    </a:lnL>
                    <a:lnR>
                      <a:noFill/>
                    </a:lnR>
                    <a:lnT>
                      <a:noFill/>
                    </a:lnT>
                    <a:lnB>
                      <a:noFill/>
                    </a:lnB>
                    <a:noFill/>
                  </a:tcPr>
                </a:tc>
                <a:tc>
                  <a:txBody>
                    <a:bodyPr/>
                    <a:lstStyle/>
                    <a:p>
                      <a:pPr algn="r">
                        <a:buNone/>
                      </a:pPr>
                      <a:r>
                        <a:rPr lang="en-US" sz="1200">
                          <a:effectLst/>
                        </a:rPr>
                        <a:t> </a:t>
                      </a:r>
                      <a:r>
                        <a:rPr lang="en-US" sz="1200"/>
                        <a:t>58.42M</a:t>
                      </a:r>
                      <a:r>
                        <a:rPr lang="en-US" sz="1200">
                          <a:effectLst/>
                        </a:rPr>
                        <a:t> </a:t>
                      </a:r>
                      <a:endParaRPr lang="en-US" sz="1200"/>
                    </a:p>
                  </a:txBody>
                  <a:tcPr marL="0" marR="0" marT="0" marB="0" anchor="ctr">
                    <a:lnL>
                      <a:noFill/>
                    </a:lnL>
                    <a:lnR>
                      <a:noFill/>
                    </a:lnR>
                    <a:lnT>
                      <a:noFill/>
                    </a:lnT>
                    <a:lnB>
                      <a:noFill/>
                    </a:lnB>
                    <a:noFill/>
                  </a:tcPr>
                </a:tc>
                <a:tc>
                  <a:txBody>
                    <a:bodyPr/>
                    <a:lstStyle/>
                    <a:p>
                      <a:pPr algn="r">
                        <a:buNone/>
                      </a:pPr>
                      <a:r>
                        <a:rPr lang="en-US" sz="1200">
                          <a:effectLst/>
                        </a:rPr>
                        <a:t> </a:t>
                      </a:r>
                      <a:r>
                        <a:rPr lang="en-US" sz="1200"/>
                        <a:t>46.94M</a:t>
                      </a:r>
                      <a:r>
                        <a:rPr lang="en-US" sz="1200">
                          <a:effectLst/>
                        </a:rPr>
                        <a:t> </a:t>
                      </a:r>
                      <a:endParaRPr lang="en-US" sz="1200"/>
                    </a:p>
                  </a:txBody>
                  <a:tcPr marL="0" marR="0" marT="0" marB="0" anchor="ctr">
                    <a:lnL>
                      <a:noFill/>
                    </a:lnL>
                    <a:lnR>
                      <a:noFill/>
                    </a:lnR>
                    <a:lnT>
                      <a:noFill/>
                    </a:lnT>
                    <a:lnB>
                      <a:noFill/>
                    </a:lnB>
                    <a:noFill/>
                  </a:tcPr>
                </a:tc>
                <a:tc>
                  <a:txBody>
                    <a:bodyPr/>
                    <a:lstStyle/>
                    <a:p>
                      <a:pPr algn="r">
                        <a:buNone/>
                      </a:pPr>
                      <a:r>
                        <a:rPr lang="en-US" sz="1200">
                          <a:effectLst/>
                        </a:rPr>
                        <a:t> </a:t>
                      </a:r>
                      <a:r>
                        <a:rPr lang="en-US" sz="1200"/>
                        <a:t>74.53M</a:t>
                      </a:r>
                      <a:r>
                        <a:rPr lang="en-US" sz="1200">
                          <a:effectLst/>
                        </a:rPr>
                        <a:t> </a:t>
                      </a:r>
                      <a:endParaRPr lang="en-US" sz="1200"/>
                    </a:p>
                  </a:txBody>
                  <a:tcPr marL="0" marR="0" marT="0" marB="0" anchor="ctr">
                    <a:lnL>
                      <a:noFill/>
                    </a:lnL>
                    <a:lnR>
                      <a:noFill/>
                    </a:lnR>
                    <a:lnT>
                      <a:noFill/>
                    </a:lnT>
                    <a:lnB>
                      <a:noFill/>
                    </a:lnB>
                    <a:noFill/>
                  </a:tcPr>
                </a:tc>
                <a:extLst>
                  <a:ext uri="{0D108BD9-81ED-4DB2-BD59-A6C34878D82A}">
                    <a16:rowId xmlns:a16="http://schemas.microsoft.com/office/drawing/2014/main" val="3044669907"/>
                  </a:ext>
                </a:extLst>
              </a:tr>
              <a:tr h="195245">
                <a:tc>
                  <a:txBody>
                    <a:bodyPr/>
                    <a:lstStyle/>
                    <a:p>
                      <a:pPr algn="l">
                        <a:buNone/>
                      </a:pPr>
                      <a:r>
                        <a:rPr lang="en-US" sz="1200" b="1" dirty="0">
                          <a:effectLst/>
                        </a:rPr>
                        <a:t>52-week High</a:t>
                      </a:r>
                    </a:p>
                  </a:txBody>
                  <a:tcPr marL="0" marR="0" marT="0" marB="0" anchor="ctr">
                    <a:lnL>
                      <a:noFill/>
                    </a:lnL>
                    <a:lnR>
                      <a:noFill/>
                    </a:lnR>
                    <a:lnT>
                      <a:noFill/>
                    </a:lnT>
                    <a:lnB>
                      <a:noFill/>
                    </a:lnB>
                    <a:solidFill>
                      <a:schemeClr val="accent6">
                        <a:lumMod val="40000"/>
                        <a:lumOff val="60000"/>
                      </a:schemeClr>
                    </a:solidFill>
                  </a:tcPr>
                </a:tc>
                <a:tc>
                  <a:txBody>
                    <a:bodyPr/>
                    <a:lstStyle/>
                    <a:p>
                      <a:pPr algn="r">
                        <a:buNone/>
                      </a:pPr>
                      <a:r>
                        <a:rPr lang="en-US" sz="1200"/>
                        <a:t>1205.15</a:t>
                      </a:r>
                    </a:p>
                  </a:txBody>
                  <a:tcPr marL="0" marR="0" marT="0" marB="0" anchor="ctr">
                    <a:lnL>
                      <a:noFill/>
                    </a:lnL>
                    <a:lnR>
                      <a:noFill/>
                    </a:lnR>
                    <a:lnT>
                      <a:noFill/>
                    </a:lnT>
                    <a:lnB>
                      <a:noFill/>
                    </a:lnB>
                    <a:solidFill>
                      <a:schemeClr val="accent6">
                        <a:lumMod val="40000"/>
                        <a:lumOff val="60000"/>
                      </a:schemeClr>
                    </a:solidFill>
                  </a:tcPr>
                </a:tc>
                <a:tc>
                  <a:txBody>
                    <a:bodyPr/>
                    <a:lstStyle/>
                    <a:p>
                      <a:pPr algn="r">
                        <a:buNone/>
                      </a:pPr>
                      <a:r>
                        <a:rPr lang="en-US" sz="1200"/>
                        <a:t>1439.25</a:t>
                      </a:r>
                    </a:p>
                  </a:txBody>
                  <a:tcPr marL="0" marR="0" marT="0" marB="0" anchor="ctr">
                    <a:lnL>
                      <a:noFill/>
                    </a:lnL>
                    <a:lnR>
                      <a:noFill/>
                    </a:lnR>
                    <a:lnT>
                      <a:noFill/>
                    </a:lnT>
                    <a:lnB>
                      <a:noFill/>
                    </a:lnB>
                    <a:solidFill>
                      <a:schemeClr val="accent6">
                        <a:lumMod val="40000"/>
                        <a:lumOff val="60000"/>
                      </a:schemeClr>
                    </a:solidFill>
                  </a:tcPr>
                </a:tc>
                <a:tc>
                  <a:txBody>
                    <a:bodyPr/>
                    <a:lstStyle/>
                    <a:p>
                      <a:pPr algn="r">
                        <a:buNone/>
                      </a:pPr>
                      <a:r>
                        <a:rPr lang="en-US" sz="1200"/>
                        <a:t>2970.5</a:t>
                      </a:r>
                    </a:p>
                  </a:txBody>
                  <a:tcPr marL="0" marR="0" marT="0" marB="0" anchor="ctr">
                    <a:lnL>
                      <a:noFill/>
                    </a:lnL>
                    <a:lnR>
                      <a:noFill/>
                    </a:lnR>
                    <a:lnT>
                      <a:noFill/>
                    </a:lnT>
                    <a:lnB>
                      <a:noFill/>
                    </a:lnB>
                    <a:solidFill>
                      <a:schemeClr val="accent6">
                        <a:lumMod val="40000"/>
                        <a:lumOff val="60000"/>
                      </a:schemeClr>
                    </a:solidFill>
                  </a:tcPr>
                </a:tc>
                <a:tc>
                  <a:txBody>
                    <a:bodyPr/>
                    <a:lstStyle/>
                    <a:p>
                      <a:pPr algn="r">
                        <a:buNone/>
                      </a:pPr>
                      <a:r>
                        <a:rPr lang="en-US" sz="1200"/>
                        <a:t>2166.15</a:t>
                      </a:r>
                    </a:p>
                  </a:txBody>
                  <a:tcPr marL="0" marR="0" marT="0" marB="0" anchor="ctr">
                    <a:lnL>
                      <a:noFill/>
                    </a:lnL>
                    <a:lnR>
                      <a:noFill/>
                    </a:lnR>
                    <a:lnT>
                      <a:noFill/>
                    </a:lnT>
                    <a:lnB>
                      <a:noFill/>
                    </a:lnB>
                    <a:solidFill>
                      <a:schemeClr val="accent6">
                        <a:lumMod val="40000"/>
                        <a:lumOff val="60000"/>
                      </a:schemeClr>
                    </a:solidFill>
                  </a:tcPr>
                </a:tc>
                <a:tc>
                  <a:txBody>
                    <a:bodyPr/>
                    <a:lstStyle/>
                    <a:p>
                      <a:pPr algn="r">
                        <a:buNone/>
                      </a:pPr>
                      <a:r>
                        <a:rPr lang="en-US" sz="1200"/>
                        <a:t>2070.55</a:t>
                      </a:r>
                    </a:p>
                  </a:txBody>
                  <a:tcPr marL="0" marR="0" marT="0" marB="0" anchor="ctr">
                    <a:lnL>
                      <a:noFill/>
                    </a:lnL>
                    <a:lnR>
                      <a:noFill/>
                    </a:lnR>
                    <a:lnT>
                      <a:noFill/>
                    </a:lnT>
                    <a:lnB>
                      <a:noFill/>
                    </a:lnB>
                    <a:solidFill>
                      <a:schemeClr val="accent6">
                        <a:lumMod val="40000"/>
                        <a:lumOff val="60000"/>
                      </a:schemeClr>
                    </a:solidFill>
                  </a:tcPr>
                </a:tc>
                <a:tc>
                  <a:txBody>
                    <a:bodyPr/>
                    <a:lstStyle/>
                    <a:p>
                      <a:pPr algn="r">
                        <a:buNone/>
                      </a:pPr>
                      <a:r>
                        <a:rPr lang="en-US" sz="1200"/>
                        <a:t>1078.2</a:t>
                      </a:r>
                    </a:p>
                  </a:txBody>
                  <a:tcPr marL="0" marR="0" marT="0" marB="0" anchor="ctr">
                    <a:lnL>
                      <a:noFill/>
                    </a:lnL>
                    <a:lnR>
                      <a:noFill/>
                    </a:lnR>
                    <a:lnT>
                      <a:noFill/>
                    </a:lnT>
                    <a:lnB>
                      <a:noFill/>
                    </a:lnB>
                    <a:solidFill>
                      <a:schemeClr val="accent6">
                        <a:lumMod val="40000"/>
                        <a:lumOff val="60000"/>
                      </a:schemeClr>
                    </a:solidFill>
                  </a:tcPr>
                </a:tc>
                <a:extLst>
                  <a:ext uri="{0D108BD9-81ED-4DB2-BD59-A6C34878D82A}">
                    <a16:rowId xmlns:a16="http://schemas.microsoft.com/office/drawing/2014/main" val="576753373"/>
                  </a:ext>
                </a:extLst>
              </a:tr>
              <a:tr h="228600">
                <a:tc>
                  <a:txBody>
                    <a:bodyPr/>
                    <a:lstStyle/>
                    <a:p>
                      <a:pPr algn="l">
                        <a:buNone/>
                      </a:pPr>
                      <a:r>
                        <a:rPr lang="en-US" sz="1200" b="1">
                          <a:effectLst/>
                        </a:rPr>
                        <a:t>52-week Low</a:t>
                      </a:r>
                    </a:p>
                  </a:txBody>
                  <a:tcPr marL="0" marR="0" marT="0" marB="0" anchor="ctr">
                    <a:lnL>
                      <a:noFill/>
                    </a:lnL>
                    <a:lnR>
                      <a:noFill/>
                    </a:lnR>
                    <a:lnT>
                      <a:noFill/>
                    </a:lnT>
                    <a:lnB>
                      <a:noFill/>
                    </a:lnB>
                    <a:noFill/>
                  </a:tcPr>
                </a:tc>
                <a:tc>
                  <a:txBody>
                    <a:bodyPr/>
                    <a:lstStyle/>
                    <a:p>
                      <a:pPr algn="r">
                        <a:buNone/>
                      </a:pPr>
                      <a:r>
                        <a:rPr lang="en-US" sz="1200"/>
                        <a:t>117.7</a:t>
                      </a:r>
                    </a:p>
                  </a:txBody>
                  <a:tcPr marL="0" marR="0" marT="0" marB="0" anchor="ctr">
                    <a:lnL>
                      <a:noFill/>
                    </a:lnL>
                    <a:lnR>
                      <a:noFill/>
                    </a:lnR>
                    <a:lnT>
                      <a:noFill/>
                    </a:lnT>
                    <a:lnB>
                      <a:noFill/>
                    </a:lnB>
                    <a:noFill/>
                  </a:tcPr>
                </a:tc>
                <a:tc>
                  <a:txBody>
                    <a:bodyPr/>
                    <a:lstStyle/>
                    <a:p>
                      <a:pPr algn="r">
                        <a:buNone/>
                      </a:pPr>
                      <a:r>
                        <a:rPr lang="en-US" sz="1200"/>
                        <a:t>876.15</a:t>
                      </a:r>
                    </a:p>
                  </a:txBody>
                  <a:tcPr marL="0" marR="0" marT="0" marB="0" anchor="ctr">
                    <a:lnL>
                      <a:noFill/>
                    </a:lnL>
                    <a:lnR>
                      <a:noFill/>
                    </a:lnR>
                    <a:lnT>
                      <a:noFill/>
                    </a:lnT>
                    <a:lnB>
                      <a:noFill/>
                    </a:lnB>
                    <a:noFill/>
                  </a:tcPr>
                </a:tc>
                <a:tc>
                  <a:txBody>
                    <a:bodyPr/>
                    <a:lstStyle/>
                    <a:p>
                      <a:pPr algn="r">
                        <a:buNone/>
                      </a:pPr>
                      <a:r>
                        <a:rPr lang="en-US" sz="1200"/>
                        <a:t>1346.9</a:t>
                      </a:r>
                    </a:p>
                  </a:txBody>
                  <a:tcPr marL="0" marR="0" marT="0" marB="0" anchor="ctr">
                    <a:lnL>
                      <a:noFill/>
                    </a:lnL>
                    <a:lnR>
                      <a:noFill/>
                    </a:lnR>
                    <a:lnT>
                      <a:noFill/>
                    </a:lnT>
                    <a:lnB>
                      <a:noFill/>
                    </a:lnB>
                    <a:noFill/>
                  </a:tcPr>
                </a:tc>
                <a:tc>
                  <a:txBody>
                    <a:bodyPr/>
                    <a:lstStyle/>
                    <a:p>
                      <a:pPr algn="r">
                        <a:buNone/>
                      </a:pPr>
                      <a:r>
                        <a:rPr lang="en-US" sz="1200"/>
                        <a:t>462.2</a:t>
                      </a:r>
                    </a:p>
                  </a:txBody>
                  <a:tcPr marL="0" marR="0" marT="0" marB="0" anchor="ctr">
                    <a:lnL>
                      <a:noFill/>
                    </a:lnL>
                    <a:lnR>
                      <a:noFill/>
                    </a:lnR>
                    <a:lnT>
                      <a:noFill/>
                    </a:lnT>
                    <a:lnB>
                      <a:noFill/>
                    </a:lnB>
                    <a:noFill/>
                  </a:tcPr>
                </a:tc>
                <a:tc>
                  <a:txBody>
                    <a:bodyPr/>
                    <a:lstStyle/>
                    <a:p>
                      <a:pPr algn="r">
                        <a:buNone/>
                      </a:pPr>
                      <a:r>
                        <a:rPr lang="en-US" sz="1200"/>
                        <a:t>898.55</a:t>
                      </a:r>
                    </a:p>
                  </a:txBody>
                  <a:tcPr marL="0" marR="0" marT="0" marB="0" anchor="ctr">
                    <a:lnL>
                      <a:noFill/>
                    </a:lnL>
                    <a:lnR>
                      <a:noFill/>
                    </a:lnR>
                    <a:lnT>
                      <a:noFill/>
                    </a:lnT>
                    <a:lnB>
                      <a:noFill/>
                    </a:lnB>
                    <a:noFill/>
                  </a:tcPr>
                </a:tc>
                <a:tc>
                  <a:txBody>
                    <a:bodyPr/>
                    <a:lstStyle/>
                    <a:p>
                      <a:pPr algn="r">
                        <a:buNone/>
                      </a:pPr>
                      <a:r>
                        <a:rPr lang="en-US" sz="1200" dirty="0"/>
                        <a:t>768.55</a:t>
                      </a:r>
                    </a:p>
                  </a:txBody>
                  <a:tcPr marL="0" marR="0" marT="0" marB="0" anchor="ctr">
                    <a:lnL>
                      <a:noFill/>
                    </a:lnL>
                    <a:lnR>
                      <a:noFill/>
                    </a:lnR>
                    <a:lnT>
                      <a:noFill/>
                    </a:lnT>
                    <a:lnB>
                      <a:noFill/>
                    </a:lnB>
                    <a:noFill/>
                  </a:tcPr>
                </a:tc>
                <a:extLst>
                  <a:ext uri="{0D108BD9-81ED-4DB2-BD59-A6C34878D82A}">
                    <a16:rowId xmlns:a16="http://schemas.microsoft.com/office/drawing/2014/main" val="1501055482"/>
                  </a:ext>
                </a:extLst>
              </a:tr>
            </a:tbl>
          </a:graphicData>
        </a:graphic>
      </p:graphicFrame>
      <p:pic>
        <p:nvPicPr>
          <p:cNvPr id="7" name="Picture 6" descr="A number of green squares with numbers&#10;&#10;AI-generated content may be incorrect.">
            <a:extLst>
              <a:ext uri="{FF2B5EF4-FFF2-40B4-BE49-F238E27FC236}">
                <a16:creationId xmlns:a16="http://schemas.microsoft.com/office/drawing/2014/main" id="{1FC234B2-280C-E883-2B09-184162A35416}"/>
              </a:ext>
            </a:extLst>
          </p:cNvPr>
          <p:cNvPicPr>
            <a:picLocks noChangeAspect="1"/>
          </p:cNvPicPr>
          <p:nvPr/>
        </p:nvPicPr>
        <p:blipFill>
          <a:blip r:embed="rId3"/>
          <a:stretch>
            <a:fillRect/>
          </a:stretch>
        </p:blipFill>
        <p:spPr>
          <a:xfrm>
            <a:off x="3126109" y="1529230"/>
            <a:ext cx="2936704" cy="1878493"/>
          </a:xfrm>
          <a:prstGeom prst="rect">
            <a:avLst/>
          </a:prstGeom>
          <a:ln>
            <a:noFill/>
          </a:ln>
        </p:spPr>
      </p:pic>
      <p:pic>
        <p:nvPicPr>
          <p:cNvPr id="9" name="Picture 8" descr="A line graph with numbers and a green line&#10;&#10;AI-generated content may be incorrect.">
            <a:extLst>
              <a:ext uri="{FF2B5EF4-FFF2-40B4-BE49-F238E27FC236}">
                <a16:creationId xmlns:a16="http://schemas.microsoft.com/office/drawing/2014/main" id="{C6CAA2F2-1729-FC45-CE3E-A6E166F6E1E5}"/>
              </a:ext>
            </a:extLst>
          </p:cNvPr>
          <p:cNvPicPr>
            <a:picLocks noChangeAspect="1"/>
          </p:cNvPicPr>
          <p:nvPr/>
        </p:nvPicPr>
        <p:blipFill>
          <a:blip r:embed="rId4"/>
          <a:stretch>
            <a:fillRect/>
          </a:stretch>
        </p:blipFill>
        <p:spPr>
          <a:xfrm>
            <a:off x="94189" y="1526557"/>
            <a:ext cx="3013808" cy="1883686"/>
          </a:xfrm>
          <a:prstGeom prst="rect">
            <a:avLst/>
          </a:prstGeom>
          <a:ln>
            <a:noFill/>
          </a:ln>
        </p:spPr>
      </p:pic>
      <p:pic>
        <p:nvPicPr>
          <p:cNvPr id="2" name="Picture 1" descr="A graph of green lines and numbers&#10;&#10;AI-generated content may be incorrect.">
            <a:extLst>
              <a:ext uri="{FF2B5EF4-FFF2-40B4-BE49-F238E27FC236}">
                <a16:creationId xmlns:a16="http://schemas.microsoft.com/office/drawing/2014/main" id="{AAA4CF43-5F32-94F9-EB25-1F67F9BAF962}"/>
              </a:ext>
            </a:extLst>
          </p:cNvPr>
          <p:cNvPicPr>
            <a:picLocks noChangeAspect="1"/>
          </p:cNvPicPr>
          <p:nvPr/>
        </p:nvPicPr>
        <p:blipFill>
          <a:blip r:embed="rId5"/>
          <a:stretch>
            <a:fillRect/>
          </a:stretch>
        </p:blipFill>
        <p:spPr>
          <a:xfrm>
            <a:off x="97381" y="5289979"/>
            <a:ext cx="5954011" cy="3503683"/>
          </a:xfrm>
          <a:prstGeom prst="rect">
            <a:avLst/>
          </a:prstGeom>
          <a:ln>
            <a:noFill/>
          </a:ln>
        </p:spPr>
      </p:pic>
      <p:sp>
        <p:nvSpPr>
          <p:cNvPr id="10" name="Footer Placeholder 3">
            <a:extLst>
              <a:ext uri="{FF2B5EF4-FFF2-40B4-BE49-F238E27FC236}">
                <a16:creationId xmlns:a16="http://schemas.microsoft.com/office/drawing/2014/main" id="{7A98413A-28F4-7683-E6B7-3A2DE84C5C3C}"/>
              </a:ext>
            </a:extLst>
          </p:cNvPr>
          <p:cNvSpPr>
            <a:spLocks noGrp="1"/>
          </p:cNvSpPr>
          <p:nvPr>
            <p:ph type="ftr" sz="quarter" idx="11"/>
          </p:nvPr>
        </p:nvSpPr>
        <p:spPr>
          <a:xfrm>
            <a:off x="-7551" y="8832134"/>
            <a:ext cx="6234928" cy="324563"/>
          </a:xfrm>
        </p:spPr>
        <p:txBody>
          <a:bodyPr/>
          <a:lstStyle/>
          <a:p>
            <a:pPr algn="l"/>
            <a:r>
              <a:rPr lang="en-US" sz="800">
                <a:ea typeface="Calibri"/>
                <a:cs typeface="Calibri"/>
              </a:rPr>
              <a:t>Disclaimer: This is only for educational purposes and we are not SEBI registered.</a:t>
            </a:r>
          </a:p>
        </p:txBody>
      </p:sp>
      <p:sp>
        <p:nvSpPr>
          <p:cNvPr id="11" name="Rectangle 10">
            <a:extLst>
              <a:ext uri="{FF2B5EF4-FFF2-40B4-BE49-F238E27FC236}">
                <a16:creationId xmlns:a16="http://schemas.microsoft.com/office/drawing/2014/main" id="{5C47D978-FFDB-EF18-E3EA-CF485BD26721}"/>
              </a:ext>
            </a:extLst>
          </p:cNvPr>
          <p:cNvSpPr/>
          <p:nvPr/>
        </p:nvSpPr>
        <p:spPr>
          <a:xfrm>
            <a:off x="98704" y="815933"/>
            <a:ext cx="6027421" cy="360000"/>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a:ea typeface="Calibri"/>
                <a:cs typeface="Calibri"/>
              </a:rPr>
              <a:t>Stock Performance</a:t>
            </a:r>
            <a:endParaRPr lang="en-US"/>
          </a:p>
        </p:txBody>
      </p:sp>
      <p:sp>
        <p:nvSpPr>
          <p:cNvPr id="12" name="Slide Number Placeholder 6">
            <a:extLst>
              <a:ext uri="{FF2B5EF4-FFF2-40B4-BE49-F238E27FC236}">
                <a16:creationId xmlns:a16="http://schemas.microsoft.com/office/drawing/2014/main" id="{4603C332-F4BE-DD7B-B0C0-689A6CF994AA}"/>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9</a:t>
            </a:fld>
            <a:endParaRPr lang="en-US"/>
          </a:p>
        </p:txBody>
      </p:sp>
    </p:spTree>
    <p:extLst>
      <p:ext uri="{BB962C8B-B14F-4D97-AF65-F5344CB8AC3E}">
        <p14:creationId xmlns:p14="http://schemas.microsoft.com/office/powerpoint/2010/main" val="687927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85C1C-4F78-D085-4AA4-CF39B5D87E0A}"/>
            </a:ext>
          </a:extLst>
        </p:cNvPr>
        <p:cNvGrpSpPr/>
        <p:nvPr/>
      </p:nvGrpSpPr>
      <p:grpSpPr>
        <a:xfrm>
          <a:off x="0" y="0"/>
          <a:ext cx="0" cy="0"/>
          <a:chOff x="0" y="0"/>
          <a:chExt cx="0" cy="0"/>
        </a:xfrm>
      </p:grpSpPr>
      <p:cxnSp>
        <p:nvCxnSpPr>
          <p:cNvPr id="3" name="Straight Arrow Connector 2">
            <a:extLst>
              <a:ext uri="{FF2B5EF4-FFF2-40B4-BE49-F238E27FC236}">
                <a16:creationId xmlns:a16="http://schemas.microsoft.com/office/drawing/2014/main" id="{37B2445A-C097-BD3D-8828-D2D1718B507E}"/>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8" name="Picture 7" descr="Adani Renewables - Global Alliance For Sustainable Energy">
            <a:extLst>
              <a:ext uri="{FF2B5EF4-FFF2-40B4-BE49-F238E27FC236}">
                <a16:creationId xmlns:a16="http://schemas.microsoft.com/office/drawing/2014/main" id="{229C6BED-3830-2D46-70C3-03E0B484A5A4}"/>
              </a:ext>
            </a:extLst>
          </p:cNvPr>
          <p:cNvPicPr>
            <a:picLocks noChangeAspect="1"/>
          </p:cNvPicPr>
          <p:nvPr/>
        </p:nvPicPr>
        <p:blipFill>
          <a:blip r:embed="rId2"/>
          <a:stretch>
            <a:fillRect/>
          </a:stretch>
        </p:blipFill>
        <p:spPr>
          <a:xfrm>
            <a:off x="5076000" y="0"/>
            <a:ext cx="1311468" cy="662728"/>
          </a:xfrm>
          <a:prstGeom prst="rect">
            <a:avLst/>
          </a:prstGeom>
        </p:spPr>
      </p:pic>
      <p:cxnSp>
        <p:nvCxnSpPr>
          <p:cNvPr id="14" name="Straight Arrow Connector 13">
            <a:extLst>
              <a:ext uri="{FF2B5EF4-FFF2-40B4-BE49-F238E27FC236}">
                <a16:creationId xmlns:a16="http://schemas.microsoft.com/office/drawing/2014/main" id="{B26B0636-8467-6C8C-DC33-368D9C6EE403}"/>
              </a:ext>
            </a:extLst>
          </p:cNvPr>
          <p:cNvCxnSpPr/>
          <p:nvPr/>
        </p:nvCxnSpPr>
        <p:spPr>
          <a:xfrm flipV="1">
            <a:off x="-5925" y="8787953"/>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2" name="Picture 1" descr="A line graph with green and white text&#10;&#10;AI-generated content may be incorrect.">
            <a:extLst>
              <a:ext uri="{FF2B5EF4-FFF2-40B4-BE49-F238E27FC236}">
                <a16:creationId xmlns:a16="http://schemas.microsoft.com/office/drawing/2014/main" id="{A06F2839-9257-198A-E4FA-54B490B1F160}"/>
              </a:ext>
            </a:extLst>
          </p:cNvPr>
          <p:cNvPicPr>
            <a:picLocks noChangeAspect="1"/>
          </p:cNvPicPr>
          <p:nvPr/>
        </p:nvPicPr>
        <p:blipFill>
          <a:blip r:embed="rId3"/>
          <a:stretch>
            <a:fillRect/>
          </a:stretch>
        </p:blipFill>
        <p:spPr>
          <a:xfrm>
            <a:off x="164677" y="1285892"/>
            <a:ext cx="5887187" cy="3373283"/>
          </a:xfrm>
          <a:prstGeom prst="rect">
            <a:avLst/>
          </a:prstGeom>
          <a:ln>
            <a:noFill/>
          </a:ln>
        </p:spPr>
      </p:pic>
      <p:pic>
        <p:nvPicPr>
          <p:cNvPr id="6" name="Picture 5" descr="A graph of green bars&#10;&#10;AI-generated content may be incorrect.">
            <a:extLst>
              <a:ext uri="{FF2B5EF4-FFF2-40B4-BE49-F238E27FC236}">
                <a16:creationId xmlns:a16="http://schemas.microsoft.com/office/drawing/2014/main" id="{574F932B-42E1-981D-D71B-B844374597A6}"/>
              </a:ext>
            </a:extLst>
          </p:cNvPr>
          <p:cNvPicPr>
            <a:picLocks noChangeAspect="1"/>
          </p:cNvPicPr>
          <p:nvPr/>
        </p:nvPicPr>
        <p:blipFill>
          <a:blip r:embed="rId4"/>
          <a:srcRect l="-97" r="87" b="589"/>
          <a:stretch>
            <a:fillRect/>
          </a:stretch>
        </p:blipFill>
        <p:spPr>
          <a:xfrm>
            <a:off x="167846" y="4908356"/>
            <a:ext cx="5886844" cy="3591203"/>
          </a:xfrm>
          <a:prstGeom prst="rect">
            <a:avLst/>
          </a:prstGeom>
          <a:ln>
            <a:noFill/>
          </a:ln>
        </p:spPr>
      </p:pic>
      <p:sp>
        <p:nvSpPr>
          <p:cNvPr id="7" name="Footer Placeholder 3">
            <a:extLst>
              <a:ext uri="{FF2B5EF4-FFF2-40B4-BE49-F238E27FC236}">
                <a16:creationId xmlns:a16="http://schemas.microsoft.com/office/drawing/2014/main" id="{AB7E244E-E6B3-0C68-9119-AFF39626E7B6}"/>
              </a:ext>
            </a:extLst>
          </p:cNvPr>
          <p:cNvSpPr>
            <a:spLocks noGrp="1"/>
          </p:cNvSpPr>
          <p:nvPr>
            <p:ph type="ftr" sz="quarter" idx="11"/>
          </p:nvPr>
        </p:nvSpPr>
        <p:spPr>
          <a:xfrm>
            <a:off x="-7551" y="8832134"/>
            <a:ext cx="6234928" cy="324563"/>
          </a:xfrm>
        </p:spPr>
        <p:txBody>
          <a:bodyPr/>
          <a:lstStyle/>
          <a:p>
            <a:pPr algn="l"/>
            <a:r>
              <a:rPr lang="en-US" sz="800">
                <a:ea typeface="Calibri"/>
                <a:cs typeface="Calibri"/>
              </a:rPr>
              <a:t>Disclaimer: This is only for educational purposes and we are not SEBI registered.</a:t>
            </a:r>
          </a:p>
        </p:txBody>
      </p:sp>
      <p:sp>
        <p:nvSpPr>
          <p:cNvPr id="9" name="Rectangle 8">
            <a:extLst>
              <a:ext uri="{FF2B5EF4-FFF2-40B4-BE49-F238E27FC236}">
                <a16:creationId xmlns:a16="http://schemas.microsoft.com/office/drawing/2014/main" id="{28839727-B46D-D886-144F-B42A86ED44DA}"/>
              </a:ext>
            </a:extLst>
          </p:cNvPr>
          <p:cNvSpPr/>
          <p:nvPr/>
        </p:nvSpPr>
        <p:spPr>
          <a:xfrm>
            <a:off x="98704" y="815933"/>
            <a:ext cx="6027421" cy="360000"/>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a:ea typeface="Calibri"/>
                <a:cs typeface="Calibri"/>
              </a:rPr>
              <a:t>Stock Charts</a:t>
            </a:r>
            <a:endParaRPr lang="en-US"/>
          </a:p>
        </p:txBody>
      </p:sp>
      <p:sp>
        <p:nvSpPr>
          <p:cNvPr id="10" name="Slide Number Placeholder 6">
            <a:extLst>
              <a:ext uri="{FF2B5EF4-FFF2-40B4-BE49-F238E27FC236}">
                <a16:creationId xmlns:a16="http://schemas.microsoft.com/office/drawing/2014/main" id="{D6D08812-2968-C9D3-6482-346EAC1F4AF3}"/>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10</a:t>
            </a:fld>
            <a:endParaRPr lang="en-US"/>
          </a:p>
        </p:txBody>
      </p:sp>
    </p:spTree>
    <p:extLst>
      <p:ext uri="{BB962C8B-B14F-4D97-AF65-F5344CB8AC3E}">
        <p14:creationId xmlns:p14="http://schemas.microsoft.com/office/powerpoint/2010/main" val="2613059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15FF3-312A-F9C4-CD80-4A1EFE897BA0}"/>
            </a:ext>
          </a:extLst>
        </p:cNvPr>
        <p:cNvGrpSpPr/>
        <p:nvPr/>
      </p:nvGrpSpPr>
      <p:grpSpPr>
        <a:xfrm>
          <a:off x="0" y="0"/>
          <a:ext cx="0" cy="0"/>
          <a:chOff x="0" y="0"/>
          <a:chExt cx="0" cy="0"/>
        </a:xfrm>
      </p:grpSpPr>
      <p:cxnSp>
        <p:nvCxnSpPr>
          <p:cNvPr id="3" name="Straight Arrow Connector 2">
            <a:extLst>
              <a:ext uri="{FF2B5EF4-FFF2-40B4-BE49-F238E27FC236}">
                <a16:creationId xmlns:a16="http://schemas.microsoft.com/office/drawing/2014/main" id="{D003B98B-C15D-D977-81F8-99550ABE8FE6}"/>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8" name="Picture 7" descr="Adani Renewables - Global Alliance For Sustainable Energy">
            <a:extLst>
              <a:ext uri="{FF2B5EF4-FFF2-40B4-BE49-F238E27FC236}">
                <a16:creationId xmlns:a16="http://schemas.microsoft.com/office/drawing/2014/main" id="{3C32FF1A-9559-7199-A5AB-DB39380E2A18}"/>
              </a:ext>
            </a:extLst>
          </p:cNvPr>
          <p:cNvPicPr>
            <a:picLocks noChangeAspect="1"/>
          </p:cNvPicPr>
          <p:nvPr/>
        </p:nvPicPr>
        <p:blipFill>
          <a:blip r:embed="rId2"/>
          <a:stretch>
            <a:fillRect/>
          </a:stretch>
        </p:blipFill>
        <p:spPr>
          <a:xfrm>
            <a:off x="5076000" y="0"/>
            <a:ext cx="1311468" cy="662728"/>
          </a:xfrm>
          <a:prstGeom prst="rect">
            <a:avLst/>
          </a:prstGeom>
        </p:spPr>
      </p:pic>
      <p:cxnSp>
        <p:nvCxnSpPr>
          <p:cNvPr id="14" name="Straight Arrow Connector 13">
            <a:extLst>
              <a:ext uri="{FF2B5EF4-FFF2-40B4-BE49-F238E27FC236}">
                <a16:creationId xmlns:a16="http://schemas.microsoft.com/office/drawing/2014/main" id="{0333DF31-E017-DB26-8537-ED613224393D}"/>
              </a:ext>
            </a:extLst>
          </p:cNvPr>
          <p:cNvCxnSpPr/>
          <p:nvPr/>
        </p:nvCxnSpPr>
        <p:spPr>
          <a:xfrm flipV="1">
            <a:off x="-5925" y="8787953"/>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37C381DE-2336-2B76-EEC8-71BBEEDDCB6E}"/>
              </a:ext>
            </a:extLst>
          </p:cNvPr>
          <p:cNvGraphicFramePr>
            <a:graphicFrameLocks noGrp="1"/>
          </p:cNvGraphicFramePr>
          <p:nvPr>
            <p:extLst>
              <p:ext uri="{D42A27DB-BD31-4B8C-83A1-F6EECF244321}">
                <p14:modId xmlns:p14="http://schemas.microsoft.com/office/powerpoint/2010/main" val="3461596806"/>
              </p:ext>
            </p:extLst>
          </p:nvPr>
        </p:nvGraphicFramePr>
        <p:xfrm>
          <a:off x="110924" y="1914397"/>
          <a:ext cx="5967473" cy="2341386"/>
        </p:xfrm>
        <a:graphic>
          <a:graphicData uri="http://schemas.openxmlformats.org/drawingml/2006/table">
            <a:tbl>
              <a:tblPr bandRow="1">
                <a:tableStyleId>{5C22544A-7EE6-4342-B048-85BDC9FD1C3A}</a:tableStyleId>
              </a:tblPr>
              <a:tblGrid>
                <a:gridCol w="1182018">
                  <a:extLst>
                    <a:ext uri="{9D8B030D-6E8A-4147-A177-3AD203B41FA5}">
                      <a16:colId xmlns:a16="http://schemas.microsoft.com/office/drawing/2014/main" val="3005647115"/>
                    </a:ext>
                  </a:extLst>
                </a:gridCol>
                <a:gridCol w="539374">
                  <a:extLst>
                    <a:ext uri="{9D8B030D-6E8A-4147-A177-3AD203B41FA5}">
                      <a16:colId xmlns:a16="http://schemas.microsoft.com/office/drawing/2014/main" val="655673833"/>
                    </a:ext>
                  </a:extLst>
                </a:gridCol>
                <a:gridCol w="1125796">
                  <a:extLst>
                    <a:ext uri="{9D8B030D-6E8A-4147-A177-3AD203B41FA5}">
                      <a16:colId xmlns:a16="http://schemas.microsoft.com/office/drawing/2014/main" val="1645837707"/>
                    </a:ext>
                  </a:extLst>
                </a:gridCol>
                <a:gridCol w="931689">
                  <a:extLst>
                    <a:ext uri="{9D8B030D-6E8A-4147-A177-3AD203B41FA5}">
                      <a16:colId xmlns:a16="http://schemas.microsoft.com/office/drawing/2014/main" val="3584040872"/>
                    </a:ext>
                  </a:extLst>
                </a:gridCol>
                <a:gridCol w="793474">
                  <a:extLst>
                    <a:ext uri="{9D8B030D-6E8A-4147-A177-3AD203B41FA5}">
                      <a16:colId xmlns:a16="http://schemas.microsoft.com/office/drawing/2014/main" val="2179475947"/>
                    </a:ext>
                  </a:extLst>
                </a:gridCol>
                <a:gridCol w="1395122">
                  <a:extLst>
                    <a:ext uri="{9D8B030D-6E8A-4147-A177-3AD203B41FA5}">
                      <a16:colId xmlns:a16="http://schemas.microsoft.com/office/drawing/2014/main" val="3171007027"/>
                    </a:ext>
                  </a:extLst>
                </a:gridCol>
              </a:tblGrid>
              <a:tr h="421873">
                <a:tc>
                  <a:txBody>
                    <a:bodyPr/>
                    <a:lstStyle/>
                    <a:p>
                      <a:pPr algn="ctr">
                        <a:buNone/>
                      </a:pPr>
                      <a:r>
                        <a:rPr lang="en-US" sz="1200" b="1">
                          <a:effectLst/>
                        </a:rPr>
                        <a:t>Institution</a:t>
                      </a:r>
                    </a:p>
                  </a:txBody>
                  <a:tcPr marL="0" marR="0" marT="0" marB="0" anchor="ctr">
                    <a:lnL>
                      <a:noFill/>
                    </a:lnL>
                    <a:lnR>
                      <a:noFill/>
                    </a:lnR>
                    <a:lnT>
                      <a:noFill/>
                    </a:lnT>
                    <a:lnB>
                      <a:noFill/>
                    </a:lnB>
                    <a:solidFill>
                      <a:schemeClr val="accent6"/>
                    </a:solidFill>
                  </a:tcPr>
                </a:tc>
                <a:tc>
                  <a:txBody>
                    <a:bodyPr/>
                    <a:lstStyle/>
                    <a:p>
                      <a:pPr algn="ctr">
                        <a:buNone/>
                      </a:pPr>
                      <a:r>
                        <a:rPr lang="en-US" sz="1200" b="1">
                          <a:effectLst/>
                        </a:rPr>
                        <a:t> Reco</a:t>
                      </a:r>
                    </a:p>
                  </a:txBody>
                  <a:tcPr marL="0" marR="0" marT="0" marB="0" anchor="ctr">
                    <a:lnL>
                      <a:noFill/>
                    </a:lnL>
                    <a:lnR>
                      <a:noFill/>
                    </a:lnR>
                    <a:lnT>
                      <a:noFill/>
                    </a:lnT>
                    <a:lnB>
                      <a:noFill/>
                    </a:lnB>
                    <a:solidFill>
                      <a:schemeClr val="accent6"/>
                    </a:solidFill>
                  </a:tcPr>
                </a:tc>
                <a:tc>
                  <a:txBody>
                    <a:bodyPr/>
                    <a:lstStyle/>
                    <a:p>
                      <a:pPr algn="ctr">
                        <a:buNone/>
                      </a:pPr>
                      <a:r>
                        <a:rPr lang="en-US" sz="1200" b="1">
                          <a:effectLst/>
                        </a:rPr>
                        <a:t>Date of Reco</a:t>
                      </a:r>
                    </a:p>
                  </a:txBody>
                  <a:tcPr marL="0" marR="0" marT="0" marB="0" anchor="ctr">
                    <a:lnL>
                      <a:noFill/>
                    </a:lnL>
                    <a:lnR>
                      <a:noFill/>
                    </a:lnR>
                    <a:lnT>
                      <a:noFill/>
                    </a:lnT>
                    <a:lnB>
                      <a:noFill/>
                    </a:lnB>
                    <a:solidFill>
                      <a:schemeClr val="accent6"/>
                    </a:solidFill>
                  </a:tcPr>
                </a:tc>
                <a:tc>
                  <a:txBody>
                    <a:bodyPr/>
                    <a:lstStyle/>
                    <a:p>
                      <a:pPr algn="ctr">
                        <a:buNone/>
                      </a:pPr>
                      <a:r>
                        <a:rPr lang="en-US" sz="1200" b="1">
                          <a:effectLst/>
                        </a:rPr>
                        <a:t>Price at the time of Reco</a:t>
                      </a:r>
                    </a:p>
                  </a:txBody>
                  <a:tcPr marL="0" marR="0" marT="0" marB="0" anchor="ctr">
                    <a:lnL>
                      <a:noFill/>
                    </a:lnL>
                    <a:lnR>
                      <a:noFill/>
                    </a:lnR>
                    <a:lnT>
                      <a:noFill/>
                    </a:lnT>
                    <a:lnB>
                      <a:noFill/>
                    </a:lnB>
                    <a:solidFill>
                      <a:schemeClr val="accent6"/>
                    </a:solidFill>
                  </a:tcPr>
                </a:tc>
                <a:tc>
                  <a:txBody>
                    <a:bodyPr/>
                    <a:lstStyle/>
                    <a:p>
                      <a:pPr algn="ctr">
                        <a:buNone/>
                      </a:pPr>
                      <a:r>
                        <a:rPr lang="en-US" sz="1200" b="1">
                          <a:effectLst/>
                        </a:rPr>
                        <a:t>Target Price</a:t>
                      </a:r>
                    </a:p>
                  </a:txBody>
                  <a:tcPr marL="0" marR="0" marT="0" marB="0" anchor="ctr">
                    <a:lnL>
                      <a:noFill/>
                    </a:lnL>
                    <a:lnR>
                      <a:noFill/>
                    </a:lnR>
                    <a:lnT>
                      <a:noFill/>
                    </a:lnT>
                    <a:lnB>
                      <a:noFill/>
                    </a:lnB>
                    <a:solidFill>
                      <a:schemeClr val="accent6"/>
                    </a:solidFill>
                  </a:tcPr>
                </a:tc>
                <a:tc>
                  <a:txBody>
                    <a:bodyPr/>
                    <a:lstStyle/>
                    <a:p>
                      <a:pPr algn="ctr">
                        <a:buNone/>
                      </a:pPr>
                      <a:r>
                        <a:rPr lang="en-US" sz="1200" b="1" dirty="0">
                          <a:effectLst/>
                        </a:rPr>
                        <a:t>Potential Upside/Downside</a:t>
                      </a:r>
                    </a:p>
                  </a:txBody>
                  <a:tcPr marL="0" marR="0" marT="0" marB="0" anchor="ctr">
                    <a:lnL>
                      <a:noFill/>
                    </a:lnL>
                    <a:lnR>
                      <a:noFill/>
                    </a:lnR>
                    <a:lnT>
                      <a:noFill/>
                    </a:lnT>
                    <a:lnB>
                      <a:noFill/>
                    </a:lnB>
                    <a:solidFill>
                      <a:schemeClr val="accent6"/>
                    </a:solidFill>
                  </a:tcPr>
                </a:tc>
                <a:extLst>
                  <a:ext uri="{0D108BD9-81ED-4DB2-BD59-A6C34878D82A}">
                    <a16:rowId xmlns:a16="http://schemas.microsoft.com/office/drawing/2014/main" val="229543475"/>
                  </a:ext>
                </a:extLst>
              </a:tr>
              <a:tr h="210935">
                <a:tc>
                  <a:txBody>
                    <a:bodyPr/>
                    <a:lstStyle/>
                    <a:p>
                      <a:pPr algn="ctr">
                        <a:buNone/>
                      </a:pPr>
                      <a:r>
                        <a:rPr lang="en-US" sz="1200" b="0">
                          <a:effectLst/>
                        </a:rPr>
                        <a:t>Jefferies</a:t>
                      </a:r>
                    </a:p>
                  </a:txBody>
                  <a:tcPr marL="0" marR="0" marT="0" marB="0" anchor="ctr">
                    <a:lnL>
                      <a:noFill/>
                    </a:lnL>
                    <a:lnR>
                      <a:noFill/>
                    </a:lnR>
                    <a:lnT>
                      <a:noFill/>
                    </a:lnT>
                    <a:lnB>
                      <a:noFill/>
                    </a:lnB>
                    <a:noFill/>
                  </a:tcPr>
                </a:tc>
                <a:tc>
                  <a:txBody>
                    <a:bodyPr/>
                    <a:lstStyle/>
                    <a:p>
                      <a:pPr algn="ctr">
                        <a:buNone/>
                      </a:pPr>
                      <a:r>
                        <a:rPr lang="en-US" sz="1200" b="1">
                          <a:solidFill>
                            <a:srgbClr val="187C2C"/>
                          </a:solidFill>
                          <a:effectLst/>
                        </a:rPr>
                        <a:t>Buy</a:t>
                      </a:r>
                    </a:p>
                  </a:txBody>
                  <a:tcPr marL="0" marR="0" marT="0" marB="0" anchor="ctr">
                    <a:lnL>
                      <a:noFill/>
                    </a:lnL>
                    <a:lnR>
                      <a:noFill/>
                    </a:lnR>
                    <a:lnT>
                      <a:noFill/>
                    </a:lnT>
                    <a:lnB>
                      <a:noFill/>
                    </a:lnB>
                    <a:noFill/>
                  </a:tcPr>
                </a:tc>
                <a:tc>
                  <a:txBody>
                    <a:bodyPr/>
                    <a:lstStyle/>
                    <a:p>
                      <a:pPr algn="ctr">
                        <a:buNone/>
                      </a:pPr>
                      <a:r>
                        <a:rPr lang="en-US" sz="1200" b="0"/>
                        <a:t>29-07-2024</a:t>
                      </a:r>
                    </a:p>
                  </a:txBody>
                  <a:tcPr marL="0" marR="0" marT="0" marB="0" anchor="ctr">
                    <a:lnL>
                      <a:noFill/>
                    </a:lnL>
                    <a:lnR>
                      <a:noFill/>
                    </a:lnR>
                    <a:lnT>
                      <a:noFill/>
                    </a:lnT>
                    <a:lnB>
                      <a:noFill/>
                    </a:lnB>
                    <a:noFill/>
                  </a:tcPr>
                </a:tc>
                <a:tc>
                  <a:txBody>
                    <a:bodyPr/>
                    <a:lstStyle/>
                    <a:p>
                      <a:pPr algn="ctr">
                        <a:buNone/>
                      </a:pPr>
                      <a:r>
                        <a:rPr lang="en-US" sz="1200" b="0">
                          <a:effectLst/>
                        </a:rPr>
                        <a:t>1809</a:t>
                      </a:r>
                    </a:p>
                  </a:txBody>
                  <a:tcPr marL="0" marR="0" marT="0" marB="0" anchor="ctr">
                    <a:lnL>
                      <a:noFill/>
                    </a:lnL>
                    <a:lnR>
                      <a:noFill/>
                    </a:lnR>
                    <a:lnT>
                      <a:noFill/>
                    </a:lnT>
                    <a:lnB>
                      <a:noFill/>
                    </a:lnB>
                    <a:noFill/>
                  </a:tcPr>
                </a:tc>
                <a:tc>
                  <a:txBody>
                    <a:bodyPr/>
                    <a:lstStyle/>
                    <a:p>
                      <a:pPr algn="ctr">
                        <a:buNone/>
                      </a:pPr>
                      <a:r>
                        <a:rPr lang="en-US" sz="1200" b="0">
                          <a:effectLst/>
                        </a:rPr>
                        <a:t>2,130</a:t>
                      </a:r>
                    </a:p>
                  </a:txBody>
                  <a:tcPr marL="0" marR="0" marT="0" marB="0" anchor="ctr">
                    <a:lnL>
                      <a:noFill/>
                    </a:lnL>
                    <a:lnR>
                      <a:noFill/>
                    </a:lnR>
                    <a:lnT>
                      <a:noFill/>
                    </a:lnT>
                    <a:lnB>
                      <a:noFill/>
                    </a:lnB>
                    <a:noFill/>
                  </a:tcPr>
                </a:tc>
                <a:tc>
                  <a:txBody>
                    <a:bodyPr/>
                    <a:lstStyle/>
                    <a:p>
                      <a:pPr algn="ctr">
                        <a:buNone/>
                      </a:pPr>
                      <a:r>
                        <a:rPr lang="en-US" sz="1200" b="1">
                          <a:solidFill>
                            <a:srgbClr val="187C2C"/>
                          </a:solidFill>
                        </a:rPr>
                        <a:t>17.74%</a:t>
                      </a:r>
                    </a:p>
                  </a:txBody>
                  <a:tcPr marL="0" marR="0" marT="0" marB="0" anchor="ctr">
                    <a:lnL>
                      <a:noFill/>
                    </a:lnL>
                    <a:lnR>
                      <a:noFill/>
                    </a:lnR>
                    <a:lnT>
                      <a:noFill/>
                    </a:lnT>
                    <a:lnB>
                      <a:noFill/>
                    </a:lnB>
                    <a:noFill/>
                  </a:tcPr>
                </a:tc>
                <a:extLst>
                  <a:ext uri="{0D108BD9-81ED-4DB2-BD59-A6C34878D82A}">
                    <a16:rowId xmlns:a16="http://schemas.microsoft.com/office/drawing/2014/main" val="3272275098"/>
                  </a:ext>
                </a:extLst>
              </a:tr>
              <a:tr h="210935">
                <a:tc>
                  <a:txBody>
                    <a:bodyPr/>
                    <a:lstStyle/>
                    <a:p>
                      <a:pPr algn="ctr">
                        <a:buNone/>
                      </a:pPr>
                      <a:r>
                        <a:rPr lang="en-US" sz="1200" b="0">
                          <a:effectLst/>
                        </a:rPr>
                        <a:t>Investec</a:t>
                      </a:r>
                      <a:endParaRPr lang="en-US" sz="1200" b="0">
                        <a:solidFill>
                          <a:srgbClr val="187C2C"/>
                        </a:solidFill>
                        <a:effectLst/>
                      </a:endParaRP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1">
                          <a:solidFill>
                            <a:srgbClr val="187C2C"/>
                          </a:solidFill>
                          <a:effectLst/>
                        </a:rPr>
                        <a:t>Buy</a:t>
                      </a: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0"/>
                        <a:t>17-09-2024</a:t>
                      </a: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0">
                          <a:effectLst/>
                        </a:rPr>
                        <a:t>1826</a:t>
                      </a: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0">
                          <a:effectLst/>
                        </a:rPr>
                        <a:t>2,515</a:t>
                      </a: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1">
                          <a:solidFill>
                            <a:srgbClr val="187C2C"/>
                          </a:solidFill>
                        </a:rPr>
                        <a:t>37.73%</a:t>
                      </a:r>
                    </a:p>
                  </a:txBody>
                  <a:tcPr marL="0" marR="0" marT="0" marB="0" anchor="ctr">
                    <a:lnL>
                      <a:noFill/>
                    </a:lnL>
                    <a:lnR>
                      <a:noFill/>
                    </a:lnR>
                    <a:lnT>
                      <a:noFill/>
                    </a:lnT>
                    <a:lnB>
                      <a:noFill/>
                    </a:lnB>
                    <a:solidFill>
                      <a:schemeClr val="accent6">
                        <a:lumMod val="40000"/>
                        <a:lumOff val="60000"/>
                      </a:schemeClr>
                    </a:solidFill>
                  </a:tcPr>
                </a:tc>
                <a:extLst>
                  <a:ext uri="{0D108BD9-81ED-4DB2-BD59-A6C34878D82A}">
                    <a16:rowId xmlns:a16="http://schemas.microsoft.com/office/drawing/2014/main" val="3754185819"/>
                  </a:ext>
                </a:extLst>
              </a:tr>
              <a:tr h="210935">
                <a:tc>
                  <a:txBody>
                    <a:bodyPr/>
                    <a:lstStyle/>
                    <a:p>
                      <a:pPr algn="ctr">
                        <a:buNone/>
                      </a:pPr>
                      <a:r>
                        <a:rPr lang="en-US" sz="1200" b="0">
                          <a:effectLst/>
                        </a:rPr>
                        <a:t>Macquarie</a:t>
                      </a:r>
                    </a:p>
                  </a:txBody>
                  <a:tcPr marL="0" marR="0" marT="0" marB="0" anchor="ctr">
                    <a:lnL>
                      <a:noFill/>
                    </a:lnL>
                    <a:lnR>
                      <a:noFill/>
                    </a:lnR>
                    <a:lnT>
                      <a:noFill/>
                    </a:lnT>
                    <a:lnB>
                      <a:noFill/>
                    </a:lnB>
                    <a:noFill/>
                  </a:tcPr>
                </a:tc>
                <a:tc>
                  <a:txBody>
                    <a:bodyPr/>
                    <a:lstStyle/>
                    <a:p>
                      <a:pPr algn="ctr">
                        <a:buNone/>
                      </a:pPr>
                      <a:r>
                        <a:rPr lang="en-US" sz="1200" b="1">
                          <a:solidFill>
                            <a:srgbClr val="187C2C"/>
                          </a:solidFill>
                          <a:effectLst/>
                        </a:rPr>
                        <a:t>Buy</a:t>
                      </a:r>
                    </a:p>
                  </a:txBody>
                  <a:tcPr marL="0" marR="0" marT="0" marB="0" anchor="ctr">
                    <a:lnL>
                      <a:noFill/>
                    </a:lnL>
                    <a:lnR>
                      <a:noFill/>
                    </a:lnR>
                    <a:lnT>
                      <a:noFill/>
                    </a:lnT>
                    <a:lnB>
                      <a:noFill/>
                    </a:lnB>
                    <a:noFill/>
                  </a:tcPr>
                </a:tc>
                <a:tc>
                  <a:txBody>
                    <a:bodyPr/>
                    <a:lstStyle/>
                    <a:p>
                      <a:pPr algn="ctr">
                        <a:buNone/>
                      </a:pPr>
                      <a:r>
                        <a:rPr lang="en-US" sz="1200" b="0"/>
                        <a:t>13-03-2025</a:t>
                      </a:r>
                    </a:p>
                  </a:txBody>
                  <a:tcPr marL="0" marR="0" marT="0" marB="0" anchor="ctr">
                    <a:lnL>
                      <a:noFill/>
                    </a:lnL>
                    <a:lnR>
                      <a:noFill/>
                    </a:lnR>
                    <a:lnT>
                      <a:noFill/>
                    </a:lnT>
                    <a:lnB>
                      <a:noFill/>
                    </a:lnB>
                    <a:noFill/>
                  </a:tcPr>
                </a:tc>
                <a:tc>
                  <a:txBody>
                    <a:bodyPr/>
                    <a:lstStyle/>
                    <a:p>
                      <a:pPr algn="ctr">
                        <a:buNone/>
                      </a:pPr>
                      <a:r>
                        <a:rPr lang="en-US" sz="1200" b="0">
                          <a:effectLst/>
                        </a:rPr>
                        <a:t>872</a:t>
                      </a:r>
                    </a:p>
                  </a:txBody>
                  <a:tcPr marL="0" marR="0" marT="0" marB="0" anchor="ctr">
                    <a:lnL>
                      <a:noFill/>
                    </a:lnL>
                    <a:lnR>
                      <a:noFill/>
                    </a:lnR>
                    <a:lnT>
                      <a:noFill/>
                    </a:lnT>
                    <a:lnB>
                      <a:noFill/>
                    </a:lnB>
                    <a:noFill/>
                  </a:tcPr>
                </a:tc>
                <a:tc>
                  <a:txBody>
                    <a:bodyPr/>
                    <a:lstStyle/>
                    <a:p>
                      <a:pPr algn="ctr">
                        <a:buNone/>
                      </a:pPr>
                      <a:r>
                        <a:rPr lang="en-US" sz="1200" b="0">
                          <a:effectLst/>
                        </a:rPr>
                        <a:t>1,200</a:t>
                      </a:r>
                    </a:p>
                  </a:txBody>
                  <a:tcPr marL="0" marR="0" marT="0" marB="0" anchor="ctr">
                    <a:lnL>
                      <a:noFill/>
                    </a:lnL>
                    <a:lnR>
                      <a:noFill/>
                    </a:lnR>
                    <a:lnT>
                      <a:noFill/>
                    </a:lnT>
                    <a:lnB>
                      <a:noFill/>
                    </a:lnB>
                    <a:noFill/>
                  </a:tcPr>
                </a:tc>
                <a:tc>
                  <a:txBody>
                    <a:bodyPr/>
                    <a:lstStyle/>
                    <a:p>
                      <a:pPr algn="ctr">
                        <a:buNone/>
                      </a:pPr>
                      <a:r>
                        <a:rPr lang="en-US" sz="1200" b="1">
                          <a:solidFill>
                            <a:srgbClr val="187C2C"/>
                          </a:solidFill>
                        </a:rPr>
                        <a:t>37.61%</a:t>
                      </a:r>
                    </a:p>
                  </a:txBody>
                  <a:tcPr marL="0" marR="0" marT="0" marB="0" anchor="ctr">
                    <a:lnL>
                      <a:noFill/>
                    </a:lnL>
                    <a:lnR>
                      <a:noFill/>
                    </a:lnR>
                    <a:lnT>
                      <a:noFill/>
                    </a:lnT>
                    <a:lnB>
                      <a:noFill/>
                    </a:lnB>
                    <a:noFill/>
                  </a:tcPr>
                </a:tc>
                <a:extLst>
                  <a:ext uri="{0D108BD9-81ED-4DB2-BD59-A6C34878D82A}">
                    <a16:rowId xmlns:a16="http://schemas.microsoft.com/office/drawing/2014/main" val="2441944699"/>
                  </a:ext>
                </a:extLst>
              </a:tr>
              <a:tr h="421873">
                <a:tc>
                  <a:txBody>
                    <a:bodyPr/>
                    <a:lstStyle/>
                    <a:p>
                      <a:pPr algn="ctr">
                        <a:buNone/>
                      </a:pPr>
                      <a:r>
                        <a:rPr lang="en-US" sz="1200" b="0">
                          <a:effectLst/>
                        </a:rPr>
                        <a:t>Yahoo Financial Analyst</a:t>
                      </a: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1">
                          <a:solidFill>
                            <a:srgbClr val="187C2C"/>
                          </a:solidFill>
                          <a:effectLst/>
                        </a:rPr>
                        <a:t>Buy</a:t>
                      </a: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0"/>
                        <a:t>27-03-2025</a:t>
                      </a: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0">
                          <a:effectLst/>
                        </a:rPr>
                        <a:t>958</a:t>
                      </a: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0">
                          <a:effectLst/>
                        </a:rPr>
                        <a:t>1,304</a:t>
                      </a: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1">
                          <a:solidFill>
                            <a:srgbClr val="187C2C"/>
                          </a:solidFill>
                        </a:rPr>
                        <a:t>36.12%</a:t>
                      </a:r>
                    </a:p>
                  </a:txBody>
                  <a:tcPr marL="0" marR="0" marT="0" marB="0" anchor="ctr">
                    <a:lnL>
                      <a:noFill/>
                    </a:lnL>
                    <a:lnR>
                      <a:noFill/>
                    </a:lnR>
                    <a:lnT>
                      <a:noFill/>
                    </a:lnT>
                    <a:lnB>
                      <a:noFill/>
                    </a:lnB>
                    <a:solidFill>
                      <a:schemeClr val="accent6">
                        <a:lumMod val="40000"/>
                        <a:lumOff val="60000"/>
                      </a:schemeClr>
                    </a:solidFill>
                  </a:tcPr>
                </a:tc>
                <a:extLst>
                  <a:ext uri="{0D108BD9-81ED-4DB2-BD59-A6C34878D82A}">
                    <a16:rowId xmlns:a16="http://schemas.microsoft.com/office/drawing/2014/main" val="2129013878"/>
                  </a:ext>
                </a:extLst>
              </a:tr>
              <a:tr h="210935">
                <a:tc>
                  <a:txBody>
                    <a:bodyPr/>
                    <a:lstStyle/>
                    <a:p>
                      <a:pPr algn="ctr">
                        <a:buNone/>
                      </a:pPr>
                      <a:r>
                        <a:rPr lang="en-US" sz="1200" b="0">
                          <a:effectLst/>
                        </a:rPr>
                        <a:t>Emkay</a:t>
                      </a:r>
                    </a:p>
                  </a:txBody>
                  <a:tcPr marL="0" marR="0" marT="0" marB="0" anchor="ctr">
                    <a:lnL>
                      <a:noFill/>
                    </a:lnL>
                    <a:lnR>
                      <a:noFill/>
                    </a:lnR>
                    <a:lnT>
                      <a:noFill/>
                    </a:lnT>
                    <a:lnB>
                      <a:noFill/>
                    </a:lnB>
                    <a:noFill/>
                  </a:tcPr>
                </a:tc>
                <a:tc>
                  <a:txBody>
                    <a:bodyPr/>
                    <a:lstStyle/>
                    <a:p>
                      <a:pPr algn="ctr">
                        <a:buNone/>
                      </a:pPr>
                      <a:r>
                        <a:rPr lang="en-US" sz="1200" b="1">
                          <a:solidFill>
                            <a:srgbClr val="187C2C"/>
                          </a:solidFill>
                          <a:effectLst/>
                        </a:rPr>
                        <a:t>Buy</a:t>
                      </a:r>
                    </a:p>
                  </a:txBody>
                  <a:tcPr marL="0" marR="0" marT="0" marB="0" anchor="ctr">
                    <a:lnL>
                      <a:noFill/>
                    </a:lnL>
                    <a:lnR>
                      <a:noFill/>
                    </a:lnR>
                    <a:lnT>
                      <a:noFill/>
                    </a:lnT>
                    <a:lnB>
                      <a:noFill/>
                    </a:lnB>
                    <a:noFill/>
                  </a:tcPr>
                </a:tc>
                <a:tc>
                  <a:txBody>
                    <a:bodyPr/>
                    <a:lstStyle/>
                    <a:p>
                      <a:pPr algn="ctr">
                        <a:buNone/>
                      </a:pPr>
                      <a:r>
                        <a:rPr lang="en-US" sz="1200" b="0"/>
                        <a:t>30-04-2025</a:t>
                      </a:r>
                    </a:p>
                  </a:txBody>
                  <a:tcPr marL="0" marR="0" marT="0" marB="0" anchor="ctr">
                    <a:lnL>
                      <a:noFill/>
                    </a:lnL>
                    <a:lnR>
                      <a:noFill/>
                    </a:lnR>
                    <a:lnT>
                      <a:noFill/>
                    </a:lnT>
                    <a:lnB>
                      <a:noFill/>
                    </a:lnB>
                    <a:noFill/>
                  </a:tcPr>
                </a:tc>
                <a:tc>
                  <a:txBody>
                    <a:bodyPr/>
                    <a:lstStyle/>
                    <a:p>
                      <a:pPr algn="ctr">
                        <a:buNone/>
                      </a:pPr>
                      <a:r>
                        <a:rPr lang="en-US" sz="1200" b="0">
                          <a:effectLst/>
                        </a:rPr>
                        <a:t>896</a:t>
                      </a:r>
                    </a:p>
                  </a:txBody>
                  <a:tcPr marL="0" marR="0" marT="0" marB="0" anchor="ctr">
                    <a:lnL>
                      <a:noFill/>
                    </a:lnL>
                    <a:lnR>
                      <a:noFill/>
                    </a:lnR>
                    <a:lnT>
                      <a:noFill/>
                    </a:lnT>
                    <a:lnB>
                      <a:noFill/>
                    </a:lnB>
                    <a:noFill/>
                  </a:tcPr>
                </a:tc>
                <a:tc>
                  <a:txBody>
                    <a:bodyPr/>
                    <a:lstStyle/>
                    <a:p>
                      <a:pPr algn="ctr">
                        <a:buNone/>
                      </a:pPr>
                      <a:r>
                        <a:rPr lang="en-US" sz="1200" b="0">
                          <a:effectLst/>
                        </a:rPr>
                        <a:t>1,500</a:t>
                      </a:r>
                    </a:p>
                  </a:txBody>
                  <a:tcPr marL="0" marR="0" marT="0" marB="0" anchor="ctr">
                    <a:lnL>
                      <a:noFill/>
                    </a:lnL>
                    <a:lnR>
                      <a:noFill/>
                    </a:lnR>
                    <a:lnT>
                      <a:noFill/>
                    </a:lnT>
                    <a:lnB>
                      <a:noFill/>
                    </a:lnB>
                    <a:noFill/>
                  </a:tcPr>
                </a:tc>
                <a:tc>
                  <a:txBody>
                    <a:bodyPr/>
                    <a:lstStyle/>
                    <a:p>
                      <a:pPr algn="ctr">
                        <a:buNone/>
                      </a:pPr>
                      <a:r>
                        <a:rPr lang="en-US" sz="1200" b="1">
                          <a:solidFill>
                            <a:srgbClr val="187C2C"/>
                          </a:solidFill>
                        </a:rPr>
                        <a:t>67.41%</a:t>
                      </a:r>
                    </a:p>
                  </a:txBody>
                  <a:tcPr marL="0" marR="0" marT="0" marB="0" anchor="ctr">
                    <a:lnL>
                      <a:noFill/>
                    </a:lnL>
                    <a:lnR>
                      <a:noFill/>
                    </a:lnR>
                    <a:lnT>
                      <a:noFill/>
                    </a:lnT>
                    <a:lnB>
                      <a:noFill/>
                    </a:lnB>
                    <a:noFill/>
                  </a:tcPr>
                </a:tc>
                <a:extLst>
                  <a:ext uri="{0D108BD9-81ED-4DB2-BD59-A6C34878D82A}">
                    <a16:rowId xmlns:a16="http://schemas.microsoft.com/office/drawing/2014/main" val="2325665364"/>
                  </a:ext>
                </a:extLst>
              </a:tr>
              <a:tr h="210935">
                <a:tc>
                  <a:txBody>
                    <a:bodyPr/>
                    <a:lstStyle/>
                    <a:p>
                      <a:pPr algn="ctr">
                        <a:buNone/>
                      </a:pPr>
                      <a:r>
                        <a:rPr lang="en-US" sz="1200" b="0">
                          <a:effectLst/>
                        </a:rPr>
                        <a:t>ICICI Securities</a:t>
                      </a: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1">
                          <a:solidFill>
                            <a:srgbClr val="187C2C"/>
                          </a:solidFill>
                          <a:effectLst/>
                        </a:rPr>
                        <a:t>Buy</a:t>
                      </a: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0"/>
                        <a:t>10-05-2025</a:t>
                      </a: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0">
                          <a:effectLst/>
                        </a:rPr>
                        <a:t>884</a:t>
                      </a: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0">
                          <a:effectLst/>
                        </a:rPr>
                        <a:t>1,150</a:t>
                      </a: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1">
                          <a:solidFill>
                            <a:srgbClr val="187C2C"/>
                          </a:solidFill>
                        </a:rPr>
                        <a:t>30.11%</a:t>
                      </a:r>
                    </a:p>
                  </a:txBody>
                  <a:tcPr marL="0" marR="0" marT="0" marB="0" anchor="ctr">
                    <a:lnL>
                      <a:noFill/>
                    </a:lnL>
                    <a:lnR>
                      <a:noFill/>
                    </a:lnR>
                    <a:lnT>
                      <a:noFill/>
                    </a:lnT>
                    <a:lnB>
                      <a:noFill/>
                    </a:lnB>
                    <a:solidFill>
                      <a:schemeClr val="accent6">
                        <a:lumMod val="40000"/>
                        <a:lumOff val="60000"/>
                      </a:schemeClr>
                    </a:solidFill>
                  </a:tcPr>
                </a:tc>
                <a:extLst>
                  <a:ext uri="{0D108BD9-81ED-4DB2-BD59-A6C34878D82A}">
                    <a16:rowId xmlns:a16="http://schemas.microsoft.com/office/drawing/2014/main" val="1770872522"/>
                  </a:ext>
                </a:extLst>
              </a:tr>
              <a:tr h="232030">
                <a:tc>
                  <a:txBody>
                    <a:bodyPr/>
                    <a:lstStyle/>
                    <a:p>
                      <a:pPr algn="ctr">
                        <a:buNone/>
                      </a:pPr>
                      <a:r>
                        <a:rPr lang="en-US" sz="1200" b="0">
                          <a:effectLst/>
                        </a:rPr>
                        <a:t>Ventura</a:t>
                      </a:r>
                    </a:p>
                  </a:txBody>
                  <a:tcPr marL="0" marR="0" marT="0" marB="0" anchor="ctr">
                    <a:lnL>
                      <a:noFill/>
                    </a:lnL>
                    <a:lnR>
                      <a:noFill/>
                    </a:lnR>
                    <a:lnT>
                      <a:noFill/>
                    </a:lnT>
                    <a:lnB>
                      <a:noFill/>
                    </a:lnB>
                    <a:noFill/>
                  </a:tcPr>
                </a:tc>
                <a:tc>
                  <a:txBody>
                    <a:bodyPr/>
                    <a:lstStyle/>
                    <a:p>
                      <a:pPr algn="ctr">
                        <a:buNone/>
                      </a:pPr>
                      <a:r>
                        <a:rPr lang="en-US" sz="1200" b="1">
                          <a:solidFill>
                            <a:srgbClr val="187C2C"/>
                          </a:solidFill>
                          <a:effectLst/>
                        </a:rPr>
                        <a:t>Buy</a:t>
                      </a:r>
                    </a:p>
                  </a:txBody>
                  <a:tcPr marL="0" marR="0" marT="0" marB="0" anchor="ctr">
                    <a:lnL>
                      <a:noFill/>
                    </a:lnL>
                    <a:lnR>
                      <a:noFill/>
                    </a:lnR>
                    <a:lnT>
                      <a:noFill/>
                    </a:lnT>
                    <a:lnB>
                      <a:noFill/>
                    </a:lnB>
                    <a:noFill/>
                  </a:tcPr>
                </a:tc>
                <a:tc>
                  <a:txBody>
                    <a:bodyPr/>
                    <a:lstStyle/>
                    <a:p>
                      <a:pPr algn="ctr">
                        <a:buNone/>
                      </a:pPr>
                      <a:r>
                        <a:rPr lang="en-US" sz="1200" b="0"/>
                        <a:t>19-05-2025</a:t>
                      </a:r>
                    </a:p>
                  </a:txBody>
                  <a:tcPr marL="0" marR="0" marT="0" marB="0" anchor="ctr">
                    <a:lnL>
                      <a:noFill/>
                    </a:lnL>
                    <a:lnR>
                      <a:noFill/>
                    </a:lnR>
                    <a:lnT>
                      <a:noFill/>
                    </a:lnT>
                    <a:lnB>
                      <a:noFill/>
                    </a:lnB>
                    <a:noFill/>
                  </a:tcPr>
                </a:tc>
                <a:tc>
                  <a:txBody>
                    <a:bodyPr/>
                    <a:lstStyle/>
                    <a:p>
                      <a:pPr algn="ctr">
                        <a:buNone/>
                      </a:pPr>
                      <a:r>
                        <a:rPr lang="en-US" sz="1200" b="0">
                          <a:effectLst/>
                        </a:rPr>
                        <a:t>1014</a:t>
                      </a:r>
                    </a:p>
                  </a:txBody>
                  <a:tcPr marL="0" marR="0" marT="0" marB="0" anchor="ctr">
                    <a:lnL>
                      <a:noFill/>
                    </a:lnL>
                    <a:lnR>
                      <a:noFill/>
                    </a:lnR>
                    <a:lnT>
                      <a:noFill/>
                    </a:lnT>
                    <a:lnB>
                      <a:noFill/>
                    </a:lnB>
                    <a:noFill/>
                  </a:tcPr>
                </a:tc>
                <a:tc>
                  <a:txBody>
                    <a:bodyPr/>
                    <a:lstStyle/>
                    <a:p>
                      <a:pPr algn="ctr">
                        <a:buNone/>
                      </a:pPr>
                      <a:r>
                        <a:rPr lang="en-US" sz="1200" b="0">
                          <a:effectLst/>
                        </a:rPr>
                        <a:t>1,467</a:t>
                      </a:r>
                    </a:p>
                  </a:txBody>
                  <a:tcPr marL="0" marR="0" marT="0" marB="0" anchor="ctr">
                    <a:lnL>
                      <a:noFill/>
                    </a:lnL>
                    <a:lnR>
                      <a:noFill/>
                    </a:lnR>
                    <a:lnT>
                      <a:noFill/>
                    </a:lnT>
                    <a:lnB>
                      <a:noFill/>
                    </a:lnB>
                    <a:noFill/>
                  </a:tcPr>
                </a:tc>
                <a:tc>
                  <a:txBody>
                    <a:bodyPr/>
                    <a:lstStyle/>
                    <a:p>
                      <a:pPr algn="ctr">
                        <a:buNone/>
                      </a:pPr>
                      <a:r>
                        <a:rPr lang="en-US" sz="1200" b="1">
                          <a:solidFill>
                            <a:srgbClr val="187C2C"/>
                          </a:solidFill>
                        </a:rPr>
                        <a:t>44.67%</a:t>
                      </a:r>
                    </a:p>
                  </a:txBody>
                  <a:tcPr marL="0" marR="0" marT="0" marB="0" anchor="ctr">
                    <a:lnL>
                      <a:noFill/>
                    </a:lnL>
                    <a:lnR>
                      <a:noFill/>
                    </a:lnR>
                    <a:lnT>
                      <a:noFill/>
                    </a:lnT>
                    <a:lnB>
                      <a:noFill/>
                    </a:lnB>
                    <a:noFill/>
                  </a:tcPr>
                </a:tc>
                <a:extLst>
                  <a:ext uri="{0D108BD9-81ED-4DB2-BD59-A6C34878D82A}">
                    <a16:rowId xmlns:a16="http://schemas.microsoft.com/office/drawing/2014/main" val="1391921296"/>
                  </a:ext>
                </a:extLst>
              </a:tr>
              <a:tr h="210935">
                <a:tc>
                  <a:txBody>
                    <a:bodyPr/>
                    <a:lstStyle/>
                    <a:p>
                      <a:pPr algn="ctr">
                        <a:buNone/>
                      </a:pPr>
                      <a:r>
                        <a:rPr lang="en-US" sz="1200" b="0">
                          <a:effectLst/>
                        </a:rPr>
                        <a:t>Arihant Capital</a:t>
                      </a: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1">
                          <a:solidFill>
                            <a:schemeClr val="tx1"/>
                          </a:solidFill>
                          <a:effectLst/>
                        </a:rPr>
                        <a:t>Hold</a:t>
                      </a: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0"/>
                        <a:t>30-06-2025</a:t>
                      </a: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0">
                          <a:effectLst/>
                        </a:rPr>
                        <a:t>1026</a:t>
                      </a: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0"/>
                        <a:t>1100-1120</a:t>
                      </a:r>
                    </a:p>
                  </a:txBody>
                  <a:tcPr marL="0" marR="0" marT="0" marB="0" anchor="ctr">
                    <a:lnL>
                      <a:noFill/>
                    </a:lnL>
                    <a:lnR>
                      <a:noFill/>
                    </a:lnR>
                    <a:lnT>
                      <a:noFill/>
                    </a:lnT>
                    <a:lnB>
                      <a:noFill/>
                    </a:lnB>
                    <a:solidFill>
                      <a:schemeClr val="accent6">
                        <a:lumMod val="40000"/>
                        <a:lumOff val="60000"/>
                      </a:schemeClr>
                    </a:solidFill>
                  </a:tcPr>
                </a:tc>
                <a:tc>
                  <a:txBody>
                    <a:bodyPr/>
                    <a:lstStyle/>
                    <a:p>
                      <a:pPr algn="ctr">
                        <a:buNone/>
                      </a:pPr>
                      <a:r>
                        <a:rPr lang="en-US" sz="1200" b="1" dirty="0"/>
                        <a:t>7.21% - 9.16%</a:t>
                      </a:r>
                    </a:p>
                  </a:txBody>
                  <a:tcPr marL="0" marR="0" marT="0" marB="0" anchor="ctr">
                    <a:lnL>
                      <a:noFill/>
                    </a:lnL>
                    <a:lnR>
                      <a:noFill/>
                    </a:lnR>
                    <a:lnT>
                      <a:noFill/>
                    </a:lnT>
                    <a:lnB>
                      <a:noFill/>
                    </a:lnB>
                    <a:solidFill>
                      <a:schemeClr val="accent6">
                        <a:lumMod val="40000"/>
                        <a:lumOff val="60000"/>
                      </a:schemeClr>
                    </a:solidFill>
                  </a:tcPr>
                </a:tc>
                <a:extLst>
                  <a:ext uri="{0D108BD9-81ED-4DB2-BD59-A6C34878D82A}">
                    <a16:rowId xmlns:a16="http://schemas.microsoft.com/office/drawing/2014/main" val="1890087400"/>
                  </a:ext>
                </a:extLst>
              </a:tr>
            </a:tbl>
          </a:graphicData>
        </a:graphic>
      </p:graphicFrame>
      <p:sp>
        <p:nvSpPr>
          <p:cNvPr id="9" name="Rectangle 8">
            <a:extLst>
              <a:ext uri="{FF2B5EF4-FFF2-40B4-BE49-F238E27FC236}">
                <a16:creationId xmlns:a16="http://schemas.microsoft.com/office/drawing/2014/main" id="{60EE7D6A-3A52-4E3F-760C-C2C982666475}"/>
              </a:ext>
            </a:extLst>
          </p:cNvPr>
          <p:cNvSpPr/>
          <p:nvPr/>
        </p:nvSpPr>
        <p:spPr>
          <a:xfrm>
            <a:off x="110925" y="1320676"/>
            <a:ext cx="5960864" cy="353401"/>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ea typeface="Calibri"/>
                <a:cs typeface="Calibri"/>
              </a:rPr>
              <a:t>Analyst Recommendations</a:t>
            </a:r>
          </a:p>
        </p:txBody>
      </p:sp>
      <p:pic>
        <p:nvPicPr>
          <p:cNvPr id="2" name="Picture 1">
            <a:extLst>
              <a:ext uri="{FF2B5EF4-FFF2-40B4-BE49-F238E27FC236}">
                <a16:creationId xmlns:a16="http://schemas.microsoft.com/office/drawing/2014/main" id="{FB4F53DF-5424-C36E-4DB9-4D24EC265575}"/>
              </a:ext>
            </a:extLst>
          </p:cNvPr>
          <p:cNvPicPr>
            <a:picLocks noChangeAspect="1"/>
          </p:cNvPicPr>
          <p:nvPr/>
        </p:nvPicPr>
        <p:blipFill>
          <a:blip r:embed="rId3"/>
          <a:srcRect l="363" t="9637" r="-218" b="8792"/>
          <a:stretch>
            <a:fillRect/>
          </a:stretch>
        </p:blipFill>
        <p:spPr>
          <a:xfrm>
            <a:off x="100185" y="4860645"/>
            <a:ext cx="6020697" cy="2931465"/>
          </a:xfrm>
          <a:prstGeom prst="rect">
            <a:avLst/>
          </a:prstGeom>
          <a:ln>
            <a:noFill/>
          </a:ln>
          <a:effectLst>
            <a:softEdge rad="112500"/>
          </a:effectLst>
        </p:spPr>
      </p:pic>
      <p:sp>
        <p:nvSpPr>
          <p:cNvPr id="4" name="Rectangle 3">
            <a:extLst>
              <a:ext uri="{FF2B5EF4-FFF2-40B4-BE49-F238E27FC236}">
                <a16:creationId xmlns:a16="http://schemas.microsoft.com/office/drawing/2014/main" id="{BAD69416-C50E-93AD-614F-76B530821F0B}"/>
              </a:ext>
            </a:extLst>
          </p:cNvPr>
          <p:cNvSpPr/>
          <p:nvPr/>
        </p:nvSpPr>
        <p:spPr>
          <a:xfrm>
            <a:off x="82651" y="4844673"/>
            <a:ext cx="6033805" cy="3095368"/>
          </a:xfrm>
          <a:prstGeom prst="rect">
            <a:avLst/>
          </a:prstGeom>
          <a:noFill/>
          <a:ln>
            <a:solidFill>
              <a:srgbClr val="088A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oter Placeholder 3">
            <a:extLst>
              <a:ext uri="{FF2B5EF4-FFF2-40B4-BE49-F238E27FC236}">
                <a16:creationId xmlns:a16="http://schemas.microsoft.com/office/drawing/2014/main" id="{6034A67D-DCDA-0094-56F5-C77E57C5C0F8}"/>
              </a:ext>
            </a:extLst>
          </p:cNvPr>
          <p:cNvSpPr>
            <a:spLocks noGrp="1"/>
          </p:cNvSpPr>
          <p:nvPr>
            <p:ph type="ftr" sz="quarter" idx="11"/>
          </p:nvPr>
        </p:nvSpPr>
        <p:spPr>
          <a:xfrm>
            <a:off x="-7551" y="8832134"/>
            <a:ext cx="6234928" cy="324563"/>
          </a:xfrm>
        </p:spPr>
        <p:txBody>
          <a:bodyPr/>
          <a:lstStyle/>
          <a:p>
            <a:pPr algn="l"/>
            <a:r>
              <a:rPr lang="en-US" sz="800">
                <a:ea typeface="Calibri"/>
                <a:cs typeface="Calibri"/>
              </a:rPr>
              <a:t>Disclaimer: This is only for educational purposes and we are not SEBI registered.</a:t>
            </a:r>
          </a:p>
        </p:txBody>
      </p:sp>
      <p:sp>
        <p:nvSpPr>
          <p:cNvPr id="11" name="Rectangle 10">
            <a:extLst>
              <a:ext uri="{FF2B5EF4-FFF2-40B4-BE49-F238E27FC236}">
                <a16:creationId xmlns:a16="http://schemas.microsoft.com/office/drawing/2014/main" id="{242D7401-57C0-5E8B-BD46-6B25427D0959}"/>
              </a:ext>
            </a:extLst>
          </p:cNvPr>
          <p:cNvSpPr/>
          <p:nvPr/>
        </p:nvSpPr>
        <p:spPr>
          <a:xfrm>
            <a:off x="98704" y="815933"/>
            <a:ext cx="6027421" cy="360000"/>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a:ea typeface="Calibri"/>
                <a:cs typeface="Calibri"/>
              </a:rPr>
              <a:t>Stock Performance</a:t>
            </a:r>
            <a:endParaRPr lang="en-US"/>
          </a:p>
        </p:txBody>
      </p:sp>
      <p:sp>
        <p:nvSpPr>
          <p:cNvPr id="12" name="Slide Number Placeholder 6">
            <a:extLst>
              <a:ext uri="{FF2B5EF4-FFF2-40B4-BE49-F238E27FC236}">
                <a16:creationId xmlns:a16="http://schemas.microsoft.com/office/drawing/2014/main" id="{5744C47A-D68A-658C-C2BD-941EB8DA2FE5}"/>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11</a:t>
            </a:fld>
            <a:endParaRPr lang="en-US"/>
          </a:p>
        </p:txBody>
      </p:sp>
    </p:spTree>
    <p:extLst>
      <p:ext uri="{BB962C8B-B14F-4D97-AF65-F5344CB8AC3E}">
        <p14:creationId xmlns:p14="http://schemas.microsoft.com/office/powerpoint/2010/main" val="2316477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40406C38-EDA4-2F72-81FA-DB2621482C95}"/>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9" name="Picture 8" descr="Adani Renewables - Global Alliance For Sustainable Energy">
            <a:extLst>
              <a:ext uri="{FF2B5EF4-FFF2-40B4-BE49-F238E27FC236}">
                <a16:creationId xmlns:a16="http://schemas.microsoft.com/office/drawing/2014/main" id="{150730E9-FF5E-7FD4-B7B6-635775628C42}"/>
              </a:ext>
            </a:extLst>
          </p:cNvPr>
          <p:cNvPicPr>
            <a:picLocks noChangeAspect="1"/>
          </p:cNvPicPr>
          <p:nvPr/>
        </p:nvPicPr>
        <p:blipFill>
          <a:blip r:embed="rId2"/>
          <a:stretch>
            <a:fillRect/>
          </a:stretch>
        </p:blipFill>
        <p:spPr>
          <a:xfrm>
            <a:off x="5076000" y="0"/>
            <a:ext cx="1311468" cy="662728"/>
          </a:xfrm>
          <a:prstGeom prst="rect">
            <a:avLst/>
          </a:prstGeom>
        </p:spPr>
      </p:pic>
      <p:cxnSp>
        <p:nvCxnSpPr>
          <p:cNvPr id="11" name="Straight Arrow Connector 10">
            <a:extLst>
              <a:ext uri="{FF2B5EF4-FFF2-40B4-BE49-F238E27FC236}">
                <a16:creationId xmlns:a16="http://schemas.microsoft.com/office/drawing/2014/main" id="{05D63458-07B7-6FB5-0CEE-383DB8082A14}"/>
              </a:ext>
            </a:extLst>
          </p:cNvPr>
          <p:cNvCxnSpPr/>
          <p:nvPr/>
        </p:nvCxnSpPr>
        <p:spPr>
          <a:xfrm flipV="1">
            <a:off x="-5925" y="8787953"/>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6CEA3C8-26D2-281F-C4C8-6AE97BC76B08}"/>
              </a:ext>
            </a:extLst>
          </p:cNvPr>
          <p:cNvSpPr/>
          <p:nvPr/>
        </p:nvSpPr>
        <p:spPr>
          <a:xfrm>
            <a:off x="194400" y="1355294"/>
            <a:ext cx="5833631" cy="329810"/>
          </a:xfrm>
          <a:prstGeom prst="rect">
            <a:avLst/>
          </a:prstGeom>
          <a:solidFill>
            <a:srgbClr val="187C2C"/>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r>
              <a:rPr lang="en-US" sz="1400" b="1" dirty="0">
                <a:solidFill>
                  <a:schemeClr val="bg1"/>
                </a:solidFill>
                <a:ea typeface="Calibri"/>
                <a:cs typeface="Calibri"/>
              </a:rPr>
              <a:t>Executive Highlights</a:t>
            </a:r>
            <a:endParaRPr lang="en-US" dirty="0">
              <a:solidFill>
                <a:schemeClr val="bg1"/>
              </a:solidFill>
              <a:ea typeface="Calibri"/>
              <a:cs typeface="Calibri"/>
            </a:endParaRPr>
          </a:p>
        </p:txBody>
      </p:sp>
      <p:sp>
        <p:nvSpPr>
          <p:cNvPr id="17" name="TextBox 16">
            <a:extLst>
              <a:ext uri="{FF2B5EF4-FFF2-40B4-BE49-F238E27FC236}">
                <a16:creationId xmlns:a16="http://schemas.microsoft.com/office/drawing/2014/main" id="{90DFFD6F-E8AB-07CD-37DF-39A6D0DBACDD}"/>
              </a:ext>
            </a:extLst>
          </p:cNvPr>
          <p:cNvSpPr txBox="1"/>
          <p:nvPr/>
        </p:nvSpPr>
        <p:spPr>
          <a:xfrm>
            <a:off x="194400" y="1712212"/>
            <a:ext cx="5835600" cy="1045741"/>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sz="1200" dirty="0">
                <a:ea typeface="+mn-lt"/>
                <a:cs typeface="+mn-lt"/>
              </a:rPr>
              <a:t>Adani Green Energy Limited (AGEL) has demonstrated sustained operational and financial momentum over the last four quarters, reinforcing its leadership in India’s renewable energy sector. The company continues to surpass industry benchmarks in capacity addition, operational excellence, and ESG commitments, positioning itself as a key player in driving India's clean energy transition.</a:t>
            </a:r>
            <a:endParaRPr lang="en-US" dirty="0"/>
          </a:p>
        </p:txBody>
      </p:sp>
      <p:sp>
        <p:nvSpPr>
          <p:cNvPr id="18" name="Rectangle 17">
            <a:extLst>
              <a:ext uri="{FF2B5EF4-FFF2-40B4-BE49-F238E27FC236}">
                <a16:creationId xmlns:a16="http://schemas.microsoft.com/office/drawing/2014/main" id="{04DA78C8-F47A-4590-0F62-3C10203539CC}"/>
              </a:ext>
            </a:extLst>
          </p:cNvPr>
          <p:cNvSpPr/>
          <p:nvPr/>
        </p:nvSpPr>
        <p:spPr>
          <a:xfrm>
            <a:off x="194400" y="2866759"/>
            <a:ext cx="5835600" cy="314771"/>
          </a:xfrm>
          <a:prstGeom prst="rect">
            <a:avLst/>
          </a:prstGeom>
          <a:solidFill>
            <a:srgbClr val="187C2C"/>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br>
              <a:rPr lang="en-US"/>
            </a:br>
            <a:endParaRPr lang="en-US" b="1">
              <a:ea typeface="Calibri"/>
              <a:cs typeface="Calibri"/>
            </a:endParaRPr>
          </a:p>
          <a:p>
            <a:pPr algn="ctr"/>
            <a:r>
              <a:rPr lang="en-US" sz="1400" b="1">
                <a:ea typeface="Calibri" panose="020F0502020204030204"/>
                <a:cs typeface="Calibri" panose="020F0502020204030204"/>
              </a:rPr>
              <a:t>Capacity Growth &amp; Project Pipeline</a:t>
            </a:r>
            <a:endParaRPr lang="en-US" sz="1400" b="1">
              <a:solidFill>
                <a:srgbClr val="000000"/>
              </a:solidFill>
              <a:ea typeface="Calibri" panose="020F0502020204030204"/>
              <a:cs typeface="Calibri" panose="020F0502020204030204"/>
            </a:endParaRPr>
          </a:p>
          <a:p>
            <a:pPr algn="ctr"/>
            <a:endParaRPr lang="en-US" b="1">
              <a:ea typeface="Calibri"/>
              <a:cs typeface="Calibri"/>
            </a:endParaRPr>
          </a:p>
          <a:p>
            <a:pPr algn="ctr"/>
            <a:endParaRPr lang="en-US" sz="1400" b="1">
              <a:solidFill>
                <a:schemeClr val="bg1"/>
              </a:solidFill>
              <a:ea typeface="Calibri"/>
              <a:cs typeface="Calibri"/>
            </a:endParaRPr>
          </a:p>
        </p:txBody>
      </p:sp>
      <p:sp>
        <p:nvSpPr>
          <p:cNvPr id="19" name="TextBox 18">
            <a:extLst>
              <a:ext uri="{FF2B5EF4-FFF2-40B4-BE49-F238E27FC236}">
                <a16:creationId xmlns:a16="http://schemas.microsoft.com/office/drawing/2014/main" id="{4084282F-8771-5FA7-B189-6C68F88A6005}"/>
              </a:ext>
            </a:extLst>
          </p:cNvPr>
          <p:cNvSpPr txBox="1"/>
          <p:nvPr/>
        </p:nvSpPr>
        <p:spPr>
          <a:xfrm>
            <a:off x="194400" y="3201122"/>
            <a:ext cx="5835600" cy="1015663"/>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171450" indent="-171450">
              <a:buFont typeface="Arial"/>
              <a:buChar char="•"/>
            </a:pPr>
            <a:r>
              <a:rPr lang="en-US" sz="1200" b="1" dirty="0">
                <a:ea typeface="+mn-lt"/>
                <a:cs typeface="+mn-lt"/>
              </a:rPr>
              <a:t>Capacity Expansion: </a:t>
            </a:r>
            <a:r>
              <a:rPr lang="en-US" sz="1200" dirty="0">
                <a:ea typeface="+mn-lt"/>
                <a:cs typeface="+mn-lt"/>
              </a:rPr>
              <a:t>AGEL’s operational capacity accelerated from 10.9 GW (June 2024) to 14.2 GW (March 2025), with an additional 1 GW close to commissioning by May 2025. </a:t>
            </a:r>
            <a:endParaRPr lang="en-US" dirty="0"/>
          </a:p>
          <a:p>
            <a:pPr marL="171450" indent="-171450">
              <a:buFont typeface="Arial"/>
              <a:buChar char="•"/>
            </a:pPr>
            <a:r>
              <a:rPr lang="en-US" sz="1200" b="1" dirty="0">
                <a:ea typeface="+mn-lt"/>
                <a:cs typeface="+mn-lt"/>
              </a:rPr>
              <a:t>Pipeline Security:</a:t>
            </a:r>
            <a:r>
              <a:rPr lang="en-US" sz="1200" dirty="0">
                <a:ea typeface="+mn-lt"/>
                <a:cs typeface="+mn-lt"/>
              </a:rPr>
              <a:t> The company has access to over 250,000 acres of resource-rich land, with a fully secured growth roadmap to reach 50 GW renewable capacity by 2030.</a:t>
            </a:r>
            <a:endParaRPr lang="en-US" sz="1200" dirty="0">
              <a:ea typeface="Calibri"/>
              <a:cs typeface="Calibri"/>
            </a:endParaRPr>
          </a:p>
        </p:txBody>
      </p:sp>
      <p:sp>
        <p:nvSpPr>
          <p:cNvPr id="20" name="Rectangle 19">
            <a:extLst>
              <a:ext uri="{FF2B5EF4-FFF2-40B4-BE49-F238E27FC236}">
                <a16:creationId xmlns:a16="http://schemas.microsoft.com/office/drawing/2014/main" id="{B6CDCCC0-2FDF-D772-156B-B37697196925}"/>
              </a:ext>
            </a:extLst>
          </p:cNvPr>
          <p:cNvSpPr/>
          <p:nvPr/>
        </p:nvSpPr>
        <p:spPr>
          <a:xfrm>
            <a:off x="194400" y="4325587"/>
            <a:ext cx="5835600" cy="314771"/>
          </a:xfrm>
          <a:prstGeom prst="rect">
            <a:avLst/>
          </a:prstGeom>
          <a:solidFill>
            <a:srgbClr val="187C2C"/>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br>
              <a:rPr lang="en-US"/>
            </a:br>
            <a:endParaRPr lang="en-US" b="1">
              <a:ea typeface="Calibri"/>
              <a:cs typeface="Calibri"/>
            </a:endParaRPr>
          </a:p>
          <a:p>
            <a:pPr algn="ctr"/>
            <a:r>
              <a:rPr lang="en-US" sz="1400" b="1"/>
              <a:t>Financial Performance &amp; Profitability</a:t>
            </a:r>
            <a:endParaRPr lang="en-US" sz="1400" b="1">
              <a:ea typeface="Calibri"/>
              <a:cs typeface="Calibri"/>
            </a:endParaRPr>
          </a:p>
          <a:p>
            <a:pPr algn="ctr"/>
            <a:endParaRPr lang="en-US" b="1">
              <a:solidFill>
                <a:srgbClr val="FFFFFF"/>
              </a:solidFill>
              <a:ea typeface="Calibri" panose="020F0502020204030204"/>
              <a:cs typeface="Calibri" panose="020F0502020204030204"/>
            </a:endParaRPr>
          </a:p>
          <a:p>
            <a:pPr algn="ctr"/>
            <a:endParaRPr lang="en-US" sz="1400" b="1">
              <a:ea typeface="Calibri"/>
              <a:cs typeface="Calibri"/>
            </a:endParaRPr>
          </a:p>
        </p:txBody>
      </p:sp>
      <p:sp>
        <p:nvSpPr>
          <p:cNvPr id="21" name="TextBox 20">
            <a:extLst>
              <a:ext uri="{FF2B5EF4-FFF2-40B4-BE49-F238E27FC236}">
                <a16:creationId xmlns:a16="http://schemas.microsoft.com/office/drawing/2014/main" id="{C5A70243-5298-B79A-343B-2DF3CD378687}"/>
              </a:ext>
            </a:extLst>
          </p:cNvPr>
          <p:cNvSpPr txBox="1"/>
          <p:nvPr/>
        </p:nvSpPr>
        <p:spPr>
          <a:xfrm>
            <a:off x="194400" y="4659951"/>
            <a:ext cx="5835600" cy="1569660"/>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171450" indent="-171450">
              <a:buFont typeface="Arial"/>
              <a:buChar char="•"/>
            </a:pPr>
            <a:r>
              <a:rPr lang="en-US" sz="1200" b="1" dirty="0">
                <a:ea typeface="+mn-lt"/>
                <a:cs typeface="+mn-lt"/>
              </a:rPr>
              <a:t>Consistently High EBITDA Margins:</a:t>
            </a:r>
            <a:r>
              <a:rPr lang="en-US" sz="1200" dirty="0">
                <a:ea typeface="+mn-lt"/>
                <a:cs typeface="+mn-lt"/>
              </a:rPr>
              <a:t> AGEL has maintained industry-leading EBITDA margins of 92% from power supply, driven by analytics-enabled operations and strategic asset management.</a:t>
            </a:r>
          </a:p>
          <a:p>
            <a:pPr marL="171450" indent="-171450">
              <a:buFont typeface="Arial"/>
              <a:buChar char="•"/>
            </a:pPr>
            <a:r>
              <a:rPr lang="en-US" sz="1200" b="1" dirty="0">
                <a:ea typeface="+mn-lt"/>
                <a:cs typeface="+mn-lt"/>
              </a:rPr>
              <a:t>Revenue Growth:</a:t>
            </a:r>
            <a:r>
              <a:rPr lang="en-US" sz="1200" dirty="0">
                <a:ea typeface="+mn-lt"/>
                <a:cs typeface="+mn-lt"/>
              </a:rPr>
              <a:t> Revenue from power supply climbed from ₹7,735 crore (FY24) to ₹9,495 crore (FY25), with cash profit also registering strong growth from ₹3,986 crore (FY24) to ₹4,871 crore (FY25).</a:t>
            </a:r>
          </a:p>
          <a:p>
            <a:pPr marL="171450" indent="-171450">
              <a:buFont typeface="Arial"/>
              <a:buChar char="•"/>
            </a:pPr>
            <a:r>
              <a:rPr lang="en-US" sz="1200" b="1" dirty="0">
                <a:ea typeface="+mn-lt"/>
                <a:cs typeface="+mn-lt"/>
              </a:rPr>
              <a:t>Capital Management:</a:t>
            </a:r>
            <a:r>
              <a:rPr lang="en-US" sz="1200" dirty="0">
                <a:ea typeface="+mn-lt"/>
                <a:cs typeface="+mn-lt"/>
              </a:rPr>
              <a:t> The company remains disciplined with its capital structure, de-risked via ring-fenced project SPVs and diversified funding (domestic and international).</a:t>
            </a:r>
          </a:p>
        </p:txBody>
      </p:sp>
      <p:pic>
        <p:nvPicPr>
          <p:cNvPr id="4" name="Picture 3" descr="A graph of green bars with numbers&#10;&#10;AI-generated content may be incorrect.">
            <a:extLst>
              <a:ext uri="{FF2B5EF4-FFF2-40B4-BE49-F238E27FC236}">
                <a16:creationId xmlns:a16="http://schemas.microsoft.com/office/drawing/2014/main" id="{5D8C21DC-F8E3-BC22-EF06-D58603469078}"/>
              </a:ext>
            </a:extLst>
          </p:cNvPr>
          <p:cNvPicPr>
            <a:picLocks noChangeAspect="1"/>
          </p:cNvPicPr>
          <p:nvPr/>
        </p:nvPicPr>
        <p:blipFill>
          <a:blip r:embed="rId3"/>
          <a:stretch>
            <a:fillRect/>
          </a:stretch>
        </p:blipFill>
        <p:spPr>
          <a:xfrm>
            <a:off x="183234" y="6538710"/>
            <a:ext cx="2907529" cy="1728294"/>
          </a:xfrm>
          <a:prstGeom prst="rect">
            <a:avLst/>
          </a:prstGeom>
          <a:ln>
            <a:noFill/>
          </a:ln>
        </p:spPr>
      </p:pic>
      <p:pic>
        <p:nvPicPr>
          <p:cNvPr id="6" name="Picture 5">
            <a:extLst>
              <a:ext uri="{FF2B5EF4-FFF2-40B4-BE49-F238E27FC236}">
                <a16:creationId xmlns:a16="http://schemas.microsoft.com/office/drawing/2014/main" id="{897FE1F1-25CA-F288-1FA7-755CC64F1483}"/>
              </a:ext>
            </a:extLst>
          </p:cNvPr>
          <p:cNvPicPr>
            <a:picLocks noChangeAspect="1"/>
          </p:cNvPicPr>
          <p:nvPr/>
        </p:nvPicPr>
        <p:blipFill>
          <a:blip r:embed="rId4"/>
          <a:stretch>
            <a:fillRect/>
          </a:stretch>
        </p:blipFill>
        <p:spPr>
          <a:xfrm>
            <a:off x="3129791" y="6535873"/>
            <a:ext cx="2902644" cy="1735563"/>
          </a:xfrm>
          <a:prstGeom prst="rect">
            <a:avLst/>
          </a:prstGeom>
          <a:ln>
            <a:noFill/>
          </a:ln>
        </p:spPr>
      </p:pic>
      <p:sp>
        <p:nvSpPr>
          <p:cNvPr id="3" name="Footer Placeholder 3">
            <a:extLst>
              <a:ext uri="{FF2B5EF4-FFF2-40B4-BE49-F238E27FC236}">
                <a16:creationId xmlns:a16="http://schemas.microsoft.com/office/drawing/2014/main" id="{3CEC55DE-BAC9-0017-6FF1-C055D97208CA}"/>
              </a:ext>
            </a:extLst>
          </p:cNvPr>
          <p:cNvSpPr>
            <a:spLocks noGrp="1"/>
          </p:cNvSpPr>
          <p:nvPr>
            <p:ph type="ftr" sz="quarter" idx="11"/>
          </p:nvPr>
        </p:nvSpPr>
        <p:spPr>
          <a:xfrm>
            <a:off x="-7551" y="8832134"/>
            <a:ext cx="6234928" cy="324563"/>
          </a:xfrm>
        </p:spPr>
        <p:txBody>
          <a:bodyPr/>
          <a:lstStyle/>
          <a:p>
            <a:pPr algn="l"/>
            <a:r>
              <a:rPr lang="en-US" sz="800">
                <a:ea typeface="Calibri"/>
                <a:cs typeface="Calibri"/>
              </a:rPr>
              <a:t>Disclaimer: This is only for educational purposes and we are not SEBI registered.</a:t>
            </a:r>
          </a:p>
        </p:txBody>
      </p:sp>
      <p:sp>
        <p:nvSpPr>
          <p:cNvPr id="8" name="Rectangle 7">
            <a:extLst>
              <a:ext uri="{FF2B5EF4-FFF2-40B4-BE49-F238E27FC236}">
                <a16:creationId xmlns:a16="http://schemas.microsoft.com/office/drawing/2014/main" id="{F0909BB3-1841-B7FD-DD59-A8A2926E8A79}"/>
              </a:ext>
            </a:extLst>
          </p:cNvPr>
          <p:cNvSpPr/>
          <p:nvPr/>
        </p:nvSpPr>
        <p:spPr>
          <a:xfrm>
            <a:off x="98704" y="815934"/>
            <a:ext cx="6027421" cy="339963"/>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a:ea typeface="Calibri"/>
                <a:cs typeface="Calibri"/>
              </a:rPr>
              <a:t>Concall Analysis</a:t>
            </a:r>
            <a:endParaRPr lang="en-US"/>
          </a:p>
        </p:txBody>
      </p:sp>
      <p:sp>
        <p:nvSpPr>
          <p:cNvPr id="10" name="Slide Number Placeholder 6">
            <a:extLst>
              <a:ext uri="{FF2B5EF4-FFF2-40B4-BE49-F238E27FC236}">
                <a16:creationId xmlns:a16="http://schemas.microsoft.com/office/drawing/2014/main" id="{AC8CA8A6-3682-F9F7-6C04-7975D383E6B4}"/>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12</a:t>
            </a:fld>
            <a:endParaRPr lang="en-US"/>
          </a:p>
        </p:txBody>
      </p:sp>
    </p:spTree>
    <p:extLst>
      <p:ext uri="{BB962C8B-B14F-4D97-AF65-F5344CB8AC3E}">
        <p14:creationId xmlns:p14="http://schemas.microsoft.com/office/powerpoint/2010/main" val="29537261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09B722C1-3B39-C7F4-F22F-2B83894991FD}"/>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9" name="Picture 8" descr="Adani Renewables - Global Alliance For Sustainable Energy">
            <a:extLst>
              <a:ext uri="{FF2B5EF4-FFF2-40B4-BE49-F238E27FC236}">
                <a16:creationId xmlns:a16="http://schemas.microsoft.com/office/drawing/2014/main" id="{95369117-2D9E-0CB1-5C3D-9BD454FDD6FB}"/>
              </a:ext>
            </a:extLst>
          </p:cNvPr>
          <p:cNvPicPr>
            <a:picLocks noChangeAspect="1"/>
          </p:cNvPicPr>
          <p:nvPr/>
        </p:nvPicPr>
        <p:blipFill>
          <a:blip r:embed="rId2"/>
          <a:stretch>
            <a:fillRect/>
          </a:stretch>
        </p:blipFill>
        <p:spPr>
          <a:xfrm>
            <a:off x="5076000" y="0"/>
            <a:ext cx="1311468" cy="662728"/>
          </a:xfrm>
          <a:prstGeom prst="rect">
            <a:avLst/>
          </a:prstGeom>
        </p:spPr>
      </p:pic>
      <p:cxnSp>
        <p:nvCxnSpPr>
          <p:cNvPr id="13" name="Straight Arrow Connector 12">
            <a:extLst>
              <a:ext uri="{FF2B5EF4-FFF2-40B4-BE49-F238E27FC236}">
                <a16:creationId xmlns:a16="http://schemas.microsoft.com/office/drawing/2014/main" id="{AB46DB18-1333-FBD8-00B9-308AA41CD051}"/>
              </a:ext>
            </a:extLst>
          </p:cNvPr>
          <p:cNvCxnSpPr/>
          <p:nvPr/>
        </p:nvCxnSpPr>
        <p:spPr>
          <a:xfrm flipV="1">
            <a:off x="-5925" y="8787953"/>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4481F8C8-43C9-BC48-20B0-F7666D030033}"/>
              </a:ext>
            </a:extLst>
          </p:cNvPr>
          <p:cNvSpPr/>
          <p:nvPr/>
        </p:nvSpPr>
        <p:spPr>
          <a:xfrm>
            <a:off x="194400" y="1287616"/>
            <a:ext cx="5833631" cy="307251"/>
          </a:xfrm>
          <a:prstGeom prst="rect">
            <a:avLst/>
          </a:prstGeom>
          <a:solidFill>
            <a:srgbClr val="187C2C"/>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endParaRPr lang="en-US" sz="1400" b="1" dirty="0">
              <a:ea typeface="Calibri"/>
              <a:cs typeface="Calibri"/>
            </a:endParaRPr>
          </a:p>
          <a:p>
            <a:pPr algn="ctr"/>
            <a:r>
              <a:rPr lang="en-US" sz="1400" b="1" dirty="0"/>
              <a:t>ESG &amp; Corporate Governance</a:t>
            </a:r>
            <a:endParaRPr lang="en-US" b="1" dirty="0">
              <a:ea typeface="Calibri"/>
              <a:cs typeface="Calibri"/>
            </a:endParaRPr>
          </a:p>
          <a:p>
            <a:pPr algn="ctr"/>
            <a:endParaRPr lang="en-US" sz="1400" b="1" dirty="0">
              <a:solidFill>
                <a:schemeClr val="bg1"/>
              </a:solidFill>
              <a:ea typeface="Calibri"/>
              <a:cs typeface="Calibri"/>
            </a:endParaRPr>
          </a:p>
        </p:txBody>
      </p:sp>
      <p:sp>
        <p:nvSpPr>
          <p:cNvPr id="19" name="TextBox 18">
            <a:extLst>
              <a:ext uri="{FF2B5EF4-FFF2-40B4-BE49-F238E27FC236}">
                <a16:creationId xmlns:a16="http://schemas.microsoft.com/office/drawing/2014/main" id="{82C7ED1B-5A62-004E-BA16-C3348428A5D3}"/>
              </a:ext>
            </a:extLst>
          </p:cNvPr>
          <p:cNvSpPr txBox="1"/>
          <p:nvPr/>
        </p:nvSpPr>
        <p:spPr>
          <a:xfrm>
            <a:off x="194400" y="1637015"/>
            <a:ext cx="5835600" cy="2677656"/>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ea typeface="+mn-lt"/>
                <a:cs typeface="+mn-lt"/>
              </a:rPr>
              <a:t>ESG Leadership:</a:t>
            </a:r>
            <a:r>
              <a:rPr lang="en-US" sz="1200" dirty="0">
                <a:ea typeface="+mn-lt"/>
                <a:cs typeface="+mn-lt"/>
              </a:rPr>
              <a:t> AGEL reinforced its position as the ESG benchmark in Asian renewables, being ranked 1st in Asia and consistently amongst the top globally by ISS ESG. Concall highlights included:</a:t>
            </a:r>
            <a:endParaRPr lang="en-US" dirty="0"/>
          </a:p>
          <a:p>
            <a:pPr marL="285750" indent="-285750">
              <a:buFont typeface="Arial"/>
              <a:buChar char="•"/>
            </a:pPr>
            <a:r>
              <a:rPr lang="en-US" sz="1200" b="1" dirty="0">
                <a:ea typeface="+mn-lt"/>
                <a:cs typeface="+mn-lt"/>
              </a:rPr>
              <a:t>Climate Action:</a:t>
            </a:r>
            <a:r>
              <a:rPr lang="en-US" sz="1200" dirty="0">
                <a:ea typeface="+mn-lt"/>
                <a:cs typeface="+mn-lt"/>
              </a:rPr>
              <a:t> 20.33 million tons of CO₂ emissions avoided in FY25, operational emission intensity at just 0.0014 tCO₂/MWh versus 0.727 for the Indian grid.</a:t>
            </a:r>
            <a:endParaRPr lang="en-US" dirty="0"/>
          </a:p>
          <a:p>
            <a:pPr marL="285750" indent="-285750">
              <a:buFont typeface="Arial"/>
              <a:buChar char="•"/>
            </a:pPr>
            <a:r>
              <a:rPr lang="en-US" sz="1200" b="1" dirty="0">
                <a:ea typeface="+mn-lt"/>
                <a:cs typeface="+mn-lt"/>
              </a:rPr>
              <a:t>Resource Positivity:</a:t>
            </a:r>
            <a:r>
              <a:rPr lang="en-US" sz="1200" dirty="0">
                <a:ea typeface="+mn-lt"/>
                <a:cs typeface="+mn-lt"/>
              </a:rPr>
              <a:t> 100% operating plants are water positive, zero-waste-to-landfill certified, and single-use plastic free.</a:t>
            </a:r>
            <a:endParaRPr lang="en-US" dirty="0"/>
          </a:p>
          <a:p>
            <a:pPr marL="285750" indent="-285750">
              <a:buFont typeface="Arial"/>
              <a:buChar char="•"/>
            </a:pPr>
            <a:r>
              <a:rPr lang="en-US" sz="1200" b="1" dirty="0">
                <a:ea typeface="+mn-lt"/>
                <a:cs typeface="+mn-lt"/>
              </a:rPr>
              <a:t>Health &amp; Safety:</a:t>
            </a:r>
            <a:r>
              <a:rPr lang="en-US" sz="1200" dirty="0">
                <a:ea typeface="+mn-lt"/>
                <a:cs typeface="+mn-lt"/>
              </a:rPr>
              <a:t> Over 4 million continuous safe man hours in FY25, with low LTIFR.</a:t>
            </a:r>
            <a:endParaRPr lang="en-US" dirty="0">
              <a:ea typeface="+mn-lt"/>
              <a:cs typeface="+mn-lt"/>
            </a:endParaRPr>
          </a:p>
          <a:p>
            <a:pPr marL="285750" indent="-285750">
              <a:buFont typeface="Arial"/>
              <a:buChar char="•"/>
            </a:pPr>
            <a:r>
              <a:rPr lang="en-US" sz="1200" b="1" dirty="0">
                <a:ea typeface="+mn-lt"/>
                <a:cs typeface="+mn-lt"/>
              </a:rPr>
              <a:t>Supply Chain:</a:t>
            </a:r>
            <a:r>
              <a:rPr lang="en-US" sz="1200" dirty="0">
                <a:ea typeface="+mn-lt"/>
                <a:cs typeface="+mn-lt"/>
              </a:rPr>
              <a:t> High engagement with suppliers on Scope 3 emission disclosure.</a:t>
            </a:r>
            <a:endParaRPr lang="en-US" dirty="0"/>
          </a:p>
          <a:p>
            <a:pPr marL="285750" indent="-285750">
              <a:buFont typeface="Arial"/>
              <a:buChar char="•"/>
            </a:pPr>
            <a:endParaRPr lang="en-US" sz="1200" dirty="0">
              <a:ea typeface="Calibri"/>
              <a:cs typeface="Calibri"/>
            </a:endParaRPr>
          </a:p>
          <a:p>
            <a:r>
              <a:rPr lang="en-US" sz="1200" b="1" dirty="0">
                <a:ea typeface="+mn-lt"/>
                <a:cs typeface="+mn-lt"/>
              </a:rPr>
              <a:t>Corporate Governance:</a:t>
            </a:r>
            <a:r>
              <a:rPr lang="en-US" sz="1200" dirty="0">
                <a:ea typeface="+mn-lt"/>
                <a:cs typeface="+mn-lt"/>
              </a:rPr>
              <a:t> Board independence remains robust—statutory committees are chaired by or comprised only of independent directors, with a strong focus on related party transaction controls and regular director education sessions. Gender diversity is targeted at a minimum of 30% female directors in the medium term.</a:t>
            </a:r>
            <a:endParaRPr lang="en-US" dirty="0"/>
          </a:p>
        </p:txBody>
      </p:sp>
      <p:sp>
        <p:nvSpPr>
          <p:cNvPr id="22" name="TextBox 21">
            <a:extLst>
              <a:ext uri="{FF2B5EF4-FFF2-40B4-BE49-F238E27FC236}">
                <a16:creationId xmlns:a16="http://schemas.microsoft.com/office/drawing/2014/main" id="{1DE2DD13-B626-E19D-53FD-B73B66F2FDE5}"/>
              </a:ext>
            </a:extLst>
          </p:cNvPr>
          <p:cNvSpPr txBox="1"/>
          <p:nvPr/>
        </p:nvSpPr>
        <p:spPr>
          <a:xfrm>
            <a:off x="194400" y="4772747"/>
            <a:ext cx="5835600" cy="1200329"/>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1200" b="1" dirty="0">
                <a:ea typeface="+mn-lt"/>
                <a:cs typeface="+mn-lt"/>
              </a:rPr>
              <a:t>   Project Execution Model:</a:t>
            </a:r>
            <a:r>
              <a:rPr lang="en-US" sz="1200" dirty="0">
                <a:ea typeface="+mn-lt"/>
                <a:cs typeface="+mn-lt"/>
              </a:rPr>
              <a:t> AGEL’s resource-driven project origination, technological capex, and analytics-driven O&amp;M create formidable barriers to entry for competitors.</a:t>
            </a:r>
            <a:endParaRPr lang="en-US" dirty="0">
              <a:ea typeface="+mn-lt"/>
              <a:cs typeface="+mn-lt"/>
            </a:endParaRPr>
          </a:p>
          <a:p>
            <a:pPr>
              <a:buFont typeface="Arial"/>
              <a:buChar char="•"/>
            </a:pPr>
            <a:endParaRPr lang="en-US" sz="1200" dirty="0">
              <a:ea typeface="+mn-lt"/>
              <a:cs typeface="+mn-lt"/>
            </a:endParaRPr>
          </a:p>
          <a:p>
            <a:pPr>
              <a:buFont typeface="Arial"/>
              <a:buChar char="•"/>
            </a:pPr>
            <a:r>
              <a:rPr lang="en-US" sz="1200" b="1" dirty="0">
                <a:ea typeface="+mn-lt"/>
                <a:cs typeface="+mn-lt"/>
              </a:rPr>
              <a:t>   Merchant &amp; C&amp;I Opportunities:</a:t>
            </a:r>
            <a:r>
              <a:rPr lang="en-US" sz="1200" dirty="0">
                <a:ea typeface="+mn-lt"/>
                <a:cs typeface="+mn-lt"/>
              </a:rPr>
              <a:t> There is increased focus on commercial/industrial (C&amp;I), merchant, and contract-for-difference (CFD) opportunities to enhance returns and diversify revenue streams.</a:t>
            </a:r>
            <a:endParaRPr lang="en-US" dirty="0"/>
          </a:p>
        </p:txBody>
      </p:sp>
      <p:sp>
        <p:nvSpPr>
          <p:cNvPr id="26" name="TextBox 25">
            <a:extLst>
              <a:ext uri="{FF2B5EF4-FFF2-40B4-BE49-F238E27FC236}">
                <a16:creationId xmlns:a16="http://schemas.microsoft.com/office/drawing/2014/main" id="{4DA3DCEC-0EAC-9403-DF9A-14A785EA8F5B}"/>
              </a:ext>
            </a:extLst>
          </p:cNvPr>
          <p:cNvSpPr txBox="1"/>
          <p:nvPr/>
        </p:nvSpPr>
        <p:spPr>
          <a:xfrm>
            <a:off x="194400" y="6397013"/>
            <a:ext cx="5835600" cy="1015663"/>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200" b="1">
                <a:ea typeface="+mn-lt"/>
                <a:cs typeface="+mn-lt"/>
              </a:rPr>
              <a:t>Plant Availability:</a:t>
            </a:r>
            <a:r>
              <a:rPr lang="en-US" sz="1200">
                <a:ea typeface="+mn-lt"/>
                <a:cs typeface="+mn-lt"/>
              </a:rPr>
              <a:t> Solar plant availability remained consistently near 100%, with wind and hybrid segments also seeing improvement.</a:t>
            </a:r>
          </a:p>
          <a:p>
            <a:pPr marL="171450" indent="-171450">
              <a:buFont typeface="Arial"/>
              <a:buChar char="•"/>
            </a:pPr>
            <a:endParaRPr lang="en-US" sz="1200">
              <a:ea typeface="+mn-lt"/>
              <a:cs typeface="+mn-lt"/>
            </a:endParaRPr>
          </a:p>
          <a:p>
            <a:pPr marL="171450" indent="-171450">
              <a:buFont typeface="Arial"/>
              <a:buChar char="•"/>
            </a:pPr>
            <a:r>
              <a:rPr lang="en-US" sz="1200" b="1">
                <a:ea typeface="+mn-lt"/>
                <a:cs typeface="+mn-lt"/>
              </a:rPr>
              <a:t>Capacity Utilization Factor (CUF)</a:t>
            </a:r>
            <a:r>
              <a:rPr lang="en-US" sz="1200">
                <a:ea typeface="+mn-lt"/>
                <a:cs typeface="+mn-lt"/>
              </a:rPr>
              <a:t>: Solar CUFs improved (FY25: 24.8%), with wind CUFs and hybrid CUFs also reflecting operational enhancements.</a:t>
            </a:r>
            <a:endParaRPr lang="en-US" sz="1200">
              <a:ea typeface="Calibri"/>
              <a:cs typeface="Calibri"/>
            </a:endParaRPr>
          </a:p>
        </p:txBody>
      </p:sp>
      <p:sp>
        <p:nvSpPr>
          <p:cNvPr id="28" name="TextBox 27">
            <a:extLst>
              <a:ext uri="{FF2B5EF4-FFF2-40B4-BE49-F238E27FC236}">
                <a16:creationId xmlns:a16="http://schemas.microsoft.com/office/drawing/2014/main" id="{D2D72BAB-7AF8-AFB4-04CE-F12DFE7C499D}"/>
              </a:ext>
            </a:extLst>
          </p:cNvPr>
          <p:cNvSpPr txBox="1"/>
          <p:nvPr/>
        </p:nvSpPr>
        <p:spPr>
          <a:xfrm>
            <a:off x="194400" y="7818241"/>
            <a:ext cx="5835600" cy="830997"/>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200">
                <a:ea typeface="+mn-lt"/>
                <a:cs typeface="+mn-lt"/>
              </a:rPr>
              <a:t>AGEL's performance this year has been marked by record capacity addition, margin stability, and a fully-funded, scalable growth runway. Its best-in-class operational efficiency, disciplined capital management, and industry-leading ESG practices underpin a compelling investment thesis as India transitions to non-fossil power.</a:t>
            </a:r>
            <a:endParaRPr lang="en-US"/>
          </a:p>
        </p:txBody>
      </p:sp>
      <p:sp>
        <p:nvSpPr>
          <p:cNvPr id="3" name="Footer Placeholder 3">
            <a:extLst>
              <a:ext uri="{FF2B5EF4-FFF2-40B4-BE49-F238E27FC236}">
                <a16:creationId xmlns:a16="http://schemas.microsoft.com/office/drawing/2014/main" id="{47376C4C-0AC1-E3CB-3B4D-D21170EC9F48}"/>
              </a:ext>
            </a:extLst>
          </p:cNvPr>
          <p:cNvSpPr>
            <a:spLocks noGrp="1"/>
          </p:cNvSpPr>
          <p:nvPr>
            <p:ph type="ftr" sz="quarter" idx="11"/>
          </p:nvPr>
        </p:nvSpPr>
        <p:spPr>
          <a:xfrm>
            <a:off x="-7551" y="8832134"/>
            <a:ext cx="6234928" cy="324563"/>
          </a:xfrm>
        </p:spPr>
        <p:txBody>
          <a:bodyPr/>
          <a:lstStyle/>
          <a:p>
            <a:pPr algn="l"/>
            <a:r>
              <a:rPr lang="en-US" sz="800">
                <a:ea typeface="Calibri"/>
                <a:cs typeface="Calibri"/>
              </a:rPr>
              <a:t>Disclaimer: This is only for educational purposes and we are not SEBI registered.</a:t>
            </a:r>
          </a:p>
        </p:txBody>
      </p:sp>
      <p:sp>
        <p:nvSpPr>
          <p:cNvPr id="4" name="Rectangle 3">
            <a:extLst>
              <a:ext uri="{FF2B5EF4-FFF2-40B4-BE49-F238E27FC236}">
                <a16:creationId xmlns:a16="http://schemas.microsoft.com/office/drawing/2014/main" id="{2261B2C6-E814-A4ED-A45C-4A782A0E353F}"/>
              </a:ext>
            </a:extLst>
          </p:cNvPr>
          <p:cNvSpPr/>
          <p:nvPr/>
        </p:nvSpPr>
        <p:spPr>
          <a:xfrm>
            <a:off x="98704" y="815933"/>
            <a:ext cx="6027421" cy="360000"/>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a:ea typeface="Calibri"/>
                <a:cs typeface="Calibri"/>
              </a:rPr>
              <a:t>Concall Analysis</a:t>
            </a:r>
            <a:endParaRPr lang="en-US"/>
          </a:p>
        </p:txBody>
      </p:sp>
      <p:sp>
        <p:nvSpPr>
          <p:cNvPr id="8" name="Slide Number Placeholder 6">
            <a:extLst>
              <a:ext uri="{FF2B5EF4-FFF2-40B4-BE49-F238E27FC236}">
                <a16:creationId xmlns:a16="http://schemas.microsoft.com/office/drawing/2014/main" id="{0F9F84E9-1B0C-D836-2070-A57A68E0F0C7}"/>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13</a:t>
            </a:fld>
            <a:endParaRPr lang="en-US"/>
          </a:p>
        </p:txBody>
      </p:sp>
      <p:sp>
        <p:nvSpPr>
          <p:cNvPr id="2" name="Rectangle 1">
            <a:extLst>
              <a:ext uri="{FF2B5EF4-FFF2-40B4-BE49-F238E27FC236}">
                <a16:creationId xmlns:a16="http://schemas.microsoft.com/office/drawing/2014/main" id="{D05122FA-DF1D-02C5-EC77-34051834CD87}"/>
              </a:ext>
            </a:extLst>
          </p:cNvPr>
          <p:cNvSpPr/>
          <p:nvPr/>
        </p:nvSpPr>
        <p:spPr>
          <a:xfrm>
            <a:off x="194400" y="7491398"/>
            <a:ext cx="5835600" cy="307251"/>
          </a:xfrm>
          <a:prstGeom prst="rect">
            <a:avLst/>
          </a:prstGeom>
          <a:solidFill>
            <a:srgbClr val="187C2C"/>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endParaRPr lang="en-US" sz="1400" b="1">
              <a:ea typeface="Calibri"/>
              <a:cs typeface="Calibri"/>
            </a:endParaRPr>
          </a:p>
          <a:p>
            <a:pPr algn="ctr"/>
            <a:r>
              <a:rPr lang="en-US" sz="1400" b="1"/>
              <a:t>Conclusion</a:t>
            </a:r>
            <a:endParaRPr lang="en-US" b="1">
              <a:ea typeface="Calibri"/>
              <a:cs typeface="Calibri"/>
            </a:endParaRPr>
          </a:p>
          <a:p>
            <a:pPr algn="ctr"/>
            <a:endParaRPr lang="en-US" sz="1400" b="1">
              <a:solidFill>
                <a:schemeClr val="bg1"/>
              </a:solidFill>
              <a:ea typeface="Calibri"/>
              <a:cs typeface="Calibri"/>
            </a:endParaRPr>
          </a:p>
        </p:txBody>
      </p:sp>
      <p:sp>
        <p:nvSpPr>
          <p:cNvPr id="5" name="Rectangle 4">
            <a:extLst>
              <a:ext uri="{FF2B5EF4-FFF2-40B4-BE49-F238E27FC236}">
                <a16:creationId xmlns:a16="http://schemas.microsoft.com/office/drawing/2014/main" id="{5751D254-DF45-3BA8-FC64-000C9FAAEDF8}"/>
              </a:ext>
            </a:extLst>
          </p:cNvPr>
          <p:cNvSpPr/>
          <p:nvPr/>
        </p:nvSpPr>
        <p:spPr>
          <a:xfrm>
            <a:off x="194400" y="6070168"/>
            <a:ext cx="5835600" cy="307251"/>
          </a:xfrm>
          <a:prstGeom prst="rect">
            <a:avLst/>
          </a:prstGeom>
          <a:solidFill>
            <a:srgbClr val="187C2C"/>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endParaRPr lang="en-US" sz="1400" b="1">
              <a:ea typeface="Calibri"/>
              <a:cs typeface="Calibri"/>
            </a:endParaRPr>
          </a:p>
          <a:p>
            <a:pPr algn="ctr"/>
            <a:r>
              <a:rPr lang="en-US" sz="1400" b="1"/>
              <a:t>Operational Excellence</a:t>
            </a:r>
            <a:endParaRPr lang="en-US" b="1">
              <a:ea typeface="Calibri"/>
              <a:cs typeface="Calibri"/>
            </a:endParaRPr>
          </a:p>
          <a:p>
            <a:pPr algn="ctr"/>
            <a:endParaRPr lang="en-US" sz="1400" b="1">
              <a:solidFill>
                <a:schemeClr val="bg1"/>
              </a:solidFill>
              <a:ea typeface="Calibri"/>
              <a:cs typeface="Calibri"/>
            </a:endParaRPr>
          </a:p>
        </p:txBody>
      </p:sp>
      <p:sp>
        <p:nvSpPr>
          <p:cNvPr id="10" name="Rectangle 9">
            <a:extLst>
              <a:ext uri="{FF2B5EF4-FFF2-40B4-BE49-F238E27FC236}">
                <a16:creationId xmlns:a16="http://schemas.microsoft.com/office/drawing/2014/main" id="{2E588091-1472-A25A-9431-5AEB070B21DC}"/>
              </a:ext>
            </a:extLst>
          </p:cNvPr>
          <p:cNvSpPr/>
          <p:nvPr/>
        </p:nvSpPr>
        <p:spPr>
          <a:xfrm>
            <a:off x="194400" y="4445903"/>
            <a:ext cx="5835600" cy="307251"/>
          </a:xfrm>
          <a:prstGeom prst="rect">
            <a:avLst/>
          </a:prstGeom>
          <a:solidFill>
            <a:srgbClr val="187C2C"/>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endParaRPr lang="en-US" sz="1400" b="1">
              <a:ea typeface="Calibri"/>
              <a:cs typeface="Calibri"/>
            </a:endParaRPr>
          </a:p>
          <a:p>
            <a:pPr algn="ctr"/>
            <a:r>
              <a:rPr lang="en-US" sz="1400" b="1"/>
              <a:t>Strategic Initiatives and Outlook</a:t>
            </a:r>
            <a:endParaRPr lang="en-US"/>
          </a:p>
          <a:p>
            <a:pPr algn="ctr"/>
            <a:endParaRPr lang="en-US" sz="1400" b="1">
              <a:solidFill>
                <a:schemeClr val="bg1"/>
              </a:solidFill>
              <a:ea typeface="Calibri"/>
              <a:cs typeface="Calibri"/>
            </a:endParaRPr>
          </a:p>
        </p:txBody>
      </p:sp>
    </p:spTree>
    <p:extLst>
      <p:ext uri="{BB962C8B-B14F-4D97-AF65-F5344CB8AC3E}">
        <p14:creationId xmlns:p14="http://schemas.microsoft.com/office/powerpoint/2010/main" val="1111068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0A445C-000D-0331-54C1-8D39E44F2ABF}"/>
              </a:ext>
            </a:extLst>
          </p:cNvPr>
          <p:cNvSpPr/>
          <p:nvPr/>
        </p:nvSpPr>
        <p:spPr>
          <a:xfrm>
            <a:off x="346362" y="4997110"/>
            <a:ext cx="5560605" cy="337881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C616345B-F2AE-86D8-DD1F-904EE9D1A2C9}"/>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11" name="Picture 10" descr="Adani Renewables - Global Alliance For Sustainable Energy">
            <a:extLst>
              <a:ext uri="{FF2B5EF4-FFF2-40B4-BE49-F238E27FC236}">
                <a16:creationId xmlns:a16="http://schemas.microsoft.com/office/drawing/2014/main" id="{BF659B1D-9125-3770-EBAF-5AA0BE38E7F5}"/>
              </a:ext>
            </a:extLst>
          </p:cNvPr>
          <p:cNvPicPr>
            <a:picLocks noChangeAspect="1"/>
          </p:cNvPicPr>
          <p:nvPr/>
        </p:nvPicPr>
        <p:blipFill>
          <a:blip r:embed="rId2"/>
          <a:stretch>
            <a:fillRect/>
          </a:stretch>
        </p:blipFill>
        <p:spPr>
          <a:xfrm>
            <a:off x="5076000" y="0"/>
            <a:ext cx="1311468" cy="662728"/>
          </a:xfrm>
          <a:prstGeom prst="rect">
            <a:avLst/>
          </a:prstGeom>
        </p:spPr>
      </p:pic>
      <p:cxnSp>
        <p:nvCxnSpPr>
          <p:cNvPr id="13" name="Straight Arrow Connector 12">
            <a:extLst>
              <a:ext uri="{FF2B5EF4-FFF2-40B4-BE49-F238E27FC236}">
                <a16:creationId xmlns:a16="http://schemas.microsoft.com/office/drawing/2014/main" id="{2D3B4EBB-7493-7710-F075-DCE5AD21B10F}"/>
              </a:ext>
            </a:extLst>
          </p:cNvPr>
          <p:cNvCxnSpPr/>
          <p:nvPr/>
        </p:nvCxnSpPr>
        <p:spPr>
          <a:xfrm flipV="1">
            <a:off x="-5925" y="8787953"/>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AAD6DB5-A461-20EF-2FEB-0B02661D1320}"/>
              </a:ext>
            </a:extLst>
          </p:cNvPr>
          <p:cNvSpPr txBox="1"/>
          <p:nvPr/>
        </p:nvSpPr>
        <p:spPr>
          <a:xfrm>
            <a:off x="2225164" y="1278332"/>
            <a:ext cx="1715616" cy="307777"/>
          </a:xfrm>
          <a:prstGeom prst="rect">
            <a:avLst/>
          </a:prstGeom>
          <a:solidFill>
            <a:srgbClr val="187C2C"/>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dirty="0">
                <a:solidFill>
                  <a:schemeClr val="bg1"/>
                </a:solidFill>
                <a:ea typeface="Calibri"/>
                <a:cs typeface="Calibri"/>
              </a:rPr>
              <a:t>DCF Valuation</a:t>
            </a:r>
          </a:p>
        </p:txBody>
      </p:sp>
      <p:pic>
        <p:nvPicPr>
          <p:cNvPr id="3" name="Picture 2" descr="A screenshot of a spreadsheet&#10;&#10;AI-generated content may be incorrect.">
            <a:extLst>
              <a:ext uri="{FF2B5EF4-FFF2-40B4-BE49-F238E27FC236}">
                <a16:creationId xmlns:a16="http://schemas.microsoft.com/office/drawing/2014/main" id="{03AB3B17-7E15-79E0-679E-82AFFF614800}"/>
              </a:ext>
            </a:extLst>
          </p:cNvPr>
          <p:cNvPicPr>
            <a:picLocks noChangeAspect="1"/>
          </p:cNvPicPr>
          <p:nvPr/>
        </p:nvPicPr>
        <p:blipFill>
          <a:blip r:embed="rId3"/>
          <a:stretch>
            <a:fillRect/>
          </a:stretch>
        </p:blipFill>
        <p:spPr>
          <a:xfrm>
            <a:off x="98705" y="1728841"/>
            <a:ext cx="6088912" cy="3001214"/>
          </a:xfrm>
          <a:prstGeom prst="rect">
            <a:avLst/>
          </a:prstGeom>
        </p:spPr>
      </p:pic>
      <p:sp>
        <p:nvSpPr>
          <p:cNvPr id="7" name="Rectangle 6">
            <a:extLst>
              <a:ext uri="{FF2B5EF4-FFF2-40B4-BE49-F238E27FC236}">
                <a16:creationId xmlns:a16="http://schemas.microsoft.com/office/drawing/2014/main" id="{0DAD40CF-7929-A6B4-9630-D32E3EA87E95}"/>
              </a:ext>
            </a:extLst>
          </p:cNvPr>
          <p:cNvSpPr/>
          <p:nvPr/>
        </p:nvSpPr>
        <p:spPr>
          <a:xfrm>
            <a:off x="1030547" y="5754891"/>
            <a:ext cx="4190802" cy="25248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9BE27484-5F8F-ADED-B00A-DA9769EDF823}"/>
              </a:ext>
            </a:extLst>
          </p:cNvPr>
          <p:cNvSpPr txBox="1"/>
          <p:nvPr/>
        </p:nvSpPr>
        <p:spPr>
          <a:xfrm>
            <a:off x="1554165" y="5177771"/>
            <a:ext cx="3281496" cy="369332"/>
          </a:xfrm>
          <a:prstGeom prst="rect">
            <a:avLst/>
          </a:prstGeom>
          <a:solidFill>
            <a:srgbClr val="187C2C"/>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solidFill>
                  <a:schemeClr val="bg1"/>
                </a:solidFill>
                <a:ea typeface="Calibri"/>
                <a:cs typeface="Calibri"/>
              </a:rPr>
              <a:t>Football Field Analysis</a:t>
            </a:r>
          </a:p>
        </p:txBody>
      </p:sp>
      <p:sp>
        <p:nvSpPr>
          <p:cNvPr id="12" name="Footer Placeholder 3">
            <a:extLst>
              <a:ext uri="{FF2B5EF4-FFF2-40B4-BE49-F238E27FC236}">
                <a16:creationId xmlns:a16="http://schemas.microsoft.com/office/drawing/2014/main" id="{7CC83695-227E-CE5B-B466-7C4BEE5A5B7E}"/>
              </a:ext>
            </a:extLst>
          </p:cNvPr>
          <p:cNvSpPr>
            <a:spLocks noGrp="1"/>
          </p:cNvSpPr>
          <p:nvPr>
            <p:ph type="ftr" sz="quarter" idx="11"/>
          </p:nvPr>
        </p:nvSpPr>
        <p:spPr>
          <a:xfrm>
            <a:off x="-7551" y="8832134"/>
            <a:ext cx="6234928" cy="324563"/>
          </a:xfrm>
        </p:spPr>
        <p:txBody>
          <a:bodyPr/>
          <a:lstStyle/>
          <a:p>
            <a:pPr algn="l"/>
            <a:r>
              <a:rPr lang="en-US" sz="800">
                <a:ea typeface="Calibri"/>
                <a:cs typeface="Calibri"/>
              </a:rPr>
              <a:t>Disclaimer: This is only for educational purposes and we are not SEBI registered.</a:t>
            </a:r>
          </a:p>
        </p:txBody>
      </p:sp>
      <p:sp>
        <p:nvSpPr>
          <p:cNvPr id="10" name="AutoShape 3">
            <a:extLst>
              <a:ext uri="{FF2B5EF4-FFF2-40B4-BE49-F238E27FC236}">
                <a16:creationId xmlns:a16="http://schemas.microsoft.com/office/drawing/2014/main" id="{C1284701-C136-2B2A-0DA2-C013FB3B4F42}"/>
              </a:ext>
            </a:extLst>
          </p:cNvPr>
          <p:cNvSpPr>
            <a:spLocks noChangeAspect="1" noChangeArrowheads="1" noTextEdit="1"/>
          </p:cNvSpPr>
          <p:nvPr/>
        </p:nvSpPr>
        <p:spPr bwMode="auto">
          <a:xfrm>
            <a:off x="806450" y="5649913"/>
            <a:ext cx="4552950" cy="273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5" name="Line 5">
            <a:extLst>
              <a:ext uri="{FF2B5EF4-FFF2-40B4-BE49-F238E27FC236}">
                <a16:creationId xmlns:a16="http://schemas.microsoft.com/office/drawing/2014/main" id="{BBA326B2-F480-D6C2-A3B9-CCA5FC1BEBA8}"/>
              </a:ext>
            </a:extLst>
          </p:cNvPr>
          <p:cNvSpPr>
            <a:spLocks noChangeShapeType="1"/>
          </p:cNvSpPr>
          <p:nvPr/>
        </p:nvSpPr>
        <p:spPr bwMode="auto">
          <a:xfrm>
            <a:off x="1266825" y="8118475"/>
            <a:ext cx="3978275" cy="0"/>
          </a:xfrm>
          <a:prstGeom prst="line">
            <a:avLst/>
          </a:prstGeom>
          <a:noFill/>
          <a:ln w="9525" cap="flat">
            <a:solidFill>
              <a:srgbClr val="D9D9D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6" name="Freeform 6">
            <a:extLst>
              <a:ext uri="{FF2B5EF4-FFF2-40B4-BE49-F238E27FC236}">
                <a16:creationId xmlns:a16="http://schemas.microsoft.com/office/drawing/2014/main" id="{9154D2C8-C126-6C1A-7D02-AAD13B92530B}"/>
              </a:ext>
            </a:extLst>
          </p:cNvPr>
          <p:cNvSpPr>
            <a:spLocks noEditPoints="1"/>
          </p:cNvSpPr>
          <p:nvPr/>
        </p:nvSpPr>
        <p:spPr bwMode="auto">
          <a:xfrm>
            <a:off x="1930400" y="6411913"/>
            <a:ext cx="2651125" cy="1087437"/>
          </a:xfrm>
          <a:custGeom>
            <a:avLst/>
            <a:gdLst>
              <a:gd name="T0" fmla="*/ 0 w 1670"/>
              <a:gd name="T1" fmla="*/ 128 h 685"/>
              <a:gd name="T2" fmla="*/ 0 w 1670"/>
              <a:gd name="T3" fmla="*/ 328 h 685"/>
              <a:gd name="T4" fmla="*/ 836 w 1670"/>
              <a:gd name="T5" fmla="*/ 84 h 685"/>
              <a:gd name="T6" fmla="*/ 836 w 1670"/>
              <a:gd name="T7" fmla="*/ 638 h 685"/>
              <a:gd name="T8" fmla="*/ 1670 w 1670"/>
              <a:gd name="T9" fmla="*/ 0 h 685"/>
              <a:gd name="T10" fmla="*/ 1670 w 1670"/>
              <a:gd name="T11" fmla="*/ 685 h 685"/>
            </a:gdLst>
            <a:ahLst/>
            <a:cxnLst>
              <a:cxn ang="0">
                <a:pos x="T0" y="T1"/>
              </a:cxn>
              <a:cxn ang="0">
                <a:pos x="T2" y="T3"/>
              </a:cxn>
              <a:cxn ang="0">
                <a:pos x="T4" y="T5"/>
              </a:cxn>
              <a:cxn ang="0">
                <a:pos x="T6" y="T7"/>
              </a:cxn>
              <a:cxn ang="0">
                <a:pos x="T8" y="T9"/>
              </a:cxn>
              <a:cxn ang="0">
                <a:pos x="T10" y="T11"/>
              </a:cxn>
            </a:cxnLst>
            <a:rect l="0" t="0" r="r" b="b"/>
            <a:pathLst>
              <a:path w="1670" h="685">
                <a:moveTo>
                  <a:pt x="0" y="128"/>
                </a:moveTo>
                <a:lnTo>
                  <a:pt x="0" y="328"/>
                </a:lnTo>
                <a:moveTo>
                  <a:pt x="836" y="84"/>
                </a:moveTo>
                <a:lnTo>
                  <a:pt x="836" y="638"/>
                </a:lnTo>
                <a:moveTo>
                  <a:pt x="1670" y="0"/>
                </a:moveTo>
                <a:lnTo>
                  <a:pt x="1670" y="685"/>
                </a:lnTo>
              </a:path>
            </a:pathLst>
          </a:custGeom>
          <a:noFill/>
          <a:ln w="9525" cap="flat">
            <a:solidFill>
              <a:srgbClr val="40404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Freeform 7">
            <a:extLst>
              <a:ext uri="{FF2B5EF4-FFF2-40B4-BE49-F238E27FC236}">
                <a16:creationId xmlns:a16="http://schemas.microsoft.com/office/drawing/2014/main" id="{D45139B6-DC12-4303-2851-79C2A55EF2CF}"/>
              </a:ext>
            </a:extLst>
          </p:cNvPr>
          <p:cNvSpPr>
            <a:spLocks noEditPoints="1"/>
          </p:cNvSpPr>
          <p:nvPr/>
        </p:nvSpPr>
        <p:spPr bwMode="auto">
          <a:xfrm>
            <a:off x="1665288" y="6411913"/>
            <a:ext cx="3181350" cy="1087437"/>
          </a:xfrm>
          <a:custGeom>
            <a:avLst/>
            <a:gdLst>
              <a:gd name="T0" fmla="*/ 0 w 2004"/>
              <a:gd name="T1" fmla="*/ 328 h 685"/>
              <a:gd name="T2" fmla="*/ 334 w 2004"/>
              <a:gd name="T3" fmla="*/ 328 h 685"/>
              <a:gd name="T4" fmla="*/ 334 w 2004"/>
              <a:gd name="T5" fmla="*/ 128 h 685"/>
              <a:gd name="T6" fmla="*/ 0 w 2004"/>
              <a:gd name="T7" fmla="*/ 128 h 685"/>
              <a:gd name="T8" fmla="*/ 0 w 2004"/>
              <a:gd name="T9" fmla="*/ 328 h 685"/>
              <a:gd name="T10" fmla="*/ 836 w 2004"/>
              <a:gd name="T11" fmla="*/ 638 h 685"/>
              <a:gd name="T12" fmla="*/ 1170 w 2004"/>
              <a:gd name="T13" fmla="*/ 638 h 685"/>
              <a:gd name="T14" fmla="*/ 1170 w 2004"/>
              <a:gd name="T15" fmla="*/ 84 h 685"/>
              <a:gd name="T16" fmla="*/ 836 w 2004"/>
              <a:gd name="T17" fmla="*/ 84 h 685"/>
              <a:gd name="T18" fmla="*/ 836 w 2004"/>
              <a:gd name="T19" fmla="*/ 638 h 685"/>
              <a:gd name="T20" fmla="*/ 1670 w 2004"/>
              <a:gd name="T21" fmla="*/ 685 h 685"/>
              <a:gd name="T22" fmla="*/ 2004 w 2004"/>
              <a:gd name="T23" fmla="*/ 685 h 685"/>
              <a:gd name="T24" fmla="*/ 2004 w 2004"/>
              <a:gd name="T25" fmla="*/ 0 h 685"/>
              <a:gd name="T26" fmla="*/ 1670 w 2004"/>
              <a:gd name="T27" fmla="*/ 0 h 685"/>
              <a:gd name="T28" fmla="*/ 1670 w 2004"/>
              <a:gd name="T29" fmla="*/ 685 h 6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04" h="685">
                <a:moveTo>
                  <a:pt x="0" y="328"/>
                </a:moveTo>
                <a:lnTo>
                  <a:pt x="334" y="328"/>
                </a:lnTo>
                <a:lnTo>
                  <a:pt x="334" y="128"/>
                </a:lnTo>
                <a:lnTo>
                  <a:pt x="0" y="128"/>
                </a:lnTo>
                <a:lnTo>
                  <a:pt x="0" y="328"/>
                </a:lnTo>
                <a:close/>
                <a:moveTo>
                  <a:pt x="836" y="638"/>
                </a:moveTo>
                <a:lnTo>
                  <a:pt x="1170" y="638"/>
                </a:lnTo>
                <a:lnTo>
                  <a:pt x="1170" y="84"/>
                </a:lnTo>
                <a:lnTo>
                  <a:pt x="836" y="84"/>
                </a:lnTo>
                <a:lnTo>
                  <a:pt x="836" y="638"/>
                </a:lnTo>
                <a:close/>
                <a:moveTo>
                  <a:pt x="1670" y="685"/>
                </a:moveTo>
                <a:lnTo>
                  <a:pt x="2004" y="685"/>
                </a:lnTo>
                <a:lnTo>
                  <a:pt x="2004" y="0"/>
                </a:lnTo>
                <a:lnTo>
                  <a:pt x="1670" y="0"/>
                </a:lnTo>
                <a:lnTo>
                  <a:pt x="1670" y="685"/>
                </a:lnTo>
                <a:close/>
              </a:path>
            </a:pathLst>
          </a:custGeom>
          <a:solidFill>
            <a:srgbClr val="187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8" name="Rectangle 8">
            <a:extLst>
              <a:ext uri="{FF2B5EF4-FFF2-40B4-BE49-F238E27FC236}">
                <a16:creationId xmlns:a16="http://schemas.microsoft.com/office/drawing/2014/main" id="{5018754C-10E3-9089-F789-816A0223A866}"/>
              </a:ext>
            </a:extLst>
          </p:cNvPr>
          <p:cNvSpPr>
            <a:spLocks noChangeArrowheads="1"/>
          </p:cNvSpPr>
          <p:nvPr/>
        </p:nvSpPr>
        <p:spPr bwMode="auto">
          <a:xfrm>
            <a:off x="1685925" y="7021513"/>
            <a:ext cx="429605"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404040"/>
                </a:solidFill>
                <a:effectLst/>
                <a:latin typeface="Calibri" panose="020F0502020204030204" pitchFamily="34" charset="0"/>
              </a:rPr>
              <a:t> 1,453.00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Rectangle 9">
            <a:extLst>
              <a:ext uri="{FF2B5EF4-FFF2-40B4-BE49-F238E27FC236}">
                <a16:creationId xmlns:a16="http://schemas.microsoft.com/office/drawing/2014/main" id="{80C882B9-FB59-390C-56E2-5DD91009C3A5}"/>
              </a:ext>
            </a:extLst>
          </p:cNvPr>
          <p:cNvSpPr>
            <a:spLocks noChangeArrowheads="1"/>
          </p:cNvSpPr>
          <p:nvPr/>
        </p:nvSpPr>
        <p:spPr bwMode="auto">
          <a:xfrm>
            <a:off x="3054350" y="7513638"/>
            <a:ext cx="343043"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404040"/>
                </a:solidFill>
                <a:effectLst/>
                <a:latin typeface="Calibri" panose="020F0502020204030204" pitchFamily="34" charset="0"/>
              </a:rPr>
              <a:t> 849.00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 name="Rectangle 10">
            <a:extLst>
              <a:ext uri="{FF2B5EF4-FFF2-40B4-BE49-F238E27FC236}">
                <a16:creationId xmlns:a16="http://schemas.microsoft.com/office/drawing/2014/main" id="{34FC89DD-F86E-4C4D-6F33-2A2300238197}"/>
              </a:ext>
            </a:extLst>
          </p:cNvPr>
          <p:cNvSpPr>
            <a:spLocks noChangeArrowheads="1"/>
          </p:cNvSpPr>
          <p:nvPr/>
        </p:nvSpPr>
        <p:spPr bwMode="auto">
          <a:xfrm>
            <a:off x="4381500" y="7588250"/>
            <a:ext cx="343043"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404040"/>
                </a:solidFill>
                <a:effectLst/>
                <a:latin typeface="Calibri" panose="020F0502020204030204" pitchFamily="34" charset="0"/>
              </a:rPr>
              <a:t> 758.00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 name="Rectangle 11">
            <a:extLst>
              <a:ext uri="{FF2B5EF4-FFF2-40B4-BE49-F238E27FC236}">
                <a16:creationId xmlns:a16="http://schemas.microsoft.com/office/drawing/2014/main" id="{FDF80AD6-B9AA-78CC-E8D5-BA384CC330AB}"/>
              </a:ext>
            </a:extLst>
          </p:cNvPr>
          <p:cNvSpPr>
            <a:spLocks noChangeArrowheads="1"/>
          </p:cNvSpPr>
          <p:nvPr/>
        </p:nvSpPr>
        <p:spPr bwMode="auto">
          <a:xfrm>
            <a:off x="1685925" y="6386513"/>
            <a:ext cx="410369"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404040"/>
                </a:solidFill>
                <a:effectLst/>
                <a:latin typeface="Calibri"/>
                <a:ea typeface="Calibri"/>
                <a:cs typeface="Calibri"/>
              </a:rPr>
              <a:t> 1,</a:t>
            </a:r>
            <a:r>
              <a:rPr kumimoji="0" lang="en-US" altLang="en-US" sz="800" b="0" i="0" u="none" strike="noStrike" cap="none" normalizeH="0" baseline="0">
                <a:ln>
                  <a:noFill/>
                </a:ln>
                <a:solidFill>
                  <a:srgbClr val="404040"/>
                </a:solidFill>
                <a:effectLst/>
                <a:latin typeface="Calibri"/>
                <a:ea typeface="Calibri"/>
                <a:cs typeface="Calibri"/>
              </a:rPr>
              <a:t>841</a:t>
            </a:r>
            <a:r>
              <a:rPr kumimoji="0" lang="en-US" altLang="en-US" sz="900" b="0" i="0" u="none" strike="noStrike" cap="none" normalizeH="0" baseline="0">
                <a:ln>
                  <a:noFill/>
                </a:ln>
                <a:solidFill>
                  <a:srgbClr val="404040"/>
                </a:solidFill>
                <a:effectLst/>
                <a:latin typeface="Calibri"/>
                <a:ea typeface="Calibri"/>
                <a:cs typeface="Calibri"/>
              </a:rPr>
              <a:t>.00</a:t>
            </a:r>
            <a:endParaRPr kumimoji="0" lang="en-US" altLang="en-US" sz="1800" b="0" i="0" u="none" strike="noStrike" cap="none" normalizeH="0" baseline="0">
              <a:ln>
                <a:noFill/>
              </a:ln>
              <a:solidFill>
                <a:schemeClr val="tx1"/>
              </a:solidFill>
              <a:effectLst/>
              <a:latin typeface="Calibri"/>
              <a:ea typeface="Calibri"/>
              <a:cs typeface="Calibri"/>
            </a:endParaRPr>
          </a:p>
        </p:txBody>
      </p:sp>
      <p:sp>
        <p:nvSpPr>
          <p:cNvPr id="22" name="Rectangle 12">
            <a:extLst>
              <a:ext uri="{FF2B5EF4-FFF2-40B4-BE49-F238E27FC236}">
                <a16:creationId xmlns:a16="http://schemas.microsoft.com/office/drawing/2014/main" id="{550CA00A-BAA1-8A33-ABC7-FCF2ECC39FA1}"/>
              </a:ext>
            </a:extLst>
          </p:cNvPr>
          <p:cNvSpPr>
            <a:spLocks noChangeArrowheads="1"/>
          </p:cNvSpPr>
          <p:nvPr/>
        </p:nvSpPr>
        <p:spPr bwMode="auto">
          <a:xfrm>
            <a:off x="3011488" y="6316663"/>
            <a:ext cx="38151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404040"/>
                </a:solidFill>
                <a:effectLst/>
                <a:latin typeface="Calibri" panose="020F0502020204030204" pitchFamily="34" charset="0"/>
              </a:rPr>
              <a:t> 1,928.00</a:t>
            </a:r>
            <a:endParaRPr kumimoji="0" lang="en-US" altLang="en-US" sz="800" b="0" i="0" u="none" strike="noStrike" cap="none" normalizeH="0" baseline="0">
              <a:ln>
                <a:noFill/>
              </a:ln>
              <a:solidFill>
                <a:schemeClr val="tx1"/>
              </a:solidFill>
              <a:effectLst/>
              <a:latin typeface="Arial" panose="020B0604020202020204" pitchFamily="34" charset="0"/>
            </a:endParaRPr>
          </a:p>
        </p:txBody>
      </p:sp>
      <p:sp>
        <p:nvSpPr>
          <p:cNvPr id="23" name="Rectangle 13">
            <a:extLst>
              <a:ext uri="{FF2B5EF4-FFF2-40B4-BE49-F238E27FC236}">
                <a16:creationId xmlns:a16="http://schemas.microsoft.com/office/drawing/2014/main" id="{5FD440CB-B8FE-E163-41B7-85EFEAB3C65E}"/>
              </a:ext>
            </a:extLst>
          </p:cNvPr>
          <p:cNvSpPr>
            <a:spLocks noChangeArrowheads="1"/>
          </p:cNvSpPr>
          <p:nvPr/>
        </p:nvSpPr>
        <p:spPr bwMode="auto">
          <a:xfrm>
            <a:off x="4338638" y="6183313"/>
            <a:ext cx="38151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404040"/>
                </a:solidFill>
                <a:effectLst/>
                <a:latin typeface="Calibri" panose="020F0502020204030204" pitchFamily="34" charset="0"/>
              </a:rPr>
              <a:t> 2,091.00</a:t>
            </a:r>
            <a:endParaRPr kumimoji="0" lang="en-US" altLang="en-US" sz="800" b="0" i="0" u="none" strike="noStrike" cap="none" normalizeH="0" baseline="0">
              <a:ln>
                <a:noFill/>
              </a:ln>
              <a:solidFill>
                <a:schemeClr val="tx1"/>
              </a:solidFill>
              <a:effectLst/>
              <a:latin typeface="Arial" panose="020B0604020202020204" pitchFamily="34" charset="0"/>
            </a:endParaRPr>
          </a:p>
        </p:txBody>
      </p:sp>
      <p:sp>
        <p:nvSpPr>
          <p:cNvPr id="24" name="Rectangle 14">
            <a:extLst>
              <a:ext uri="{FF2B5EF4-FFF2-40B4-BE49-F238E27FC236}">
                <a16:creationId xmlns:a16="http://schemas.microsoft.com/office/drawing/2014/main" id="{49BA1F78-BDC3-3F8B-D5A6-D1642DDD83E6}"/>
              </a:ext>
            </a:extLst>
          </p:cNvPr>
          <p:cNvSpPr>
            <a:spLocks noChangeArrowheads="1"/>
          </p:cNvSpPr>
          <p:nvPr/>
        </p:nvSpPr>
        <p:spPr bwMode="auto">
          <a:xfrm>
            <a:off x="1103313" y="8042275"/>
            <a:ext cx="119063" cy="16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403152"/>
                </a:solidFill>
                <a:effectLst/>
                <a:latin typeface="Calibri" panose="020F050202020403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15">
            <a:extLst>
              <a:ext uri="{FF2B5EF4-FFF2-40B4-BE49-F238E27FC236}">
                <a16:creationId xmlns:a16="http://schemas.microsoft.com/office/drawing/2014/main" id="{A89220D0-48EB-BC33-6F55-4FF671A33809}"/>
              </a:ext>
            </a:extLst>
          </p:cNvPr>
          <p:cNvSpPr>
            <a:spLocks noChangeArrowheads="1"/>
          </p:cNvSpPr>
          <p:nvPr/>
        </p:nvSpPr>
        <p:spPr bwMode="auto">
          <a:xfrm>
            <a:off x="987425" y="7634288"/>
            <a:ext cx="15388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403152"/>
                </a:solidFill>
                <a:effectLst/>
                <a:latin typeface="Calibri" panose="020F0502020204030204" pitchFamily="34" charset="0"/>
              </a:rPr>
              <a:t>500</a:t>
            </a:r>
            <a:endParaRPr kumimoji="0" lang="en-US" altLang="en-US" sz="800" b="0" i="0" u="none" strike="noStrike" cap="none" normalizeH="0" baseline="0">
              <a:ln>
                <a:noFill/>
              </a:ln>
              <a:solidFill>
                <a:schemeClr val="tx1"/>
              </a:solidFill>
              <a:effectLst/>
              <a:latin typeface="Arial" panose="020B0604020202020204" pitchFamily="34" charset="0"/>
            </a:endParaRPr>
          </a:p>
        </p:txBody>
      </p:sp>
      <p:sp>
        <p:nvSpPr>
          <p:cNvPr id="26" name="Rectangle 16">
            <a:extLst>
              <a:ext uri="{FF2B5EF4-FFF2-40B4-BE49-F238E27FC236}">
                <a16:creationId xmlns:a16="http://schemas.microsoft.com/office/drawing/2014/main" id="{C85C891D-E9C2-5032-610D-FC15CC0BB04F}"/>
              </a:ext>
            </a:extLst>
          </p:cNvPr>
          <p:cNvSpPr>
            <a:spLocks noChangeArrowheads="1"/>
          </p:cNvSpPr>
          <p:nvPr/>
        </p:nvSpPr>
        <p:spPr bwMode="auto">
          <a:xfrm>
            <a:off x="930275" y="7226300"/>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403152"/>
                </a:solidFill>
                <a:effectLst/>
                <a:latin typeface="Calibri" panose="020F0502020204030204" pitchFamily="34" charset="0"/>
              </a:rPr>
              <a:t>1000</a:t>
            </a:r>
            <a:endParaRPr kumimoji="0" lang="en-US" altLang="en-US" sz="800" b="0" i="0" u="none" strike="noStrike" cap="none" normalizeH="0" baseline="0">
              <a:ln>
                <a:noFill/>
              </a:ln>
              <a:solidFill>
                <a:schemeClr val="tx1"/>
              </a:solidFill>
              <a:effectLst/>
              <a:latin typeface="Arial" panose="020B0604020202020204" pitchFamily="34" charset="0"/>
            </a:endParaRPr>
          </a:p>
        </p:txBody>
      </p:sp>
      <p:sp>
        <p:nvSpPr>
          <p:cNvPr id="27" name="Rectangle 17">
            <a:extLst>
              <a:ext uri="{FF2B5EF4-FFF2-40B4-BE49-F238E27FC236}">
                <a16:creationId xmlns:a16="http://schemas.microsoft.com/office/drawing/2014/main" id="{CF7066B7-A14B-5EAE-CCCC-614826E57589}"/>
              </a:ext>
            </a:extLst>
          </p:cNvPr>
          <p:cNvSpPr>
            <a:spLocks noChangeArrowheads="1"/>
          </p:cNvSpPr>
          <p:nvPr/>
        </p:nvSpPr>
        <p:spPr bwMode="auto">
          <a:xfrm>
            <a:off x="930275" y="6818313"/>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403152"/>
                </a:solidFill>
                <a:effectLst/>
                <a:latin typeface="Calibri" panose="020F0502020204030204" pitchFamily="34" charset="0"/>
              </a:rPr>
              <a:t>1500</a:t>
            </a:r>
            <a:endParaRPr kumimoji="0" lang="en-US" altLang="en-US" sz="800" b="0" i="0" u="none" strike="noStrike" cap="none" normalizeH="0" baseline="0">
              <a:ln>
                <a:noFill/>
              </a:ln>
              <a:solidFill>
                <a:schemeClr val="tx1"/>
              </a:solidFill>
              <a:effectLst/>
              <a:latin typeface="Arial" panose="020B0604020202020204" pitchFamily="34" charset="0"/>
            </a:endParaRPr>
          </a:p>
        </p:txBody>
      </p:sp>
      <p:sp>
        <p:nvSpPr>
          <p:cNvPr id="28" name="Rectangle 18">
            <a:extLst>
              <a:ext uri="{FF2B5EF4-FFF2-40B4-BE49-F238E27FC236}">
                <a16:creationId xmlns:a16="http://schemas.microsoft.com/office/drawing/2014/main" id="{04915259-83E6-C368-AC3D-62909E211BA2}"/>
              </a:ext>
            </a:extLst>
          </p:cNvPr>
          <p:cNvSpPr>
            <a:spLocks noChangeArrowheads="1"/>
          </p:cNvSpPr>
          <p:nvPr/>
        </p:nvSpPr>
        <p:spPr bwMode="auto">
          <a:xfrm>
            <a:off x="930275" y="6407150"/>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403152"/>
                </a:solidFill>
                <a:effectLst/>
                <a:latin typeface="Calibri"/>
                <a:ea typeface="Calibri"/>
                <a:cs typeface="Calibri"/>
              </a:rPr>
              <a:t>2000</a:t>
            </a:r>
            <a:endParaRPr kumimoji="0" lang="en-US" altLang="en-US" sz="800" b="0" i="0" u="none" strike="noStrike" cap="none" normalizeH="0" baseline="0">
              <a:ln>
                <a:noFill/>
              </a:ln>
              <a:solidFill>
                <a:schemeClr val="tx1"/>
              </a:solidFill>
              <a:effectLst/>
              <a:latin typeface="Calibri"/>
              <a:ea typeface="Calibri"/>
              <a:cs typeface="Calibri"/>
            </a:endParaRPr>
          </a:p>
        </p:txBody>
      </p:sp>
      <p:sp>
        <p:nvSpPr>
          <p:cNvPr id="29" name="Rectangle 19">
            <a:extLst>
              <a:ext uri="{FF2B5EF4-FFF2-40B4-BE49-F238E27FC236}">
                <a16:creationId xmlns:a16="http://schemas.microsoft.com/office/drawing/2014/main" id="{87574FDC-2CC7-05B3-AD6E-1A104EEA9A10}"/>
              </a:ext>
            </a:extLst>
          </p:cNvPr>
          <p:cNvSpPr>
            <a:spLocks noChangeArrowheads="1"/>
          </p:cNvSpPr>
          <p:nvPr/>
        </p:nvSpPr>
        <p:spPr bwMode="auto">
          <a:xfrm>
            <a:off x="930275" y="5999163"/>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403152"/>
                </a:solidFill>
                <a:effectLst/>
                <a:latin typeface="Calibri" panose="020F0502020204030204" pitchFamily="34" charset="0"/>
              </a:rPr>
              <a:t>2500</a:t>
            </a:r>
            <a:endParaRPr kumimoji="0" lang="en-US" altLang="en-US" sz="800" b="0" i="0" u="none" strike="noStrike" cap="none" normalizeH="0" baseline="0">
              <a:ln>
                <a:noFill/>
              </a:ln>
              <a:solidFill>
                <a:schemeClr val="tx1"/>
              </a:solidFill>
              <a:effectLst/>
              <a:latin typeface="Arial" panose="020B0604020202020204" pitchFamily="34" charset="0"/>
            </a:endParaRPr>
          </a:p>
        </p:txBody>
      </p:sp>
      <p:sp>
        <p:nvSpPr>
          <p:cNvPr id="30" name="Rectangle 20">
            <a:extLst>
              <a:ext uri="{FF2B5EF4-FFF2-40B4-BE49-F238E27FC236}">
                <a16:creationId xmlns:a16="http://schemas.microsoft.com/office/drawing/2014/main" id="{A2B0E60D-F0A8-D285-CFCB-95AB68D60B6F}"/>
              </a:ext>
            </a:extLst>
          </p:cNvPr>
          <p:cNvSpPr>
            <a:spLocks noChangeArrowheads="1"/>
          </p:cNvSpPr>
          <p:nvPr/>
        </p:nvSpPr>
        <p:spPr bwMode="auto">
          <a:xfrm>
            <a:off x="1838325" y="8191500"/>
            <a:ext cx="185948"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403152"/>
                </a:solidFill>
                <a:effectLst/>
                <a:latin typeface="Calibri" panose="020F0502020204030204" pitchFamily="34" charset="0"/>
              </a:rPr>
              <a:t>DCF</a:t>
            </a:r>
            <a:endParaRPr lang="en-US" altLang="en-US" sz="800" b="0" i="0" u="none" strike="noStrike" cap="none" normalizeH="0" baseline="0">
              <a:ln>
                <a:noFill/>
              </a:ln>
              <a:effectLst/>
              <a:latin typeface="Arial" panose="020B0604020202020204" pitchFamily="34" charset="0"/>
              <a:cs typeface="Arial"/>
            </a:endParaRPr>
          </a:p>
        </p:txBody>
      </p:sp>
      <p:sp>
        <p:nvSpPr>
          <p:cNvPr id="31" name="Rectangle 21">
            <a:extLst>
              <a:ext uri="{FF2B5EF4-FFF2-40B4-BE49-F238E27FC236}">
                <a16:creationId xmlns:a16="http://schemas.microsoft.com/office/drawing/2014/main" id="{028686EA-E320-A09A-20D7-1179B275A2FC}"/>
              </a:ext>
            </a:extLst>
          </p:cNvPr>
          <p:cNvSpPr>
            <a:spLocks noChangeArrowheads="1"/>
          </p:cNvSpPr>
          <p:nvPr/>
        </p:nvSpPr>
        <p:spPr bwMode="auto">
          <a:xfrm>
            <a:off x="3063875" y="8191500"/>
            <a:ext cx="391133"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403152"/>
                </a:solidFill>
                <a:effectLst/>
                <a:latin typeface="Calibri" panose="020F0502020204030204" pitchFamily="34" charset="0"/>
              </a:rPr>
              <a:t>Relative</a:t>
            </a:r>
            <a:endParaRPr lang="en-US" altLang="en-US" sz="800" b="0" i="0" u="none" strike="noStrike" cap="none" normalizeH="0" baseline="0">
              <a:ln>
                <a:noFill/>
              </a:ln>
              <a:effectLst/>
              <a:latin typeface="Arial" panose="020B0604020202020204" pitchFamily="34" charset="0"/>
              <a:cs typeface="Arial"/>
            </a:endParaRPr>
          </a:p>
        </p:txBody>
      </p:sp>
      <p:sp>
        <p:nvSpPr>
          <p:cNvPr id="32" name="Rectangle 22">
            <a:extLst>
              <a:ext uri="{FF2B5EF4-FFF2-40B4-BE49-F238E27FC236}">
                <a16:creationId xmlns:a16="http://schemas.microsoft.com/office/drawing/2014/main" id="{493A78B2-4540-EDDF-F5B0-F217076F76DC}"/>
              </a:ext>
            </a:extLst>
          </p:cNvPr>
          <p:cNvSpPr>
            <a:spLocks noChangeArrowheads="1"/>
          </p:cNvSpPr>
          <p:nvPr/>
        </p:nvSpPr>
        <p:spPr bwMode="auto">
          <a:xfrm>
            <a:off x="4278313" y="8191500"/>
            <a:ext cx="545021"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403152"/>
                </a:solidFill>
                <a:effectLst/>
                <a:latin typeface="Calibri" panose="020F0502020204030204" pitchFamily="34" charset="0"/>
              </a:rPr>
              <a:t>52 Week H/L</a:t>
            </a:r>
            <a:endParaRPr kumimoji="0" lang="en-US" altLang="en-US" sz="800" b="0" i="0" u="none" strike="noStrike" cap="none" normalizeH="0" baseline="0">
              <a:ln>
                <a:noFill/>
              </a:ln>
              <a:solidFill>
                <a:schemeClr val="tx1"/>
              </a:solidFill>
              <a:effectLst/>
              <a:latin typeface="Arial" panose="020B0604020202020204" pitchFamily="34" charset="0"/>
            </a:endParaRPr>
          </a:p>
        </p:txBody>
      </p:sp>
      <p:sp>
        <p:nvSpPr>
          <p:cNvPr id="33" name="Rectangle 23">
            <a:extLst>
              <a:ext uri="{FF2B5EF4-FFF2-40B4-BE49-F238E27FC236}">
                <a16:creationId xmlns:a16="http://schemas.microsoft.com/office/drawing/2014/main" id="{DD481FE7-CA2E-D038-5FFF-869C3B4ACBC6}"/>
              </a:ext>
            </a:extLst>
          </p:cNvPr>
          <p:cNvSpPr>
            <a:spLocks noChangeArrowheads="1"/>
          </p:cNvSpPr>
          <p:nvPr/>
        </p:nvSpPr>
        <p:spPr bwMode="auto">
          <a:xfrm>
            <a:off x="1584008" y="5740083"/>
            <a:ext cx="1459117"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403152"/>
                </a:solidFill>
                <a:effectLst/>
                <a:latin typeface="Calibri" panose="020F0502020204030204" pitchFamily="34" charset="0"/>
              </a:rPr>
              <a:t>Football Field Analysis </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34" name="Rectangle 24">
            <a:extLst>
              <a:ext uri="{FF2B5EF4-FFF2-40B4-BE49-F238E27FC236}">
                <a16:creationId xmlns:a16="http://schemas.microsoft.com/office/drawing/2014/main" id="{AFE260DA-BD99-D1A8-363C-0E6173CD671B}"/>
              </a:ext>
            </a:extLst>
          </p:cNvPr>
          <p:cNvSpPr>
            <a:spLocks noChangeArrowheads="1"/>
          </p:cNvSpPr>
          <p:nvPr/>
        </p:nvSpPr>
        <p:spPr bwMode="auto">
          <a:xfrm>
            <a:off x="3038475" y="5745163"/>
            <a:ext cx="1285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403152"/>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 name="Rectangle 25">
            <a:extLst>
              <a:ext uri="{FF2B5EF4-FFF2-40B4-BE49-F238E27FC236}">
                <a16:creationId xmlns:a16="http://schemas.microsoft.com/office/drawing/2014/main" id="{9D2AC260-BE2D-5A9A-23C6-3D2CE8E50783}"/>
              </a:ext>
            </a:extLst>
          </p:cNvPr>
          <p:cNvSpPr>
            <a:spLocks noChangeArrowheads="1"/>
          </p:cNvSpPr>
          <p:nvPr/>
        </p:nvSpPr>
        <p:spPr bwMode="auto">
          <a:xfrm>
            <a:off x="3113088" y="5745163"/>
            <a:ext cx="129086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403152"/>
                </a:solidFill>
                <a:effectLst/>
                <a:latin typeface="Calibri" panose="020F0502020204030204" pitchFamily="34" charset="0"/>
              </a:rPr>
              <a:t>Valuation Summary</a:t>
            </a:r>
            <a:endParaRPr kumimoji="0" lang="en-US" altLang="en-US" sz="1200" b="0" i="0" u="none" strike="noStrike" cap="none" normalizeH="0" baseline="0">
              <a:ln>
                <a:noFill/>
              </a:ln>
              <a:solidFill>
                <a:schemeClr val="tx1"/>
              </a:solidFill>
              <a:effectLst/>
              <a:latin typeface="Arial" panose="020B0604020202020204" pitchFamily="34" charset="0"/>
            </a:endParaRPr>
          </a:p>
        </p:txBody>
      </p:sp>
      <p:sp>
        <p:nvSpPr>
          <p:cNvPr id="4" name="Rectangle 3">
            <a:extLst>
              <a:ext uri="{FF2B5EF4-FFF2-40B4-BE49-F238E27FC236}">
                <a16:creationId xmlns:a16="http://schemas.microsoft.com/office/drawing/2014/main" id="{C5832D8B-4E3B-2782-020B-6AFC5D0FF310}"/>
              </a:ext>
            </a:extLst>
          </p:cNvPr>
          <p:cNvSpPr/>
          <p:nvPr/>
        </p:nvSpPr>
        <p:spPr>
          <a:xfrm>
            <a:off x="98704" y="815933"/>
            <a:ext cx="6027421" cy="360000"/>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ea typeface="Calibri"/>
                <a:cs typeface="Calibri"/>
              </a:rPr>
              <a:t>Valuation Analysis</a:t>
            </a:r>
          </a:p>
        </p:txBody>
      </p:sp>
      <p:sp>
        <p:nvSpPr>
          <p:cNvPr id="36" name="Slide Number Placeholder 6">
            <a:extLst>
              <a:ext uri="{FF2B5EF4-FFF2-40B4-BE49-F238E27FC236}">
                <a16:creationId xmlns:a16="http://schemas.microsoft.com/office/drawing/2014/main" id="{5E31BDDD-49B5-E48F-7F98-22EAC12D5840}"/>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14</a:t>
            </a:fld>
            <a:endParaRPr lang="en-US"/>
          </a:p>
        </p:txBody>
      </p:sp>
    </p:spTree>
    <p:extLst>
      <p:ext uri="{BB962C8B-B14F-4D97-AF65-F5344CB8AC3E}">
        <p14:creationId xmlns:p14="http://schemas.microsoft.com/office/powerpoint/2010/main" val="801658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12C6737-38EA-7E05-0D30-31F8C555C429}"/>
              </a:ext>
            </a:extLst>
          </p:cNvPr>
          <p:cNvSpPr/>
          <p:nvPr/>
        </p:nvSpPr>
        <p:spPr>
          <a:xfrm>
            <a:off x="323530" y="3589646"/>
            <a:ext cx="5607858" cy="499161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A92AB02-DAB4-5692-8E33-989B9F025131}"/>
              </a:ext>
            </a:extLst>
          </p:cNvPr>
          <p:cNvSpPr/>
          <p:nvPr/>
        </p:nvSpPr>
        <p:spPr>
          <a:xfrm>
            <a:off x="755559" y="3794034"/>
            <a:ext cx="4715054" cy="22469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7562ED16-5ECB-99C9-679C-3FF9F0B2B644}"/>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9" name="Picture 8" descr="Adani Renewables - Global Alliance For Sustainable Energy">
            <a:extLst>
              <a:ext uri="{FF2B5EF4-FFF2-40B4-BE49-F238E27FC236}">
                <a16:creationId xmlns:a16="http://schemas.microsoft.com/office/drawing/2014/main" id="{70EF44D0-23D0-8D8A-7765-0AD97C011DBA}"/>
              </a:ext>
            </a:extLst>
          </p:cNvPr>
          <p:cNvPicPr>
            <a:picLocks noChangeAspect="1"/>
          </p:cNvPicPr>
          <p:nvPr/>
        </p:nvPicPr>
        <p:blipFill>
          <a:blip r:embed="rId2"/>
          <a:stretch>
            <a:fillRect/>
          </a:stretch>
        </p:blipFill>
        <p:spPr>
          <a:xfrm>
            <a:off x="5076000" y="0"/>
            <a:ext cx="1311468" cy="662728"/>
          </a:xfrm>
          <a:prstGeom prst="rect">
            <a:avLst/>
          </a:prstGeom>
        </p:spPr>
      </p:pic>
      <p:sp>
        <p:nvSpPr>
          <p:cNvPr id="11" name="Footer Placeholder 3">
            <a:extLst>
              <a:ext uri="{FF2B5EF4-FFF2-40B4-BE49-F238E27FC236}">
                <a16:creationId xmlns:a16="http://schemas.microsoft.com/office/drawing/2014/main" id="{8E62A623-38E7-9772-860D-D0BC334AA36F}"/>
              </a:ext>
            </a:extLst>
          </p:cNvPr>
          <p:cNvSpPr>
            <a:spLocks noGrp="1"/>
          </p:cNvSpPr>
          <p:nvPr>
            <p:ph type="ftr" sz="quarter" idx="11"/>
          </p:nvPr>
        </p:nvSpPr>
        <p:spPr>
          <a:xfrm>
            <a:off x="-7551" y="8832134"/>
            <a:ext cx="6234928" cy="324563"/>
          </a:xfrm>
        </p:spPr>
        <p:txBody>
          <a:bodyPr/>
          <a:lstStyle/>
          <a:p>
            <a:pPr algn="l"/>
            <a:r>
              <a:rPr lang="en-US" sz="800">
                <a:ea typeface="Calibri"/>
                <a:cs typeface="Calibri"/>
              </a:rPr>
              <a:t>Disclaimer: This is only for educational purposes and we are not SEBI registered.</a:t>
            </a:r>
          </a:p>
        </p:txBody>
      </p:sp>
      <p:cxnSp>
        <p:nvCxnSpPr>
          <p:cNvPr id="13" name="Straight Arrow Connector 12">
            <a:extLst>
              <a:ext uri="{FF2B5EF4-FFF2-40B4-BE49-F238E27FC236}">
                <a16:creationId xmlns:a16="http://schemas.microsoft.com/office/drawing/2014/main" id="{9D9873FC-B587-7950-0246-99E91458DA5E}"/>
              </a:ext>
            </a:extLst>
          </p:cNvPr>
          <p:cNvCxnSpPr/>
          <p:nvPr/>
        </p:nvCxnSpPr>
        <p:spPr>
          <a:xfrm flipV="1">
            <a:off x="-5925" y="8787953"/>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graphicFrame>
        <p:nvGraphicFramePr>
          <p:cNvPr id="3" name="Chart 2">
            <a:extLst>
              <a:ext uri="{FF2B5EF4-FFF2-40B4-BE49-F238E27FC236}">
                <a16:creationId xmlns:a16="http://schemas.microsoft.com/office/drawing/2014/main" id="{0CDCB169-1E5E-3EDF-A352-80AD22ABB1B4}"/>
              </a:ext>
            </a:extLst>
          </p:cNvPr>
          <p:cNvGraphicFramePr>
            <a:graphicFrameLocks/>
          </p:cNvGraphicFramePr>
          <p:nvPr>
            <p:extLst>
              <p:ext uri="{D42A27DB-BD31-4B8C-83A1-F6EECF244321}">
                <p14:modId xmlns:p14="http://schemas.microsoft.com/office/powerpoint/2010/main" val="1122493443"/>
              </p:ext>
            </p:extLst>
          </p:nvPr>
        </p:nvGraphicFramePr>
        <p:xfrm>
          <a:off x="752590" y="3824021"/>
          <a:ext cx="4629446" cy="2218178"/>
        </p:xfrm>
        <a:graphic>
          <a:graphicData uri="http://schemas.openxmlformats.org/drawingml/2006/chart">
            <c:chart xmlns:c="http://schemas.openxmlformats.org/drawingml/2006/chart" xmlns:r="http://schemas.openxmlformats.org/officeDocument/2006/relationships" r:id="rId3"/>
          </a:graphicData>
        </a:graphic>
      </p:graphicFrame>
      <p:sp>
        <p:nvSpPr>
          <p:cNvPr id="7" name="Slide Number Placeholder 6">
            <a:extLst>
              <a:ext uri="{FF2B5EF4-FFF2-40B4-BE49-F238E27FC236}">
                <a16:creationId xmlns:a16="http://schemas.microsoft.com/office/drawing/2014/main" id="{833CCAB9-6C94-486E-E0AB-2909B9F4B930}"/>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15</a:t>
            </a:fld>
            <a:endParaRPr lang="en-US"/>
          </a:p>
        </p:txBody>
      </p:sp>
      <p:grpSp>
        <p:nvGrpSpPr>
          <p:cNvPr id="37" name="Group 36">
            <a:extLst>
              <a:ext uri="{FF2B5EF4-FFF2-40B4-BE49-F238E27FC236}">
                <a16:creationId xmlns:a16="http://schemas.microsoft.com/office/drawing/2014/main" id="{5C769EF9-047E-3C02-664D-F0B0F004ABED}"/>
              </a:ext>
            </a:extLst>
          </p:cNvPr>
          <p:cNvGrpSpPr/>
          <p:nvPr/>
        </p:nvGrpSpPr>
        <p:grpSpPr>
          <a:xfrm>
            <a:off x="755650" y="6216650"/>
            <a:ext cx="4714875" cy="2246313"/>
            <a:chOff x="755650" y="6216650"/>
            <a:chExt cx="4714875" cy="2246313"/>
          </a:xfrm>
        </p:grpSpPr>
        <p:sp>
          <p:nvSpPr>
            <p:cNvPr id="15" name="AutoShape 3">
              <a:extLst>
                <a:ext uri="{FF2B5EF4-FFF2-40B4-BE49-F238E27FC236}">
                  <a16:creationId xmlns:a16="http://schemas.microsoft.com/office/drawing/2014/main" id="{83F625B6-C60B-5A30-B4F5-2912496FF79D}"/>
                </a:ext>
              </a:extLst>
            </p:cNvPr>
            <p:cNvSpPr>
              <a:spLocks noChangeAspect="1" noChangeArrowheads="1" noTextEdit="1"/>
            </p:cNvSpPr>
            <p:nvPr/>
          </p:nvSpPr>
          <p:spPr bwMode="auto">
            <a:xfrm>
              <a:off x="755650" y="6216650"/>
              <a:ext cx="4714875"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6" name="Rectangle 5">
              <a:extLst>
                <a:ext uri="{FF2B5EF4-FFF2-40B4-BE49-F238E27FC236}">
                  <a16:creationId xmlns:a16="http://schemas.microsoft.com/office/drawing/2014/main" id="{9DF67952-843F-FE9A-8682-B782678807AD}"/>
                </a:ext>
              </a:extLst>
            </p:cNvPr>
            <p:cNvSpPr>
              <a:spLocks noChangeArrowheads="1"/>
            </p:cNvSpPr>
            <p:nvPr/>
          </p:nvSpPr>
          <p:spPr bwMode="auto">
            <a:xfrm>
              <a:off x="760413" y="6221413"/>
              <a:ext cx="4705350" cy="2238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 name="Freeform 6">
              <a:extLst>
                <a:ext uri="{FF2B5EF4-FFF2-40B4-BE49-F238E27FC236}">
                  <a16:creationId xmlns:a16="http://schemas.microsoft.com/office/drawing/2014/main" id="{B4416AA4-AB15-40CA-49BC-9E00F05BE529}"/>
                </a:ext>
              </a:extLst>
            </p:cNvPr>
            <p:cNvSpPr>
              <a:spLocks noEditPoints="1"/>
            </p:cNvSpPr>
            <p:nvPr/>
          </p:nvSpPr>
          <p:spPr bwMode="auto">
            <a:xfrm>
              <a:off x="2052638" y="6710363"/>
              <a:ext cx="2120900" cy="1389063"/>
            </a:xfrm>
            <a:custGeom>
              <a:avLst/>
              <a:gdLst>
                <a:gd name="T0" fmla="*/ 0 w 1336"/>
                <a:gd name="T1" fmla="*/ 611 h 875"/>
                <a:gd name="T2" fmla="*/ 223 w 1336"/>
                <a:gd name="T3" fmla="*/ 611 h 875"/>
                <a:gd name="T4" fmla="*/ 223 w 1336"/>
                <a:gd name="T5" fmla="*/ 875 h 875"/>
                <a:gd name="T6" fmla="*/ 0 w 1336"/>
                <a:gd name="T7" fmla="*/ 875 h 875"/>
                <a:gd name="T8" fmla="*/ 0 w 1336"/>
                <a:gd name="T9" fmla="*/ 611 h 875"/>
                <a:gd name="T10" fmla="*/ 557 w 1336"/>
                <a:gd name="T11" fmla="*/ 0 h 875"/>
                <a:gd name="T12" fmla="*/ 780 w 1336"/>
                <a:gd name="T13" fmla="*/ 0 h 875"/>
                <a:gd name="T14" fmla="*/ 780 w 1336"/>
                <a:gd name="T15" fmla="*/ 875 h 875"/>
                <a:gd name="T16" fmla="*/ 557 w 1336"/>
                <a:gd name="T17" fmla="*/ 875 h 875"/>
                <a:gd name="T18" fmla="*/ 557 w 1336"/>
                <a:gd name="T19" fmla="*/ 0 h 875"/>
                <a:gd name="T20" fmla="*/ 1114 w 1336"/>
                <a:gd name="T21" fmla="*/ 175 h 875"/>
                <a:gd name="T22" fmla="*/ 1336 w 1336"/>
                <a:gd name="T23" fmla="*/ 175 h 875"/>
                <a:gd name="T24" fmla="*/ 1336 w 1336"/>
                <a:gd name="T25" fmla="*/ 875 h 875"/>
                <a:gd name="T26" fmla="*/ 1114 w 1336"/>
                <a:gd name="T27" fmla="*/ 875 h 875"/>
                <a:gd name="T28" fmla="*/ 1114 w 1336"/>
                <a:gd name="T29" fmla="*/ 175 h 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36" h="875">
                  <a:moveTo>
                    <a:pt x="0" y="611"/>
                  </a:moveTo>
                  <a:lnTo>
                    <a:pt x="223" y="611"/>
                  </a:lnTo>
                  <a:lnTo>
                    <a:pt x="223" y="875"/>
                  </a:lnTo>
                  <a:lnTo>
                    <a:pt x="0" y="875"/>
                  </a:lnTo>
                  <a:lnTo>
                    <a:pt x="0" y="611"/>
                  </a:lnTo>
                  <a:close/>
                  <a:moveTo>
                    <a:pt x="557" y="0"/>
                  </a:moveTo>
                  <a:lnTo>
                    <a:pt x="780" y="0"/>
                  </a:lnTo>
                  <a:lnTo>
                    <a:pt x="780" y="875"/>
                  </a:lnTo>
                  <a:lnTo>
                    <a:pt x="557" y="875"/>
                  </a:lnTo>
                  <a:lnTo>
                    <a:pt x="557" y="0"/>
                  </a:lnTo>
                  <a:close/>
                  <a:moveTo>
                    <a:pt x="1114" y="175"/>
                  </a:moveTo>
                  <a:lnTo>
                    <a:pt x="1336" y="175"/>
                  </a:lnTo>
                  <a:lnTo>
                    <a:pt x="1336" y="875"/>
                  </a:lnTo>
                  <a:lnTo>
                    <a:pt x="1114" y="875"/>
                  </a:lnTo>
                  <a:lnTo>
                    <a:pt x="1114" y="17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8" name="Rectangle 7">
              <a:extLst>
                <a:ext uri="{FF2B5EF4-FFF2-40B4-BE49-F238E27FC236}">
                  <a16:creationId xmlns:a16="http://schemas.microsoft.com/office/drawing/2014/main" id="{2161999B-17D0-949F-6415-727FB8F35A6C}"/>
                </a:ext>
              </a:extLst>
            </p:cNvPr>
            <p:cNvSpPr>
              <a:spLocks noChangeArrowheads="1"/>
            </p:cNvSpPr>
            <p:nvPr/>
          </p:nvSpPr>
          <p:spPr bwMode="auto">
            <a:xfrm>
              <a:off x="1132805" y="7680325"/>
              <a:ext cx="334800" cy="419100"/>
            </a:xfrm>
            <a:prstGeom prst="rect">
              <a:avLst/>
            </a:prstGeom>
            <a:solidFill>
              <a:srgbClr val="187C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9" name="Rectangle 8">
              <a:extLst>
                <a:ext uri="{FF2B5EF4-FFF2-40B4-BE49-F238E27FC236}">
                  <a16:creationId xmlns:a16="http://schemas.microsoft.com/office/drawing/2014/main" id="{7E96D667-6B79-9C3F-1B82-291F53961DB7}"/>
                </a:ext>
              </a:extLst>
            </p:cNvPr>
            <p:cNvSpPr>
              <a:spLocks noChangeArrowheads="1"/>
            </p:cNvSpPr>
            <p:nvPr/>
          </p:nvSpPr>
          <p:spPr bwMode="auto">
            <a:xfrm>
              <a:off x="2003583" y="6698790"/>
              <a:ext cx="333374" cy="969963"/>
            </a:xfrm>
            <a:prstGeom prst="rect">
              <a:avLst/>
            </a:prstGeom>
            <a:solidFill>
              <a:srgbClr val="187C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0" name="Rectangle 9">
              <a:extLst>
                <a:ext uri="{FF2B5EF4-FFF2-40B4-BE49-F238E27FC236}">
                  <a16:creationId xmlns:a16="http://schemas.microsoft.com/office/drawing/2014/main" id="{091DCF8F-6849-04B4-C523-8E16D6B49179}"/>
                </a:ext>
              </a:extLst>
            </p:cNvPr>
            <p:cNvSpPr>
              <a:spLocks noChangeArrowheads="1"/>
            </p:cNvSpPr>
            <p:nvPr/>
          </p:nvSpPr>
          <p:spPr bwMode="auto">
            <a:xfrm>
              <a:off x="2956088" y="6703942"/>
              <a:ext cx="334800" cy="12700"/>
            </a:xfrm>
            <a:prstGeom prst="rect">
              <a:avLst/>
            </a:prstGeom>
            <a:solidFill>
              <a:srgbClr val="187C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1" name="Rectangle 10">
              <a:extLst>
                <a:ext uri="{FF2B5EF4-FFF2-40B4-BE49-F238E27FC236}">
                  <a16:creationId xmlns:a16="http://schemas.microsoft.com/office/drawing/2014/main" id="{A5AF6FFB-6089-456D-3211-68E4DD9D9664}"/>
                </a:ext>
              </a:extLst>
            </p:cNvPr>
            <p:cNvSpPr>
              <a:spLocks noChangeArrowheads="1"/>
            </p:cNvSpPr>
            <p:nvPr/>
          </p:nvSpPr>
          <p:spPr bwMode="auto">
            <a:xfrm>
              <a:off x="3829741" y="6704126"/>
              <a:ext cx="334800" cy="290513"/>
            </a:xfrm>
            <a:prstGeom prst="rect">
              <a:avLst/>
            </a:prstGeom>
            <a:solidFill>
              <a:srgbClr val="C5E0B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2" name="Rectangle 11">
              <a:extLst>
                <a:ext uri="{FF2B5EF4-FFF2-40B4-BE49-F238E27FC236}">
                  <a16:creationId xmlns:a16="http://schemas.microsoft.com/office/drawing/2014/main" id="{989C7B63-982B-B5E1-755D-3B11CA264487}"/>
                </a:ext>
              </a:extLst>
            </p:cNvPr>
            <p:cNvSpPr>
              <a:spLocks noChangeArrowheads="1"/>
            </p:cNvSpPr>
            <p:nvPr/>
          </p:nvSpPr>
          <p:spPr bwMode="auto">
            <a:xfrm>
              <a:off x="4656749" y="6988175"/>
              <a:ext cx="334800" cy="1111250"/>
            </a:xfrm>
            <a:prstGeom prst="rect">
              <a:avLst/>
            </a:prstGeom>
            <a:solidFill>
              <a:srgbClr val="0033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3" name="Rectangle 12">
              <a:extLst>
                <a:ext uri="{FF2B5EF4-FFF2-40B4-BE49-F238E27FC236}">
                  <a16:creationId xmlns:a16="http://schemas.microsoft.com/office/drawing/2014/main" id="{A746C373-1717-D50A-9677-AD6FC969293E}"/>
                </a:ext>
              </a:extLst>
            </p:cNvPr>
            <p:cNvSpPr>
              <a:spLocks noChangeArrowheads="1"/>
            </p:cNvSpPr>
            <p:nvPr/>
          </p:nvSpPr>
          <p:spPr bwMode="auto">
            <a:xfrm>
              <a:off x="1080833" y="7557214"/>
              <a:ext cx="48291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112727.18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 name="Rectangle 13">
              <a:extLst>
                <a:ext uri="{FF2B5EF4-FFF2-40B4-BE49-F238E27FC236}">
                  <a16:creationId xmlns:a16="http://schemas.microsoft.com/office/drawing/2014/main" id="{8D48DAF3-C4FD-3604-2014-A78EB4370BA2}"/>
                </a:ext>
              </a:extLst>
            </p:cNvPr>
            <p:cNvSpPr>
              <a:spLocks noChangeArrowheads="1"/>
            </p:cNvSpPr>
            <p:nvPr/>
          </p:nvSpPr>
          <p:spPr bwMode="auto">
            <a:xfrm>
              <a:off x="1959847" y="6576910"/>
              <a:ext cx="46990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260678.16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14">
              <a:extLst>
                <a:ext uri="{FF2B5EF4-FFF2-40B4-BE49-F238E27FC236}">
                  <a16:creationId xmlns:a16="http://schemas.microsoft.com/office/drawing/2014/main" id="{777ADC7A-DCC4-77D4-C63F-F118EC23A853}"/>
                </a:ext>
              </a:extLst>
            </p:cNvPr>
            <p:cNvSpPr>
              <a:spLocks noChangeArrowheads="1"/>
            </p:cNvSpPr>
            <p:nvPr/>
          </p:nvSpPr>
          <p:spPr bwMode="auto">
            <a:xfrm>
              <a:off x="3031390" y="6591049"/>
              <a:ext cx="188079"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1" i="0" u="none" strike="noStrike" cap="none" normalizeH="0" baseline="0">
                  <a:ln>
                    <a:noFill/>
                  </a:ln>
                  <a:solidFill>
                    <a:srgbClr val="000000"/>
                  </a:solidFill>
                  <a:effectLst/>
                  <a:latin typeface="Calibri" panose="020F0502020204030204" pitchFamily="34" charset="0"/>
                </a:rPr>
                <a:t>3332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Rectangle 15">
              <a:extLst>
                <a:ext uri="{FF2B5EF4-FFF2-40B4-BE49-F238E27FC236}">
                  <a16:creationId xmlns:a16="http://schemas.microsoft.com/office/drawing/2014/main" id="{36DFBD29-E8E8-15C7-A824-430AF0239081}"/>
                </a:ext>
              </a:extLst>
            </p:cNvPr>
            <p:cNvSpPr>
              <a:spLocks noChangeArrowheads="1"/>
            </p:cNvSpPr>
            <p:nvPr/>
          </p:nvSpPr>
          <p:spPr bwMode="auto">
            <a:xfrm>
              <a:off x="3882868" y="6994639"/>
              <a:ext cx="228546"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1" i="0" u="none" strike="noStrike" cap="none" normalizeH="0" baseline="0">
                  <a:ln>
                    <a:noFill/>
                  </a:ln>
                  <a:solidFill>
                    <a:srgbClr val="000000"/>
                  </a:solidFill>
                  <a:effectLst/>
                  <a:latin typeface="Calibri" panose="020F0502020204030204" pitchFamily="34" charset="0"/>
                </a:rPr>
                <a:t>78069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 name="Rectangle 16">
              <a:extLst>
                <a:ext uri="{FF2B5EF4-FFF2-40B4-BE49-F238E27FC236}">
                  <a16:creationId xmlns:a16="http://schemas.microsoft.com/office/drawing/2014/main" id="{C6CFD291-CC1C-F80B-9DCE-0901626C4CD2}"/>
                </a:ext>
              </a:extLst>
            </p:cNvPr>
            <p:cNvSpPr>
              <a:spLocks noChangeArrowheads="1"/>
            </p:cNvSpPr>
            <p:nvPr/>
          </p:nvSpPr>
          <p:spPr bwMode="auto">
            <a:xfrm>
              <a:off x="4605658" y="6871528"/>
              <a:ext cx="46259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298668.34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Rectangle 17">
              <a:extLst>
                <a:ext uri="{FF2B5EF4-FFF2-40B4-BE49-F238E27FC236}">
                  <a16:creationId xmlns:a16="http://schemas.microsoft.com/office/drawing/2014/main" id="{A39D94A3-A490-E80F-46C8-F1C4A063AD42}"/>
                </a:ext>
              </a:extLst>
            </p:cNvPr>
            <p:cNvSpPr>
              <a:spLocks noChangeArrowheads="1"/>
            </p:cNvSpPr>
            <p:nvPr/>
          </p:nvSpPr>
          <p:spPr bwMode="auto">
            <a:xfrm>
              <a:off x="1092200" y="8159750"/>
              <a:ext cx="6096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PV of FCFF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 name="Rectangle 18">
              <a:extLst>
                <a:ext uri="{FF2B5EF4-FFF2-40B4-BE49-F238E27FC236}">
                  <a16:creationId xmlns:a16="http://schemas.microsoft.com/office/drawing/2014/main" id="{C52650CE-CC01-11BB-F141-4FFCD58361A7}"/>
                </a:ext>
              </a:extLst>
            </p:cNvPr>
            <p:cNvSpPr>
              <a:spLocks noChangeArrowheads="1"/>
            </p:cNvSpPr>
            <p:nvPr/>
          </p:nvSpPr>
          <p:spPr bwMode="auto">
            <a:xfrm>
              <a:off x="1879600" y="8159750"/>
              <a:ext cx="81438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PV of terminal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 name="Rectangle 19">
              <a:extLst>
                <a:ext uri="{FF2B5EF4-FFF2-40B4-BE49-F238E27FC236}">
                  <a16:creationId xmlns:a16="http://schemas.microsoft.com/office/drawing/2014/main" id="{12984C1F-7888-FB2A-9E2F-C1AE49825BB8}"/>
                </a:ext>
              </a:extLst>
            </p:cNvPr>
            <p:cNvSpPr>
              <a:spLocks noChangeArrowheads="1"/>
            </p:cNvSpPr>
            <p:nvPr/>
          </p:nvSpPr>
          <p:spPr bwMode="auto">
            <a:xfrm>
              <a:off x="2098675" y="8275638"/>
              <a:ext cx="34766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value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 name="Rectangle 20">
              <a:extLst>
                <a:ext uri="{FF2B5EF4-FFF2-40B4-BE49-F238E27FC236}">
                  <a16:creationId xmlns:a16="http://schemas.microsoft.com/office/drawing/2014/main" id="{D912B16B-A1D9-208E-7063-60F2040A8CDC}"/>
                </a:ext>
              </a:extLst>
            </p:cNvPr>
            <p:cNvSpPr>
              <a:spLocks noChangeArrowheads="1"/>
            </p:cNvSpPr>
            <p:nvPr/>
          </p:nvSpPr>
          <p:spPr bwMode="auto">
            <a:xfrm>
              <a:off x="2998788" y="8159750"/>
              <a:ext cx="3143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Cash</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 name="Rectangle 21">
              <a:extLst>
                <a:ext uri="{FF2B5EF4-FFF2-40B4-BE49-F238E27FC236}">
                  <a16:creationId xmlns:a16="http://schemas.microsoft.com/office/drawing/2014/main" id="{2C7BC52F-DF70-80F6-F467-AFCB1FC03584}"/>
                </a:ext>
              </a:extLst>
            </p:cNvPr>
            <p:cNvSpPr>
              <a:spLocks noChangeArrowheads="1"/>
            </p:cNvSpPr>
            <p:nvPr/>
          </p:nvSpPr>
          <p:spPr bwMode="auto">
            <a:xfrm>
              <a:off x="3878263" y="8159750"/>
              <a:ext cx="3206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Debt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 name="Rectangle 22">
              <a:extLst>
                <a:ext uri="{FF2B5EF4-FFF2-40B4-BE49-F238E27FC236}">
                  <a16:creationId xmlns:a16="http://schemas.microsoft.com/office/drawing/2014/main" id="{31E8F2D2-4BD2-3DB8-7312-AD1FAB8B6F79}"/>
                </a:ext>
              </a:extLst>
            </p:cNvPr>
            <p:cNvSpPr>
              <a:spLocks noChangeArrowheads="1"/>
            </p:cNvSpPr>
            <p:nvPr/>
          </p:nvSpPr>
          <p:spPr bwMode="auto">
            <a:xfrm>
              <a:off x="4573588" y="8159750"/>
              <a:ext cx="7207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000000"/>
                  </a:solidFill>
                  <a:effectLst/>
                  <a:latin typeface="Calibri" panose="020F0502020204030204" pitchFamily="34" charset="0"/>
                </a:rPr>
                <a:t>Equity Value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 name="Rectangle 23">
              <a:extLst>
                <a:ext uri="{FF2B5EF4-FFF2-40B4-BE49-F238E27FC236}">
                  <a16:creationId xmlns:a16="http://schemas.microsoft.com/office/drawing/2014/main" id="{488B5C19-711E-B764-8CC0-7D0EEAF6DDB4}"/>
                </a:ext>
              </a:extLst>
            </p:cNvPr>
            <p:cNvSpPr>
              <a:spLocks noChangeArrowheads="1"/>
            </p:cNvSpPr>
            <p:nvPr/>
          </p:nvSpPr>
          <p:spPr bwMode="auto">
            <a:xfrm>
              <a:off x="2325634" y="6280440"/>
              <a:ext cx="1724025" cy="190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6600"/>
                  </a:solidFill>
                  <a:effectLst/>
                  <a:latin typeface="Calibri" panose="020F0502020204030204" pitchFamily="34" charset="0"/>
                </a:rPr>
                <a:t>Calculation of Equity Value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 name="Rectangle 24">
              <a:extLst>
                <a:ext uri="{FF2B5EF4-FFF2-40B4-BE49-F238E27FC236}">
                  <a16:creationId xmlns:a16="http://schemas.microsoft.com/office/drawing/2014/main" id="{4A8D87B7-3893-2838-5FD2-F603DE6E5AE1}"/>
                </a:ext>
              </a:extLst>
            </p:cNvPr>
            <p:cNvSpPr>
              <a:spLocks noChangeArrowheads="1"/>
            </p:cNvSpPr>
            <p:nvPr/>
          </p:nvSpPr>
          <p:spPr bwMode="auto">
            <a:xfrm>
              <a:off x="760413" y="6221413"/>
              <a:ext cx="4705350" cy="2238375"/>
            </a:xfrm>
            <a:prstGeom prst="rect">
              <a:avLst/>
            </a:prstGeom>
            <a:noFill/>
            <a:ln w="9525" cap="flat">
              <a:no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
        <p:nvSpPr>
          <p:cNvPr id="12" name="Rectangle 11">
            <a:extLst>
              <a:ext uri="{FF2B5EF4-FFF2-40B4-BE49-F238E27FC236}">
                <a16:creationId xmlns:a16="http://schemas.microsoft.com/office/drawing/2014/main" id="{C149B794-9502-CC72-CF37-B25127DA9692}"/>
              </a:ext>
            </a:extLst>
          </p:cNvPr>
          <p:cNvSpPr/>
          <p:nvPr/>
        </p:nvSpPr>
        <p:spPr>
          <a:xfrm>
            <a:off x="98704" y="815934"/>
            <a:ext cx="6027421" cy="339963"/>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a:ea typeface="Calibri"/>
                <a:cs typeface="Calibri"/>
              </a:rPr>
              <a:t>Sensitivity Analysis</a:t>
            </a:r>
          </a:p>
        </p:txBody>
      </p:sp>
      <p:sp>
        <p:nvSpPr>
          <p:cNvPr id="5" name="Rectangle 4">
            <a:extLst>
              <a:ext uri="{FF2B5EF4-FFF2-40B4-BE49-F238E27FC236}">
                <a16:creationId xmlns:a16="http://schemas.microsoft.com/office/drawing/2014/main" id="{31BE3027-6B0A-DFD9-16D9-852F7BEE3D5A}"/>
              </a:ext>
            </a:extLst>
          </p:cNvPr>
          <p:cNvSpPr/>
          <p:nvPr/>
        </p:nvSpPr>
        <p:spPr>
          <a:xfrm>
            <a:off x="441076" y="1458000"/>
            <a:ext cx="5395844" cy="1815250"/>
          </a:xfrm>
          <a:prstGeom prst="rect">
            <a:avLst/>
          </a:prstGeom>
          <a:noFill/>
          <a:ln>
            <a:solidFill>
              <a:srgbClr val="088A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5" name="Group 81">
            <a:extLst>
              <a:ext uri="{FF2B5EF4-FFF2-40B4-BE49-F238E27FC236}">
                <a16:creationId xmlns:a16="http://schemas.microsoft.com/office/drawing/2014/main" id="{F323B816-0BB5-3DD1-D9D2-9B6DB0ED8A58}"/>
              </a:ext>
            </a:extLst>
          </p:cNvPr>
          <p:cNvGrpSpPr>
            <a:grpSpLocks noChangeAspect="1"/>
          </p:cNvGrpSpPr>
          <p:nvPr/>
        </p:nvGrpSpPr>
        <p:grpSpPr bwMode="auto">
          <a:xfrm>
            <a:off x="476250" y="1463675"/>
            <a:ext cx="5360670" cy="1833563"/>
            <a:chOff x="300" y="922"/>
            <a:chExt cx="3354" cy="1155"/>
          </a:xfrm>
        </p:grpSpPr>
        <p:sp>
          <p:nvSpPr>
            <p:cNvPr id="116" name="AutoShape 80">
              <a:extLst>
                <a:ext uri="{FF2B5EF4-FFF2-40B4-BE49-F238E27FC236}">
                  <a16:creationId xmlns:a16="http://schemas.microsoft.com/office/drawing/2014/main" id="{6D8966A5-EB6E-FC78-EA38-4AB1AE9ECFFA}"/>
                </a:ext>
              </a:extLst>
            </p:cNvPr>
            <p:cNvSpPr>
              <a:spLocks noChangeAspect="1" noChangeArrowheads="1" noTextEdit="1"/>
            </p:cNvSpPr>
            <p:nvPr/>
          </p:nvSpPr>
          <p:spPr bwMode="auto">
            <a:xfrm>
              <a:off x="300" y="922"/>
              <a:ext cx="3354" cy="1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7" name="Rectangle 82">
              <a:extLst>
                <a:ext uri="{FF2B5EF4-FFF2-40B4-BE49-F238E27FC236}">
                  <a16:creationId xmlns:a16="http://schemas.microsoft.com/office/drawing/2014/main" id="{71D9EFC2-C3CD-6D38-E70A-F61E8D4AA0B1}"/>
                </a:ext>
              </a:extLst>
            </p:cNvPr>
            <p:cNvSpPr>
              <a:spLocks noChangeArrowheads="1"/>
            </p:cNvSpPr>
            <p:nvPr/>
          </p:nvSpPr>
          <p:spPr bwMode="auto">
            <a:xfrm>
              <a:off x="300" y="927"/>
              <a:ext cx="3340" cy="193"/>
            </a:xfrm>
            <a:prstGeom prst="rect">
              <a:avLst/>
            </a:prstGeom>
            <a:solidFill>
              <a:srgbClr val="187C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8" name="Rectangle 83">
              <a:extLst>
                <a:ext uri="{FF2B5EF4-FFF2-40B4-BE49-F238E27FC236}">
                  <a16:creationId xmlns:a16="http://schemas.microsoft.com/office/drawing/2014/main" id="{2BECD4C6-D838-D40A-FDC0-90EB51446014}"/>
                </a:ext>
              </a:extLst>
            </p:cNvPr>
            <p:cNvSpPr>
              <a:spLocks noChangeArrowheads="1"/>
            </p:cNvSpPr>
            <p:nvPr/>
          </p:nvSpPr>
          <p:spPr bwMode="auto">
            <a:xfrm>
              <a:off x="305" y="1120"/>
              <a:ext cx="668"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9" name="Rectangle 84">
              <a:extLst>
                <a:ext uri="{FF2B5EF4-FFF2-40B4-BE49-F238E27FC236}">
                  <a16:creationId xmlns:a16="http://schemas.microsoft.com/office/drawing/2014/main" id="{C27BA592-350C-5404-FF13-66AEAFA96BA5}"/>
                </a:ext>
              </a:extLst>
            </p:cNvPr>
            <p:cNvSpPr>
              <a:spLocks noChangeArrowheads="1"/>
            </p:cNvSpPr>
            <p:nvPr/>
          </p:nvSpPr>
          <p:spPr bwMode="auto">
            <a:xfrm>
              <a:off x="973" y="1120"/>
              <a:ext cx="668"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20" name="Rectangle 85">
              <a:extLst>
                <a:ext uri="{FF2B5EF4-FFF2-40B4-BE49-F238E27FC236}">
                  <a16:creationId xmlns:a16="http://schemas.microsoft.com/office/drawing/2014/main" id="{D7DF95EB-4A12-48D1-7E9C-9D01C44C0650}"/>
                </a:ext>
              </a:extLst>
            </p:cNvPr>
            <p:cNvSpPr>
              <a:spLocks noChangeArrowheads="1"/>
            </p:cNvSpPr>
            <p:nvPr/>
          </p:nvSpPr>
          <p:spPr bwMode="auto">
            <a:xfrm>
              <a:off x="1641" y="1120"/>
              <a:ext cx="669"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21" name="Rectangle 86">
              <a:extLst>
                <a:ext uri="{FF2B5EF4-FFF2-40B4-BE49-F238E27FC236}">
                  <a16:creationId xmlns:a16="http://schemas.microsoft.com/office/drawing/2014/main" id="{752975E1-C5EC-38B3-4FE7-2BD640722F07}"/>
                </a:ext>
              </a:extLst>
            </p:cNvPr>
            <p:cNvSpPr>
              <a:spLocks noChangeArrowheads="1"/>
            </p:cNvSpPr>
            <p:nvPr/>
          </p:nvSpPr>
          <p:spPr bwMode="auto">
            <a:xfrm>
              <a:off x="2310" y="1120"/>
              <a:ext cx="668"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22" name="Rectangle 87">
              <a:extLst>
                <a:ext uri="{FF2B5EF4-FFF2-40B4-BE49-F238E27FC236}">
                  <a16:creationId xmlns:a16="http://schemas.microsoft.com/office/drawing/2014/main" id="{6F17E133-C5B3-2447-2176-869E2244AA82}"/>
                </a:ext>
              </a:extLst>
            </p:cNvPr>
            <p:cNvSpPr>
              <a:spLocks noChangeArrowheads="1"/>
            </p:cNvSpPr>
            <p:nvPr/>
          </p:nvSpPr>
          <p:spPr bwMode="auto">
            <a:xfrm>
              <a:off x="2978" y="1120"/>
              <a:ext cx="668"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23" name="Rectangle 88">
              <a:extLst>
                <a:ext uri="{FF2B5EF4-FFF2-40B4-BE49-F238E27FC236}">
                  <a16:creationId xmlns:a16="http://schemas.microsoft.com/office/drawing/2014/main" id="{771C1899-17BE-9B49-DE00-E96D9F5A528C}"/>
                </a:ext>
              </a:extLst>
            </p:cNvPr>
            <p:cNvSpPr>
              <a:spLocks noChangeArrowheads="1"/>
            </p:cNvSpPr>
            <p:nvPr/>
          </p:nvSpPr>
          <p:spPr bwMode="auto">
            <a:xfrm>
              <a:off x="305" y="1274"/>
              <a:ext cx="668"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24" name="Rectangle 89">
              <a:extLst>
                <a:ext uri="{FF2B5EF4-FFF2-40B4-BE49-F238E27FC236}">
                  <a16:creationId xmlns:a16="http://schemas.microsoft.com/office/drawing/2014/main" id="{5DDE8843-85BA-C668-8CF6-B87EE7CECF31}"/>
                </a:ext>
              </a:extLst>
            </p:cNvPr>
            <p:cNvSpPr>
              <a:spLocks noChangeArrowheads="1"/>
            </p:cNvSpPr>
            <p:nvPr/>
          </p:nvSpPr>
          <p:spPr bwMode="auto">
            <a:xfrm>
              <a:off x="973" y="1274"/>
              <a:ext cx="668"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25" name="Rectangle 90">
              <a:extLst>
                <a:ext uri="{FF2B5EF4-FFF2-40B4-BE49-F238E27FC236}">
                  <a16:creationId xmlns:a16="http://schemas.microsoft.com/office/drawing/2014/main" id="{5E1A3E2F-850A-8A37-F773-F4B09548649A}"/>
                </a:ext>
              </a:extLst>
            </p:cNvPr>
            <p:cNvSpPr>
              <a:spLocks noChangeArrowheads="1"/>
            </p:cNvSpPr>
            <p:nvPr/>
          </p:nvSpPr>
          <p:spPr bwMode="auto">
            <a:xfrm>
              <a:off x="1641" y="1274"/>
              <a:ext cx="669"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26" name="Rectangle 91">
              <a:extLst>
                <a:ext uri="{FF2B5EF4-FFF2-40B4-BE49-F238E27FC236}">
                  <a16:creationId xmlns:a16="http://schemas.microsoft.com/office/drawing/2014/main" id="{84431824-7E09-E469-2115-6CDC64074AC1}"/>
                </a:ext>
              </a:extLst>
            </p:cNvPr>
            <p:cNvSpPr>
              <a:spLocks noChangeArrowheads="1"/>
            </p:cNvSpPr>
            <p:nvPr/>
          </p:nvSpPr>
          <p:spPr bwMode="auto">
            <a:xfrm>
              <a:off x="2310" y="1274"/>
              <a:ext cx="668"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27" name="Rectangle 92">
              <a:extLst>
                <a:ext uri="{FF2B5EF4-FFF2-40B4-BE49-F238E27FC236}">
                  <a16:creationId xmlns:a16="http://schemas.microsoft.com/office/drawing/2014/main" id="{B95EE725-DC8C-4B1C-D5C8-150627C35E02}"/>
                </a:ext>
              </a:extLst>
            </p:cNvPr>
            <p:cNvSpPr>
              <a:spLocks noChangeArrowheads="1"/>
            </p:cNvSpPr>
            <p:nvPr/>
          </p:nvSpPr>
          <p:spPr bwMode="auto">
            <a:xfrm>
              <a:off x="2978" y="1274"/>
              <a:ext cx="668"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28" name="Rectangle 93">
              <a:extLst>
                <a:ext uri="{FF2B5EF4-FFF2-40B4-BE49-F238E27FC236}">
                  <a16:creationId xmlns:a16="http://schemas.microsoft.com/office/drawing/2014/main" id="{F4BCA135-B114-1D50-7F29-B24580A415F5}"/>
                </a:ext>
              </a:extLst>
            </p:cNvPr>
            <p:cNvSpPr>
              <a:spLocks noChangeArrowheads="1"/>
            </p:cNvSpPr>
            <p:nvPr/>
          </p:nvSpPr>
          <p:spPr bwMode="auto">
            <a:xfrm>
              <a:off x="305" y="1428"/>
              <a:ext cx="668"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29" name="Rectangle 94">
              <a:extLst>
                <a:ext uri="{FF2B5EF4-FFF2-40B4-BE49-F238E27FC236}">
                  <a16:creationId xmlns:a16="http://schemas.microsoft.com/office/drawing/2014/main" id="{E3EDD3E2-C898-EB3B-E1EB-1DC1AC2D859A}"/>
                </a:ext>
              </a:extLst>
            </p:cNvPr>
            <p:cNvSpPr>
              <a:spLocks noChangeArrowheads="1"/>
            </p:cNvSpPr>
            <p:nvPr/>
          </p:nvSpPr>
          <p:spPr bwMode="auto">
            <a:xfrm>
              <a:off x="973" y="1428"/>
              <a:ext cx="668"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30" name="Rectangle 95">
              <a:extLst>
                <a:ext uri="{FF2B5EF4-FFF2-40B4-BE49-F238E27FC236}">
                  <a16:creationId xmlns:a16="http://schemas.microsoft.com/office/drawing/2014/main" id="{ECBFFC01-E4EF-9D43-14C0-30CFA002BB4B}"/>
                </a:ext>
              </a:extLst>
            </p:cNvPr>
            <p:cNvSpPr>
              <a:spLocks noChangeArrowheads="1"/>
            </p:cNvSpPr>
            <p:nvPr/>
          </p:nvSpPr>
          <p:spPr bwMode="auto">
            <a:xfrm>
              <a:off x="1641" y="1428"/>
              <a:ext cx="669"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31" name="Rectangle 96">
              <a:extLst>
                <a:ext uri="{FF2B5EF4-FFF2-40B4-BE49-F238E27FC236}">
                  <a16:creationId xmlns:a16="http://schemas.microsoft.com/office/drawing/2014/main" id="{FB8C94CE-66D3-7220-1A8E-37D28922FEEA}"/>
                </a:ext>
              </a:extLst>
            </p:cNvPr>
            <p:cNvSpPr>
              <a:spLocks noChangeArrowheads="1"/>
            </p:cNvSpPr>
            <p:nvPr/>
          </p:nvSpPr>
          <p:spPr bwMode="auto">
            <a:xfrm>
              <a:off x="2310" y="1428"/>
              <a:ext cx="668"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32" name="Rectangle 97">
              <a:extLst>
                <a:ext uri="{FF2B5EF4-FFF2-40B4-BE49-F238E27FC236}">
                  <a16:creationId xmlns:a16="http://schemas.microsoft.com/office/drawing/2014/main" id="{5A863434-2295-B982-468F-1A2A5F0D9DFA}"/>
                </a:ext>
              </a:extLst>
            </p:cNvPr>
            <p:cNvSpPr>
              <a:spLocks noChangeArrowheads="1"/>
            </p:cNvSpPr>
            <p:nvPr/>
          </p:nvSpPr>
          <p:spPr bwMode="auto">
            <a:xfrm>
              <a:off x="2978" y="1428"/>
              <a:ext cx="668"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33" name="Rectangle 98">
              <a:extLst>
                <a:ext uri="{FF2B5EF4-FFF2-40B4-BE49-F238E27FC236}">
                  <a16:creationId xmlns:a16="http://schemas.microsoft.com/office/drawing/2014/main" id="{AE61F87C-C6CA-F311-21D3-739FBDEE7EC9}"/>
                </a:ext>
              </a:extLst>
            </p:cNvPr>
            <p:cNvSpPr>
              <a:spLocks noChangeArrowheads="1"/>
            </p:cNvSpPr>
            <p:nvPr/>
          </p:nvSpPr>
          <p:spPr bwMode="auto">
            <a:xfrm>
              <a:off x="305" y="1582"/>
              <a:ext cx="668"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34" name="Rectangle 99">
              <a:extLst>
                <a:ext uri="{FF2B5EF4-FFF2-40B4-BE49-F238E27FC236}">
                  <a16:creationId xmlns:a16="http://schemas.microsoft.com/office/drawing/2014/main" id="{4D95BD79-9E1A-6D02-B092-3C4188005294}"/>
                </a:ext>
              </a:extLst>
            </p:cNvPr>
            <p:cNvSpPr>
              <a:spLocks noChangeArrowheads="1"/>
            </p:cNvSpPr>
            <p:nvPr/>
          </p:nvSpPr>
          <p:spPr bwMode="auto">
            <a:xfrm>
              <a:off x="973" y="1582"/>
              <a:ext cx="668"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35" name="Rectangle 100">
              <a:extLst>
                <a:ext uri="{FF2B5EF4-FFF2-40B4-BE49-F238E27FC236}">
                  <a16:creationId xmlns:a16="http://schemas.microsoft.com/office/drawing/2014/main" id="{0BD1ED8C-2DEC-245F-D6E1-3F40C141DC1D}"/>
                </a:ext>
              </a:extLst>
            </p:cNvPr>
            <p:cNvSpPr>
              <a:spLocks noChangeArrowheads="1"/>
            </p:cNvSpPr>
            <p:nvPr/>
          </p:nvSpPr>
          <p:spPr bwMode="auto">
            <a:xfrm>
              <a:off x="1641" y="1582"/>
              <a:ext cx="669"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36" name="Rectangle 101">
              <a:extLst>
                <a:ext uri="{FF2B5EF4-FFF2-40B4-BE49-F238E27FC236}">
                  <a16:creationId xmlns:a16="http://schemas.microsoft.com/office/drawing/2014/main" id="{4486B649-9271-9459-9CC6-6B831E40F7B9}"/>
                </a:ext>
              </a:extLst>
            </p:cNvPr>
            <p:cNvSpPr>
              <a:spLocks noChangeArrowheads="1"/>
            </p:cNvSpPr>
            <p:nvPr/>
          </p:nvSpPr>
          <p:spPr bwMode="auto">
            <a:xfrm>
              <a:off x="2310" y="1582"/>
              <a:ext cx="668" cy="154"/>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37" name="Rectangle 102">
              <a:extLst>
                <a:ext uri="{FF2B5EF4-FFF2-40B4-BE49-F238E27FC236}">
                  <a16:creationId xmlns:a16="http://schemas.microsoft.com/office/drawing/2014/main" id="{47E55F04-862D-0193-E9A3-5579213AB673}"/>
                </a:ext>
              </a:extLst>
            </p:cNvPr>
            <p:cNvSpPr>
              <a:spLocks noChangeArrowheads="1"/>
            </p:cNvSpPr>
            <p:nvPr/>
          </p:nvSpPr>
          <p:spPr bwMode="auto">
            <a:xfrm>
              <a:off x="2978" y="1582"/>
              <a:ext cx="668"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38" name="Rectangle 103">
              <a:extLst>
                <a:ext uri="{FF2B5EF4-FFF2-40B4-BE49-F238E27FC236}">
                  <a16:creationId xmlns:a16="http://schemas.microsoft.com/office/drawing/2014/main" id="{BF3BE572-98AC-DC4A-3841-7E572BA599FE}"/>
                </a:ext>
              </a:extLst>
            </p:cNvPr>
            <p:cNvSpPr>
              <a:spLocks noChangeArrowheads="1"/>
            </p:cNvSpPr>
            <p:nvPr/>
          </p:nvSpPr>
          <p:spPr bwMode="auto">
            <a:xfrm>
              <a:off x="305" y="1736"/>
              <a:ext cx="668" cy="1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39" name="Rectangle 104">
              <a:extLst>
                <a:ext uri="{FF2B5EF4-FFF2-40B4-BE49-F238E27FC236}">
                  <a16:creationId xmlns:a16="http://schemas.microsoft.com/office/drawing/2014/main" id="{18698B2A-8B99-97DE-AAC9-5D469EB0D0AA}"/>
                </a:ext>
              </a:extLst>
            </p:cNvPr>
            <p:cNvSpPr>
              <a:spLocks noChangeArrowheads="1"/>
            </p:cNvSpPr>
            <p:nvPr/>
          </p:nvSpPr>
          <p:spPr bwMode="auto">
            <a:xfrm>
              <a:off x="973" y="1736"/>
              <a:ext cx="668" cy="1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40" name="Rectangle 105">
              <a:extLst>
                <a:ext uri="{FF2B5EF4-FFF2-40B4-BE49-F238E27FC236}">
                  <a16:creationId xmlns:a16="http://schemas.microsoft.com/office/drawing/2014/main" id="{FFA41B4C-388F-1DB3-6CBA-2E333D720768}"/>
                </a:ext>
              </a:extLst>
            </p:cNvPr>
            <p:cNvSpPr>
              <a:spLocks noChangeArrowheads="1"/>
            </p:cNvSpPr>
            <p:nvPr/>
          </p:nvSpPr>
          <p:spPr bwMode="auto">
            <a:xfrm>
              <a:off x="1641" y="1736"/>
              <a:ext cx="669" cy="1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41" name="Rectangle 106">
              <a:extLst>
                <a:ext uri="{FF2B5EF4-FFF2-40B4-BE49-F238E27FC236}">
                  <a16:creationId xmlns:a16="http://schemas.microsoft.com/office/drawing/2014/main" id="{F8A6CD57-31AB-4D7F-23FD-6B13E04E558E}"/>
                </a:ext>
              </a:extLst>
            </p:cNvPr>
            <p:cNvSpPr>
              <a:spLocks noChangeArrowheads="1"/>
            </p:cNvSpPr>
            <p:nvPr/>
          </p:nvSpPr>
          <p:spPr bwMode="auto">
            <a:xfrm>
              <a:off x="2310" y="1736"/>
              <a:ext cx="668" cy="1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42" name="Rectangle 107">
              <a:extLst>
                <a:ext uri="{FF2B5EF4-FFF2-40B4-BE49-F238E27FC236}">
                  <a16:creationId xmlns:a16="http://schemas.microsoft.com/office/drawing/2014/main" id="{76CACC43-309A-F03B-823A-7EC85D13004C}"/>
                </a:ext>
              </a:extLst>
            </p:cNvPr>
            <p:cNvSpPr>
              <a:spLocks noChangeArrowheads="1"/>
            </p:cNvSpPr>
            <p:nvPr/>
          </p:nvSpPr>
          <p:spPr bwMode="auto">
            <a:xfrm>
              <a:off x="2978" y="1736"/>
              <a:ext cx="668" cy="1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43" name="Rectangle 108">
              <a:extLst>
                <a:ext uri="{FF2B5EF4-FFF2-40B4-BE49-F238E27FC236}">
                  <a16:creationId xmlns:a16="http://schemas.microsoft.com/office/drawing/2014/main" id="{F1DD5AF9-7451-8E33-32F6-90A87A923F58}"/>
                </a:ext>
              </a:extLst>
            </p:cNvPr>
            <p:cNvSpPr>
              <a:spLocks noChangeArrowheads="1"/>
            </p:cNvSpPr>
            <p:nvPr/>
          </p:nvSpPr>
          <p:spPr bwMode="auto">
            <a:xfrm>
              <a:off x="305" y="1891"/>
              <a:ext cx="668"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44" name="Rectangle 109">
              <a:extLst>
                <a:ext uri="{FF2B5EF4-FFF2-40B4-BE49-F238E27FC236}">
                  <a16:creationId xmlns:a16="http://schemas.microsoft.com/office/drawing/2014/main" id="{22E86C94-438B-4BED-6AE4-A85DB12B58E7}"/>
                </a:ext>
              </a:extLst>
            </p:cNvPr>
            <p:cNvSpPr>
              <a:spLocks noChangeArrowheads="1"/>
            </p:cNvSpPr>
            <p:nvPr/>
          </p:nvSpPr>
          <p:spPr bwMode="auto">
            <a:xfrm>
              <a:off x="973" y="1891"/>
              <a:ext cx="668"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45" name="Rectangle 110">
              <a:extLst>
                <a:ext uri="{FF2B5EF4-FFF2-40B4-BE49-F238E27FC236}">
                  <a16:creationId xmlns:a16="http://schemas.microsoft.com/office/drawing/2014/main" id="{8E7DCA8C-2AD6-FB77-EDE8-BF77DD811753}"/>
                </a:ext>
              </a:extLst>
            </p:cNvPr>
            <p:cNvSpPr>
              <a:spLocks noChangeArrowheads="1"/>
            </p:cNvSpPr>
            <p:nvPr/>
          </p:nvSpPr>
          <p:spPr bwMode="auto">
            <a:xfrm>
              <a:off x="1641" y="1891"/>
              <a:ext cx="669"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46" name="Rectangle 111">
              <a:extLst>
                <a:ext uri="{FF2B5EF4-FFF2-40B4-BE49-F238E27FC236}">
                  <a16:creationId xmlns:a16="http://schemas.microsoft.com/office/drawing/2014/main" id="{49ED73DE-FEDE-4BFD-C027-D18752859103}"/>
                </a:ext>
              </a:extLst>
            </p:cNvPr>
            <p:cNvSpPr>
              <a:spLocks noChangeArrowheads="1"/>
            </p:cNvSpPr>
            <p:nvPr/>
          </p:nvSpPr>
          <p:spPr bwMode="auto">
            <a:xfrm>
              <a:off x="2310" y="1891"/>
              <a:ext cx="668"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47" name="Rectangle 112">
              <a:extLst>
                <a:ext uri="{FF2B5EF4-FFF2-40B4-BE49-F238E27FC236}">
                  <a16:creationId xmlns:a16="http://schemas.microsoft.com/office/drawing/2014/main" id="{CFF9CCCF-145C-1D5E-5E80-420A5CA991BA}"/>
                </a:ext>
              </a:extLst>
            </p:cNvPr>
            <p:cNvSpPr>
              <a:spLocks noChangeArrowheads="1"/>
            </p:cNvSpPr>
            <p:nvPr/>
          </p:nvSpPr>
          <p:spPr bwMode="auto">
            <a:xfrm>
              <a:off x="2978" y="1891"/>
              <a:ext cx="668" cy="1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48" name="Line 113">
              <a:extLst>
                <a:ext uri="{FF2B5EF4-FFF2-40B4-BE49-F238E27FC236}">
                  <a16:creationId xmlns:a16="http://schemas.microsoft.com/office/drawing/2014/main" id="{F9BFE061-BE18-38E9-4B36-FC3494D192A7}"/>
                </a:ext>
              </a:extLst>
            </p:cNvPr>
            <p:cNvSpPr>
              <a:spLocks noChangeShapeType="1"/>
            </p:cNvSpPr>
            <p:nvPr/>
          </p:nvSpPr>
          <p:spPr bwMode="auto">
            <a:xfrm>
              <a:off x="973" y="1116"/>
              <a:ext cx="0" cy="933"/>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9" name="Line 114">
              <a:extLst>
                <a:ext uri="{FF2B5EF4-FFF2-40B4-BE49-F238E27FC236}">
                  <a16:creationId xmlns:a16="http://schemas.microsoft.com/office/drawing/2014/main" id="{737628C8-E9C2-048B-5467-BD48C6DC39B6}"/>
                </a:ext>
              </a:extLst>
            </p:cNvPr>
            <p:cNvSpPr>
              <a:spLocks noChangeShapeType="1"/>
            </p:cNvSpPr>
            <p:nvPr/>
          </p:nvSpPr>
          <p:spPr bwMode="auto">
            <a:xfrm>
              <a:off x="1641" y="1116"/>
              <a:ext cx="0" cy="933"/>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0" name="Line 115">
              <a:extLst>
                <a:ext uri="{FF2B5EF4-FFF2-40B4-BE49-F238E27FC236}">
                  <a16:creationId xmlns:a16="http://schemas.microsoft.com/office/drawing/2014/main" id="{31D1B06D-0F75-4A96-9502-FF1624E43BD4}"/>
                </a:ext>
              </a:extLst>
            </p:cNvPr>
            <p:cNvSpPr>
              <a:spLocks noChangeShapeType="1"/>
            </p:cNvSpPr>
            <p:nvPr/>
          </p:nvSpPr>
          <p:spPr bwMode="auto">
            <a:xfrm>
              <a:off x="2310" y="1116"/>
              <a:ext cx="0" cy="933"/>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1" name="Line 116">
              <a:extLst>
                <a:ext uri="{FF2B5EF4-FFF2-40B4-BE49-F238E27FC236}">
                  <a16:creationId xmlns:a16="http://schemas.microsoft.com/office/drawing/2014/main" id="{4B2A2CC7-3AC7-4B5D-87A6-85EBD84B8C7E}"/>
                </a:ext>
              </a:extLst>
            </p:cNvPr>
            <p:cNvSpPr>
              <a:spLocks noChangeShapeType="1"/>
            </p:cNvSpPr>
            <p:nvPr/>
          </p:nvSpPr>
          <p:spPr bwMode="auto">
            <a:xfrm>
              <a:off x="2978" y="1116"/>
              <a:ext cx="0" cy="933"/>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2" name="Line 117">
              <a:extLst>
                <a:ext uri="{FF2B5EF4-FFF2-40B4-BE49-F238E27FC236}">
                  <a16:creationId xmlns:a16="http://schemas.microsoft.com/office/drawing/2014/main" id="{78D6A83C-7D22-EE1A-18A1-AF3146709298}"/>
                </a:ext>
              </a:extLst>
            </p:cNvPr>
            <p:cNvSpPr>
              <a:spLocks noChangeShapeType="1"/>
            </p:cNvSpPr>
            <p:nvPr/>
          </p:nvSpPr>
          <p:spPr bwMode="auto">
            <a:xfrm>
              <a:off x="301" y="1120"/>
              <a:ext cx="3349"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3" name="Line 118">
              <a:extLst>
                <a:ext uri="{FF2B5EF4-FFF2-40B4-BE49-F238E27FC236}">
                  <a16:creationId xmlns:a16="http://schemas.microsoft.com/office/drawing/2014/main" id="{D5D4F6D4-D163-1374-C9A1-86D96A2D2F03}"/>
                </a:ext>
              </a:extLst>
            </p:cNvPr>
            <p:cNvSpPr>
              <a:spLocks noChangeShapeType="1"/>
            </p:cNvSpPr>
            <p:nvPr/>
          </p:nvSpPr>
          <p:spPr bwMode="auto">
            <a:xfrm>
              <a:off x="301" y="1274"/>
              <a:ext cx="3349"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4" name="Line 119">
              <a:extLst>
                <a:ext uri="{FF2B5EF4-FFF2-40B4-BE49-F238E27FC236}">
                  <a16:creationId xmlns:a16="http://schemas.microsoft.com/office/drawing/2014/main" id="{3431F51A-026D-CD43-0409-2B75BE5F08A8}"/>
                </a:ext>
              </a:extLst>
            </p:cNvPr>
            <p:cNvSpPr>
              <a:spLocks noChangeShapeType="1"/>
            </p:cNvSpPr>
            <p:nvPr/>
          </p:nvSpPr>
          <p:spPr bwMode="auto">
            <a:xfrm>
              <a:off x="301" y="1428"/>
              <a:ext cx="3349"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5" name="Line 120">
              <a:extLst>
                <a:ext uri="{FF2B5EF4-FFF2-40B4-BE49-F238E27FC236}">
                  <a16:creationId xmlns:a16="http://schemas.microsoft.com/office/drawing/2014/main" id="{4C50CA81-9441-2DD2-E850-6F682F91E1C8}"/>
                </a:ext>
              </a:extLst>
            </p:cNvPr>
            <p:cNvSpPr>
              <a:spLocks noChangeShapeType="1"/>
            </p:cNvSpPr>
            <p:nvPr/>
          </p:nvSpPr>
          <p:spPr bwMode="auto">
            <a:xfrm>
              <a:off x="301" y="1582"/>
              <a:ext cx="3349"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6" name="Line 121">
              <a:extLst>
                <a:ext uri="{FF2B5EF4-FFF2-40B4-BE49-F238E27FC236}">
                  <a16:creationId xmlns:a16="http://schemas.microsoft.com/office/drawing/2014/main" id="{D320EB57-71DF-D166-F029-C7C690022997}"/>
                </a:ext>
              </a:extLst>
            </p:cNvPr>
            <p:cNvSpPr>
              <a:spLocks noChangeShapeType="1"/>
            </p:cNvSpPr>
            <p:nvPr/>
          </p:nvSpPr>
          <p:spPr bwMode="auto">
            <a:xfrm>
              <a:off x="301" y="1736"/>
              <a:ext cx="3349"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7" name="Line 122">
              <a:extLst>
                <a:ext uri="{FF2B5EF4-FFF2-40B4-BE49-F238E27FC236}">
                  <a16:creationId xmlns:a16="http://schemas.microsoft.com/office/drawing/2014/main" id="{2857C19A-7788-B2C8-F986-9D37C8AD607D}"/>
                </a:ext>
              </a:extLst>
            </p:cNvPr>
            <p:cNvSpPr>
              <a:spLocks noChangeShapeType="1"/>
            </p:cNvSpPr>
            <p:nvPr/>
          </p:nvSpPr>
          <p:spPr bwMode="auto">
            <a:xfrm>
              <a:off x="301" y="1891"/>
              <a:ext cx="3349"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8" name="Line 123">
              <a:extLst>
                <a:ext uri="{FF2B5EF4-FFF2-40B4-BE49-F238E27FC236}">
                  <a16:creationId xmlns:a16="http://schemas.microsoft.com/office/drawing/2014/main" id="{677E2E92-DB5E-A221-5BC4-E45EC26EEDED}"/>
                </a:ext>
              </a:extLst>
            </p:cNvPr>
            <p:cNvSpPr>
              <a:spLocks noChangeShapeType="1"/>
            </p:cNvSpPr>
            <p:nvPr/>
          </p:nvSpPr>
          <p:spPr bwMode="auto">
            <a:xfrm>
              <a:off x="305" y="923"/>
              <a:ext cx="0" cy="1126"/>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9" name="Line 124">
              <a:extLst>
                <a:ext uri="{FF2B5EF4-FFF2-40B4-BE49-F238E27FC236}">
                  <a16:creationId xmlns:a16="http://schemas.microsoft.com/office/drawing/2014/main" id="{96FD4751-B376-9E94-1ADB-452CA4285042}"/>
                </a:ext>
              </a:extLst>
            </p:cNvPr>
            <p:cNvSpPr>
              <a:spLocks noChangeShapeType="1"/>
            </p:cNvSpPr>
            <p:nvPr/>
          </p:nvSpPr>
          <p:spPr bwMode="auto">
            <a:xfrm>
              <a:off x="3646" y="923"/>
              <a:ext cx="0" cy="1126"/>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IN" dirty="0"/>
                <a:t> </a:t>
              </a:r>
            </a:p>
          </p:txBody>
        </p:sp>
        <p:sp>
          <p:nvSpPr>
            <p:cNvPr id="160" name="Line 125">
              <a:extLst>
                <a:ext uri="{FF2B5EF4-FFF2-40B4-BE49-F238E27FC236}">
                  <a16:creationId xmlns:a16="http://schemas.microsoft.com/office/drawing/2014/main" id="{D069C439-99CC-75B6-2C8E-16E70B781C79}"/>
                </a:ext>
              </a:extLst>
            </p:cNvPr>
            <p:cNvSpPr>
              <a:spLocks noChangeShapeType="1"/>
            </p:cNvSpPr>
            <p:nvPr/>
          </p:nvSpPr>
          <p:spPr bwMode="auto">
            <a:xfrm>
              <a:off x="301" y="927"/>
              <a:ext cx="3349"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61" name="Line 126">
              <a:extLst>
                <a:ext uri="{FF2B5EF4-FFF2-40B4-BE49-F238E27FC236}">
                  <a16:creationId xmlns:a16="http://schemas.microsoft.com/office/drawing/2014/main" id="{B74E3D55-54F0-8569-E076-64B904E6508A}"/>
                </a:ext>
              </a:extLst>
            </p:cNvPr>
            <p:cNvSpPr>
              <a:spLocks noChangeShapeType="1"/>
            </p:cNvSpPr>
            <p:nvPr/>
          </p:nvSpPr>
          <p:spPr bwMode="auto">
            <a:xfrm>
              <a:off x="301" y="2045"/>
              <a:ext cx="3349"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62" name="Rectangle 127">
              <a:extLst>
                <a:ext uri="{FF2B5EF4-FFF2-40B4-BE49-F238E27FC236}">
                  <a16:creationId xmlns:a16="http://schemas.microsoft.com/office/drawing/2014/main" id="{4D1C881E-E393-1F00-06AF-62429D5BFC98}"/>
                </a:ext>
              </a:extLst>
            </p:cNvPr>
            <p:cNvSpPr>
              <a:spLocks noChangeArrowheads="1"/>
            </p:cNvSpPr>
            <p:nvPr/>
          </p:nvSpPr>
          <p:spPr bwMode="auto">
            <a:xfrm>
              <a:off x="1531" y="959"/>
              <a:ext cx="951"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a:ln>
                    <a:noFill/>
                  </a:ln>
                  <a:solidFill>
                    <a:srgbClr val="FFFFFF"/>
                  </a:solidFill>
                  <a:effectLst/>
                  <a:latin typeface="Calibri" panose="020F0502020204030204" pitchFamily="34" charset="0"/>
                </a:rPr>
                <a:t>Sensitivity Analysis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3" name="Rectangle 128">
              <a:extLst>
                <a:ext uri="{FF2B5EF4-FFF2-40B4-BE49-F238E27FC236}">
                  <a16:creationId xmlns:a16="http://schemas.microsoft.com/office/drawing/2014/main" id="{4529E2A3-5893-3751-C5B8-067C8EB6252F}"/>
                </a:ext>
              </a:extLst>
            </p:cNvPr>
            <p:cNvSpPr>
              <a:spLocks noChangeArrowheads="1"/>
            </p:cNvSpPr>
            <p:nvPr/>
          </p:nvSpPr>
          <p:spPr bwMode="auto">
            <a:xfrm>
              <a:off x="3177" y="1147"/>
              <a:ext cx="315"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70AD47"/>
                  </a:solidFill>
                  <a:effectLst/>
                  <a:latin typeface="Calibri" panose="020F0502020204030204" pitchFamily="34" charset="0"/>
                </a:rPr>
                <a:t>14.00%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4" name="Rectangle 129">
              <a:extLst>
                <a:ext uri="{FF2B5EF4-FFF2-40B4-BE49-F238E27FC236}">
                  <a16:creationId xmlns:a16="http://schemas.microsoft.com/office/drawing/2014/main" id="{3857BDCD-F7A1-9AC4-2310-0A0A35910264}"/>
                </a:ext>
              </a:extLst>
            </p:cNvPr>
            <p:cNvSpPr>
              <a:spLocks noChangeArrowheads="1"/>
            </p:cNvSpPr>
            <p:nvPr/>
          </p:nvSpPr>
          <p:spPr bwMode="auto">
            <a:xfrm>
              <a:off x="2509" y="1147"/>
              <a:ext cx="315"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70AD47"/>
                  </a:solidFill>
                  <a:effectLst/>
                  <a:latin typeface="Calibri" panose="020F0502020204030204" pitchFamily="34" charset="0"/>
                </a:rPr>
                <a:t>13.70%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5" name="Rectangle 130">
              <a:extLst>
                <a:ext uri="{FF2B5EF4-FFF2-40B4-BE49-F238E27FC236}">
                  <a16:creationId xmlns:a16="http://schemas.microsoft.com/office/drawing/2014/main" id="{A764230A-FC54-9EBD-60D2-CB6FDFF85DE0}"/>
                </a:ext>
              </a:extLst>
            </p:cNvPr>
            <p:cNvSpPr>
              <a:spLocks noChangeArrowheads="1"/>
            </p:cNvSpPr>
            <p:nvPr/>
          </p:nvSpPr>
          <p:spPr bwMode="auto">
            <a:xfrm>
              <a:off x="1841" y="1147"/>
              <a:ext cx="315"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70AD47"/>
                  </a:solidFill>
                  <a:effectLst/>
                  <a:latin typeface="Calibri" panose="020F0502020204030204" pitchFamily="34" charset="0"/>
                </a:rPr>
                <a:t>12.00%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6" name="Rectangle 131">
              <a:extLst>
                <a:ext uri="{FF2B5EF4-FFF2-40B4-BE49-F238E27FC236}">
                  <a16:creationId xmlns:a16="http://schemas.microsoft.com/office/drawing/2014/main" id="{3E934408-57BC-BF09-6649-60B24609CD33}"/>
                </a:ext>
              </a:extLst>
            </p:cNvPr>
            <p:cNvSpPr>
              <a:spLocks noChangeArrowheads="1"/>
            </p:cNvSpPr>
            <p:nvPr/>
          </p:nvSpPr>
          <p:spPr bwMode="auto">
            <a:xfrm>
              <a:off x="1173" y="1147"/>
              <a:ext cx="315"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70AD47"/>
                  </a:solidFill>
                  <a:effectLst/>
                  <a:latin typeface="Calibri" panose="020F0502020204030204" pitchFamily="34" charset="0"/>
                </a:rPr>
                <a:t>11.00%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7" name="Rectangle 132">
              <a:extLst>
                <a:ext uri="{FF2B5EF4-FFF2-40B4-BE49-F238E27FC236}">
                  <a16:creationId xmlns:a16="http://schemas.microsoft.com/office/drawing/2014/main" id="{64361A32-F7C9-189B-A8A1-7898DC0727B3}"/>
                </a:ext>
              </a:extLst>
            </p:cNvPr>
            <p:cNvSpPr>
              <a:spLocks noChangeArrowheads="1"/>
            </p:cNvSpPr>
            <p:nvPr/>
          </p:nvSpPr>
          <p:spPr bwMode="auto">
            <a:xfrm>
              <a:off x="3183" y="1301"/>
              <a:ext cx="380"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rPr>
                <a:t>3,10,440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8" name="Rectangle 133">
              <a:extLst>
                <a:ext uri="{FF2B5EF4-FFF2-40B4-BE49-F238E27FC236}">
                  <a16:creationId xmlns:a16="http://schemas.microsoft.com/office/drawing/2014/main" id="{1EB85766-34EE-67A7-AF2C-A6CBF835B983}"/>
                </a:ext>
              </a:extLst>
            </p:cNvPr>
            <p:cNvSpPr>
              <a:spLocks noChangeArrowheads="1"/>
            </p:cNvSpPr>
            <p:nvPr/>
          </p:nvSpPr>
          <p:spPr bwMode="auto">
            <a:xfrm>
              <a:off x="2515" y="1301"/>
              <a:ext cx="380"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3,18,590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9" name="Rectangle 134">
              <a:extLst>
                <a:ext uri="{FF2B5EF4-FFF2-40B4-BE49-F238E27FC236}">
                  <a16:creationId xmlns:a16="http://schemas.microsoft.com/office/drawing/2014/main" id="{70803DE4-F8A4-1F9A-2ABE-22D1D38D1292}"/>
                </a:ext>
              </a:extLst>
            </p:cNvPr>
            <p:cNvSpPr>
              <a:spLocks noChangeArrowheads="1"/>
            </p:cNvSpPr>
            <p:nvPr/>
          </p:nvSpPr>
          <p:spPr bwMode="auto">
            <a:xfrm>
              <a:off x="1846" y="1301"/>
              <a:ext cx="381"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3,74,826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0" name="Rectangle 135">
              <a:extLst>
                <a:ext uri="{FF2B5EF4-FFF2-40B4-BE49-F238E27FC236}">
                  <a16:creationId xmlns:a16="http://schemas.microsoft.com/office/drawing/2014/main" id="{CA64BD01-FA06-A25D-B818-1FB03E17DE07}"/>
                </a:ext>
              </a:extLst>
            </p:cNvPr>
            <p:cNvSpPr>
              <a:spLocks noChangeArrowheads="1"/>
            </p:cNvSpPr>
            <p:nvPr/>
          </p:nvSpPr>
          <p:spPr bwMode="auto">
            <a:xfrm>
              <a:off x="1178" y="1301"/>
              <a:ext cx="380"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4,18,868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1" name="Rectangle 136">
              <a:extLst>
                <a:ext uri="{FF2B5EF4-FFF2-40B4-BE49-F238E27FC236}">
                  <a16:creationId xmlns:a16="http://schemas.microsoft.com/office/drawing/2014/main" id="{3A8923C1-88C5-9DBA-5FED-76D3CF87D8CC}"/>
                </a:ext>
              </a:extLst>
            </p:cNvPr>
            <p:cNvSpPr>
              <a:spLocks noChangeArrowheads="1"/>
            </p:cNvSpPr>
            <p:nvPr/>
          </p:nvSpPr>
          <p:spPr bwMode="auto">
            <a:xfrm>
              <a:off x="527" y="1301"/>
              <a:ext cx="270"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70AD47"/>
                  </a:solidFill>
                  <a:effectLst/>
                  <a:latin typeface="Calibri" panose="020F0502020204030204" pitchFamily="34" charset="0"/>
                </a:rPr>
                <a:t>3.00%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2" name="Rectangle 137">
              <a:extLst>
                <a:ext uri="{FF2B5EF4-FFF2-40B4-BE49-F238E27FC236}">
                  <a16:creationId xmlns:a16="http://schemas.microsoft.com/office/drawing/2014/main" id="{C08AE5AB-790F-D0CB-3D4C-238EC4201FA3}"/>
                </a:ext>
              </a:extLst>
            </p:cNvPr>
            <p:cNvSpPr>
              <a:spLocks noChangeArrowheads="1"/>
            </p:cNvSpPr>
            <p:nvPr/>
          </p:nvSpPr>
          <p:spPr bwMode="auto">
            <a:xfrm>
              <a:off x="3183" y="1455"/>
              <a:ext cx="380"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3,30,281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3" name="Rectangle 138">
              <a:extLst>
                <a:ext uri="{FF2B5EF4-FFF2-40B4-BE49-F238E27FC236}">
                  <a16:creationId xmlns:a16="http://schemas.microsoft.com/office/drawing/2014/main" id="{2F3D8B8F-58EC-8911-B452-601AFD53CADF}"/>
                </a:ext>
              </a:extLst>
            </p:cNvPr>
            <p:cNvSpPr>
              <a:spLocks noChangeArrowheads="1"/>
            </p:cNvSpPr>
            <p:nvPr/>
          </p:nvSpPr>
          <p:spPr bwMode="auto">
            <a:xfrm>
              <a:off x="2515" y="1455"/>
              <a:ext cx="380"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3,39,813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4" name="Rectangle 139">
              <a:extLst>
                <a:ext uri="{FF2B5EF4-FFF2-40B4-BE49-F238E27FC236}">
                  <a16:creationId xmlns:a16="http://schemas.microsoft.com/office/drawing/2014/main" id="{D0DE0132-FF78-07F4-CC14-CDD64E10A743}"/>
                </a:ext>
              </a:extLst>
            </p:cNvPr>
            <p:cNvSpPr>
              <a:spLocks noChangeArrowheads="1"/>
            </p:cNvSpPr>
            <p:nvPr/>
          </p:nvSpPr>
          <p:spPr bwMode="auto">
            <a:xfrm>
              <a:off x="1846" y="1455"/>
              <a:ext cx="381"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4,07,076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5" name="Rectangle 140">
              <a:extLst>
                <a:ext uri="{FF2B5EF4-FFF2-40B4-BE49-F238E27FC236}">
                  <a16:creationId xmlns:a16="http://schemas.microsoft.com/office/drawing/2014/main" id="{0F3774F0-0398-0B75-19FF-98EEF51D86E8}"/>
                </a:ext>
              </a:extLst>
            </p:cNvPr>
            <p:cNvSpPr>
              <a:spLocks noChangeArrowheads="1"/>
            </p:cNvSpPr>
            <p:nvPr/>
          </p:nvSpPr>
          <p:spPr bwMode="auto">
            <a:xfrm>
              <a:off x="1178" y="1455"/>
              <a:ext cx="380"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4,61,655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6" name="Rectangle 141">
              <a:extLst>
                <a:ext uri="{FF2B5EF4-FFF2-40B4-BE49-F238E27FC236}">
                  <a16:creationId xmlns:a16="http://schemas.microsoft.com/office/drawing/2014/main" id="{EFD3B916-6FFF-8798-EA3F-3AD3E5925779}"/>
                </a:ext>
              </a:extLst>
            </p:cNvPr>
            <p:cNvSpPr>
              <a:spLocks noChangeArrowheads="1"/>
            </p:cNvSpPr>
            <p:nvPr/>
          </p:nvSpPr>
          <p:spPr bwMode="auto">
            <a:xfrm>
              <a:off x="527" y="1455"/>
              <a:ext cx="270"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70AD47"/>
                  </a:solidFill>
                  <a:effectLst/>
                  <a:latin typeface="Calibri" panose="020F0502020204030204" pitchFamily="34" charset="0"/>
                </a:rPr>
                <a:t>4.00%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7" name="Rectangle 142">
              <a:extLst>
                <a:ext uri="{FF2B5EF4-FFF2-40B4-BE49-F238E27FC236}">
                  <a16:creationId xmlns:a16="http://schemas.microsoft.com/office/drawing/2014/main" id="{8B0D8862-3046-A718-89FC-D0102041C715}"/>
                </a:ext>
              </a:extLst>
            </p:cNvPr>
            <p:cNvSpPr>
              <a:spLocks noChangeArrowheads="1"/>
            </p:cNvSpPr>
            <p:nvPr/>
          </p:nvSpPr>
          <p:spPr bwMode="auto">
            <a:xfrm>
              <a:off x="3183" y="1608"/>
              <a:ext cx="3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3,61,460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8" name="Rectangle 143">
              <a:extLst>
                <a:ext uri="{FF2B5EF4-FFF2-40B4-BE49-F238E27FC236}">
                  <a16:creationId xmlns:a16="http://schemas.microsoft.com/office/drawing/2014/main" id="{3D8223DE-011F-660E-7A33-B042B53A0706}"/>
                </a:ext>
              </a:extLst>
            </p:cNvPr>
            <p:cNvSpPr>
              <a:spLocks noChangeArrowheads="1"/>
            </p:cNvSpPr>
            <p:nvPr/>
          </p:nvSpPr>
          <p:spPr bwMode="auto">
            <a:xfrm>
              <a:off x="2515" y="1608"/>
              <a:ext cx="3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3,73,405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9" name="Rectangle 144">
              <a:extLst>
                <a:ext uri="{FF2B5EF4-FFF2-40B4-BE49-F238E27FC236}">
                  <a16:creationId xmlns:a16="http://schemas.microsoft.com/office/drawing/2014/main" id="{ED0E358D-CCCF-1CC3-B9FF-1566EC031BD4}"/>
                </a:ext>
              </a:extLst>
            </p:cNvPr>
            <p:cNvSpPr>
              <a:spLocks noChangeArrowheads="1"/>
            </p:cNvSpPr>
            <p:nvPr/>
          </p:nvSpPr>
          <p:spPr bwMode="auto">
            <a:xfrm>
              <a:off x="1846" y="1608"/>
              <a:ext cx="38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4,60,826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0" name="Rectangle 145">
              <a:extLst>
                <a:ext uri="{FF2B5EF4-FFF2-40B4-BE49-F238E27FC236}">
                  <a16:creationId xmlns:a16="http://schemas.microsoft.com/office/drawing/2014/main" id="{BC20DF78-6E06-1C39-74E5-59E603BC6CCD}"/>
                </a:ext>
              </a:extLst>
            </p:cNvPr>
            <p:cNvSpPr>
              <a:spLocks noChangeArrowheads="1"/>
            </p:cNvSpPr>
            <p:nvPr/>
          </p:nvSpPr>
          <p:spPr bwMode="auto">
            <a:xfrm>
              <a:off x="1178" y="1608"/>
              <a:ext cx="3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5,36,066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1" name="Rectangle 146">
              <a:extLst>
                <a:ext uri="{FF2B5EF4-FFF2-40B4-BE49-F238E27FC236}">
                  <a16:creationId xmlns:a16="http://schemas.microsoft.com/office/drawing/2014/main" id="{C4B964C7-ABB3-1F67-CA34-19B23C56124D}"/>
                </a:ext>
              </a:extLst>
            </p:cNvPr>
            <p:cNvSpPr>
              <a:spLocks noChangeArrowheads="1"/>
            </p:cNvSpPr>
            <p:nvPr/>
          </p:nvSpPr>
          <p:spPr bwMode="auto">
            <a:xfrm>
              <a:off x="527" y="1608"/>
              <a:ext cx="27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70AD47"/>
                  </a:solidFill>
                  <a:effectLst/>
                  <a:latin typeface="Calibri" panose="020F0502020204030204" pitchFamily="34" charset="0"/>
                </a:rPr>
                <a:t>5.25%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2" name="Rectangle 147">
              <a:extLst>
                <a:ext uri="{FF2B5EF4-FFF2-40B4-BE49-F238E27FC236}">
                  <a16:creationId xmlns:a16="http://schemas.microsoft.com/office/drawing/2014/main" id="{F2FD8F6A-5047-F5B9-4BD8-54104169A3F3}"/>
                </a:ext>
              </a:extLst>
            </p:cNvPr>
            <p:cNvSpPr>
              <a:spLocks noChangeArrowheads="1"/>
            </p:cNvSpPr>
            <p:nvPr/>
          </p:nvSpPr>
          <p:spPr bwMode="auto">
            <a:xfrm>
              <a:off x="3183" y="1762"/>
              <a:ext cx="414"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3,84,844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3" name="Rectangle 148">
              <a:extLst>
                <a:ext uri="{FF2B5EF4-FFF2-40B4-BE49-F238E27FC236}">
                  <a16:creationId xmlns:a16="http://schemas.microsoft.com/office/drawing/2014/main" id="{20DB2AFD-D539-0178-E7CB-02821ADE0CFF}"/>
                </a:ext>
              </a:extLst>
            </p:cNvPr>
            <p:cNvSpPr>
              <a:spLocks noChangeArrowheads="1"/>
            </p:cNvSpPr>
            <p:nvPr/>
          </p:nvSpPr>
          <p:spPr bwMode="auto">
            <a:xfrm>
              <a:off x="2515" y="1762"/>
              <a:ext cx="413"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3,98,796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4" name="Rectangle 149">
              <a:extLst>
                <a:ext uri="{FF2B5EF4-FFF2-40B4-BE49-F238E27FC236}">
                  <a16:creationId xmlns:a16="http://schemas.microsoft.com/office/drawing/2014/main" id="{76EAB901-3DBD-5D81-BB76-485274B97E88}"/>
                </a:ext>
              </a:extLst>
            </p:cNvPr>
            <p:cNvSpPr>
              <a:spLocks noChangeArrowheads="1"/>
            </p:cNvSpPr>
            <p:nvPr/>
          </p:nvSpPr>
          <p:spPr bwMode="auto">
            <a:xfrm>
              <a:off x="1846" y="1762"/>
              <a:ext cx="414"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5,03,825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5" name="Rectangle 150">
              <a:extLst>
                <a:ext uri="{FF2B5EF4-FFF2-40B4-BE49-F238E27FC236}">
                  <a16:creationId xmlns:a16="http://schemas.microsoft.com/office/drawing/2014/main" id="{1CFED944-8F40-E56A-4008-604B402A34FE}"/>
                </a:ext>
              </a:extLst>
            </p:cNvPr>
            <p:cNvSpPr>
              <a:spLocks noChangeArrowheads="1"/>
            </p:cNvSpPr>
            <p:nvPr/>
          </p:nvSpPr>
          <p:spPr bwMode="auto">
            <a:xfrm>
              <a:off x="1178" y="1762"/>
              <a:ext cx="414"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5,98,571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6" name="Rectangle 151">
              <a:extLst>
                <a:ext uri="{FF2B5EF4-FFF2-40B4-BE49-F238E27FC236}">
                  <a16:creationId xmlns:a16="http://schemas.microsoft.com/office/drawing/2014/main" id="{4108B5DF-FD6D-C4A6-F5B7-6A1E5D54A946}"/>
                </a:ext>
              </a:extLst>
            </p:cNvPr>
            <p:cNvSpPr>
              <a:spLocks noChangeArrowheads="1"/>
            </p:cNvSpPr>
            <p:nvPr/>
          </p:nvSpPr>
          <p:spPr bwMode="auto">
            <a:xfrm>
              <a:off x="527" y="1762"/>
              <a:ext cx="295"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70AD47"/>
                  </a:solidFill>
                  <a:effectLst/>
                  <a:latin typeface="Calibri" panose="020F0502020204030204" pitchFamily="34" charset="0"/>
                </a:rPr>
                <a:t>6.00%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7" name="Rectangle 152">
              <a:extLst>
                <a:ext uri="{FF2B5EF4-FFF2-40B4-BE49-F238E27FC236}">
                  <a16:creationId xmlns:a16="http://schemas.microsoft.com/office/drawing/2014/main" id="{24F3AF2E-658A-828A-1EEB-A55E61C172CB}"/>
                </a:ext>
              </a:extLst>
            </p:cNvPr>
            <p:cNvSpPr>
              <a:spLocks noChangeArrowheads="1"/>
            </p:cNvSpPr>
            <p:nvPr/>
          </p:nvSpPr>
          <p:spPr bwMode="auto">
            <a:xfrm>
              <a:off x="3183" y="1916"/>
              <a:ext cx="414"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4,23,817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8" name="Rectangle 153">
              <a:extLst>
                <a:ext uri="{FF2B5EF4-FFF2-40B4-BE49-F238E27FC236}">
                  <a16:creationId xmlns:a16="http://schemas.microsoft.com/office/drawing/2014/main" id="{052ABB75-030E-F785-6F6D-5E9B296DF94A}"/>
                </a:ext>
              </a:extLst>
            </p:cNvPr>
            <p:cNvSpPr>
              <a:spLocks noChangeArrowheads="1"/>
            </p:cNvSpPr>
            <p:nvPr/>
          </p:nvSpPr>
          <p:spPr bwMode="auto">
            <a:xfrm>
              <a:off x="2515" y="1916"/>
              <a:ext cx="413"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4,41,493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9" name="Rectangle 154">
              <a:extLst>
                <a:ext uri="{FF2B5EF4-FFF2-40B4-BE49-F238E27FC236}">
                  <a16:creationId xmlns:a16="http://schemas.microsoft.com/office/drawing/2014/main" id="{6CC3EAFE-34CF-4C28-3A71-DF3F5B30BC75}"/>
                </a:ext>
              </a:extLst>
            </p:cNvPr>
            <p:cNvSpPr>
              <a:spLocks noChangeArrowheads="1"/>
            </p:cNvSpPr>
            <p:nvPr/>
          </p:nvSpPr>
          <p:spPr bwMode="auto">
            <a:xfrm>
              <a:off x="1846" y="1916"/>
              <a:ext cx="414"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5,81,225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0" name="Rectangle 155">
              <a:extLst>
                <a:ext uri="{FF2B5EF4-FFF2-40B4-BE49-F238E27FC236}">
                  <a16:creationId xmlns:a16="http://schemas.microsoft.com/office/drawing/2014/main" id="{7B69134B-3B7B-E561-F016-4F24005D582F}"/>
                </a:ext>
              </a:extLst>
            </p:cNvPr>
            <p:cNvSpPr>
              <a:spLocks noChangeArrowheads="1"/>
            </p:cNvSpPr>
            <p:nvPr/>
          </p:nvSpPr>
          <p:spPr bwMode="auto">
            <a:xfrm>
              <a:off x="1178" y="1916"/>
              <a:ext cx="414"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7,18,372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1" name="Rectangle 156">
              <a:extLst>
                <a:ext uri="{FF2B5EF4-FFF2-40B4-BE49-F238E27FC236}">
                  <a16:creationId xmlns:a16="http://schemas.microsoft.com/office/drawing/2014/main" id="{78B46B75-5241-5F55-8F7A-21C92D3BF48F}"/>
                </a:ext>
              </a:extLst>
            </p:cNvPr>
            <p:cNvSpPr>
              <a:spLocks noChangeArrowheads="1"/>
            </p:cNvSpPr>
            <p:nvPr/>
          </p:nvSpPr>
          <p:spPr bwMode="auto">
            <a:xfrm>
              <a:off x="527" y="1916"/>
              <a:ext cx="295"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70AD47"/>
                  </a:solidFill>
                  <a:effectLst/>
                  <a:latin typeface="Calibri" panose="020F0502020204030204" pitchFamily="34" charset="0"/>
                </a:rPr>
                <a:t>7.00%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396696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4"/>
          <p:cNvGraphicFramePr>
            <a:graphicFrameLocks noGrp="1"/>
          </p:cNvGraphicFramePr>
          <p:nvPr>
            <p:extLst>
              <p:ext uri="{D42A27DB-BD31-4B8C-83A1-F6EECF244321}">
                <p14:modId xmlns:p14="http://schemas.microsoft.com/office/powerpoint/2010/main" val="2730213885"/>
              </p:ext>
            </p:extLst>
          </p:nvPr>
        </p:nvGraphicFramePr>
        <p:xfrm>
          <a:off x="27888" y="1372658"/>
          <a:ext cx="6098237" cy="6042834"/>
        </p:xfrm>
        <a:graphic>
          <a:graphicData uri="http://schemas.openxmlformats.org/drawingml/2006/table">
            <a:tbl>
              <a:tblPr firstRow="1" bandRow="1">
                <a:tableStyleId>{2D5ABB26-0587-4C30-8999-92F81FD0307C}</a:tableStyleId>
              </a:tblPr>
              <a:tblGrid>
                <a:gridCol w="97400">
                  <a:extLst>
                    <a:ext uri="{9D8B030D-6E8A-4147-A177-3AD203B41FA5}">
                      <a16:colId xmlns:a16="http://schemas.microsoft.com/office/drawing/2014/main" val="20000"/>
                    </a:ext>
                  </a:extLst>
                </a:gridCol>
                <a:gridCol w="1509526">
                  <a:extLst>
                    <a:ext uri="{9D8B030D-6E8A-4147-A177-3AD203B41FA5}">
                      <a16:colId xmlns:a16="http://schemas.microsoft.com/office/drawing/2014/main" val="20001"/>
                    </a:ext>
                  </a:extLst>
                </a:gridCol>
                <a:gridCol w="730215">
                  <a:extLst>
                    <a:ext uri="{9D8B030D-6E8A-4147-A177-3AD203B41FA5}">
                      <a16:colId xmlns:a16="http://schemas.microsoft.com/office/drawing/2014/main" val="20006"/>
                    </a:ext>
                  </a:extLst>
                </a:gridCol>
                <a:gridCol w="729326">
                  <a:extLst>
                    <a:ext uri="{9D8B030D-6E8A-4147-A177-3AD203B41FA5}">
                      <a16:colId xmlns:a16="http://schemas.microsoft.com/office/drawing/2014/main" val="20007"/>
                    </a:ext>
                  </a:extLst>
                </a:gridCol>
                <a:gridCol w="729326">
                  <a:extLst>
                    <a:ext uri="{9D8B030D-6E8A-4147-A177-3AD203B41FA5}">
                      <a16:colId xmlns:a16="http://schemas.microsoft.com/office/drawing/2014/main" val="20008"/>
                    </a:ext>
                  </a:extLst>
                </a:gridCol>
                <a:gridCol w="742666">
                  <a:extLst>
                    <a:ext uri="{9D8B030D-6E8A-4147-A177-3AD203B41FA5}">
                      <a16:colId xmlns:a16="http://schemas.microsoft.com/office/drawing/2014/main" val="20009"/>
                    </a:ext>
                  </a:extLst>
                </a:gridCol>
                <a:gridCol w="781799">
                  <a:extLst>
                    <a:ext uri="{9D8B030D-6E8A-4147-A177-3AD203B41FA5}">
                      <a16:colId xmlns:a16="http://schemas.microsoft.com/office/drawing/2014/main" val="20010"/>
                    </a:ext>
                  </a:extLst>
                </a:gridCol>
                <a:gridCol w="777979">
                  <a:extLst>
                    <a:ext uri="{9D8B030D-6E8A-4147-A177-3AD203B41FA5}">
                      <a16:colId xmlns:a16="http://schemas.microsoft.com/office/drawing/2014/main" val="20011"/>
                    </a:ext>
                  </a:extLst>
                </a:gridCol>
              </a:tblGrid>
              <a:tr h="176228">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t"/>
                      <a:r>
                        <a:rPr lang="en-IN" sz="800" b="1" i="0" u="none" strike="noStrike">
                          <a:solidFill>
                            <a:srgbClr val="FFFFFF"/>
                          </a:solidFill>
                          <a:effectLst/>
                          <a:latin typeface="Aptos" panose="020B0004020202020204" pitchFamily="34" charset="0"/>
                        </a:rPr>
                        <a:t>Ratio Analysis</a:t>
                      </a:r>
                    </a:p>
                  </a:txBody>
                  <a:tcPr marL="36000" marR="36000" marT="6911" marB="72000" anchor="ctr">
                    <a:solidFill>
                      <a:srgbClr val="187C2C"/>
                    </a:solidFill>
                  </a:tcPr>
                </a:tc>
                <a:tc>
                  <a:txBody>
                    <a:bodyPr/>
                    <a:lstStyle/>
                    <a:p>
                      <a:pPr algn="r" fontAlgn="t"/>
                      <a:r>
                        <a:rPr lang="en-IN" sz="800" b="1" i="0" u="none" strike="noStrike">
                          <a:solidFill>
                            <a:srgbClr val="FFFFFF"/>
                          </a:solidFill>
                          <a:effectLst/>
                          <a:latin typeface="Aptos" panose="020B0004020202020204" pitchFamily="34" charset="0"/>
                        </a:rPr>
                        <a:t>Mar 25</a:t>
                      </a:r>
                    </a:p>
                  </a:txBody>
                  <a:tcPr marL="36000" marR="36000" marT="6911" marB="72000" anchor="ctr">
                    <a:solidFill>
                      <a:srgbClr val="187C2C"/>
                    </a:solidFill>
                  </a:tcPr>
                </a:tc>
                <a:tc>
                  <a:txBody>
                    <a:bodyPr/>
                    <a:lstStyle/>
                    <a:p>
                      <a:pPr algn="r" fontAlgn="t"/>
                      <a:r>
                        <a:rPr lang="en-IN" sz="800" b="1" i="0" u="none" strike="noStrike">
                          <a:solidFill>
                            <a:srgbClr val="FFFFFF"/>
                          </a:solidFill>
                          <a:effectLst/>
                          <a:latin typeface="Aptos" panose="020B0004020202020204" pitchFamily="34" charset="0"/>
                        </a:rPr>
                        <a:t>Mar 26</a:t>
                      </a:r>
                    </a:p>
                  </a:txBody>
                  <a:tcPr marL="36000" marR="36000" marT="6911" marB="72000" anchor="ctr">
                    <a:solidFill>
                      <a:srgbClr val="187C2C"/>
                    </a:solidFill>
                  </a:tcPr>
                </a:tc>
                <a:tc>
                  <a:txBody>
                    <a:bodyPr/>
                    <a:lstStyle/>
                    <a:p>
                      <a:pPr algn="r" fontAlgn="t"/>
                      <a:r>
                        <a:rPr lang="en-IN" sz="800" b="1" i="0" u="none" strike="noStrike">
                          <a:solidFill>
                            <a:srgbClr val="FFFFFF"/>
                          </a:solidFill>
                          <a:effectLst/>
                          <a:latin typeface="Aptos" panose="020B0004020202020204" pitchFamily="34" charset="0"/>
                        </a:rPr>
                        <a:t>Mar 27</a:t>
                      </a:r>
                    </a:p>
                  </a:txBody>
                  <a:tcPr marL="36000" marR="36000" marT="6911" marB="72000" anchor="ctr">
                    <a:solidFill>
                      <a:srgbClr val="187C2C"/>
                    </a:solidFill>
                  </a:tcPr>
                </a:tc>
                <a:tc>
                  <a:txBody>
                    <a:bodyPr/>
                    <a:lstStyle/>
                    <a:p>
                      <a:pPr algn="r" fontAlgn="t"/>
                      <a:r>
                        <a:rPr lang="en-IN" sz="800" b="1" i="0" u="none" strike="noStrike">
                          <a:solidFill>
                            <a:srgbClr val="FFFFFF"/>
                          </a:solidFill>
                          <a:effectLst/>
                          <a:latin typeface="Aptos" panose="020B0004020202020204" pitchFamily="34" charset="0"/>
                        </a:rPr>
                        <a:t>Mar 28</a:t>
                      </a:r>
                    </a:p>
                  </a:txBody>
                  <a:tcPr marL="36000" marR="36000" marT="6911" marB="72000" anchor="ctr">
                    <a:solidFill>
                      <a:srgbClr val="187C2C"/>
                    </a:solidFill>
                  </a:tcPr>
                </a:tc>
                <a:tc>
                  <a:txBody>
                    <a:bodyPr/>
                    <a:lstStyle/>
                    <a:p>
                      <a:pPr algn="r" fontAlgn="t"/>
                      <a:r>
                        <a:rPr lang="en-IN" sz="800" b="1" i="0" u="none" strike="noStrike">
                          <a:solidFill>
                            <a:srgbClr val="FFFFFF"/>
                          </a:solidFill>
                          <a:effectLst/>
                          <a:latin typeface="Aptos" panose="020B0004020202020204" pitchFamily="34" charset="0"/>
                        </a:rPr>
                        <a:t>Mar 29</a:t>
                      </a:r>
                    </a:p>
                  </a:txBody>
                  <a:tcPr marL="36000" marR="36000" marT="6911" marB="72000" anchor="ctr">
                    <a:solidFill>
                      <a:srgbClr val="187C2C"/>
                    </a:solidFill>
                  </a:tcPr>
                </a:tc>
                <a:tc>
                  <a:txBody>
                    <a:bodyPr/>
                    <a:lstStyle/>
                    <a:p>
                      <a:pPr algn="r" fontAlgn="t"/>
                      <a:r>
                        <a:rPr lang="en-IN" sz="800" b="1" i="0" u="none" strike="noStrike">
                          <a:solidFill>
                            <a:srgbClr val="FFFFFF"/>
                          </a:solidFill>
                          <a:effectLst/>
                          <a:latin typeface="Aptos" panose="020B0004020202020204" pitchFamily="34" charset="0"/>
                        </a:rPr>
                        <a:t>Mar 30</a:t>
                      </a:r>
                    </a:p>
                  </a:txBody>
                  <a:tcPr marL="36000" marR="36000" marT="6911" marB="72000" anchor="ctr">
                    <a:solidFill>
                      <a:srgbClr val="187C2C"/>
                    </a:solidFill>
                  </a:tcPr>
                </a:tc>
                <a:extLst>
                  <a:ext uri="{0D108BD9-81ED-4DB2-BD59-A6C34878D82A}">
                    <a16:rowId xmlns:a16="http://schemas.microsoft.com/office/drawing/2014/main" val="10000"/>
                  </a:ext>
                </a:extLst>
              </a:tr>
              <a:tr h="117486">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a:solidFill>
                            <a:srgbClr val="000000"/>
                          </a:solidFill>
                          <a:effectLst/>
                          <a:latin typeface="Aptos" panose="020B0004020202020204" pitchFamily="34" charset="0"/>
                        </a:rPr>
                        <a:t> </a:t>
                      </a:r>
                    </a:p>
                  </a:txBody>
                  <a:tcPr marL="36000" marR="36000" marT="6911" marB="72000" anchor="ctr">
                    <a:solidFill>
                      <a:schemeClr val="bg1"/>
                    </a:solidFill>
                  </a:tcPr>
                </a:tc>
                <a:tc>
                  <a:txBody>
                    <a:bodyPr/>
                    <a:lstStyle/>
                    <a:p>
                      <a:pPr algn="l" fontAlgn="b"/>
                      <a:r>
                        <a:rPr lang="en-IN" sz="800" b="0" i="0" u="none" strike="noStrike">
                          <a:solidFill>
                            <a:srgbClr val="000000"/>
                          </a:solidFill>
                          <a:effectLst/>
                          <a:latin typeface="Aptos" panose="020B0004020202020204" pitchFamily="34" charset="0"/>
                        </a:rPr>
                        <a:t> </a:t>
                      </a:r>
                    </a:p>
                  </a:txBody>
                  <a:tcPr marL="36000" marR="36000" marT="6911" marB="72000" anchor="ctr">
                    <a:solidFill>
                      <a:schemeClr val="bg1"/>
                    </a:solidFill>
                  </a:tcPr>
                </a:tc>
                <a:tc>
                  <a:txBody>
                    <a:bodyPr/>
                    <a:lstStyle/>
                    <a:p>
                      <a:pPr algn="l" fontAlgn="b"/>
                      <a:endParaRPr lang="en-IN" sz="800" b="0" i="0" u="none" strike="noStrike">
                        <a:solidFill>
                          <a:srgbClr val="000000"/>
                        </a:solidFill>
                        <a:effectLst/>
                        <a:latin typeface="Aptos"/>
                      </a:endParaRPr>
                    </a:p>
                  </a:txBody>
                  <a:tcPr marL="36000" marR="36000" marT="6911" marB="72000" anchor="ctr">
                    <a:solidFill>
                      <a:schemeClr val="bg1"/>
                    </a:solidFill>
                  </a:tcPr>
                </a:tc>
                <a:tc>
                  <a:txBody>
                    <a:bodyPr/>
                    <a:lstStyle/>
                    <a:p>
                      <a:pPr algn="l" fontAlgn="b"/>
                      <a:r>
                        <a:rPr lang="en-IN" sz="800" b="0" i="0" u="none" strike="noStrike">
                          <a:solidFill>
                            <a:srgbClr val="000000"/>
                          </a:solidFill>
                          <a:effectLst/>
                          <a:latin typeface="Aptos" panose="020B0004020202020204" pitchFamily="34" charset="0"/>
                        </a:rPr>
                        <a:t> </a:t>
                      </a:r>
                    </a:p>
                  </a:txBody>
                  <a:tcPr marL="36000" marR="36000" marT="6911" marB="72000" anchor="ctr">
                    <a:solidFill>
                      <a:schemeClr val="bg1"/>
                    </a:solidFill>
                  </a:tcPr>
                </a:tc>
                <a:tc>
                  <a:txBody>
                    <a:bodyPr/>
                    <a:lstStyle/>
                    <a:p>
                      <a:pPr algn="l" fontAlgn="b"/>
                      <a:r>
                        <a:rPr lang="en-IN" sz="800" b="0" i="0" u="none" strike="noStrike">
                          <a:solidFill>
                            <a:srgbClr val="000000"/>
                          </a:solidFill>
                          <a:effectLst/>
                          <a:latin typeface="Aptos" panose="020B0004020202020204" pitchFamily="34" charset="0"/>
                        </a:rPr>
                        <a:t> </a:t>
                      </a:r>
                    </a:p>
                  </a:txBody>
                  <a:tcPr marL="36000" marR="36000" marT="6911" marB="72000" anchor="ctr">
                    <a:solidFill>
                      <a:schemeClr val="bg1"/>
                    </a:solidFill>
                  </a:tcPr>
                </a:tc>
                <a:tc>
                  <a:txBody>
                    <a:bodyPr/>
                    <a:lstStyle/>
                    <a:p>
                      <a:pPr algn="l" fontAlgn="b"/>
                      <a:r>
                        <a:rPr lang="en-IN" sz="800" b="0" i="0" u="none" strike="noStrike">
                          <a:solidFill>
                            <a:srgbClr val="000000"/>
                          </a:solidFill>
                          <a:effectLst/>
                          <a:latin typeface="Aptos" panose="020B0004020202020204" pitchFamily="34" charset="0"/>
                        </a:rPr>
                        <a:t> </a:t>
                      </a:r>
                    </a:p>
                  </a:txBody>
                  <a:tcPr marL="36000" marR="36000" marT="6911" marB="72000" anchor="ctr">
                    <a:solidFill>
                      <a:schemeClr val="bg1"/>
                    </a:solidFill>
                  </a:tcPr>
                </a:tc>
                <a:tc>
                  <a:txBody>
                    <a:bodyPr/>
                    <a:lstStyle/>
                    <a:p>
                      <a:pPr algn="l" fontAlgn="b"/>
                      <a:endParaRPr lang="en-IN" sz="800" b="0" i="0" u="none" strike="noStrike">
                        <a:solidFill>
                          <a:srgbClr val="000000"/>
                        </a:solidFill>
                        <a:effectLst/>
                        <a:latin typeface="Aptos"/>
                      </a:endParaRPr>
                    </a:p>
                  </a:txBody>
                  <a:tcPr marL="36000" marR="36000" marT="6911" marB="72000" anchor="ctr">
                    <a:solidFill>
                      <a:schemeClr val="bg1"/>
                    </a:solidFill>
                  </a:tcPr>
                </a:tc>
                <a:extLst>
                  <a:ext uri="{0D108BD9-81ED-4DB2-BD59-A6C34878D82A}">
                    <a16:rowId xmlns:a16="http://schemas.microsoft.com/office/drawing/2014/main" val="575072697"/>
                  </a:ext>
                </a:extLst>
              </a:tr>
              <a:tr h="176228">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a:solidFill>
                            <a:srgbClr val="000000"/>
                          </a:solidFill>
                          <a:effectLst/>
                          <a:latin typeface="Aptos" panose="020B0004020202020204" pitchFamily="34" charset="0"/>
                        </a:rPr>
                        <a:t>Sales Growth</a:t>
                      </a:r>
                    </a:p>
                  </a:txBody>
                  <a:tcPr marL="36000" marR="36000" marT="6911" marB="72000" anchor="ctr">
                    <a:solidFill>
                      <a:schemeClr val="bg1"/>
                    </a:solidFill>
                  </a:tcPr>
                </a:tc>
                <a:tc>
                  <a:txBody>
                    <a:bodyPr/>
                    <a:lstStyle/>
                    <a:p>
                      <a:pPr algn="r" fontAlgn="b"/>
                      <a:r>
                        <a:rPr lang="en-IN" sz="800" b="0" i="0" u="none" strike="noStrike">
                          <a:solidFill>
                            <a:srgbClr val="000000"/>
                          </a:solidFill>
                          <a:effectLst/>
                          <a:latin typeface="Aptos"/>
                        </a:rPr>
                        <a:t>21.61%</a:t>
                      </a:r>
                    </a:p>
                  </a:txBody>
                  <a:tcPr marL="36000" marR="36000" marT="6911" marB="72000" anchor="ctr">
                    <a:solidFill>
                      <a:schemeClr val="bg1"/>
                    </a:solidFill>
                  </a:tcPr>
                </a:tc>
                <a:tc>
                  <a:txBody>
                    <a:bodyPr/>
                    <a:lstStyle/>
                    <a:p>
                      <a:pPr algn="r" fontAlgn="b"/>
                      <a:r>
                        <a:rPr lang="en-IN" sz="800" b="0" i="0" u="none" strike="noStrike">
                          <a:solidFill>
                            <a:srgbClr val="000000"/>
                          </a:solidFill>
                          <a:effectLst/>
                          <a:latin typeface="Aptos"/>
                        </a:rPr>
                        <a:t>15.30%</a:t>
                      </a:r>
                    </a:p>
                  </a:txBody>
                  <a:tcPr marL="36000" marR="36000" marT="6911" marB="72000" anchor="ctr">
                    <a:solidFill>
                      <a:schemeClr val="bg1"/>
                    </a:solidFill>
                  </a:tcPr>
                </a:tc>
                <a:tc>
                  <a:txBody>
                    <a:bodyPr/>
                    <a:lstStyle/>
                    <a:p>
                      <a:pPr algn="r" fontAlgn="b"/>
                      <a:r>
                        <a:rPr lang="en-IN" sz="800" b="0" i="0" u="none" strike="noStrike">
                          <a:solidFill>
                            <a:srgbClr val="000000"/>
                          </a:solidFill>
                          <a:effectLst/>
                          <a:latin typeface="Aptos"/>
                        </a:rPr>
                        <a:t>14.20%</a:t>
                      </a:r>
                    </a:p>
                  </a:txBody>
                  <a:tcPr marL="36000" marR="36000" marT="6911" marB="72000" anchor="ctr">
                    <a:solidFill>
                      <a:schemeClr val="bg1"/>
                    </a:solidFill>
                  </a:tcPr>
                </a:tc>
                <a:tc>
                  <a:txBody>
                    <a:bodyPr/>
                    <a:lstStyle/>
                    <a:p>
                      <a:pPr algn="r" fontAlgn="b"/>
                      <a:r>
                        <a:rPr lang="en-IN" sz="800" b="0" i="0" u="none" strike="noStrike">
                          <a:solidFill>
                            <a:srgbClr val="000000"/>
                          </a:solidFill>
                          <a:effectLst/>
                          <a:latin typeface="Aptos"/>
                        </a:rPr>
                        <a:t>12.43%</a:t>
                      </a:r>
                    </a:p>
                  </a:txBody>
                  <a:tcPr marL="36000" marR="36000" marT="6911" marB="72000" anchor="ctr">
                    <a:solidFill>
                      <a:schemeClr val="bg1"/>
                    </a:solidFill>
                  </a:tcPr>
                </a:tc>
                <a:tc>
                  <a:txBody>
                    <a:bodyPr/>
                    <a:lstStyle/>
                    <a:p>
                      <a:pPr algn="r" fontAlgn="b"/>
                      <a:r>
                        <a:rPr lang="en-IN" sz="800" b="0" i="0" u="none" strike="noStrike">
                          <a:solidFill>
                            <a:srgbClr val="000000"/>
                          </a:solidFill>
                          <a:effectLst/>
                          <a:latin typeface="Aptos"/>
                        </a:rPr>
                        <a:t>11.06%</a:t>
                      </a:r>
                    </a:p>
                  </a:txBody>
                  <a:tcPr marL="36000" marR="36000" marT="6911" marB="72000" anchor="ctr">
                    <a:solidFill>
                      <a:schemeClr val="bg1"/>
                    </a:solidFill>
                  </a:tcPr>
                </a:tc>
                <a:tc>
                  <a:txBody>
                    <a:bodyPr/>
                    <a:lstStyle/>
                    <a:p>
                      <a:pPr algn="r" fontAlgn="b"/>
                      <a:r>
                        <a:rPr lang="en-IN" sz="800" b="0" i="0" u="none" strike="noStrike">
                          <a:solidFill>
                            <a:srgbClr val="000000"/>
                          </a:solidFill>
                          <a:effectLst/>
                          <a:latin typeface="Aptos"/>
                        </a:rPr>
                        <a:t>9.96%</a:t>
                      </a:r>
                    </a:p>
                  </a:txBody>
                  <a:tcPr marL="36000" marR="36000" marT="6911" marB="72000" anchor="ctr">
                    <a:solidFill>
                      <a:schemeClr val="bg1"/>
                    </a:solidFill>
                  </a:tcPr>
                </a:tc>
                <a:extLst>
                  <a:ext uri="{0D108BD9-81ED-4DB2-BD59-A6C34878D82A}">
                    <a16:rowId xmlns:a16="http://schemas.microsoft.com/office/drawing/2014/main" val="1615393470"/>
                  </a:ext>
                </a:extLst>
              </a:tr>
              <a:tr h="176228">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a:solidFill>
                            <a:srgbClr val="000000"/>
                          </a:solidFill>
                          <a:effectLst/>
                          <a:latin typeface="Aptos"/>
                        </a:rPr>
                        <a:t>EBITDA Growth</a:t>
                      </a:r>
                    </a:p>
                  </a:txBody>
                  <a:tcPr marL="36000" marR="36000" marT="6911" marB="72000" anchor="ctr">
                    <a:solidFill>
                      <a:schemeClr val="bg1"/>
                    </a:solidFill>
                  </a:tcPr>
                </a:tc>
                <a:tc>
                  <a:txBody>
                    <a:bodyPr/>
                    <a:lstStyle/>
                    <a:p>
                      <a:pPr algn="r" fontAlgn="b"/>
                      <a:r>
                        <a:rPr lang="en-IN" sz="800" b="0" i="0" u="none" strike="noStrike">
                          <a:solidFill>
                            <a:srgbClr val="000000"/>
                          </a:solidFill>
                          <a:effectLst/>
                          <a:latin typeface="Aptos" panose="020B0004020202020204" pitchFamily="34" charset="0"/>
                        </a:rPr>
                        <a:t>17.81%</a:t>
                      </a:r>
                    </a:p>
                  </a:txBody>
                  <a:tcPr marL="36000" marR="36000" marT="6911" marB="72000" anchor="ctr">
                    <a:solidFill>
                      <a:schemeClr val="bg1"/>
                    </a:solidFill>
                  </a:tcPr>
                </a:tc>
                <a:tc>
                  <a:txBody>
                    <a:bodyPr/>
                    <a:lstStyle/>
                    <a:p>
                      <a:pPr algn="r" fontAlgn="b"/>
                      <a:r>
                        <a:rPr lang="en-IN" sz="800" b="0" i="0" u="none" strike="noStrike">
                          <a:solidFill>
                            <a:srgbClr val="000000"/>
                          </a:solidFill>
                          <a:effectLst/>
                          <a:latin typeface="Aptos"/>
                        </a:rPr>
                        <a:t>17.90%</a:t>
                      </a:r>
                    </a:p>
                  </a:txBody>
                  <a:tcPr marL="36000" marR="36000" marT="6911" marB="72000" anchor="ctr">
                    <a:solidFill>
                      <a:schemeClr val="bg1"/>
                    </a:solidFill>
                  </a:tcPr>
                </a:tc>
                <a:tc>
                  <a:txBody>
                    <a:bodyPr/>
                    <a:lstStyle/>
                    <a:p>
                      <a:pPr algn="r" fontAlgn="b"/>
                      <a:r>
                        <a:rPr lang="en-IN" sz="800" b="0" i="0" u="none" strike="noStrike">
                          <a:solidFill>
                            <a:srgbClr val="000000"/>
                          </a:solidFill>
                          <a:effectLst/>
                          <a:latin typeface="Aptos"/>
                        </a:rPr>
                        <a:t>14.50%</a:t>
                      </a:r>
                    </a:p>
                  </a:txBody>
                  <a:tcPr marL="36000" marR="36000" marT="6911" marB="72000" anchor="ctr">
                    <a:solidFill>
                      <a:schemeClr val="bg1"/>
                    </a:solidFill>
                  </a:tcPr>
                </a:tc>
                <a:tc>
                  <a:txBody>
                    <a:bodyPr/>
                    <a:lstStyle/>
                    <a:p>
                      <a:pPr algn="r" fontAlgn="b"/>
                      <a:r>
                        <a:rPr lang="en-IN" sz="800" b="0" i="0" u="none" strike="noStrike">
                          <a:solidFill>
                            <a:srgbClr val="000000"/>
                          </a:solidFill>
                          <a:effectLst/>
                          <a:latin typeface="Aptos"/>
                        </a:rPr>
                        <a:t>12.73%</a:t>
                      </a:r>
                    </a:p>
                  </a:txBody>
                  <a:tcPr marL="36000" marR="36000" marT="6911" marB="72000" anchor="ctr">
                    <a:solidFill>
                      <a:schemeClr val="bg1"/>
                    </a:solidFill>
                  </a:tcPr>
                </a:tc>
                <a:tc>
                  <a:txBody>
                    <a:bodyPr/>
                    <a:lstStyle/>
                    <a:p>
                      <a:pPr algn="r" fontAlgn="b"/>
                      <a:r>
                        <a:rPr lang="en-IN" sz="800" b="0" i="0" u="none" strike="noStrike">
                          <a:solidFill>
                            <a:srgbClr val="000000"/>
                          </a:solidFill>
                          <a:effectLst/>
                          <a:latin typeface="Aptos"/>
                        </a:rPr>
                        <a:t>10.91%</a:t>
                      </a:r>
                    </a:p>
                  </a:txBody>
                  <a:tcPr marL="36000" marR="36000" marT="6911" marB="72000" anchor="ctr">
                    <a:solidFill>
                      <a:schemeClr val="bg1"/>
                    </a:solidFill>
                  </a:tcPr>
                </a:tc>
                <a:tc>
                  <a:txBody>
                    <a:bodyPr/>
                    <a:lstStyle/>
                    <a:p>
                      <a:pPr algn="r" fontAlgn="b"/>
                      <a:r>
                        <a:rPr lang="en-IN" sz="800" b="0" i="0" u="none" strike="noStrike">
                          <a:solidFill>
                            <a:srgbClr val="000000"/>
                          </a:solidFill>
                          <a:effectLst/>
                          <a:latin typeface="Aptos"/>
                        </a:rPr>
                        <a:t>10.46%</a:t>
                      </a:r>
                    </a:p>
                  </a:txBody>
                  <a:tcPr marL="36000" marR="36000" marT="6911" marB="72000" anchor="ctr">
                    <a:solidFill>
                      <a:schemeClr val="bg1"/>
                    </a:solidFill>
                  </a:tcPr>
                </a:tc>
                <a:extLst>
                  <a:ext uri="{0D108BD9-81ED-4DB2-BD59-A6C34878D82A}">
                    <a16:rowId xmlns:a16="http://schemas.microsoft.com/office/drawing/2014/main" val="2848016976"/>
                  </a:ext>
                </a:extLst>
              </a:tr>
              <a:tr h="176228">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a:solidFill>
                            <a:srgbClr val="000000"/>
                          </a:solidFill>
                          <a:effectLst/>
                          <a:latin typeface="Aptos"/>
                        </a:rPr>
                        <a:t>EBIT Growth</a:t>
                      </a:r>
                    </a:p>
                  </a:txBody>
                  <a:tcPr marL="36000" marR="36000" marT="6911" marB="72000" anchor="ctr">
                    <a:solidFill>
                      <a:schemeClr val="bg1"/>
                    </a:solidFill>
                  </a:tcPr>
                </a:tc>
                <a:tc>
                  <a:txBody>
                    <a:bodyPr/>
                    <a:lstStyle/>
                    <a:p>
                      <a:pPr algn="r" fontAlgn="b"/>
                      <a:r>
                        <a:rPr lang="en-IN" sz="800" b="0" i="0" u="none" strike="noStrike">
                          <a:solidFill>
                            <a:srgbClr val="000000"/>
                          </a:solidFill>
                          <a:effectLst/>
                          <a:latin typeface="Aptos" panose="020B0004020202020204" pitchFamily="34" charset="0"/>
                        </a:rPr>
                        <a:t>14.03%</a:t>
                      </a:r>
                    </a:p>
                  </a:txBody>
                  <a:tcPr marL="36000" marR="36000" marT="6911" marB="72000" anchor="ctr">
                    <a:solidFill>
                      <a:schemeClr val="bg1"/>
                    </a:solidFill>
                  </a:tcPr>
                </a:tc>
                <a:tc>
                  <a:txBody>
                    <a:bodyPr/>
                    <a:lstStyle/>
                    <a:p>
                      <a:pPr algn="r" fontAlgn="b"/>
                      <a:r>
                        <a:rPr lang="en-IN" sz="800" b="0" i="0" u="none" strike="noStrike">
                          <a:solidFill>
                            <a:srgbClr val="000000"/>
                          </a:solidFill>
                          <a:effectLst/>
                          <a:latin typeface="Aptos"/>
                        </a:rPr>
                        <a:t>22.57%</a:t>
                      </a:r>
                    </a:p>
                  </a:txBody>
                  <a:tcPr marL="36000" marR="36000" marT="6911" marB="72000" anchor="ctr">
                    <a:solidFill>
                      <a:schemeClr val="bg1"/>
                    </a:solidFill>
                  </a:tcPr>
                </a:tc>
                <a:tc>
                  <a:txBody>
                    <a:bodyPr/>
                    <a:lstStyle/>
                    <a:p>
                      <a:pPr algn="r" fontAlgn="b"/>
                      <a:r>
                        <a:rPr lang="en-IN" sz="800" b="0" i="0" u="none" strike="noStrike">
                          <a:solidFill>
                            <a:srgbClr val="000000"/>
                          </a:solidFill>
                          <a:effectLst/>
                          <a:latin typeface="Aptos" panose="020B0004020202020204" pitchFamily="34" charset="0"/>
                        </a:rPr>
                        <a:t>14.58%</a:t>
                      </a:r>
                    </a:p>
                  </a:txBody>
                  <a:tcPr marL="36000" marR="36000" marT="6911" marB="72000" anchor="ctr">
                    <a:solidFill>
                      <a:schemeClr val="bg1"/>
                    </a:solidFill>
                  </a:tcPr>
                </a:tc>
                <a:tc>
                  <a:txBody>
                    <a:bodyPr/>
                    <a:lstStyle/>
                    <a:p>
                      <a:pPr algn="r" fontAlgn="b"/>
                      <a:r>
                        <a:rPr lang="en-IN" sz="800" b="0" i="0" u="none" strike="noStrike">
                          <a:solidFill>
                            <a:srgbClr val="000000"/>
                          </a:solidFill>
                          <a:effectLst/>
                          <a:latin typeface="Aptos" panose="020B0004020202020204" pitchFamily="34" charset="0"/>
                        </a:rPr>
                        <a:t>12.80%</a:t>
                      </a:r>
                    </a:p>
                  </a:txBody>
                  <a:tcPr marL="36000" marR="36000" marT="6911" marB="72000" anchor="ctr">
                    <a:solidFill>
                      <a:schemeClr val="bg1"/>
                    </a:solidFill>
                  </a:tcPr>
                </a:tc>
                <a:tc>
                  <a:txBody>
                    <a:bodyPr/>
                    <a:lstStyle/>
                    <a:p>
                      <a:pPr algn="r" fontAlgn="b"/>
                      <a:r>
                        <a:rPr lang="en-IN" sz="800" b="0" i="0" u="none" strike="noStrike">
                          <a:solidFill>
                            <a:srgbClr val="000000"/>
                          </a:solidFill>
                          <a:effectLst/>
                          <a:latin typeface="Aptos"/>
                        </a:rPr>
                        <a:t>10.86%</a:t>
                      </a:r>
                    </a:p>
                  </a:txBody>
                  <a:tcPr marL="36000" marR="36000" marT="6911" marB="72000" anchor="ctr">
                    <a:solidFill>
                      <a:schemeClr val="bg1"/>
                    </a:solidFill>
                  </a:tcPr>
                </a:tc>
                <a:tc>
                  <a:txBody>
                    <a:bodyPr/>
                    <a:lstStyle/>
                    <a:p>
                      <a:pPr algn="r" fontAlgn="b"/>
                      <a:r>
                        <a:rPr lang="en-IN" sz="800" b="0" i="0" u="none" strike="noStrike">
                          <a:solidFill>
                            <a:srgbClr val="000000"/>
                          </a:solidFill>
                          <a:effectLst/>
                          <a:latin typeface="Aptos"/>
                        </a:rPr>
                        <a:t>10.60%</a:t>
                      </a:r>
                    </a:p>
                  </a:txBody>
                  <a:tcPr marL="36000" marR="36000" marT="6911" marB="72000" anchor="ctr">
                    <a:solidFill>
                      <a:schemeClr val="bg1"/>
                    </a:solidFill>
                  </a:tcPr>
                </a:tc>
                <a:extLst>
                  <a:ext uri="{0D108BD9-81ED-4DB2-BD59-A6C34878D82A}">
                    <a16:rowId xmlns:a16="http://schemas.microsoft.com/office/drawing/2014/main" val="143845541"/>
                  </a:ext>
                </a:extLst>
              </a:tr>
              <a:tr h="176228">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1" i="0" u="none" strike="noStrike">
                          <a:solidFill>
                            <a:schemeClr val="bg1"/>
                          </a:solidFill>
                          <a:effectLst/>
                          <a:latin typeface="Aptos" panose="020B0004020202020204" pitchFamily="34" charset="0"/>
                        </a:rPr>
                        <a:t>Net Profit Growth</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31.27%</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74.66%</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24.02%</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21.34%</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17.86%</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18.19%</a:t>
                      </a:r>
                    </a:p>
                  </a:txBody>
                  <a:tcPr marL="36000" marR="36000" marT="6911" marB="72000" anchor="ctr">
                    <a:solidFill>
                      <a:srgbClr val="187C2C"/>
                    </a:solidFill>
                  </a:tcPr>
                </a:tc>
                <a:extLst>
                  <a:ext uri="{0D108BD9-81ED-4DB2-BD59-A6C34878D82A}">
                    <a16:rowId xmlns:a16="http://schemas.microsoft.com/office/drawing/2014/main" val="2838656290"/>
                  </a:ext>
                </a:extLst>
              </a:tr>
              <a:tr h="205600">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r>
                        <a:rPr lang="en-IN" sz="800" b="0" i="0" u="none" strike="noStrike">
                          <a:solidFill>
                            <a:srgbClr val="000000"/>
                          </a:solidFill>
                          <a:effectLst/>
                          <a:latin typeface="Aptos" panose="020B0004020202020204" pitchFamily="34" charset="0"/>
                        </a:rPr>
                        <a:t> </a:t>
                      </a:r>
                    </a:p>
                  </a:txBody>
                  <a:tcPr marL="36000" marR="36000" marT="6911" marB="72000" anchor="ctr"/>
                </a:tc>
                <a:tc>
                  <a:txBody>
                    <a:bodyPr/>
                    <a:lstStyle/>
                    <a:p>
                      <a:pPr algn="l" fontAlgn="b"/>
                      <a:r>
                        <a:rPr lang="en-IN" sz="800" b="0" i="0" u="none" strike="noStrike">
                          <a:solidFill>
                            <a:srgbClr val="000000"/>
                          </a:solidFill>
                          <a:effectLst/>
                          <a:latin typeface="Aptos" panose="020B0004020202020204" pitchFamily="34" charset="0"/>
                        </a:rPr>
                        <a:t> </a:t>
                      </a:r>
                    </a:p>
                  </a:txBody>
                  <a:tcPr marL="36000" marR="36000" marT="6911"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r>
                        <a:rPr lang="en-IN" sz="800" b="0" i="0" u="none" strike="noStrike">
                          <a:solidFill>
                            <a:srgbClr val="000000"/>
                          </a:solidFill>
                          <a:effectLst/>
                          <a:latin typeface="Aptos" panose="020B0004020202020204" pitchFamily="34" charset="0"/>
                        </a:rPr>
                        <a:t> </a:t>
                      </a:r>
                    </a:p>
                  </a:txBody>
                  <a:tcPr marL="36000" marR="36000" marT="6911" marB="72000" anchor="ctr"/>
                </a:tc>
                <a:extLst>
                  <a:ext uri="{0D108BD9-81ED-4DB2-BD59-A6C34878D82A}">
                    <a16:rowId xmlns:a16="http://schemas.microsoft.com/office/drawing/2014/main" val="10001"/>
                  </a:ext>
                </a:extLst>
              </a:tr>
              <a:tr h="176228">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dirty="0">
                          <a:solidFill>
                            <a:srgbClr val="000000"/>
                          </a:solidFill>
                          <a:effectLst/>
                          <a:latin typeface="Aptos"/>
                        </a:rPr>
                        <a:t>EBITDA Margin</a:t>
                      </a:r>
                    </a:p>
                  </a:txBody>
                  <a:tcPr marL="36000" marR="36000" marT="6911" marB="72000" anchor="ctr"/>
                </a:tc>
                <a:tc>
                  <a:txBody>
                    <a:bodyPr/>
                    <a:lstStyle/>
                    <a:p>
                      <a:pPr algn="r" fontAlgn="b"/>
                      <a:r>
                        <a:rPr lang="en-IN" sz="800" b="0" i="0" u="none" strike="noStrike">
                          <a:solidFill>
                            <a:srgbClr val="000000"/>
                          </a:solidFill>
                          <a:effectLst/>
                          <a:latin typeface="Aptos"/>
                        </a:rPr>
                        <a:t>91.02%</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93.07%</a:t>
                      </a:r>
                    </a:p>
                  </a:txBody>
                  <a:tcPr marL="36000" marR="36000" marT="6911" marB="72000" anchor="ctr"/>
                </a:tc>
                <a:tc>
                  <a:txBody>
                    <a:bodyPr/>
                    <a:lstStyle/>
                    <a:p>
                      <a:pPr algn="r" fontAlgn="b"/>
                      <a:r>
                        <a:rPr lang="en-IN" sz="800" b="0" i="0" u="none" strike="noStrike">
                          <a:solidFill>
                            <a:srgbClr val="000000"/>
                          </a:solidFill>
                          <a:effectLst/>
                          <a:latin typeface="Aptos"/>
                        </a:rPr>
                        <a:t>93.31%</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93.56%</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93.43%</a:t>
                      </a:r>
                    </a:p>
                  </a:txBody>
                  <a:tcPr marL="36000" marR="36000" marT="6911" marB="72000" anchor="ctr"/>
                </a:tc>
                <a:tc>
                  <a:txBody>
                    <a:bodyPr/>
                    <a:lstStyle/>
                    <a:p>
                      <a:pPr algn="r" fontAlgn="b"/>
                      <a:r>
                        <a:rPr lang="en-IN" sz="800" b="0" i="0" u="none" strike="noStrike">
                          <a:solidFill>
                            <a:srgbClr val="000000"/>
                          </a:solidFill>
                          <a:effectLst/>
                          <a:latin typeface="Aptos"/>
                        </a:rPr>
                        <a:t>93.86%</a:t>
                      </a:r>
                    </a:p>
                  </a:txBody>
                  <a:tcPr marL="36000" marR="36000" marT="6911" marB="72000" anchor="ctr"/>
                </a:tc>
                <a:extLst>
                  <a:ext uri="{0D108BD9-81ED-4DB2-BD59-A6C34878D82A}">
                    <a16:rowId xmlns:a16="http://schemas.microsoft.com/office/drawing/2014/main" val="10002"/>
                  </a:ext>
                </a:extLst>
              </a:tr>
              <a:tr h="176228">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a:solidFill>
                            <a:srgbClr val="000000"/>
                          </a:solidFill>
                          <a:effectLst/>
                          <a:latin typeface="Aptos"/>
                        </a:rPr>
                        <a:t>EBIT Margin</a:t>
                      </a:r>
                    </a:p>
                  </a:txBody>
                  <a:tcPr marL="36000" marR="36000" marT="6911" marB="72000" anchor="ctr"/>
                </a:tc>
                <a:tc>
                  <a:txBody>
                    <a:bodyPr/>
                    <a:lstStyle/>
                    <a:p>
                      <a:pPr algn="r" fontAlgn="b"/>
                      <a:r>
                        <a:rPr lang="en-IN" sz="800" b="0" i="0" u="none" strike="noStrike">
                          <a:solidFill>
                            <a:srgbClr val="000000"/>
                          </a:solidFill>
                          <a:effectLst/>
                          <a:latin typeface="Aptos"/>
                        </a:rPr>
                        <a:t>68.74%</a:t>
                      </a:r>
                    </a:p>
                  </a:txBody>
                  <a:tcPr marL="36000" marR="36000" marT="6911" marB="72000" anchor="ctr"/>
                </a:tc>
                <a:tc>
                  <a:txBody>
                    <a:bodyPr/>
                    <a:lstStyle/>
                    <a:p>
                      <a:pPr algn="r" fontAlgn="b"/>
                      <a:r>
                        <a:rPr lang="en-IN" sz="800" b="0" i="0" u="none" strike="noStrike">
                          <a:solidFill>
                            <a:srgbClr val="000000"/>
                          </a:solidFill>
                          <a:effectLst/>
                          <a:latin typeface="Aptos"/>
                        </a:rPr>
                        <a:t>73.07%</a:t>
                      </a:r>
                    </a:p>
                  </a:txBody>
                  <a:tcPr marL="36000" marR="36000" marT="6911" marB="72000" anchor="ctr"/>
                </a:tc>
                <a:tc>
                  <a:txBody>
                    <a:bodyPr/>
                    <a:lstStyle/>
                    <a:p>
                      <a:pPr algn="r" fontAlgn="b"/>
                      <a:r>
                        <a:rPr lang="en-IN" sz="800" b="0" i="0" u="none" strike="noStrike">
                          <a:solidFill>
                            <a:srgbClr val="000000"/>
                          </a:solidFill>
                          <a:effectLst/>
                          <a:latin typeface="Aptos"/>
                        </a:rPr>
                        <a:t>73.31%</a:t>
                      </a:r>
                    </a:p>
                  </a:txBody>
                  <a:tcPr marL="36000" marR="36000" marT="6911" marB="72000" anchor="ctr"/>
                </a:tc>
                <a:tc>
                  <a:txBody>
                    <a:bodyPr/>
                    <a:lstStyle/>
                    <a:p>
                      <a:pPr algn="r" fontAlgn="b"/>
                      <a:r>
                        <a:rPr lang="en-IN" sz="800" b="0" i="0" u="none" strike="noStrike">
                          <a:solidFill>
                            <a:srgbClr val="000000"/>
                          </a:solidFill>
                          <a:effectLst/>
                          <a:latin typeface="Aptos"/>
                        </a:rPr>
                        <a:t>73.56%</a:t>
                      </a:r>
                    </a:p>
                  </a:txBody>
                  <a:tcPr marL="36000" marR="36000" marT="6911" marB="72000" anchor="ctr"/>
                </a:tc>
                <a:tc>
                  <a:txBody>
                    <a:bodyPr/>
                    <a:lstStyle/>
                    <a:p>
                      <a:pPr algn="r" fontAlgn="b"/>
                      <a:r>
                        <a:rPr lang="en-IN" sz="800" b="0" i="0" u="none" strike="noStrike">
                          <a:solidFill>
                            <a:srgbClr val="000000"/>
                          </a:solidFill>
                          <a:effectLst/>
                          <a:latin typeface="Aptos"/>
                        </a:rPr>
                        <a:t>73.43%</a:t>
                      </a:r>
                    </a:p>
                  </a:txBody>
                  <a:tcPr marL="36000" marR="36000" marT="6911" marB="72000" anchor="ctr"/>
                </a:tc>
                <a:tc>
                  <a:txBody>
                    <a:bodyPr/>
                    <a:lstStyle/>
                    <a:p>
                      <a:pPr algn="r" fontAlgn="b"/>
                      <a:r>
                        <a:rPr lang="en-IN" sz="800" b="0" i="0" u="none" strike="noStrike">
                          <a:solidFill>
                            <a:srgbClr val="000000"/>
                          </a:solidFill>
                          <a:effectLst/>
                          <a:latin typeface="Aptos"/>
                        </a:rPr>
                        <a:t>73.86%</a:t>
                      </a:r>
                    </a:p>
                  </a:txBody>
                  <a:tcPr marL="36000" marR="36000" marT="6911" marB="72000" anchor="ctr"/>
                </a:tc>
                <a:extLst>
                  <a:ext uri="{0D108BD9-81ED-4DB2-BD59-A6C34878D82A}">
                    <a16:rowId xmlns:a16="http://schemas.microsoft.com/office/drawing/2014/main" val="10003"/>
                  </a:ext>
                </a:extLst>
              </a:tr>
              <a:tr h="204771">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a:solidFill>
                            <a:srgbClr val="000000"/>
                          </a:solidFill>
                          <a:effectLst/>
                          <a:latin typeface="Aptos"/>
                        </a:rPr>
                        <a:t>PBT Margin</a:t>
                      </a:r>
                    </a:p>
                  </a:txBody>
                  <a:tcPr marL="36000" marR="36000" marT="6911" marB="72000" anchor="ctr"/>
                </a:tc>
                <a:tc>
                  <a:txBody>
                    <a:bodyPr/>
                    <a:lstStyle/>
                    <a:p>
                      <a:pPr algn="r" fontAlgn="b"/>
                      <a:r>
                        <a:rPr lang="en-IN" sz="800" b="0" i="0" u="none" strike="noStrike">
                          <a:solidFill>
                            <a:srgbClr val="000000"/>
                          </a:solidFill>
                          <a:effectLst/>
                          <a:latin typeface="Aptos"/>
                        </a:rPr>
                        <a:t>19.76%</a:t>
                      </a:r>
                    </a:p>
                  </a:txBody>
                  <a:tcPr marL="36000" marR="36000" marT="6911" marB="72000" anchor="ctr"/>
                </a:tc>
                <a:tc>
                  <a:txBody>
                    <a:bodyPr/>
                    <a:lstStyle/>
                    <a:p>
                      <a:pPr algn="r" fontAlgn="b"/>
                      <a:r>
                        <a:rPr lang="en-IN" sz="800" b="0" i="0" u="none" strike="noStrike">
                          <a:solidFill>
                            <a:srgbClr val="000000"/>
                          </a:solidFill>
                          <a:effectLst/>
                          <a:latin typeface="Aptos"/>
                        </a:rPr>
                        <a:t>26.07%</a:t>
                      </a:r>
                    </a:p>
                  </a:txBody>
                  <a:tcPr marL="36000" marR="36000" marT="6911" marB="72000" anchor="ctr"/>
                </a:tc>
                <a:tc>
                  <a:txBody>
                    <a:bodyPr/>
                    <a:lstStyle/>
                    <a:p>
                      <a:pPr algn="r" fontAlgn="b"/>
                      <a:r>
                        <a:rPr lang="en-IN" sz="800" b="0" i="0" u="none" strike="noStrike">
                          <a:solidFill>
                            <a:srgbClr val="000000"/>
                          </a:solidFill>
                          <a:effectLst/>
                          <a:latin typeface="Aptos"/>
                        </a:rPr>
                        <a:t>28.31%</a:t>
                      </a:r>
                    </a:p>
                  </a:txBody>
                  <a:tcPr marL="36000" marR="36000" marT="6911" marB="72000" anchor="ctr"/>
                </a:tc>
                <a:tc>
                  <a:txBody>
                    <a:bodyPr/>
                    <a:lstStyle/>
                    <a:p>
                      <a:pPr algn="r" fontAlgn="b"/>
                      <a:r>
                        <a:rPr lang="en-IN" sz="800" b="0" i="0" u="none" strike="noStrike">
                          <a:solidFill>
                            <a:srgbClr val="000000"/>
                          </a:solidFill>
                          <a:effectLst/>
                          <a:latin typeface="Aptos"/>
                        </a:rPr>
                        <a:t>30.56%</a:t>
                      </a:r>
                    </a:p>
                  </a:txBody>
                  <a:tcPr marL="36000" marR="36000" marT="6911" marB="72000" anchor="ctr"/>
                </a:tc>
                <a:tc>
                  <a:txBody>
                    <a:bodyPr/>
                    <a:lstStyle/>
                    <a:p>
                      <a:pPr algn="r" fontAlgn="b"/>
                      <a:r>
                        <a:rPr lang="en-IN" sz="800" b="0" i="0" u="none" strike="noStrike">
                          <a:solidFill>
                            <a:srgbClr val="000000"/>
                          </a:solidFill>
                          <a:effectLst/>
                          <a:latin typeface="Aptos"/>
                        </a:rPr>
                        <a:t>32.43%</a:t>
                      </a:r>
                    </a:p>
                  </a:txBody>
                  <a:tcPr marL="36000" marR="36000" marT="6911" marB="72000" anchor="ctr"/>
                </a:tc>
                <a:tc>
                  <a:txBody>
                    <a:bodyPr/>
                    <a:lstStyle/>
                    <a:p>
                      <a:pPr algn="r" fontAlgn="b"/>
                      <a:r>
                        <a:rPr lang="en-IN" sz="800" b="0" i="0" u="none" strike="noStrike">
                          <a:solidFill>
                            <a:srgbClr val="000000"/>
                          </a:solidFill>
                          <a:effectLst/>
                          <a:latin typeface="Aptos"/>
                        </a:rPr>
                        <a:t>34.86%</a:t>
                      </a:r>
                    </a:p>
                  </a:txBody>
                  <a:tcPr marL="36000" marR="36000" marT="6911" marB="72000" anchor="ctr"/>
                </a:tc>
                <a:extLst>
                  <a:ext uri="{0D108BD9-81ED-4DB2-BD59-A6C34878D82A}">
                    <a16:rowId xmlns:a16="http://schemas.microsoft.com/office/drawing/2014/main" val="10004"/>
                  </a:ext>
                </a:extLst>
              </a:tr>
              <a:tr h="202144">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1" i="0" u="none" strike="noStrike">
                          <a:solidFill>
                            <a:schemeClr val="bg1"/>
                          </a:solidFill>
                          <a:effectLst/>
                          <a:latin typeface="Aptos" panose="020B0004020202020204" pitchFamily="34" charset="0"/>
                        </a:rPr>
                        <a:t>Net Margin</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12.88%</a:t>
                      </a:r>
                    </a:p>
                  </a:txBody>
                  <a:tcPr marL="36000" marR="36000" marT="6911" marB="72000" anchor="ctr">
                    <a:solidFill>
                      <a:srgbClr val="187C2C"/>
                    </a:solidFill>
                  </a:tcPr>
                </a:tc>
                <a:tc>
                  <a:txBody>
                    <a:bodyPr/>
                    <a:lstStyle/>
                    <a:p>
                      <a:pPr algn="r" fontAlgn="b"/>
                      <a:r>
                        <a:rPr lang="en-IN" sz="800" b="1" i="0" u="none" strike="noStrike" dirty="0">
                          <a:solidFill>
                            <a:schemeClr val="bg1"/>
                          </a:solidFill>
                          <a:effectLst/>
                          <a:latin typeface="Aptos" panose="020B0004020202020204" pitchFamily="34" charset="0"/>
                        </a:rPr>
                        <a:t>19.51%</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21.19%</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22.87%</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24.27%</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26.08%</a:t>
                      </a:r>
                    </a:p>
                  </a:txBody>
                  <a:tcPr marL="36000" marR="36000" marT="6911" marB="72000" anchor="ctr">
                    <a:solidFill>
                      <a:srgbClr val="187C2C"/>
                    </a:solidFill>
                  </a:tcPr>
                </a:tc>
                <a:extLst>
                  <a:ext uri="{0D108BD9-81ED-4DB2-BD59-A6C34878D82A}">
                    <a16:rowId xmlns:a16="http://schemas.microsoft.com/office/drawing/2014/main" val="10005"/>
                  </a:ext>
                </a:extLst>
              </a:tr>
              <a:tr h="264343">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r>
                        <a:rPr lang="en-IN" sz="800" b="0" i="0" u="none" strike="noStrike">
                          <a:solidFill>
                            <a:srgbClr val="000000"/>
                          </a:solidFill>
                          <a:effectLst/>
                          <a:latin typeface="Aptos" panose="020B0004020202020204" pitchFamily="34" charset="0"/>
                        </a:rPr>
                        <a:t> </a:t>
                      </a:r>
                    </a:p>
                  </a:txBody>
                  <a:tcPr marL="36000" marR="36000" marT="6911" marB="72000" anchor="ctr"/>
                </a:tc>
                <a:tc>
                  <a:txBody>
                    <a:bodyPr/>
                    <a:lstStyle/>
                    <a:p>
                      <a:pPr algn="l" fontAlgn="b"/>
                      <a:r>
                        <a:rPr lang="en-IN" sz="800" b="0" i="0" u="none" strike="noStrike">
                          <a:solidFill>
                            <a:srgbClr val="000000"/>
                          </a:solidFill>
                          <a:effectLst/>
                          <a:latin typeface="Aptos" panose="020B0004020202020204" pitchFamily="34" charset="0"/>
                        </a:rPr>
                        <a:t> </a:t>
                      </a:r>
                    </a:p>
                  </a:txBody>
                  <a:tcPr marL="36000" marR="36000" marT="6911" marB="72000" anchor="ctr"/>
                </a:tc>
                <a:tc>
                  <a:txBody>
                    <a:bodyPr/>
                    <a:lstStyle/>
                    <a:p>
                      <a:pPr algn="l" fontAlgn="b"/>
                      <a:r>
                        <a:rPr lang="en-IN" sz="800" b="0" i="0" u="none" strike="noStrike">
                          <a:solidFill>
                            <a:srgbClr val="000000"/>
                          </a:solidFill>
                          <a:effectLst/>
                          <a:latin typeface="Aptos" panose="020B0004020202020204" pitchFamily="34" charset="0"/>
                        </a:rPr>
                        <a:t> </a:t>
                      </a:r>
                    </a:p>
                  </a:txBody>
                  <a:tcPr marL="36000" marR="36000" marT="6911" marB="72000" anchor="ctr"/>
                </a:tc>
                <a:tc>
                  <a:txBody>
                    <a:bodyPr/>
                    <a:lstStyle/>
                    <a:p>
                      <a:pPr algn="l" fontAlgn="b"/>
                      <a:r>
                        <a:rPr lang="en-IN" sz="800" b="0" i="0" u="none" strike="noStrike">
                          <a:solidFill>
                            <a:srgbClr val="000000"/>
                          </a:solidFill>
                          <a:effectLst/>
                          <a:latin typeface="Aptos" panose="020B0004020202020204" pitchFamily="34" charset="0"/>
                        </a:rPr>
                        <a:t> </a:t>
                      </a:r>
                    </a:p>
                  </a:txBody>
                  <a:tcPr marL="36000" marR="36000" marT="6911" marB="72000" anchor="ctr"/>
                </a:tc>
                <a:extLst>
                  <a:ext uri="{0D108BD9-81ED-4DB2-BD59-A6C34878D82A}">
                    <a16:rowId xmlns:a16="http://schemas.microsoft.com/office/drawing/2014/main" val="10006"/>
                  </a:ext>
                </a:extLst>
              </a:tr>
              <a:tr h="176228">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a:solidFill>
                            <a:srgbClr val="000000"/>
                          </a:solidFill>
                          <a:effectLst/>
                          <a:latin typeface="Aptos"/>
                        </a:rPr>
                        <a:t>Depreciation % of Sales</a:t>
                      </a:r>
                    </a:p>
                  </a:txBody>
                  <a:tcPr marL="36000" marR="36000" marT="6911" marB="72000" anchor="ctr"/>
                </a:tc>
                <a:tc>
                  <a:txBody>
                    <a:bodyPr/>
                    <a:lstStyle/>
                    <a:p>
                      <a:pPr algn="r" fontAlgn="b"/>
                      <a:r>
                        <a:rPr lang="en-IN" sz="800" b="0" i="0" u="none" strike="noStrike">
                          <a:solidFill>
                            <a:srgbClr val="000000"/>
                          </a:solidFill>
                          <a:effectLst/>
                          <a:latin typeface="Aptos"/>
                        </a:rPr>
                        <a:t>22.28%</a:t>
                      </a:r>
                    </a:p>
                  </a:txBody>
                  <a:tcPr marL="36000" marR="36000" marT="6911" marB="72000" anchor="ctr"/>
                </a:tc>
                <a:tc>
                  <a:txBody>
                    <a:bodyPr/>
                    <a:lstStyle/>
                    <a:p>
                      <a:pPr algn="r" fontAlgn="b"/>
                      <a:r>
                        <a:rPr lang="en-IN" sz="800" b="0" i="0" u="none" strike="noStrike">
                          <a:solidFill>
                            <a:srgbClr val="000000"/>
                          </a:solidFill>
                          <a:effectLst/>
                          <a:latin typeface="Aptos"/>
                        </a:rPr>
                        <a:t>20.00%</a:t>
                      </a:r>
                    </a:p>
                  </a:txBody>
                  <a:tcPr marL="36000" marR="36000" marT="6911" marB="72000" anchor="ctr"/>
                </a:tc>
                <a:tc>
                  <a:txBody>
                    <a:bodyPr/>
                    <a:lstStyle/>
                    <a:p>
                      <a:pPr algn="r" fontAlgn="b"/>
                      <a:r>
                        <a:rPr lang="en-IN" sz="800" b="0" i="0" u="none" strike="noStrike">
                          <a:solidFill>
                            <a:srgbClr val="000000"/>
                          </a:solidFill>
                          <a:effectLst/>
                          <a:latin typeface="Aptos"/>
                        </a:rPr>
                        <a:t>20.00%</a:t>
                      </a:r>
                    </a:p>
                  </a:txBody>
                  <a:tcPr marL="36000" marR="36000" marT="6911" marB="72000" anchor="ctr"/>
                </a:tc>
                <a:tc>
                  <a:txBody>
                    <a:bodyPr/>
                    <a:lstStyle/>
                    <a:p>
                      <a:pPr algn="r" fontAlgn="b"/>
                      <a:r>
                        <a:rPr lang="en-IN" sz="800" b="0" i="0" u="none" strike="noStrike">
                          <a:solidFill>
                            <a:srgbClr val="000000"/>
                          </a:solidFill>
                          <a:effectLst/>
                          <a:latin typeface="Aptos"/>
                        </a:rPr>
                        <a:t>20.00%</a:t>
                      </a:r>
                    </a:p>
                  </a:txBody>
                  <a:tcPr marL="36000" marR="36000" marT="6911" marB="72000" anchor="ctr"/>
                </a:tc>
                <a:tc>
                  <a:txBody>
                    <a:bodyPr/>
                    <a:lstStyle/>
                    <a:p>
                      <a:pPr algn="r" fontAlgn="b"/>
                      <a:r>
                        <a:rPr lang="en-IN" sz="800" b="0" i="0" u="none" strike="noStrike">
                          <a:solidFill>
                            <a:srgbClr val="000000"/>
                          </a:solidFill>
                          <a:effectLst/>
                          <a:latin typeface="Aptos"/>
                        </a:rPr>
                        <a:t>20.00%</a:t>
                      </a:r>
                    </a:p>
                  </a:txBody>
                  <a:tcPr marL="36000" marR="36000" marT="6911" marB="72000" anchor="ctr"/>
                </a:tc>
                <a:tc>
                  <a:txBody>
                    <a:bodyPr/>
                    <a:lstStyle/>
                    <a:p>
                      <a:pPr algn="r" fontAlgn="b"/>
                      <a:r>
                        <a:rPr lang="en-IN" sz="800" b="0" i="0" u="none" strike="noStrike">
                          <a:solidFill>
                            <a:srgbClr val="000000"/>
                          </a:solidFill>
                          <a:effectLst/>
                          <a:latin typeface="Aptos"/>
                        </a:rPr>
                        <a:t>20.00%</a:t>
                      </a:r>
                    </a:p>
                  </a:txBody>
                  <a:tcPr marL="36000" marR="36000" marT="6911" marB="72000" anchor="ctr"/>
                </a:tc>
                <a:extLst>
                  <a:ext uri="{0D108BD9-81ED-4DB2-BD59-A6C34878D82A}">
                    <a16:rowId xmlns:a16="http://schemas.microsoft.com/office/drawing/2014/main" val="10007"/>
                  </a:ext>
                </a:extLst>
              </a:tr>
              <a:tr h="176228">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a:solidFill>
                            <a:srgbClr val="000000"/>
                          </a:solidFill>
                          <a:effectLst/>
                          <a:latin typeface="Aptos"/>
                        </a:rPr>
                        <a:t>Employee Cost % of Sales</a:t>
                      </a:r>
                    </a:p>
                  </a:txBody>
                  <a:tcPr marL="36000" marR="36000" marT="6911" marB="72000" anchor="ctr"/>
                </a:tc>
                <a:tc>
                  <a:txBody>
                    <a:bodyPr/>
                    <a:lstStyle/>
                    <a:p>
                      <a:pPr algn="r" fontAlgn="b"/>
                      <a:r>
                        <a:rPr lang="en-IN" sz="800" b="0" i="0" u="none" strike="noStrike">
                          <a:solidFill>
                            <a:srgbClr val="000000"/>
                          </a:solidFill>
                          <a:effectLst/>
                          <a:latin typeface="Aptos"/>
                        </a:rPr>
                        <a:t>1.2%</a:t>
                      </a:r>
                    </a:p>
                  </a:txBody>
                  <a:tcPr marL="36000" marR="36000" marT="6911" marB="72000" anchor="ctr"/>
                </a:tc>
                <a:tc>
                  <a:txBody>
                    <a:bodyPr/>
                    <a:lstStyle/>
                    <a:p>
                      <a:pPr algn="r" fontAlgn="b"/>
                      <a:r>
                        <a:rPr lang="en-IN" sz="800" b="0" i="0" u="none" strike="noStrike">
                          <a:solidFill>
                            <a:srgbClr val="000000"/>
                          </a:solidFill>
                          <a:effectLst/>
                          <a:latin typeface="Aptos"/>
                        </a:rPr>
                        <a:t>1.3%</a:t>
                      </a:r>
                    </a:p>
                  </a:txBody>
                  <a:tcPr marL="36000" marR="36000" marT="6911" marB="72000" anchor="ctr"/>
                </a:tc>
                <a:tc>
                  <a:txBody>
                    <a:bodyPr/>
                    <a:lstStyle/>
                    <a:p>
                      <a:pPr algn="r" fontAlgn="b"/>
                      <a:r>
                        <a:rPr lang="en-IN" sz="800" b="0" i="0" u="none" strike="noStrike">
                          <a:solidFill>
                            <a:srgbClr val="000000"/>
                          </a:solidFill>
                          <a:effectLst/>
                          <a:latin typeface="Aptos"/>
                        </a:rPr>
                        <a:t>1.5%</a:t>
                      </a:r>
                    </a:p>
                  </a:txBody>
                  <a:tcPr marL="36000" marR="36000" marT="6911" marB="72000" anchor="ctr"/>
                </a:tc>
                <a:tc>
                  <a:txBody>
                    <a:bodyPr/>
                    <a:lstStyle/>
                    <a:p>
                      <a:pPr algn="r" fontAlgn="b"/>
                      <a:r>
                        <a:rPr lang="en-IN" sz="800" b="0" i="0" u="none" strike="noStrike">
                          <a:solidFill>
                            <a:srgbClr val="000000"/>
                          </a:solidFill>
                          <a:effectLst/>
                          <a:latin typeface="Aptos"/>
                        </a:rPr>
                        <a:t>1.7%</a:t>
                      </a:r>
                    </a:p>
                  </a:txBody>
                  <a:tcPr marL="36000" marR="36000" marT="6911" marB="72000" anchor="ctr"/>
                </a:tc>
                <a:tc>
                  <a:txBody>
                    <a:bodyPr/>
                    <a:lstStyle/>
                    <a:p>
                      <a:pPr algn="r" fontAlgn="b"/>
                      <a:r>
                        <a:rPr lang="en-IN" sz="800" b="0" i="0" u="none" strike="noStrike">
                          <a:solidFill>
                            <a:srgbClr val="000000"/>
                          </a:solidFill>
                          <a:effectLst/>
                          <a:latin typeface="Aptos"/>
                        </a:rPr>
                        <a:t>2.0%</a:t>
                      </a:r>
                    </a:p>
                  </a:txBody>
                  <a:tcPr marL="36000" marR="36000" marT="6911" marB="72000" anchor="ctr"/>
                </a:tc>
                <a:tc>
                  <a:txBody>
                    <a:bodyPr/>
                    <a:lstStyle/>
                    <a:p>
                      <a:pPr algn="r" fontAlgn="b"/>
                      <a:r>
                        <a:rPr lang="en-IN" sz="800" b="0" i="0" u="none" strike="noStrike" dirty="0">
                          <a:solidFill>
                            <a:srgbClr val="000000"/>
                          </a:solidFill>
                          <a:effectLst/>
                          <a:latin typeface="Aptos"/>
                        </a:rPr>
                        <a:t>1.8%</a:t>
                      </a:r>
                    </a:p>
                  </a:txBody>
                  <a:tcPr marL="36000" marR="36000" marT="6911" marB="72000" anchor="ctr"/>
                </a:tc>
                <a:extLst>
                  <a:ext uri="{0D108BD9-81ED-4DB2-BD59-A6C34878D82A}">
                    <a16:rowId xmlns:a16="http://schemas.microsoft.com/office/drawing/2014/main" val="10008"/>
                  </a:ext>
                </a:extLst>
              </a:tr>
              <a:tr h="212511">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a:solidFill>
                            <a:srgbClr val="000000"/>
                          </a:solidFill>
                          <a:effectLst/>
                          <a:latin typeface="Aptos" panose="020B0004020202020204" pitchFamily="34" charset="0"/>
                        </a:rPr>
                        <a:t>Other Expenses % of Sales</a:t>
                      </a:r>
                    </a:p>
                  </a:txBody>
                  <a:tcPr marL="36000" marR="36000" marT="6911" marB="72000" anchor="ctr"/>
                </a:tc>
                <a:tc>
                  <a:txBody>
                    <a:bodyPr/>
                    <a:lstStyle/>
                    <a:p>
                      <a:pPr algn="r" fontAlgn="b"/>
                      <a:r>
                        <a:rPr lang="en-IN" sz="800" b="0" i="0" u="none" strike="noStrike">
                          <a:solidFill>
                            <a:srgbClr val="000000"/>
                          </a:solidFill>
                          <a:effectLst/>
                          <a:latin typeface="Aptos"/>
                        </a:rPr>
                        <a:t>0.9%</a:t>
                      </a:r>
                    </a:p>
                  </a:txBody>
                  <a:tcPr marL="36000" marR="36000" marT="6911" marB="72000" anchor="ctr"/>
                </a:tc>
                <a:tc>
                  <a:txBody>
                    <a:bodyPr/>
                    <a:lstStyle/>
                    <a:p>
                      <a:pPr algn="r" fontAlgn="b"/>
                      <a:r>
                        <a:rPr lang="en-IN" sz="800" b="0" i="0" u="none" strike="noStrike">
                          <a:solidFill>
                            <a:srgbClr val="000000"/>
                          </a:solidFill>
                          <a:effectLst/>
                          <a:latin typeface="Aptos"/>
                        </a:rPr>
                        <a:t>1.5%</a:t>
                      </a:r>
                    </a:p>
                  </a:txBody>
                  <a:tcPr marL="36000" marR="36000" marT="6911" marB="72000" anchor="ctr"/>
                </a:tc>
                <a:tc>
                  <a:txBody>
                    <a:bodyPr/>
                    <a:lstStyle/>
                    <a:p>
                      <a:pPr algn="r" fontAlgn="b"/>
                      <a:r>
                        <a:rPr lang="en-IN" sz="800" b="0" i="0" u="none" strike="noStrike">
                          <a:solidFill>
                            <a:srgbClr val="000000"/>
                          </a:solidFill>
                          <a:effectLst/>
                          <a:latin typeface="Aptos"/>
                        </a:rPr>
                        <a:t>1.2%</a:t>
                      </a:r>
                    </a:p>
                  </a:txBody>
                  <a:tcPr marL="36000" marR="36000" marT="6911" marB="72000" anchor="ctr"/>
                </a:tc>
                <a:tc>
                  <a:txBody>
                    <a:bodyPr/>
                    <a:lstStyle/>
                    <a:p>
                      <a:pPr algn="r" fontAlgn="b"/>
                      <a:r>
                        <a:rPr lang="en-IN" sz="800" b="0" i="0" u="none" strike="noStrike">
                          <a:solidFill>
                            <a:srgbClr val="000000"/>
                          </a:solidFill>
                          <a:effectLst/>
                          <a:latin typeface="Aptos"/>
                        </a:rPr>
                        <a:t>1.2%</a:t>
                      </a:r>
                    </a:p>
                  </a:txBody>
                  <a:tcPr marL="36000" marR="36000" marT="6911" marB="72000" anchor="ctr"/>
                </a:tc>
                <a:tc>
                  <a:txBody>
                    <a:bodyPr/>
                    <a:lstStyle/>
                    <a:p>
                      <a:pPr algn="r" fontAlgn="b"/>
                      <a:r>
                        <a:rPr lang="en-IN" sz="800" b="0" i="0" u="none" strike="noStrike">
                          <a:solidFill>
                            <a:srgbClr val="000000"/>
                          </a:solidFill>
                          <a:effectLst/>
                          <a:latin typeface="Aptos"/>
                        </a:rPr>
                        <a:t>1.2%</a:t>
                      </a:r>
                    </a:p>
                  </a:txBody>
                  <a:tcPr marL="36000" marR="36000" marT="6911" marB="72000" anchor="ctr"/>
                </a:tc>
                <a:tc>
                  <a:txBody>
                    <a:bodyPr/>
                    <a:lstStyle/>
                    <a:p>
                      <a:pPr algn="r" fontAlgn="b"/>
                      <a:r>
                        <a:rPr lang="en-IN" sz="800" b="0" i="0" u="none" strike="noStrike">
                          <a:solidFill>
                            <a:srgbClr val="000000"/>
                          </a:solidFill>
                          <a:effectLst/>
                          <a:latin typeface="Aptos"/>
                        </a:rPr>
                        <a:t>0.8%</a:t>
                      </a:r>
                    </a:p>
                  </a:txBody>
                  <a:tcPr marL="36000" marR="36000" marT="6911" marB="72000" anchor="ctr"/>
                </a:tc>
                <a:extLst>
                  <a:ext uri="{0D108BD9-81ED-4DB2-BD59-A6C34878D82A}">
                    <a16:rowId xmlns:a16="http://schemas.microsoft.com/office/drawing/2014/main" val="10009"/>
                  </a:ext>
                </a:extLst>
              </a:tr>
              <a:tr h="207328">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extLst>
                  <a:ext uri="{0D108BD9-81ED-4DB2-BD59-A6C34878D82A}">
                    <a16:rowId xmlns:a16="http://schemas.microsoft.com/office/drawing/2014/main" val="10010"/>
                  </a:ext>
                </a:extLst>
              </a:tr>
              <a:tr h="176228">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1" i="0" u="none" strike="noStrike">
                          <a:solidFill>
                            <a:schemeClr val="bg1"/>
                          </a:solidFill>
                          <a:effectLst/>
                          <a:latin typeface="Aptos" panose="020B0004020202020204" pitchFamily="34" charset="0"/>
                        </a:rPr>
                        <a:t>ROCE %</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5.79%</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6.21%</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6.24%</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6.23%</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6.22%</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6.16%</a:t>
                      </a:r>
                    </a:p>
                  </a:txBody>
                  <a:tcPr marL="36000" marR="36000" marT="6911" marB="72000" anchor="ctr">
                    <a:solidFill>
                      <a:srgbClr val="187C2C"/>
                    </a:solidFill>
                  </a:tcPr>
                </a:tc>
                <a:extLst>
                  <a:ext uri="{0D108BD9-81ED-4DB2-BD59-A6C34878D82A}">
                    <a16:rowId xmlns:a16="http://schemas.microsoft.com/office/drawing/2014/main" val="10011"/>
                  </a:ext>
                </a:extLst>
              </a:tr>
              <a:tr h="169317">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a:solidFill>
                            <a:srgbClr val="000000"/>
                          </a:solidFill>
                          <a:effectLst/>
                          <a:latin typeface="Aptos"/>
                        </a:rPr>
                        <a:t>ROE %</a:t>
                      </a:r>
                    </a:p>
                  </a:txBody>
                  <a:tcPr marL="36000" marR="36000" marT="6911" marB="72000" anchor="ctr"/>
                </a:tc>
                <a:tc>
                  <a:txBody>
                    <a:bodyPr/>
                    <a:lstStyle/>
                    <a:p>
                      <a:pPr algn="r" fontAlgn="b"/>
                      <a:r>
                        <a:rPr lang="en-IN" sz="800" b="0" i="0" u="none" strike="noStrike">
                          <a:solidFill>
                            <a:srgbClr val="000000"/>
                          </a:solidFill>
                          <a:effectLst/>
                          <a:latin typeface="Aptos"/>
                        </a:rPr>
                        <a:t>11.90%</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17.21%</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17.59%</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17.59%</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17.17%</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16.87%</a:t>
                      </a:r>
                    </a:p>
                  </a:txBody>
                  <a:tcPr marL="36000" marR="36000" marT="6911" marB="72000" anchor="ctr"/>
                </a:tc>
                <a:extLst>
                  <a:ext uri="{0D108BD9-81ED-4DB2-BD59-A6C34878D82A}">
                    <a16:rowId xmlns:a16="http://schemas.microsoft.com/office/drawing/2014/main" val="10012"/>
                  </a:ext>
                </a:extLst>
              </a:tr>
              <a:tr h="138218">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r>
                        <a:rPr lang="en-IN" sz="800" b="0" i="0" u="none" strike="noStrike">
                          <a:solidFill>
                            <a:srgbClr val="000000"/>
                          </a:solidFill>
                          <a:effectLst/>
                          <a:latin typeface="Aptos" panose="020B0004020202020204" pitchFamily="34" charset="0"/>
                        </a:rPr>
                        <a:t> </a:t>
                      </a:r>
                    </a:p>
                  </a:txBody>
                  <a:tcPr marL="36000" marR="36000" marT="6911"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extLst>
                  <a:ext uri="{0D108BD9-81ED-4DB2-BD59-A6C34878D82A}">
                    <a16:rowId xmlns:a16="http://schemas.microsoft.com/office/drawing/2014/main" val="10013"/>
                  </a:ext>
                </a:extLst>
              </a:tr>
              <a:tr h="176228">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a:solidFill>
                            <a:srgbClr val="000000"/>
                          </a:solidFill>
                          <a:effectLst/>
                          <a:latin typeface="Aptos"/>
                        </a:rPr>
                        <a:t>Debtor Turnover</a:t>
                      </a:r>
                    </a:p>
                  </a:txBody>
                  <a:tcPr marL="36000" marR="36000" marT="6911" marB="72000" anchor="ctr"/>
                </a:tc>
                <a:tc>
                  <a:txBody>
                    <a:bodyPr/>
                    <a:lstStyle/>
                    <a:p>
                      <a:pPr algn="r" fontAlgn="b"/>
                      <a:r>
                        <a:rPr lang="en-IN" sz="800" b="0" i="0" u="none" strike="noStrike">
                          <a:solidFill>
                            <a:srgbClr val="000000"/>
                          </a:solidFill>
                          <a:effectLst/>
                          <a:latin typeface="Aptos"/>
                        </a:rPr>
                        <a:t>7.78</a:t>
                      </a:r>
                    </a:p>
                  </a:txBody>
                  <a:tcPr marL="36000" marR="36000" marT="6911" marB="72000" anchor="ctr"/>
                </a:tc>
                <a:tc>
                  <a:txBody>
                    <a:bodyPr/>
                    <a:lstStyle/>
                    <a:p>
                      <a:pPr algn="r" fontAlgn="b"/>
                      <a:r>
                        <a:rPr lang="en-IN" sz="800" b="0" i="0" u="none" strike="noStrike">
                          <a:solidFill>
                            <a:srgbClr val="000000"/>
                          </a:solidFill>
                          <a:effectLst/>
                          <a:latin typeface="Aptos"/>
                        </a:rPr>
                        <a:t>7.65</a:t>
                      </a:r>
                    </a:p>
                  </a:txBody>
                  <a:tcPr marL="36000" marR="36000" marT="6911" marB="72000" anchor="ctr"/>
                </a:tc>
                <a:tc>
                  <a:txBody>
                    <a:bodyPr/>
                    <a:lstStyle/>
                    <a:p>
                      <a:pPr algn="r" fontAlgn="b"/>
                      <a:r>
                        <a:rPr lang="en-IN" sz="800" b="0" i="0" u="none" strike="noStrike">
                          <a:solidFill>
                            <a:srgbClr val="000000"/>
                          </a:solidFill>
                          <a:effectLst/>
                          <a:latin typeface="Aptos"/>
                        </a:rPr>
                        <a:t>7.42</a:t>
                      </a:r>
                    </a:p>
                  </a:txBody>
                  <a:tcPr marL="36000" marR="36000" marT="6911" marB="72000" anchor="ctr"/>
                </a:tc>
                <a:tc>
                  <a:txBody>
                    <a:bodyPr/>
                    <a:lstStyle/>
                    <a:p>
                      <a:pPr algn="r" fontAlgn="b"/>
                      <a:r>
                        <a:rPr lang="en-IN" sz="800" b="0" i="0" u="none" strike="noStrike">
                          <a:solidFill>
                            <a:srgbClr val="000000"/>
                          </a:solidFill>
                          <a:effectLst/>
                          <a:latin typeface="Aptos"/>
                        </a:rPr>
                        <a:t>7.25</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7.12</a:t>
                      </a:r>
                    </a:p>
                  </a:txBody>
                  <a:tcPr marL="36000" marR="36000" marT="6911" marB="72000" anchor="ctr"/>
                </a:tc>
                <a:tc>
                  <a:txBody>
                    <a:bodyPr/>
                    <a:lstStyle/>
                    <a:p>
                      <a:pPr algn="r" fontAlgn="b"/>
                      <a:r>
                        <a:rPr lang="en-IN" sz="800" b="0" i="0" u="none" strike="noStrike">
                          <a:solidFill>
                            <a:srgbClr val="000000"/>
                          </a:solidFill>
                          <a:effectLst/>
                          <a:latin typeface="Aptos"/>
                        </a:rPr>
                        <a:t>7.01</a:t>
                      </a:r>
                    </a:p>
                  </a:txBody>
                  <a:tcPr marL="36000" marR="36000" marT="6911" marB="72000" anchor="ctr"/>
                </a:tc>
                <a:extLst>
                  <a:ext uri="{0D108BD9-81ED-4DB2-BD59-A6C34878D82A}">
                    <a16:rowId xmlns:a16="http://schemas.microsoft.com/office/drawing/2014/main" val="10014"/>
                  </a:ext>
                </a:extLst>
              </a:tr>
              <a:tr h="264343">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a:solidFill>
                            <a:srgbClr val="000000"/>
                          </a:solidFill>
                          <a:effectLst/>
                          <a:latin typeface="Aptos"/>
                        </a:rPr>
                        <a:t>Creditor Turnover</a:t>
                      </a:r>
                    </a:p>
                  </a:txBody>
                  <a:tcPr marL="36000" marR="36000" marT="6911" marB="72000" anchor="ctr"/>
                </a:tc>
                <a:tc>
                  <a:txBody>
                    <a:bodyPr/>
                    <a:lstStyle/>
                    <a:p>
                      <a:pPr algn="r" fontAlgn="b"/>
                      <a:r>
                        <a:rPr lang="en-IN" sz="800" b="0" i="0" u="none" strike="noStrike">
                          <a:solidFill>
                            <a:srgbClr val="000000"/>
                          </a:solidFill>
                          <a:effectLst/>
                          <a:latin typeface="Aptos"/>
                        </a:rPr>
                        <a:t>31.54</a:t>
                      </a:r>
                    </a:p>
                  </a:txBody>
                  <a:tcPr marL="36000" marR="36000" marT="6911" marB="72000" anchor="ctr"/>
                </a:tc>
                <a:tc>
                  <a:txBody>
                    <a:bodyPr/>
                    <a:lstStyle/>
                    <a:p>
                      <a:pPr algn="r" fontAlgn="b"/>
                      <a:r>
                        <a:rPr lang="en-IN" sz="800" b="0" i="0" u="none" strike="noStrike">
                          <a:solidFill>
                            <a:srgbClr val="000000"/>
                          </a:solidFill>
                          <a:effectLst/>
                          <a:latin typeface="Aptos"/>
                        </a:rPr>
                        <a:t>29.05</a:t>
                      </a:r>
                    </a:p>
                  </a:txBody>
                  <a:tcPr marL="36000" marR="36000" marT="6911" marB="72000" anchor="ctr"/>
                </a:tc>
                <a:tc>
                  <a:txBody>
                    <a:bodyPr/>
                    <a:lstStyle/>
                    <a:p>
                      <a:pPr algn="r" fontAlgn="b"/>
                      <a:r>
                        <a:rPr lang="en-IN" sz="800" b="0" i="0" u="none" strike="noStrike">
                          <a:solidFill>
                            <a:srgbClr val="000000"/>
                          </a:solidFill>
                          <a:effectLst/>
                          <a:latin typeface="Aptos"/>
                        </a:rPr>
                        <a:t>27.09</a:t>
                      </a:r>
                    </a:p>
                  </a:txBody>
                  <a:tcPr marL="36000" marR="36000" marT="6911" marB="72000" anchor="ctr"/>
                </a:tc>
                <a:tc>
                  <a:txBody>
                    <a:bodyPr/>
                    <a:lstStyle/>
                    <a:p>
                      <a:pPr algn="r" fontAlgn="b"/>
                      <a:r>
                        <a:rPr lang="en-IN" sz="800" b="0" i="0" u="none" strike="noStrike">
                          <a:solidFill>
                            <a:srgbClr val="000000"/>
                          </a:solidFill>
                          <a:effectLst/>
                          <a:latin typeface="Aptos"/>
                        </a:rPr>
                        <a:t>25.73</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24.74</a:t>
                      </a:r>
                    </a:p>
                  </a:txBody>
                  <a:tcPr marL="36000" marR="36000" marT="6911" marB="72000" anchor="ctr"/>
                </a:tc>
                <a:tc>
                  <a:txBody>
                    <a:bodyPr/>
                    <a:lstStyle/>
                    <a:p>
                      <a:pPr algn="r" fontAlgn="b"/>
                      <a:r>
                        <a:rPr lang="en-IN" sz="800" b="0" i="0" u="none" strike="noStrike">
                          <a:solidFill>
                            <a:srgbClr val="000000"/>
                          </a:solidFill>
                          <a:effectLst/>
                          <a:latin typeface="Aptos"/>
                        </a:rPr>
                        <a:t>23.99</a:t>
                      </a:r>
                    </a:p>
                  </a:txBody>
                  <a:tcPr marL="36000" marR="36000" marT="6911" marB="72000" anchor="ctr"/>
                </a:tc>
                <a:extLst>
                  <a:ext uri="{0D108BD9-81ED-4DB2-BD59-A6C34878D82A}">
                    <a16:rowId xmlns:a16="http://schemas.microsoft.com/office/drawing/2014/main" val="10015"/>
                  </a:ext>
                </a:extLst>
              </a:tr>
              <a:tr h="181412">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a:solidFill>
                            <a:srgbClr val="000000"/>
                          </a:solidFill>
                          <a:effectLst/>
                          <a:latin typeface="Aptos"/>
                        </a:rPr>
                        <a:t>Fixed Assets Turnover</a:t>
                      </a:r>
                    </a:p>
                  </a:txBody>
                  <a:tcPr marL="36000" marR="36000" marT="6911" marB="72000" anchor="ctr"/>
                </a:tc>
                <a:tc>
                  <a:txBody>
                    <a:bodyPr/>
                    <a:lstStyle/>
                    <a:p>
                      <a:pPr algn="r" fontAlgn="b"/>
                      <a:r>
                        <a:rPr lang="en-IN" sz="800" b="0" i="0" u="none" strike="noStrike">
                          <a:solidFill>
                            <a:srgbClr val="000000"/>
                          </a:solidFill>
                          <a:effectLst/>
                          <a:latin typeface="Aptos"/>
                        </a:rPr>
                        <a:t>0.14</a:t>
                      </a:r>
                    </a:p>
                  </a:txBody>
                  <a:tcPr marL="36000" marR="36000" marT="6911" marB="72000" anchor="ctr"/>
                </a:tc>
                <a:tc>
                  <a:txBody>
                    <a:bodyPr/>
                    <a:lstStyle/>
                    <a:p>
                      <a:pPr algn="r" fontAlgn="b"/>
                      <a:r>
                        <a:rPr lang="en-IN" sz="800" b="0" i="0" u="none" strike="noStrike">
                          <a:solidFill>
                            <a:srgbClr val="000000"/>
                          </a:solidFill>
                          <a:effectLst/>
                          <a:latin typeface="Aptos"/>
                        </a:rPr>
                        <a:t>0.13</a:t>
                      </a:r>
                    </a:p>
                  </a:txBody>
                  <a:tcPr marL="36000" marR="36000" marT="6911" marB="72000" anchor="ctr"/>
                </a:tc>
                <a:tc>
                  <a:txBody>
                    <a:bodyPr/>
                    <a:lstStyle/>
                    <a:p>
                      <a:pPr algn="r" fontAlgn="b"/>
                      <a:r>
                        <a:rPr lang="en-IN" sz="800" b="0" i="0" u="none" strike="noStrike">
                          <a:solidFill>
                            <a:srgbClr val="000000"/>
                          </a:solidFill>
                          <a:effectLst/>
                          <a:latin typeface="Aptos"/>
                        </a:rPr>
                        <a:t>0.13</a:t>
                      </a:r>
                    </a:p>
                  </a:txBody>
                  <a:tcPr marL="36000" marR="36000" marT="6911" marB="72000" anchor="ctr"/>
                </a:tc>
                <a:tc>
                  <a:txBody>
                    <a:bodyPr/>
                    <a:lstStyle/>
                    <a:p>
                      <a:pPr algn="r" fontAlgn="b"/>
                      <a:r>
                        <a:rPr lang="en-IN" sz="800" b="0" i="0" u="none" strike="noStrike">
                          <a:solidFill>
                            <a:srgbClr val="000000"/>
                          </a:solidFill>
                          <a:effectLst/>
                          <a:latin typeface="Aptos"/>
                        </a:rPr>
                        <a:t>0.13</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0.14</a:t>
                      </a:r>
                    </a:p>
                  </a:txBody>
                  <a:tcPr marL="36000" marR="36000" marT="6911" marB="72000" anchor="ctr"/>
                </a:tc>
                <a:tc>
                  <a:txBody>
                    <a:bodyPr/>
                    <a:lstStyle/>
                    <a:p>
                      <a:pPr algn="r" fontAlgn="b"/>
                      <a:r>
                        <a:rPr lang="en-IN" sz="800" b="0" i="0" u="none" strike="noStrike">
                          <a:solidFill>
                            <a:srgbClr val="000000"/>
                          </a:solidFill>
                          <a:effectLst/>
                          <a:latin typeface="Aptos"/>
                        </a:rPr>
                        <a:t>0.14</a:t>
                      </a:r>
                    </a:p>
                  </a:txBody>
                  <a:tcPr marL="36000" marR="36000" marT="6911" marB="72000" anchor="ctr"/>
                </a:tc>
                <a:extLst>
                  <a:ext uri="{0D108BD9-81ED-4DB2-BD59-A6C34878D82A}">
                    <a16:rowId xmlns:a16="http://schemas.microsoft.com/office/drawing/2014/main" val="10016"/>
                  </a:ext>
                </a:extLst>
              </a:tr>
              <a:tr h="157223">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a:solidFill>
                            <a:srgbClr val="000000"/>
                          </a:solidFill>
                          <a:effectLst/>
                          <a:latin typeface="Aptos"/>
                        </a:rPr>
                        <a:t>Capital Turnover</a:t>
                      </a:r>
                    </a:p>
                  </a:txBody>
                  <a:tcPr marL="36000" marR="36000" marT="6911" marB="72000" anchor="ctr"/>
                </a:tc>
                <a:tc>
                  <a:txBody>
                    <a:bodyPr/>
                    <a:lstStyle/>
                    <a:p>
                      <a:pPr algn="r" fontAlgn="b"/>
                      <a:r>
                        <a:rPr lang="en-IN" sz="800" b="0" i="0" u="none" strike="noStrike">
                          <a:solidFill>
                            <a:srgbClr val="000000"/>
                          </a:solidFill>
                          <a:effectLst/>
                          <a:latin typeface="Aptos"/>
                        </a:rPr>
                        <a:t>1.85</a:t>
                      </a:r>
                    </a:p>
                  </a:txBody>
                  <a:tcPr marL="36000" marR="36000" marT="6911" marB="72000" anchor="ctr"/>
                </a:tc>
                <a:tc>
                  <a:txBody>
                    <a:bodyPr/>
                    <a:lstStyle/>
                    <a:p>
                      <a:pPr algn="r" fontAlgn="b"/>
                      <a:r>
                        <a:rPr lang="en-IN" sz="800" b="0" i="0" u="none" strike="noStrike">
                          <a:solidFill>
                            <a:srgbClr val="000000"/>
                          </a:solidFill>
                          <a:effectLst/>
                          <a:latin typeface="Aptos"/>
                        </a:rPr>
                        <a:t>1.76</a:t>
                      </a:r>
                    </a:p>
                  </a:txBody>
                  <a:tcPr marL="36000" marR="36000" marT="6911" marB="72000" anchor="ctr"/>
                </a:tc>
                <a:tc>
                  <a:txBody>
                    <a:bodyPr/>
                    <a:lstStyle/>
                    <a:p>
                      <a:pPr algn="r" fontAlgn="b"/>
                      <a:r>
                        <a:rPr lang="en-IN" sz="800" b="0" i="0" u="none" strike="noStrike">
                          <a:solidFill>
                            <a:srgbClr val="000000"/>
                          </a:solidFill>
                          <a:effectLst/>
                          <a:latin typeface="Aptos"/>
                        </a:rPr>
                        <a:t>1.66</a:t>
                      </a:r>
                    </a:p>
                  </a:txBody>
                  <a:tcPr marL="36000" marR="36000" marT="6911" marB="72000" anchor="ctr"/>
                </a:tc>
                <a:tc>
                  <a:txBody>
                    <a:bodyPr/>
                    <a:lstStyle/>
                    <a:p>
                      <a:pPr algn="r" fontAlgn="b"/>
                      <a:r>
                        <a:rPr lang="en-IN" sz="800" b="0" i="0" u="none" strike="noStrike">
                          <a:solidFill>
                            <a:srgbClr val="000000"/>
                          </a:solidFill>
                          <a:effectLst/>
                          <a:latin typeface="Aptos"/>
                        </a:rPr>
                        <a:t>1.54</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1.41</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1.29</a:t>
                      </a:r>
                    </a:p>
                  </a:txBody>
                  <a:tcPr marL="36000" marR="36000" marT="6911" marB="72000" anchor="ctr"/>
                </a:tc>
                <a:extLst>
                  <a:ext uri="{0D108BD9-81ED-4DB2-BD59-A6C34878D82A}">
                    <a16:rowId xmlns:a16="http://schemas.microsoft.com/office/drawing/2014/main" val="10017"/>
                  </a:ext>
                </a:extLst>
              </a:tr>
              <a:tr h="188322">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a:solidFill>
                            <a:srgbClr val="000000"/>
                          </a:solidFill>
                          <a:effectLst/>
                          <a:latin typeface="Aptos" panose="020B0004020202020204" pitchFamily="34" charset="0"/>
                        </a:rPr>
                        <a:t>Debtor Days</a:t>
                      </a:r>
                    </a:p>
                  </a:txBody>
                  <a:tcPr marL="36000" marR="36000" marT="6911" marB="72000" anchor="ctr"/>
                </a:tc>
                <a:tc>
                  <a:txBody>
                    <a:bodyPr/>
                    <a:lstStyle/>
                    <a:p>
                      <a:pPr algn="r" fontAlgn="b"/>
                      <a:r>
                        <a:rPr lang="en-IN" sz="800" b="0" i="0" u="none" strike="noStrike">
                          <a:solidFill>
                            <a:srgbClr val="000000"/>
                          </a:solidFill>
                          <a:effectLst/>
                          <a:latin typeface="Aptos"/>
                        </a:rPr>
                        <a:t>46.91</a:t>
                      </a:r>
                    </a:p>
                  </a:txBody>
                  <a:tcPr marL="36000" marR="36000" marT="6911" marB="72000" anchor="ctr"/>
                </a:tc>
                <a:tc>
                  <a:txBody>
                    <a:bodyPr/>
                    <a:lstStyle/>
                    <a:p>
                      <a:pPr algn="r" fontAlgn="b"/>
                      <a:r>
                        <a:rPr lang="en-IN" sz="800" b="0" i="0" u="none" strike="noStrike">
                          <a:solidFill>
                            <a:srgbClr val="000000"/>
                          </a:solidFill>
                          <a:effectLst/>
                          <a:latin typeface="Aptos"/>
                        </a:rPr>
                        <a:t>47.72</a:t>
                      </a:r>
                    </a:p>
                  </a:txBody>
                  <a:tcPr marL="36000" marR="36000" marT="6911" marB="72000" anchor="ctr"/>
                </a:tc>
                <a:tc>
                  <a:txBody>
                    <a:bodyPr/>
                    <a:lstStyle/>
                    <a:p>
                      <a:pPr algn="r" fontAlgn="b"/>
                      <a:r>
                        <a:rPr lang="en-IN" sz="800" b="0" i="0" u="none" strike="noStrike">
                          <a:solidFill>
                            <a:srgbClr val="000000"/>
                          </a:solidFill>
                          <a:effectLst/>
                          <a:latin typeface="Aptos"/>
                        </a:rPr>
                        <a:t>49.20</a:t>
                      </a:r>
                    </a:p>
                  </a:txBody>
                  <a:tcPr marL="36000" marR="36000" marT="6911" marB="72000" anchor="ctr"/>
                </a:tc>
                <a:tc>
                  <a:txBody>
                    <a:bodyPr/>
                    <a:lstStyle/>
                    <a:p>
                      <a:pPr algn="r" fontAlgn="b"/>
                      <a:r>
                        <a:rPr lang="en-IN" sz="800" b="0" i="0" u="none" strike="noStrike">
                          <a:solidFill>
                            <a:srgbClr val="000000"/>
                          </a:solidFill>
                          <a:effectLst/>
                          <a:latin typeface="Aptos"/>
                        </a:rPr>
                        <a:t>50.36</a:t>
                      </a:r>
                    </a:p>
                  </a:txBody>
                  <a:tcPr marL="36000" marR="36000" marT="6911" marB="72000" anchor="ctr"/>
                </a:tc>
                <a:tc>
                  <a:txBody>
                    <a:bodyPr/>
                    <a:lstStyle/>
                    <a:p>
                      <a:pPr algn="r" fontAlgn="b"/>
                      <a:r>
                        <a:rPr lang="en-IN" sz="800" b="0" i="0" u="none" strike="noStrike">
                          <a:solidFill>
                            <a:srgbClr val="000000"/>
                          </a:solidFill>
                          <a:effectLst/>
                          <a:latin typeface="Aptos"/>
                        </a:rPr>
                        <a:t>51.28</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52.04</a:t>
                      </a:r>
                    </a:p>
                  </a:txBody>
                  <a:tcPr marL="36000" marR="36000" marT="6911" marB="72000" anchor="ctr"/>
                </a:tc>
                <a:extLst>
                  <a:ext uri="{0D108BD9-81ED-4DB2-BD59-A6C34878D82A}">
                    <a16:rowId xmlns:a16="http://schemas.microsoft.com/office/drawing/2014/main" val="10019"/>
                  </a:ext>
                </a:extLst>
              </a:tr>
              <a:tr h="138218">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a:solidFill>
                            <a:srgbClr val="000000"/>
                          </a:solidFill>
                          <a:effectLst/>
                          <a:latin typeface="Aptos"/>
                        </a:rPr>
                        <a:t>Payable Days</a:t>
                      </a:r>
                    </a:p>
                  </a:txBody>
                  <a:tcPr marL="36000" marR="36000" marT="6911" marB="72000" anchor="ctr"/>
                </a:tc>
                <a:tc>
                  <a:txBody>
                    <a:bodyPr/>
                    <a:lstStyle/>
                    <a:p>
                      <a:pPr algn="r" fontAlgn="b"/>
                      <a:r>
                        <a:rPr lang="en-IN" sz="800" b="0" i="0" u="none" strike="noStrike">
                          <a:solidFill>
                            <a:srgbClr val="000000"/>
                          </a:solidFill>
                          <a:effectLst/>
                          <a:latin typeface="Aptos"/>
                        </a:rPr>
                        <a:t>11.57</a:t>
                      </a:r>
                    </a:p>
                  </a:txBody>
                  <a:tcPr marL="36000" marR="36000" marT="6911" marB="72000" anchor="ctr"/>
                </a:tc>
                <a:tc>
                  <a:txBody>
                    <a:bodyPr/>
                    <a:lstStyle/>
                    <a:p>
                      <a:pPr algn="r" fontAlgn="b"/>
                      <a:r>
                        <a:rPr lang="en-IN" sz="800" b="0" i="0" u="none" strike="noStrike">
                          <a:solidFill>
                            <a:srgbClr val="000000"/>
                          </a:solidFill>
                          <a:effectLst/>
                          <a:latin typeface="Aptos"/>
                        </a:rPr>
                        <a:t>12.56</a:t>
                      </a:r>
                    </a:p>
                  </a:txBody>
                  <a:tcPr marL="36000" marR="36000" marT="6911" marB="72000" anchor="ctr"/>
                </a:tc>
                <a:tc>
                  <a:txBody>
                    <a:bodyPr/>
                    <a:lstStyle/>
                    <a:p>
                      <a:pPr algn="r" fontAlgn="b"/>
                      <a:r>
                        <a:rPr lang="en-IN" sz="800" b="0" i="0" u="none" strike="noStrike">
                          <a:solidFill>
                            <a:srgbClr val="000000"/>
                          </a:solidFill>
                          <a:effectLst/>
                          <a:latin typeface="Aptos"/>
                        </a:rPr>
                        <a:t>13.47</a:t>
                      </a:r>
                    </a:p>
                  </a:txBody>
                  <a:tcPr marL="36000" marR="36000" marT="6911" marB="72000" anchor="ctr"/>
                </a:tc>
                <a:tc>
                  <a:txBody>
                    <a:bodyPr/>
                    <a:lstStyle/>
                    <a:p>
                      <a:pPr algn="r" fontAlgn="b"/>
                      <a:r>
                        <a:rPr lang="en-IN" sz="800" b="0" i="0" u="none" strike="noStrike">
                          <a:solidFill>
                            <a:srgbClr val="000000"/>
                          </a:solidFill>
                          <a:effectLst/>
                          <a:latin typeface="Aptos"/>
                        </a:rPr>
                        <a:t>14.18</a:t>
                      </a:r>
                    </a:p>
                  </a:txBody>
                  <a:tcPr marL="36000" marR="36000" marT="6911" marB="72000" anchor="ctr"/>
                </a:tc>
                <a:tc>
                  <a:txBody>
                    <a:bodyPr/>
                    <a:lstStyle/>
                    <a:p>
                      <a:pPr algn="r" fontAlgn="b"/>
                      <a:r>
                        <a:rPr lang="en-IN" sz="800" b="0" i="0" u="none" strike="noStrike">
                          <a:solidFill>
                            <a:srgbClr val="000000"/>
                          </a:solidFill>
                          <a:effectLst/>
                          <a:latin typeface="Aptos"/>
                        </a:rPr>
                        <a:t>14.75</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15.22</a:t>
                      </a:r>
                    </a:p>
                  </a:txBody>
                  <a:tcPr marL="36000" marR="36000" marT="6911" marB="72000" anchor="ctr"/>
                </a:tc>
                <a:extLst>
                  <a:ext uri="{0D108BD9-81ED-4DB2-BD59-A6C34878D82A}">
                    <a16:rowId xmlns:a16="http://schemas.microsoft.com/office/drawing/2014/main" val="10020"/>
                  </a:ext>
                </a:extLst>
              </a:tr>
              <a:tr h="157223">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1" i="0" u="none" strike="noStrike">
                          <a:solidFill>
                            <a:schemeClr val="bg1"/>
                          </a:solidFill>
                          <a:effectLst/>
                          <a:latin typeface="Aptos" panose="020B0004020202020204" pitchFamily="34" charset="0"/>
                        </a:rPr>
                        <a:t>Cash Conversion Cycle</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35.34</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a:rPr>
                        <a:t>35.15</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35.73</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36.17</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36.53</a:t>
                      </a:r>
                    </a:p>
                  </a:txBody>
                  <a:tcPr marL="36000" marR="36000" marT="6911" marB="72000" anchor="ctr">
                    <a:solidFill>
                      <a:srgbClr val="187C2C"/>
                    </a:solidFill>
                  </a:tcPr>
                </a:tc>
                <a:tc>
                  <a:txBody>
                    <a:bodyPr/>
                    <a:lstStyle/>
                    <a:p>
                      <a:pPr algn="r" fontAlgn="b"/>
                      <a:r>
                        <a:rPr lang="en-IN" sz="800" b="1" i="0" u="none" strike="noStrike">
                          <a:solidFill>
                            <a:schemeClr val="bg1"/>
                          </a:solidFill>
                          <a:effectLst/>
                          <a:latin typeface="Aptos" panose="020B0004020202020204" pitchFamily="34" charset="0"/>
                        </a:rPr>
                        <a:t>36.82</a:t>
                      </a:r>
                    </a:p>
                  </a:txBody>
                  <a:tcPr marL="36000" marR="36000" marT="6911" marB="72000" anchor="ctr">
                    <a:solidFill>
                      <a:srgbClr val="187C2C"/>
                    </a:solidFill>
                  </a:tcPr>
                </a:tc>
                <a:extLst>
                  <a:ext uri="{0D108BD9-81ED-4DB2-BD59-A6C34878D82A}">
                    <a16:rowId xmlns:a16="http://schemas.microsoft.com/office/drawing/2014/main" val="10021"/>
                  </a:ext>
                </a:extLst>
              </a:tr>
              <a:tr h="117486">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a:solidFill>
                            <a:srgbClr val="000000"/>
                          </a:solidFill>
                          <a:effectLst/>
                          <a:latin typeface="Aptos" panose="020B0004020202020204" pitchFamily="34" charset="0"/>
                        </a:rPr>
                        <a:t> </a:t>
                      </a:r>
                    </a:p>
                  </a:txBody>
                  <a:tcPr marL="36000" marR="36000" marT="6911"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r>
                        <a:rPr lang="en-IN" sz="800" b="0" i="0" u="none" strike="noStrike">
                          <a:solidFill>
                            <a:srgbClr val="000000"/>
                          </a:solidFill>
                          <a:effectLst/>
                          <a:latin typeface="Aptos" panose="020B0004020202020204" pitchFamily="34" charset="0"/>
                        </a:rPr>
                        <a:t> </a:t>
                      </a:r>
                    </a:p>
                  </a:txBody>
                  <a:tcPr marL="36000" marR="36000" marT="6911"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endParaRPr lang="en-IN" sz="800" b="0" i="0" u="none" strike="noStrike">
                        <a:solidFill>
                          <a:srgbClr val="000000"/>
                        </a:solidFill>
                        <a:effectLst/>
                        <a:latin typeface="Aptos"/>
                      </a:endParaRPr>
                    </a:p>
                  </a:txBody>
                  <a:tcPr marL="36000" marR="36000" marT="6911" marB="72000" anchor="ctr"/>
                </a:tc>
                <a:tc>
                  <a:txBody>
                    <a:bodyPr/>
                    <a:lstStyle/>
                    <a:p>
                      <a:pPr algn="l" fontAlgn="b"/>
                      <a:r>
                        <a:rPr lang="en-IN" sz="800" b="0" i="0" u="none" strike="noStrike">
                          <a:solidFill>
                            <a:srgbClr val="000000"/>
                          </a:solidFill>
                          <a:effectLst/>
                          <a:latin typeface="Aptos" panose="020B0004020202020204" pitchFamily="34" charset="0"/>
                        </a:rPr>
                        <a:t> </a:t>
                      </a:r>
                    </a:p>
                  </a:txBody>
                  <a:tcPr marL="36000" marR="36000" marT="6911" marB="72000" anchor="ctr"/>
                </a:tc>
                <a:tc>
                  <a:txBody>
                    <a:bodyPr/>
                    <a:lstStyle/>
                    <a:p>
                      <a:pPr algn="l" fontAlgn="b"/>
                      <a:r>
                        <a:rPr lang="en-IN" sz="800" b="0" i="0" u="none" strike="noStrike">
                          <a:solidFill>
                            <a:srgbClr val="000000"/>
                          </a:solidFill>
                          <a:effectLst/>
                          <a:latin typeface="Aptos" panose="020B0004020202020204" pitchFamily="34" charset="0"/>
                        </a:rPr>
                        <a:t> </a:t>
                      </a:r>
                    </a:p>
                  </a:txBody>
                  <a:tcPr marL="36000" marR="36000" marT="6911" marB="72000" anchor="ctr"/>
                </a:tc>
                <a:extLst>
                  <a:ext uri="{0D108BD9-81ED-4DB2-BD59-A6C34878D82A}">
                    <a16:rowId xmlns:a16="http://schemas.microsoft.com/office/drawing/2014/main" val="10022"/>
                  </a:ext>
                </a:extLst>
              </a:tr>
              <a:tr h="264343">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a:solidFill>
                            <a:srgbClr val="000000"/>
                          </a:solidFill>
                          <a:effectLst/>
                          <a:latin typeface="Aptos" panose="020B0004020202020204" pitchFamily="34" charset="0"/>
                        </a:rPr>
                        <a:t>CFO/Sales</a:t>
                      </a:r>
                    </a:p>
                  </a:txBody>
                  <a:tcPr marL="36000" marR="36000" marT="6911" marB="72000" anchor="ctr"/>
                </a:tc>
                <a:tc>
                  <a:txBody>
                    <a:bodyPr/>
                    <a:lstStyle/>
                    <a:p>
                      <a:pPr algn="r" fontAlgn="b"/>
                      <a:r>
                        <a:rPr lang="en-IN" sz="800" b="0" i="0" u="none" strike="noStrike">
                          <a:solidFill>
                            <a:srgbClr val="000000"/>
                          </a:solidFill>
                          <a:effectLst/>
                          <a:latin typeface="Aptos"/>
                        </a:rPr>
                        <a:t>0.75</a:t>
                      </a:r>
                    </a:p>
                  </a:txBody>
                  <a:tcPr marL="36000" marR="36000" marT="6911" marB="72000" anchor="ctr"/>
                </a:tc>
                <a:tc>
                  <a:txBody>
                    <a:bodyPr/>
                    <a:lstStyle/>
                    <a:p>
                      <a:pPr algn="r" fontAlgn="b"/>
                      <a:r>
                        <a:rPr lang="en-IN" sz="800" b="0" i="0" u="none" strike="noStrike">
                          <a:solidFill>
                            <a:srgbClr val="000000"/>
                          </a:solidFill>
                          <a:effectLst/>
                          <a:latin typeface="Aptos"/>
                        </a:rPr>
                        <a:t>0.63</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0.63</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0.63</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0.63</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0.63</a:t>
                      </a:r>
                    </a:p>
                  </a:txBody>
                  <a:tcPr marL="36000" marR="36000" marT="6911" marB="72000" anchor="ctr"/>
                </a:tc>
                <a:extLst>
                  <a:ext uri="{0D108BD9-81ED-4DB2-BD59-A6C34878D82A}">
                    <a16:rowId xmlns:a16="http://schemas.microsoft.com/office/drawing/2014/main" val="10023"/>
                  </a:ext>
                </a:extLst>
              </a:tr>
              <a:tr h="145129">
                <a:tc>
                  <a:txBody>
                    <a:bodyPr/>
                    <a:lstStyle/>
                    <a:p>
                      <a:pPr>
                        <a:lnSpc>
                          <a:spcPct val="100000"/>
                        </a:lnSpc>
                      </a:pPr>
                      <a:endParaRPr sz="800">
                        <a:latin typeface="Aptos" panose="020B0004020202020204" pitchFamily="34" charset="0"/>
                        <a:cs typeface="Times New Roman"/>
                      </a:endParaRPr>
                    </a:p>
                  </a:txBody>
                  <a:tcPr marL="36000" marR="36000" marT="0" marB="72000" anchor="ctr"/>
                </a:tc>
                <a:tc>
                  <a:txBody>
                    <a:bodyPr/>
                    <a:lstStyle/>
                    <a:p>
                      <a:pPr algn="l" fontAlgn="b"/>
                      <a:r>
                        <a:rPr lang="en-IN" sz="800" b="0" i="0" u="none" strike="noStrike">
                          <a:solidFill>
                            <a:srgbClr val="000000"/>
                          </a:solidFill>
                          <a:effectLst/>
                          <a:latin typeface="Aptos" panose="020B0004020202020204" pitchFamily="34" charset="0"/>
                        </a:rPr>
                        <a:t>CFO/Total Assets</a:t>
                      </a:r>
                    </a:p>
                  </a:txBody>
                  <a:tcPr marL="36000" marR="36000" marT="6911" marB="72000" anchor="ctr"/>
                </a:tc>
                <a:tc>
                  <a:txBody>
                    <a:bodyPr/>
                    <a:lstStyle/>
                    <a:p>
                      <a:pPr algn="r" fontAlgn="b"/>
                      <a:r>
                        <a:rPr lang="en-IN" sz="800" b="0" i="0" u="none" strike="noStrike">
                          <a:solidFill>
                            <a:srgbClr val="000000"/>
                          </a:solidFill>
                          <a:effectLst/>
                          <a:latin typeface="Aptos" panose="020B0004020202020204" pitchFamily="34" charset="0"/>
                        </a:rPr>
                        <a:t>0.08</a:t>
                      </a:r>
                    </a:p>
                  </a:txBody>
                  <a:tcPr marL="36000" marR="36000" marT="6911" marB="72000" anchor="ctr"/>
                </a:tc>
                <a:tc>
                  <a:txBody>
                    <a:bodyPr/>
                    <a:lstStyle/>
                    <a:p>
                      <a:pPr algn="r" fontAlgn="b"/>
                      <a:r>
                        <a:rPr lang="en-IN" sz="800" b="0" i="0" u="none" strike="noStrike">
                          <a:solidFill>
                            <a:srgbClr val="000000"/>
                          </a:solidFill>
                          <a:effectLst/>
                          <a:latin typeface="Aptos"/>
                        </a:rPr>
                        <a:t>0.06</a:t>
                      </a:r>
                    </a:p>
                  </a:txBody>
                  <a:tcPr marL="36000" marR="36000" marT="6911" marB="72000" anchor="ctr"/>
                </a:tc>
                <a:tc>
                  <a:txBody>
                    <a:bodyPr/>
                    <a:lstStyle/>
                    <a:p>
                      <a:pPr algn="r" fontAlgn="b"/>
                      <a:r>
                        <a:rPr lang="en-IN" sz="800" b="0" i="0" u="none" strike="noStrike">
                          <a:solidFill>
                            <a:srgbClr val="000000"/>
                          </a:solidFill>
                          <a:effectLst/>
                          <a:latin typeface="Aptos"/>
                        </a:rPr>
                        <a:t>0.07</a:t>
                      </a:r>
                    </a:p>
                  </a:txBody>
                  <a:tcPr marL="36000" marR="36000" marT="6911" marB="72000" anchor="ctr"/>
                </a:tc>
                <a:tc>
                  <a:txBody>
                    <a:bodyPr/>
                    <a:lstStyle/>
                    <a:p>
                      <a:pPr algn="r" fontAlgn="b"/>
                      <a:r>
                        <a:rPr lang="en-IN" sz="800" b="0" i="0" u="none" strike="noStrike">
                          <a:solidFill>
                            <a:srgbClr val="000000"/>
                          </a:solidFill>
                          <a:effectLst/>
                          <a:latin typeface="Aptos"/>
                        </a:rPr>
                        <a:t>0.07</a:t>
                      </a:r>
                    </a:p>
                  </a:txBody>
                  <a:tcPr marL="36000" marR="36000" marT="6911" marB="72000" anchor="ctr"/>
                </a:tc>
                <a:tc>
                  <a:txBody>
                    <a:bodyPr/>
                    <a:lstStyle/>
                    <a:p>
                      <a:pPr algn="r" fontAlgn="b"/>
                      <a:r>
                        <a:rPr lang="en-IN" sz="800" b="0" i="0" u="none" strike="noStrike">
                          <a:solidFill>
                            <a:srgbClr val="000000"/>
                          </a:solidFill>
                          <a:effectLst/>
                          <a:latin typeface="Aptos"/>
                        </a:rPr>
                        <a:t>0.07</a:t>
                      </a:r>
                    </a:p>
                  </a:txBody>
                  <a:tcPr marL="36000" marR="36000" marT="6911" marB="72000" anchor="ctr"/>
                </a:tc>
                <a:tc>
                  <a:txBody>
                    <a:bodyPr/>
                    <a:lstStyle/>
                    <a:p>
                      <a:pPr algn="r" fontAlgn="b"/>
                      <a:r>
                        <a:rPr lang="en-IN" sz="800" b="0" i="0" u="none" strike="noStrike" dirty="0">
                          <a:solidFill>
                            <a:srgbClr val="000000"/>
                          </a:solidFill>
                          <a:effectLst/>
                          <a:latin typeface="Aptos" panose="020B0004020202020204" pitchFamily="34" charset="0"/>
                        </a:rPr>
                        <a:t>0.07</a:t>
                      </a:r>
                    </a:p>
                  </a:txBody>
                  <a:tcPr marL="36000" marR="36000" marT="6911" marB="72000" anchor="ctr"/>
                </a:tc>
                <a:extLst>
                  <a:ext uri="{0D108BD9-81ED-4DB2-BD59-A6C34878D82A}">
                    <a16:rowId xmlns:a16="http://schemas.microsoft.com/office/drawing/2014/main" val="10024"/>
                  </a:ext>
                </a:extLst>
              </a:tr>
            </a:tbl>
          </a:graphicData>
        </a:graphic>
      </p:graphicFrame>
      <p:sp>
        <p:nvSpPr>
          <p:cNvPr id="8" name="Rectangle 7">
            <a:extLst>
              <a:ext uri="{FF2B5EF4-FFF2-40B4-BE49-F238E27FC236}">
                <a16:creationId xmlns:a16="http://schemas.microsoft.com/office/drawing/2014/main" id="{2CD2CD4F-E0FF-251A-F23B-206A438615D6}"/>
              </a:ext>
            </a:extLst>
          </p:cNvPr>
          <p:cNvSpPr/>
          <p:nvPr/>
        </p:nvSpPr>
        <p:spPr>
          <a:xfrm>
            <a:off x="152039" y="79904"/>
            <a:ext cx="1091926" cy="6154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Arrow Connector 4">
            <a:extLst>
              <a:ext uri="{FF2B5EF4-FFF2-40B4-BE49-F238E27FC236}">
                <a16:creationId xmlns:a16="http://schemas.microsoft.com/office/drawing/2014/main" id="{FA88D137-7E09-E793-69AA-C2E24FF4E0BD}"/>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D6CF99D-473B-5A7B-421A-72B14FBA916F}"/>
              </a:ext>
            </a:extLst>
          </p:cNvPr>
          <p:cNvCxnSpPr/>
          <p:nvPr/>
        </p:nvCxnSpPr>
        <p:spPr>
          <a:xfrm flipV="1">
            <a:off x="-5925" y="8787953"/>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2" name="Footer Placeholder 3">
            <a:extLst>
              <a:ext uri="{FF2B5EF4-FFF2-40B4-BE49-F238E27FC236}">
                <a16:creationId xmlns:a16="http://schemas.microsoft.com/office/drawing/2014/main" id="{874E61D0-CF9D-D9A5-6AAC-C0E050DC0BE7}"/>
              </a:ext>
            </a:extLst>
          </p:cNvPr>
          <p:cNvSpPr>
            <a:spLocks noGrp="1"/>
          </p:cNvSpPr>
          <p:nvPr>
            <p:ph type="ftr" sz="quarter" idx="11"/>
          </p:nvPr>
        </p:nvSpPr>
        <p:spPr>
          <a:xfrm>
            <a:off x="-7551" y="8832134"/>
            <a:ext cx="6234928" cy="324563"/>
          </a:xfrm>
        </p:spPr>
        <p:txBody>
          <a:bodyPr/>
          <a:lstStyle/>
          <a:p>
            <a:pPr algn="l"/>
            <a:r>
              <a:rPr lang="en-US" sz="800">
                <a:ea typeface="Calibri"/>
                <a:cs typeface="Calibri"/>
              </a:rPr>
              <a:t>Disclaimer: This is only for educational purposes and we are not SEBI registered.</a:t>
            </a:r>
          </a:p>
        </p:txBody>
      </p:sp>
      <p:sp>
        <p:nvSpPr>
          <p:cNvPr id="7" name="Rectangle 6">
            <a:extLst>
              <a:ext uri="{FF2B5EF4-FFF2-40B4-BE49-F238E27FC236}">
                <a16:creationId xmlns:a16="http://schemas.microsoft.com/office/drawing/2014/main" id="{C4CB3F8B-664A-CAE5-B826-298BA6E9AEC9}"/>
              </a:ext>
            </a:extLst>
          </p:cNvPr>
          <p:cNvSpPr/>
          <p:nvPr/>
        </p:nvSpPr>
        <p:spPr>
          <a:xfrm>
            <a:off x="98704" y="815933"/>
            <a:ext cx="6027421" cy="360000"/>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ea typeface="Calibri"/>
                <a:cs typeface="Calibri"/>
              </a:rPr>
              <a:t>Ratio Analysis</a:t>
            </a:r>
          </a:p>
        </p:txBody>
      </p:sp>
      <p:sp>
        <p:nvSpPr>
          <p:cNvPr id="3" name="Slide Number Placeholder 6">
            <a:extLst>
              <a:ext uri="{FF2B5EF4-FFF2-40B4-BE49-F238E27FC236}">
                <a16:creationId xmlns:a16="http://schemas.microsoft.com/office/drawing/2014/main" id="{2D5A9A54-DC70-541E-EFFE-A11600F20B1C}"/>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16</a:t>
            </a:fld>
            <a:endParaRPr lang="en-US"/>
          </a:p>
        </p:txBody>
      </p:sp>
      <p:pic>
        <p:nvPicPr>
          <p:cNvPr id="2" name="Picture 1" descr="Adani Renewables - Global Alliance For Sustainable Energy">
            <a:extLst>
              <a:ext uri="{FF2B5EF4-FFF2-40B4-BE49-F238E27FC236}">
                <a16:creationId xmlns:a16="http://schemas.microsoft.com/office/drawing/2014/main" id="{A6F8DFD9-191D-3248-ECCE-4CD3244312BB}"/>
              </a:ext>
            </a:extLst>
          </p:cNvPr>
          <p:cNvPicPr>
            <a:picLocks noChangeAspect="1"/>
          </p:cNvPicPr>
          <p:nvPr/>
        </p:nvPicPr>
        <p:blipFill>
          <a:blip r:embed="rId2"/>
          <a:stretch>
            <a:fillRect/>
          </a:stretch>
        </p:blipFill>
        <p:spPr>
          <a:xfrm>
            <a:off x="5076000" y="0"/>
            <a:ext cx="1311468" cy="662728"/>
          </a:xfrm>
          <a:prstGeom prst="rect">
            <a:avLst/>
          </a:prstGeom>
        </p:spPr>
      </p:pic>
    </p:spTree>
    <p:extLst>
      <p:ext uri="{BB962C8B-B14F-4D97-AF65-F5344CB8AC3E}">
        <p14:creationId xmlns:p14="http://schemas.microsoft.com/office/powerpoint/2010/main" val="3919947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490344546"/>
              </p:ext>
            </p:extLst>
          </p:nvPr>
        </p:nvGraphicFramePr>
        <p:xfrm>
          <a:off x="105390" y="403561"/>
          <a:ext cx="5922253" cy="261960"/>
        </p:xfrm>
        <a:graphic>
          <a:graphicData uri="http://schemas.openxmlformats.org/drawingml/2006/table">
            <a:tbl>
              <a:tblPr firstRow="1" bandRow="1">
                <a:tableStyleId>{2D5ABB26-0587-4C30-8999-92F81FD0307C}</a:tableStyleId>
              </a:tblPr>
              <a:tblGrid>
                <a:gridCol w="5922253">
                  <a:extLst>
                    <a:ext uri="{9D8B030D-6E8A-4147-A177-3AD203B41FA5}">
                      <a16:colId xmlns:a16="http://schemas.microsoft.com/office/drawing/2014/main" val="20000"/>
                    </a:ext>
                  </a:extLst>
                </a:gridCol>
              </a:tblGrid>
              <a:tr h="104805">
                <a:tc>
                  <a:txBody>
                    <a:bodyPr/>
                    <a:lstStyle/>
                    <a:p>
                      <a:pPr marL="5080">
                        <a:lnSpc>
                          <a:spcPts val="1190"/>
                        </a:lnSpc>
                      </a:pPr>
                      <a:r>
                        <a:rPr lang="en-US" sz="1000" b="1" dirty="0">
                          <a:solidFill>
                            <a:schemeClr val="tx1"/>
                          </a:solidFill>
                          <a:latin typeface="Calibri"/>
                          <a:cs typeface="Calibri"/>
                        </a:rPr>
                        <a:t>Adani Green Energy Ltd.</a:t>
                      </a:r>
                      <a:endParaRPr sz="1000" dirty="0">
                        <a:solidFill>
                          <a:schemeClr val="tx1"/>
                        </a:solidFill>
                        <a:latin typeface="Calibri"/>
                        <a:cs typeface="Calibri"/>
                      </a:endParaRPr>
                    </a:p>
                  </a:txBody>
                  <a:tcPr marL="0" marR="0" marT="0" marB="0" anchor="ctr">
                    <a:noFill/>
                  </a:tcPr>
                </a:tc>
                <a:extLst>
                  <a:ext uri="{0D108BD9-81ED-4DB2-BD59-A6C34878D82A}">
                    <a16:rowId xmlns:a16="http://schemas.microsoft.com/office/drawing/2014/main" val="10000"/>
                  </a:ext>
                </a:extLst>
              </a:tr>
              <a:tr h="106958">
                <a:tc>
                  <a:txBody>
                    <a:bodyPr/>
                    <a:lstStyle/>
                    <a:p>
                      <a:pPr marL="5080">
                        <a:lnSpc>
                          <a:spcPct val="100000"/>
                        </a:lnSpc>
                        <a:spcBef>
                          <a:spcPts val="25"/>
                        </a:spcBef>
                      </a:pPr>
                      <a:r>
                        <a:rPr sz="700" b="1" dirty="0">
                          <a:solidFill>
                            <a:schemeClr val="tx1"/>
                          </a:solidFill>
                          <a:latin typeface="Calibri"/>
                          <a:cs typeface="Calibri"/>
                        </a:rPr>
                        <a:t>Amount</a:t>
                      </a:r>
                      <a:r>
                        <a:rPr sz="700" b="1" spc="-30" dirty="0">
                          <a:solidFill>
                            <a:schemeClr val="tx1"/>
                          </a:solidFill>
                          <a:latin typeface="Calibri"/>
                          <a:cs typeface="Calibri"/>
                        </a:rPr>
                        <a:t> </a:t>
                      </a:r>
                      <a:r>
                        <a:rPr sz="700" b="1" dirty="0">
                          <a:solidFill>
                            <a:schemeClr val="tx1"/>
                          </a:solidFill>
                          <a:latin typeface="Calibri"/>
                          <a:cs typeface="Calibri"/>
                        </a:rPr>
                        <a:t>in</a:t>
                      </a:r>
                      <a:r>
                        <a:rPr sz="700" b="1" spc="-5" dirty="0">
                          <a:solidFill>
                            <a:schemeClr val="tx1"/>
                          </a:solidFill>
                          <a:latin typeface="Calibri"/>
                          <a:cs typeface="Calibri"/>
                        </a:rPr>
                        <a:t> </a:t>
                      </a:r>
                      <a:r>
                        <a:rPr sz="700" b="1" dirty="0">
                          <a:solidFill>
                            <a:schemeClr val="tx1"/>
                          </a:solidFill>
                          <a:latin typeface="Calibri"/>
                          <a:cs typeface="Calibri"/>
                        </a:rPr>
                        <a:t>₹</a:t>
                      </a:r>
                      <a:r>
                        <a:rPr sz="700" b="1" spc="-5" dirty="0">
                          <a:solidFill>
                            <a:schemeClr val="tx1"/>
                          </a:solidFill>
                          <a:latin typeface="Calibri"/>
                          <a:cs typeface="Calibri"/>
                        </a:rPr>
                        <a:t> </a:t>
                      </a:r>
                      <a:r>
                        <a:rPr sz="700" b="1" spc="-10" dirty="0">
                          <a:solidFill>
                            <a:schemeClr val="tx1"/>
                          </a:solidFill>
                          <a:latin typeface="Calibri"/>
                          <a:cs typeface="Calibri"/>
                        </a:rPr>
                        <a:t>Crores</a:t>
                      </a:r>
                      <a:r>
                        <a:rPr sz="700" b="1" dirty="0">
                          <a:solidFill>
                            <a:schemeClr val="tx1"/>
                          </a:solidFill>
                          <a:latin typeface="Calibri"/>
                          <a:cs typeface="Calibri"/>
                        </a:rPr>
                        <a:t> </a:t>
                      </a:r>
                      <a:r>
                        <a:rPr sz="700" b="1" spc="-10" dirty="0">
                          <a:solidFill>
                            <a:schemeClr val="tx1"/>
                          </a:solidFill>
                          <a:latin typeface="Calibri"/>
                          <a:cs typeface="Calibri"/>
                        </a:rPr>
                        <a:t>unless</a:t>
                      </a:r>
                      <a:r>
                        <a:rPr sz="700" b="1" spc="-15" dirty="0">
                          <a:solidFill>
                            <a:schemeClr val="tx1"/>
                          </a:solidFill>
                          <a:latin typeface="Calibri"/>
                          <a:cs typeface="Calibri"/>
                        </a:rPr>
                        <a:t> </a:t>
                      </a:r>
                      <a:r>
                        <a:rPr sz="700" b="1" dirty="0">
                          <a:solidFill>
                            <a:schemeClr val="tx1"/>
                          </a:solidFill>
                          <a:latin typeface="Calibri"/>
                          <a:cs typeface="Calibri"/>
                        </a:rPr>
                        <a:t>otherwise</a:t>
                      </a:r>
                      <a:r>
                        <a:rPr sz="700" b="1" spc="-15" dirty="0">
                          <a:solidFill>
                            <a:schemeClr val="tx1"/>
                          </a:solidFill>
                          <a:latin typeface="Calibri"/>
                          <a:cs typeface="Calibri"/>
                        </a:rPr>
                        <a:t> </a:t>
                      </a:r>
                      <a:r>
                        <a:rPr sz="700" b="1" spc="-10" dirty="0">
                          <a:solidFill>
                            <a:schemeClr val="tx1"/>
                          </a:solidFill>
                          <a:latin typeface="Calibri"/>
                          <a:cs typeface="Calibri"/>
                        </a:rPr>
                        <a:t>stated</a:t>
                      </a:r>
                      <a:endParaRPr sz="700" dirty="0">
                        <a:solidFill>
                          <a:schemeClr val="tx1"/>
                        </a:solidFill>
                        <a:latin typeface="Calibri"/>
                        <a:cs typeface="Calibri"/>
                      </a:endParaRPr>
                    </a:p>
                  </a:txBody>
                  <a:tcPr marL="0" marR="0" marT="2880" marB="0">
                    <a:noFill/>
                  </a:tcPr>
                </a:tc>
                <a:extLst>
                  <a:ext uri="{0D108BD9-81ED-4DB2-BD59-A6C34878D82A}">
                    <a16:rowId xmlns:a16="http://schemas.microsoft.com/office/drawing/2014/main" val="10001"/>
                  </a:ext>
                </a:extLst>
              </a:tr>
            </a:tbl>
          </a:graphicData>
        </a:graphic>
      </p:graphicFrame>
      <p:sp>
        <p:nvSpPr>
          <p:cNvPr id="3" name="object 3"/>
          <p:cNvSpPr txBox="1"/>
          <p:nvPr/>
        </p:nvSpPr>
        <p:spPr>
          <a:xfrm>
            <a:off x="1909105" y="301525"/>
            <a:ext cx="2415527" cy="307238"/>
          </a:xfrm>
          <a:prstGeom prst="rect">
            <a:avLst/>
          </a:prstGeom>
          <a:solidFill>
            <a:srgbClr val="187C2C"/>
          </a:solidFill>
        </p:spPr>
        <p:txBody>
          <a:bodyPr vert="horz" wrap="square" lIns="0" tIns="29947" rIns="0" bIns="0" rtlCol="0" anchor="t">
            <a:spAutoFit/>
          </a:bodyPr>
          <a:lstStyle/>
          <a:p>
            <a:pPr marL="142240" algn="ctr">
              <a:lnSpc>
                <a:spcPct val="100000"/>
              </a:lnSpc>
              <a:spcBef>
                <a:spcPts val="236"/>
              </a:spcBef>
            </a:pPr>
            <a:r>
              <a:rPr lang="en-IN" dirty="0">
                <a:solidFill>
                  <a:srgbClr val="FFFFFF"/>
                </a:solidFill>
                <a:latin typeface="Calibri"/>
                <a:cs typeface="Calibri"/>
              </a:rPr>
              <a:t>Financial</a:t>
            </a:r>
            <a:r>
              <a:rPr lang="en-IN" spc="-50" dirty="0">
                <a:solidFill>
                  <a:srgbClr val="FFFFFF"/>
                </a:solidFill>
                <a:latin typeface="Calibri"/>
                <a:cs typeface="Calibri"/>
              </a:rPr>
              <a:t> </a:t>
            </a:r>
            <a:r>
              <a:rPr lang="en-IN" spc="-9" dirty="0">
                <a:solidFill>
                  <a:srgbClr val="FFFFFF"/>
                </a:solidFill>
                <a:latin typeface="Calibri"/>
                <a:cs typeface="Calibri"/>
              </a:rPr>
              <a:t>Statements</a:t>
            </a:r>
            <a:r>
              <a:rPr lang="en-IN" spc="-9" dirty="0">
                <a:solidFill>
                  <a:srgbClr val="187C2C"/>
                </a:solidFill>
                <a:latin typeface="Calibri"/>
                <a:cs typeface="Calibri"/>
              </a:rPr>
              <a:t>..</a:t>
            </a:r>
            <a:endParaRPr lang="en-IN" dirty="0">
              <a:latin typeface="Calibri"/>
              <a:ea typeface="Calibri"/>
              <a:cs typeface="Calibri"/>
            </a:endParaRPr>
          </a:p>
        </p:txBody>
      </p:sp>
      <p:sp>
        <p:nvSpPr>
          <p:cNvPr id="4" name="object 4"/>
          <p:cNvSpPr/>
          <p:nvPr/>
        </p:nvSpPr>
        <p:spPr>
          <a:xfrm>
            <a:off x="152039" y="8164072"/>
            <a:ext cx="5916321" cy="0"/>
          </a:xfrm>
          <a:custGeom>
            <a:avLst/>
            <a:gdLst/>
            <a:ahLst/>
            <a:cxnLst/>
            <a:rect l="l" t="t" r="r" b="b"/>
            <a:pathLst>
              <a:path w="6523355">
                <a:moveTo>
                  <a:pt x="0" y="0"/>
                </a:moveTo>
                <a:lnTo>
                  <a:pt x="6523228" y="0"/>
                </a:lnTo>
              </a:path>
            </a:pathLst>
          </a:custGeom>
          <a:ln w="6350">
            <a:solidFill>
              <a:srgbClr val="000000"/>
            </a:solidFill>
          </a:ln>
        </p:spPr>
        <p:txBody>
          <a:bodyPr wrap="square" lIns="0" tIns="0" rIns="0" bIns="0" rtlCol="0"/>
          <a:lstStyle/>
          <a:p>
            <a:endParaRPr/>
          </a:p>
        </p:txBody>
      </p:sp>
      <p:graphicFrame>
        <p:nvGraphicFramePr>
          <p:cNvPr id="5" name="object 5"/>
          <p:cNvGraphicFramePr>
            <a:graphicFrameLocks noGrp="1"/>
          </p:cNvGraphicFramePr>
          <p:nvPr>
            <p:extLst>
              <p:ext uri="{D42A27DB-BD31-4B8C-83A1-F6EECF244321}">
                <p14:modId xmlns:p14="http://schemas.microsoft.com/office/powerpoint/2010/main" val="4225806318"/>
              </p:ext>
            </p:extLst>
          </p:nvPr>
        </p:nvGraphicFramePr>
        <p:xfrm>
          <a:off x="154223" y="773872"/>
          <a:ext cx="5922254" cy="3905925"/>
        </p:xfrm>
        <a:graphic>
          <a:graphicData uri="http://schemas.openxmlformats.org/drawingml/2006/table">
            <a:tbl>
              <a:tblPr firstRow="1" bandRow="1">
                <a:tableStyleId>{2D5ABB26-0587-4C30-8999-92F81FD0307C}</a:tableStyleId>
              </a:tblPr>
              <a:tblGrid>
                <a:gridCol w="1419727">
                  <a:extLst>
                    <a:ext uri="{9D8B030D-6E8A-4147-A177-3AD203B41FA5}">
                      <a16:colId xmlns:a16="http://schemas.microsoft.com/office/drawing/2014/main" val="20000"/>
                    </a:ext>
                  </a:extLst>
                </a:gridCol>
                <a:gridCol w="632413">
                  <a:extLst>
                    <a:ext uri="{9D8B030D-6E8A-4147-A177-3AD203B41FA5}">
                      <a16:colId xmlns:a16="http://schemas.microsoft.com/office/drawing/2014/main" val="20005"/>
                    </a:ext>
                  </a:extLst>
                </a:gridCol>
                <a:gridCol w="691092">
                  <a:extLst>
                    <a:ext uri="{9D8B030D-6E8A-4147-A177-3AD203B41FA5}">
                      <a16:colId xmlns:a16="http://schemas.microsoft.com/office/drawing/2014/main" val="20006"/>
                    </a:ext>
                  </a:extLst>
                </a:gridCol>
                <a:gridCol w="760201">
                  <a:extLst>
                    <a:ext uri="{9D8B030D-6E8A-4147-A177-3AD203B41FA5}">
                      <a16:colId xmlns:a16="http://schemas.microsoft.com/office/drawing/2014/main" val="20007"/>
                    </a:ext>
                  </a:extLst>
                </a:gridCol>
                <a:gridCol w="760201">
                  <a:extLst>
                    <a:ext uri="{9D8B030D-6E8A-4147-A177-3AD203B41FA5}">
                      <a16:colId xmlns:a16="http://schemas.microsoft.com/office/drawing/2014/main" val="20008"/>
                    </a:ext>
                  </a:extLst>
                </a:gridCol>
                <a:gridCol w="829310">
                  <a:extLst>
                    <a:ext uri="{9D8B030D-6E8A-4147-A177-3AD203B41FA5}">
                      <a16:colId xmlns:a16="http://schemas.microsoft.com/office/drawing/2014/main" val="20009"/>
                    </a:ext>
                  </a:extLst>
                </a:gridCol>
                <a:gridCol w="829310">
                  <a:extLst>
                    <a:ext uri="{9D8B030D-6E8A-4147-A177-3AD203B41FA5}">
                      <a16:colId xmlns:a16="http://schemas.microsoft.com/office/drawing/2014/main" val="20010"/>
                    </a:ext>
                  </a:extLst>
                </a:gridCol>
              </a:tblGrid>
              <a:tr h="142527">
                <a:tc gridSpan="7">
                  <a:txBody>
                    <a:bodyPr/>
                    <a:lstStyle/>
                    <a:p>
                      <a:pPr algn="ctr" fontAlgn="b"/>
                      <a:r>
                        <a:rPr lang="en-IN" sz="1100" b="1" i="0" u="none" strike="noStrike" dirty="0">
                          <a:solidFill>
                            <a:srgbClr val="FFFFFF"/>
                          </a:solidFill>
                          <a:effectLst/>
                          <a:latin typeface="+mn-lt"/>
                        </a:rPr>
                        <a:t>Income Statement</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hMerge="1">
                  <a:txBody>
                    <a:bodyPr/>
                    <a:lstStyle/>
                    <a:p>
                      <a:pPr algn="r" fontAlgn="t"/>
                      <a:endParaRPr lang="en-IN" sz="800" b="1" i="0" u="none" strike="noStrike" dirty="0">
                        <a:solidFill>
                          <a:srgbClr val="FFFFFF"/>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hMerge="1">
                  <a:txBody>
                    <a:bodyPr/>
                    <a:lstStyle/>
                    <a:p>
                      <a:pPr algn="r" fontAlgn="t"/>
                      <a:endParaRPr lang="en-IN" sz="800" b="1" i="0" u="none" strike="noStrike" dirty="0">
                        <a:solidFill>
                          <a:srgbClr val="FFFFFF"/>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hMerge="1">
                  <a:txBody>
                    <a:bodyPr/>
                    <a:lstStyle/>
                    <a:p>
                      <a:pPr algn="r" fontAlgn="t"/>
                      <a:endParaRPr lang="en-IN" sz="800" b="1" i="0" u="none" strike="noStrike" dirty="0">
                        <a:solidFill>
                          <a:srgbClr val="FFFFFF"/>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hMerge="1">
                  <a:txBody>
                    <a:bodyPr/>
                    <a:lstStyle/>
                    <a:p>
                      <a:pPr algn="r" fontAlgn="t"/>
                      <a:endParaRPr lang="en-IN" sz="800" b="1" i="0" u="none" strike="noStrike" dirty="0">
                        <a:solidFill>
                          <a:srgbClr val="FFFFFF"/>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hMerge="1">
                  <a:txBody>
                    <a:bodyPr/>
                    <a:lstStyle/>
                    <a:p>
                      <a:pPr algn="r" fontAlgn="t"/>
                      <a:endParaRPr lang="en-IN" sz="800" b="1" i="0" u="none" strike="noStrike" dirty="0">
                        <a:solidFill>
                          <a:srgbClr val="FFFFFF"/>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hMerge="1">
                  <a:txBody>
                    <a:bodyPr/>
                    <a:lstStyle/>
                    <a:p>
                      <a:pPr algn="r" fontAlgn="t"/>
                      <a:endParaRPr lang="en-IN" sz="800" b="1" i="0" u="none" strike="noStrike" dirty="0">
                        <a:solidFill>
                          <a:srgbClr val="FFFFFF"/>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extLst>
                  <a:ext uri="{0D108BD9-81ED-4DB2-BD59-A6C34878D82A}">
                    <a16:rowId xmlns:a16="http://schemas.microsoft.com/office/drawing/2014/main" val="2563730075"/>
                  </a:ext>
                </a:extLst>
              </a:tr>
              <a:tr h="142527">
                <a:tc>
                  <a:txBody>
                    <a:bodyPr/>
                    <a:lstStyle/>
                    <a:p>
                      <a:pPr algn="l" fontAlgn="b"/>
                      <a:endParaRPr lang="en-IN" sz="700" b="0" i="0" u="none" strike="noStrike" dirty="0">
                        <a:solidFill>
                          <a:srgbClr val="FFFFFF"/>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t"/>
                      <a:r>
                        <a:rPr lang="en-IN" sz="800" b="1" i="0" u="none" strike="noStrike" dirty="0">
                          <a:solidFill>
                            <a:srgbClr val="FFFFFF"/>
                          </a:solidFill>
                          <a:effectLst/>
                          <a:latin typeface="+mn-lt"/>
                        </a:rPr>
                        <a:t>Mar 25</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t"/>
                      <a:r>
                        <a:rPr lang="en-IN" sz="800" b="1" i="0" u="none" strike="noStrike">
                          <a:solidFill>
                            <a:srgbClr val="FFFFFF"/>
                          </a:solidFill>
                          <a:effectLst/>
                          <a:latin typeface="+mn-lt"/>
                        </a:rPr>
                        <a:t>Mar 26</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t"/>
                      <a:r>
                        <a:rPr lang="en-IN" sz="800" b="1" i="0" u="none" strike="noStrike" dirty="0">
                          <a:solidFill>
                            <a:srgbClr val="FFFFFF"/>
                          </a:solidFill>
                          <a:effectLst/>
                          <a:latin typeface="+mn-lt"/>
                        </a:rPr>
                        <a:t>Mar 27</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t"/>
                      <a:r>
                        <a:rPr lang="en-IN" sz="800" b="1" i="0" u="none" strike="noStrike">
                          <a:solidFill>
                            <a:srgbClr val="FFFFFF"/>
                          </a:solidFill>
                          <a:effectLst/>
                          <a:latin typeface="+mn-lt"/>
                        </a:rPr>
                        <a:t>Mar 28</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t"/>
                      <a:r>
                        <a:rPr lang="en-IN" sz="800" b="1" i="0" u="none" strike="noStrike" dirty="0">
                          <a:solidFill>
                            <a:srgbClr val="FFFFFF"/>
                          </a:solidFill>
                          <a:effectLst/>
                          <a:latin typeface="+mn-lt"/>
                        </a:rPr>
                        <a:t>Mar 29</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t"/>
                      <a:r>
                        <a:rPr lang="en-IN" sz="800" b="1" i="0" u="none" strike="noStrike" dirty="0">
                          <a:solidFill>
                            <a:srgbClr val="FFFFFF"/>
                          </a:solidFill>
                          <a:effectLst/>
                          <a:latin typeface="+mn-lt"/>
                        </a:rPr>
                        <a:t>Mar 30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extLst>
                  <a:ext uri="{0D108BD9-81ED-4DB2-BD59-A6C34878D82A}">
                    <a16:rowId xmlns:a16="http://schemas.microsoft.com/office/drawing/2014/main" val="10000"/>
                  </a:ext>
                </a:extLst>
              </a:tr>
              <a:tr h="217915">
                <a:tc>
                  <a:txBody>
                    <a:bodyPr/>
                    <a:lstStyle/>
                    <a:p>
                      <a:pPr algn="l" fontAlgn="b"/>
                      <a:endParaRPr lang="en-IN" sz="700" b="0" i="0" u="none" strike="noStrike">
                        <a:solidFill>
                          <a:srgbClr val="000000"/>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800" b="0" i="1" u="none" strike="noStrike" dirty="0">
                          <a:solidFill>
                            <a:schemeClr val="bg1"/>
                          </a:solidFill>
                          <a:effectLst/>
                          <a:latin typeface="+mn-lt"/>
                        </a:rPr>
                        <a:t>Actual</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800" b="0" i="1" u="none" strike="noStrike">
                          <a:solidFill>
                            <a:schemeClr val="bg1"/>
                          </a:solidFill>
                          <a:effectLst/>
                          <a:latin typeface="+mn-lt"/>
                        </a:rPr>
                        <a:t>Forecasted</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800" b="0" i="1" u="none" strike="noStrike">
                          <a:solidFill>
                            <a:schemeClr val="bg1"/>
                          </a:solidFill>
                          <a:effectLst/>
                          <a:latin typeface="+mn-lt"/>
                        </a:rPr>
                        <a:t>Forecasted</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800" b="0" i="1" u="none" strike="noStrike" dirty="0">
                          <a:solidFill>
                            <a:schemeClr val="bg1"/>
                          </a:solidFill>
                          <a:effectLst/>
                          <a:latin typeface="+mn-lt"/>
                        </a:rPr>
                        <a:t>Forecasted</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800" b="0" i="1" u="none" strike="noStrike" dirty="0">
                          <a:solidFill>
                            <a:schemeClr val="bg1"/>
                          </a:solidFill>
                          <a:effectLst/>
                          <a:latin typeface="+mn-lt"/>
                        </a:rPr>
                        <a:t>Forecasted</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800" b="0" i="1" u="none" strike="noStrike" dirty="0">
                          <a:solidFill>
                            <a:schemeClr val="bg1"/>
                          </a:solidFill>
                          <a:effectLst/>
                          <a:latin typeface="+mn-lt"/>
                        </a:rPr>
                        <a:t>Forecasted</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extLst>
                  <a:ext uri="{0D108BD9-81ED-4DB2-BD59-A6C34878D82A}">
                    <a16:rowId xmlns:a16="http://schemas.microsoft.com/office/drawing/2014/main" val="10001"/>
                  </a:ext>
                </a:extLst>
              </a:tr>
              <a:tr h="126568">
                <a:tc>
                  <a:txBody>
                    <a:bodyPr/>
                    <a:lstStyle/>
                    <a:p>
                      <a:pPr algn="l" fontAlgn="b"/>
                      <a:r>
                        <a:rPr lang="en-IN" sz="700" b="1" i="0" u="none" strike="noStrike">
                          <a:solidFill>
                            <a:srgbClr val="000000"/>
                          </a:solidFill>
                          <a:effectLst/>
                          <a:latin typeface="+mn-lt"/>
                        </a:rPr>
                        <a:t>INCOME</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IN" sz="700" b="0" i="0" u="none" strike="noStrike">
                        <a:solidFill>
                          <a:srgbClr val="000000"/>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IN" sz="700" b="0" i="0" u="none" strike="noStrike">
                        <a:solidFill>
                          <a:srgbClr val="000000"/>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IN" sz="700" b="0" i="0" u="none" strike="noStrike">
                        <a:solidFill>
                          <a:srgbClr val="000000"/>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IN" sz="700" b="0" i="0" u="none" strike="noStrike">
                        <a:solidFill>
                          <a:srgbClr val="000000"/>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IN" sz="700" b="0" i="0" u="none" strike="noStrike">
                        <a:solidFill>
                          <a:srgbClr val="000000"/>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IN" sz="700" b="0" i="0" u="none" strike="noStrike">
                        <a:solidFill>
                          <a:srgbClr val="000000"/>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26568">
                <a:tc>
                  <a:txBody>
                    <a:bodyPr/>
                    <a:lstStyle/>
                    <a:p>
                      <a:pPr marL="0" algn="l" fontAlgn="b">
                        <a:buNone/>
                      </a:pPr>
                      <a:r>
                        <a:rPr lang="en-IN" sz="700" b="0" i="0" u="none" strike="noStrike">
                          <a:solidFill>
                            <a:srgbClr val="FFFFFF"/>
                          </a:solidFill>
                          <a:effectLst/>
                          <a:latin typeface="+mn-lt"/>
                        </a:rPr>
                        <a:t>As % Total Revenue</a:t>
                      </a:r>
                      <a:endParaRPr lang="en-IN" sz="1600" b="0" i="0" u="none" strike="noStrike">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marL="0" algn="r" fontAlgn="b">
                        <a:buNone/>
                      </a:pPr>
                      <a:r>
                        <a:rPr lang="en-IN" sz="700" b="0" i="0" u="none" strike="noStrike">
                          <a:solidFill>
                            <a:srgbClr val="FFFFFF"/>
                          </a:solidFill>
                          <a:effectLst/>
                          <a:latin typeface="+mn-lt"/>
                        </a:rPr>
                        <a:t>49.0%</a:t>
                      </a:r>
                      <a:endParaRPr lang="en-IN" sz="1600" b="0" i="0" u="none" strike="noStrike">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marL="0" algn="r" fontAlgn="b">
                        <a:buNone/>
                      </a:pPr>
                      <a:r>
                        <a:rPr lang="en-IN" sz="700" b="0" i="0" u="none" strike="noStrike">
                          <a:solidFill>
                            <a:srgbClr val="FFFFFF"/>
                          </a:solidFill>
                          <a:effectLst/>
                          <a:latin typeface="+mn-lt"/>
                        </a:rPr>
                        <a:t>47.0%</a:t>
                      </a:r>
                      <a:endParaRPr lang="en-IN" sz="1600" b="0" i="0" u="none" strike="noStrike">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marL="0" algn="r" fontAlgn="b">
                        <a:buNone/>
                      </a:pPr>
                      <a:r>
                        <a:rPr lang="en-IN" sz="700" b="0" i="0" u="none" strike="noStrike">
                          <a:solidFill>
                            <a:srgbClr val="FFFFFF"/>
                          </a:solidFill>
                          <a:effectLst/>
                          <a:latin typeface="+mn-lt"/>
                        </a:rPr>
                        <a:t>45.0%</a:t>
                      </a:r>
                      <a:endParaRPr lang="en-IN" sz="1600" b="0" i="0" u="none" strike="noStrike">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marL="0" algn="r" fontAlgn="b">
                        <a:buNone/>
                      </a:pPr>
                      <a:r>
                        <a:rPr lang="en-IN" sz="700" b="0" i="0" u="none" strike="noStrike">
                          <a:solidFill>
                            <a:srgbClr val="FFFFFF"/>
                          </a:solidFill>
                          <a:effectLst/>
                          <a:latin typeface="+mn-lt"/>
                        </a:rPr>
                        <a:t>43.0%</a:t>
                      </a:r>
                      <a:endParaRPr lang="en-IN" sz="1600" b="0" i="0" u="none" strike="noStrike">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marL="0" algn="r" fontAlgn="b">
                        <a:buNone/>
                      </a:pPr>
                      <a:r>
                        <a:rPr lang="en-IN" sz="700" b="0" i="0" u="none" strike="noStrike">
                          <a:solidFill>
                            <a:srgbClr val="FFFFFF"/>
                          </a:solidFill>
                          <a:effectLst/>
                          <a:latin typeface="+mn-lt"/>
                        </a:rPr>
                        <a:t>41.0%</a:t>
                      </a:r>
                      <a:endParaRPr lang="en-IN" sz="1600" b="0" i="0" u="none" strike="noStrike">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marL="0" algn="r" fontAlgn="b">
                        <a:buNone/>
                      </a:pPr>
                      <a:r>
                        <a:rPr lang="en-IN" sz="700" b="0" i="0" u="none" strike="noStrike">
                          <a:solidFill>
                            <a:srgbClr val="FFFFFF"/>
                          </a:solidFill>
                          <a:effectLst/>
                          <a:latin typeface="+mn-lt"/>
                        </a:rPr>
                        <a:t>39.0%</a:t>
                      </a:r>
                      <a:endParaRPr lang="en-IN" sz="1600" b="0" i="0" u="none" strike="noStrike">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extLst>
                  <a:ext uri="{0D108BD9-81ED-4DB2-BD59-A6C34878D82A}">
                    <a16:rowId xmlns:a16="http://schemas.microsoft.com/office/drawing/2014/main" val="10003"/>
                  </a:ext>
                </a:extLst>
              </a:tr>
              <a:tr h="126568">
                <a:tc>
                  <a:txBody>
                    <a:bodyPr/>
                    <a:lstStyle/>
                    <a:p>
                      <a:pPr algn="l" fontAlgn="b"/>
                      <a:r>
                        <a:rPr lang="en-IN" sz="700" b="0" i="0" u="none" strike="noStrike" dirty="0">
                          <a:solidFill>
                            <a:srgbClr val="000000"/>
                          </a:solidFill>
                          <a:effectLst/>
                          <a:latin typeface="+mn-lt"/>
                        </a:rPr>
                        <a:t>Growth Rate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21.6%</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15.3%</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14.2%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12.4%</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11.1%</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dirty="0">
                          <a:solidFill>
                            <a:srgbClr val="000000"/>
                          </a:solidFill>
                          <a:effectLst/>
                          <a:latin typeface="+mn-lt"/>
                        </a:rPr>
                        <a:t>10.0%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34602">
                <a:tc>
                  <a:txBody>
                    <a:bodyPr/>
                    <a:lstStyle/>
                    <a:p>
                      <a:pPr algn="l" fontAlgn="b"/>
                      <a:r>
                        <a:rPr lang="en-IN" sz="700" b="0" i="0" u="none" strike="noStrike">
                          <a:solidFill>
                            <a:srgbClr val="000000"/>
                          </a:solidFill>
                          <a:effectLst/>
                          <a:latin typeface="+mn-lt"/>
                        </a:rPr>
                        <a:t>Other Income</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1316</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1691.31</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1941.01</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2264.48</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2555.47</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2774.30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40478">
                <a:tc>
                  <a:txBody>
                    <a:bodyPr/>
                    <a:lstStyle/>
                    <a:p>
                      <a:pPr algn="l" fontAlgn="b"/>
                      <a:r>
                        <a:rPr lang="en-IN" sz="700" b="0" i="0" u="none" strike="noStrike">
                          <a:solidFill>
                            <a:srgbClr val="000000"/>
                          </a:solidFill>
                          <a:effectLst/>
                          <a:latin typeface="+mn-lt"/>
                        </a:rPr>
                        <a:t>Total Income</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12528.0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14618.4</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16703.7</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18862.8</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20989.5</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23044.0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26568">
                <a:tc>
                  <a:txBody>
                    <a:bodyPr/>
                    <a:lstStyle/>
                    <a:p>
                      <a:pPr algn="l" fontAlgn="b"/>
                      <a:r>
                        <a:rPr lang="en-IN" sz="700" b="1" i="0" u="none" strike="noStrike">
                          <a:solidFill>
                            <a:srgbClr val="000000"/>
                          </a:solidFill>
                          <a:effectLst/>
                          <a:latin typeface="+mn-lt"/>
                        </a:rPr>
                        <a:t>EXPENSES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IN" sz="700" b="0" i="0" u="none" strike="noStrike">
                        <a:solidFill>
                          <a:srgbClr val="000000"/>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IN" sz="700" b="0" i="0" u="none" strike="noStrike">
                        <a:solidFill>
                          <a:srgbClr val="000000"/>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IN" sz="700" b="0" i="0" u="none" strike="noStrike">
                        <a:solidFill>
                          <a:srgbClr val="000000"/>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IN" sz="700" b="0" i="0" u="none" strike="noStrike">
                        <a:solidFill>
                          <a:srgbClr val="000000"/>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IN" sz="700" b="0" i="0" u="none" strike="noStrike">
                        <a:solidFill>
                          <a:srgbClr val="000000"/>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IN" sz="700" b="0" i="0" u="none" strike="noStrike">
                        <a:solidFill>
                          <a:srgbClr val="000000"/>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17915">
                <a:tc>
                  <a:txBody>
                    <a:bodyPr/>
                    <a:lstStyle/>
                    <a:p>
                      <a:pPr algn="l" fontAlgn="b"/>
                      <a:r>
                        <a:rPr lang="en-IN" sz="700" b="0" i="0" u="none" strike="noStrike">
                          <a:solidFill>
                            <a:srgbClr val="000000"/>
                          </a:solidFill>
                          <a:effectLst/>
                          <a:latin typeface="+mn-lt"/>
                        </a:rPr>
                        <a:t>Other Manufacturing Expenses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1843</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1939.06</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2214.41</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2489.75</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2765.10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3040.45</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126568">
                <a:tc>
                  <a:txBody>
                    <a:bodyPr/>
                    <a:lstStyle/>
                    <a:p>
                      <a:pPr algn="l" fontAlgn="b"/>
                      <a:r>
                        <a:rPr lang="en-IN" sz="700" b="0" i="0" u="none" strike="noStrike">
                          <a:solidFill>
                            <a:srgbClr val="000000"/>
                          </a:solidFill>
                          <a:effectLst/>
                          <a:latin typeface="+mn-lt"/>
                        </a:rPr>
                        <a:t>As % Total Revenue</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16.4%</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15.0%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15.0%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15.0%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dirty="0">
                          <a:solidFill>
                            <a:srgbClr val="000000"/>
                          </a:solidFill>
                          <a:effectLst/>
                          <a:latin typeface="+mn-lt"/>
                        </a:rPr>
                        <a:t>15.0%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15.0%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126568">
                <a:tc>
                  <a:txBody>
                    <a:bodyPr/>
                    <a:lstStyle/>
                    <a:p>
                      <a:pPr algn="l" fontAlgn="b"/>
                      <a:r>
                        <a:rPr lang="en-IN" sz="700" b="0" i="0" u="none" strike="noStrike">
                          <a:solidFill>
                            <a:srgbClr val="000000"/>
                          </a:solidFill>
                          <a:effectLst/>
                          <a:latin typeface="+mn-lt"/>
                        </a:rPr>
                        <a:t>Employee Expenses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131.00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165.48</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216.78</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283.99</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372.02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373.02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197555">
                <a:tc>
                  <a:txBody>
                    <a:bodyPr/>
                    <a:lstStyle/>
                    <a:p>
                      <a:pPr algn="l" fontAlgn="b"/>
                      <a:r>
                        <a:rPr lang="en-IN" sz="700" b="0" i="0" u="none" strike="noStrike">
                          <a:solidFill>
                            <a:srgbClr val="000000"/>
                          </a:solidFill>
                          <a:effectLst/>
                          <a:latin typeface="+mn-lt"/>
                        </a:rPr>
                        <a:t>As % Total Revenue</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1.3%</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1.5%</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1.7%</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1.8%</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126568">
                <a:tc>
                  <a:txBody>
                    <a:bodyPr/>
                    <a:lstStyle/>
                    <a:p>
                      <a:pPr algn="l" fontAlgn="b"/>
                      <a:r>
                        <a:rPr lang="en-IN" sz="700" b="0" i="0" u="none" strike="noStrike">
                          <a:solidFill>
                            <a:srgbClr val="000000"/>
                          </a:solidFill>
                          <a:effectLst/>
                          <a:latin typeface="+mn-lt"/>
                        </a:rPr>
                        <a:t>Selling and Admin</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243.00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284.40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324.78</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365.16</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dirty="0">
                          <a:solidFill>
                            <a:srgbClr val="000000"/>
                          </a:solidFill>
                          <a:effectLst/>
                          <a:latin typeface="+mn-lt"/>
                        </a:rPr>
                        <a:t>a405.55</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445.93</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126568">
                <a:tc>
                  <a:txBody>
                    <a:bodyPr/>
                    <a:lstStyle/>
                    <a:p>
                      <a:pPr algn="l" fontAlgn="b"/>
                      <a:r>
                        <a:rPr lang="en-IN" sz="700" b="0" i="0" u="none" strike="noStrike">
                          <a:solidFill>
                            <a:srgbClr val="000000"/>
                          </a:solidFill>
                          <a:effectLst/>
                          <a:latin typeface="+mn-lt"/>
                        </a:rPr>
                        <a:t>As % Total Revenue</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3"/>
                  </a:ext>
                </a:extLst>
              </a:tr>
              <a:tr h="217915">
                <a:tc>
                  <a:txBody>
                    <a:bodyPr/>
                    <a:lstStyle/>
                    <a:p>
                      <a:pPr algn="l" fontAlgn="b"/>
                      <a:r>
                        <a:rPr lang="en-IN" sz="700" b="0" i="0" u="none" strike="noStrike">
                          <a:solidFill>
                            <a:srgbClr val="000000"/>
                          </a:solidFill>
                          <a:effectLst/>
                          <a:latin typeface="+mn-lt"/>
                        </a:rPr>
                        <a:t>Finance Costs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5,492.00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6,075.72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6,643.22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7,137.30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7,557.95</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7,905.17</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126568">
                <a:tc>
                  <a:txBody>
                    <a:bodyPr/>
                    <a:lstStyle/>
                    <a:p>
                      <a:pPr algn="l" fontAlgn="b"/>
                      <a:r>
                        <a:rPr lang="en-IN" sz="700" b="0" i="0" u="none" strike="noStrike">
                          <a:solidFill>
                            <a:schemeClr val="bg1"/>
                          </a:solidFill>
                          <a:effectLst/>
                          <a:latin typeface="+mn-lt"/>
                        </a:rPr>
                        <a:t>As % Total Revenue</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0" i="0" u="none" strike="noStrike">
                          <a:solidFill>
                            <a:schemeClr val="bg1"/>
                          </a:solidFill>
                          <a:effectLst/>
                          <a:latin typeface="+mn-lt"/>
                        </a:rPr>
                        <a:t>49.0%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0" i="0" u="none" strike="noStrike">
                          <a:solidFill>
                            <a:schemeClr val="bg1"/>
                          </a:solidFill>
                          <a:effectLst/>
                          <a:latin typeface="+mn-lt"/>
                        </a:rPr>
                        <a:t>47.0%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0" i="0" u="none" strike="noStrike">
                          <a:solidFill>
                            <a:schemeClr val="bg1"/>
                          </a:solidFill>
                          <a:effectLst/>
                          <a:latin typeface="+mn-lt"/>
                        </a:rPr>
                        <a:t>45.0%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0" i="0" u="none" strike="noStrike">
                          <a:solidFill>
                            <a:schemeClr val="bg1"/>
                          </a:solidFill>
                          <a:effectLst/>
                          <a:latin typeface="+mn-lt"/>
                        </a:rPr>
                        <a:t>43.0%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0" i="0" u="none" strike="noStrike">
                          <a:solidFill>
                            <a:schemeClr val="bg1"/>
                          </a:solidFill>
                          <a:effectLst/>
                          <a:latin typeface="+mn-lt"/>
                        </a:rPr>
                        <a:t>41.0%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0" i="0" u="none" strike="noStrike">
                          <a:solidFill>
                            <a:schemeClr val="bg1"/>
                          </a:solidFill>
                          <a:effectLst/>
                          <a:latin typeface="+mn-lt"/>
                        </a:rPr>
                        <a:t>39.0%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extLst>
                  <a:ext uri="{0D108BD9-81ED-4DB2-BD59-A6C34878D82A}">
                    <a16:rowId xmlns:a16="http://schemas.microsoft.com/office/drawing/2014/main" val="10015"/>
                  </a:ext>
                </a:extLst>
              </a:tr>
              <a:tr h="217915">
                <a:tc>
                  <a:txBody>
                    <a:bodyPr/>
                    <a:lstStyle/>
                    <a:p>
                      <a:pPr algn="l" fontAlgn="b"/>
                      <a:r>
                        <a:rPr lang="en-IN" sz="700" b="0" i="0" u="none" strike="noStrike">
                          <a:solidFill>
                            <a:srgbClr val="000000"/>
                          </a:solidFill>
                          <a:effectLst/>
                          <a:latin typeface="+mn-lt"/>
                        </a:rPr>
                        <a:t>Depreciation</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2,498.00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2,585.41</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2,952.54</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3,319.67</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3,686.80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4,053.93</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6"/>
                  </a:ext>
                </a:extLst>
              </a:tr>
              <a:tr h="126568">
                <a:tc>
                  <a:txBody>
                    <a:bodyPr/>
                    <a:lstStyle/>
                    <a:p>
                      <a:pPr algn="l" fontAlgn="b"/>
                      <a:r>
                        <a:rPr lang="en-IN" sz="700" b="0" i="0" u="none" strike="noStrike">
                          <a:solidFill>
                            <a:srgbClr val="000000"/>
                          </a:solidFill>
                          <a:effectLst/>
                          <a:latin typeface="+mn-lt"/>
                        </a:rPr>
                        <a:t>As % Total Revenue</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22.3%</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20.0%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20.0%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20.0%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20.0%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20.0%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7"/>
                  </a:ext>
                </a:extLst>
              </a:tr>
              <a:tr h="121967">
                <a:tc>
                  <a:txBody>
                    <a:bodyPr/>
                    <a:lstStyle/>
                    <a:p>
                      <a:pPr algn="l" fontAlgn="b"/>
                      <a:r>
                        <a:rPr lang="en-IN" sz="700" b="0" i="0" u="none" strike="noStrike">
                          <a:solidFill>
                            <a:srgbClr val="000000"/>
                          </a:solidFill>
                          <a:effectLst/>
                          <a:latin typeface="+mn-lt"/>
                        </a:rPr>
                        <a:t>Other Expenses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106.00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197.87</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171.98</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195.14</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224.50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160.41</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126568">
                <a:tc>
                  <a:txBody>
                    <a:bodyPr/>
                    <a:lstStyle/>
                    <a:p>
                      <a:pPr algn="l" fontAlgn="b"/>
                      <a:r>
                        <a:rPr lang="en-IN" sz="700" b="0" i="0" u="none" strike="noStrike">
                          <a:solidFill>
                            <a:schemeClr val="bg1"/>
                          </a:solidFill>
                          <a:effectLst/>
                          <a:latin typeface="+mn-lt"/>
                        </a:rPr>
                        <a:t>As % Total Revenue</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0" i="0" u="none" strike="noStrike">
                          <a:solidFill>
                            <a:schemeClr val="bg1"/>
                          </a:solidFill>
                          <a:effectLst/>
                          <a:latin typeface="+mn-lt"/>
                        </a:rPr>
                        <a:t>0.9%</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0" i="0" u="none" strike="noStrike">
                          <a:solidFill>
                            <a:schemeClr val="bg1"/>
                          </a:solidFill>
                          <a:effectLst/>
                          <a:latin typeface="+mn-lt"/>
                        </a:rPr>
                        <a:t>1.5%</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0" i="0" u="none" strike="noStrike">
                          <a:solidFill>
                            <a:schemeClr val="bg1"/>
                          </a:solidFill>
                          <a:effectLst/>
                          <a:latin typeface="+mn-lt"/>
                        </a:rPr>
                        <a:t>1.2%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0" i="0" u="none" strike="noStrike">
                          <a:solidFill>
                            <a:schemeClr val="bg1"/>
                          </a:solidFill>
                          <a:effectLst/>
                          <a:latin typeface="+mn-lt"/>
                        </a:rPr>
                        <a:t>1.2%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0" i="0" u="none" strike="noStrike">
                          <a:solidFill>
                            <a:schemeClr val="bg1"/>
                          </a:solidFill>
                          <a:effectLst/>
                          <a:latin typeface="+mn-lt"/>
                        </a:rPr>
                        <a:t>1.2%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0" i="0" u="none" strike="noStrike">
                          <a:solidFill>
                            <a:schemeClr val="bg1"/>
                          </a:solidFill>
                          <a:effectLst/>
                          <a:latin typeface="+mn-lt"/>
                        </a:rPr>
                        <a:t>0.8%</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extLst>
                  <a:ext uri="{0D108BD9-81ED-4DB2-BD59-A6C34878D82A}">
                    <a16:rowId xmlns:a16="http://schemas.microsoft.com/office/drawing/2014/main" val="10019"/>
                  </a:ext>
                </a:extLst>
              </a:tr>
              <a:tr h="121967">
                <a:tc>
                  <a:txBody>
                    <a:bodyPr/>
                    <a:lstStyle/>
                    <a:p>
                      <a:pPr algn="l" fontAlgn="b"/>
                      <a:r>
                        <a:rPr lang="en-IN" sz="700" b="0" i="0" u="none" strike="noStrike">
                          <a:solidFill>
                            <a:srgbClr val="000000"/>
                          </a:solidFill>
                          <a:effectLst/>
                          <a:latin typeface="+mn-lt"/>
                        </a:rPr>
                        <a:t>Total Expenses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10,313.00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11,247.93</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12,523.70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13,791.02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15,011.92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15,978.92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6497668"/>
                  </a:ext>
                </a:extLst>
              </a:tr>
              <a:tr h="121967">
                <a:tc>
                  <a:txBody>
                    <a:bodyPr/>
                    <a:lstStyle/>
                    <a:p>
                      <a:pPr algn="l" fontAlgn="b"/>
                      <a:r>
                        <a:rPr lang="en-US" sz="700" b="0" i="0" u="none" strike="noStrike">
                          <a:solidFill>
                            <a:srgbClr val="000000"/>
                          </a:solidFill>
                          <a:effectLst/>
                          <a:latin typeface="+mn-lt"/>
                        </a:rPr>
                        <a:t>PBT</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2215.0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3370.4</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4180.0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5071.8</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5977.6</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7065.0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2324229"/>
                  </a:ext>
                </a:extLst>
              </a:tr>
              <a:tr h="126568">
                <a:tc>
                  <a:txBody>
                    <a:bodyPr/>
                    <a:lstStyle/>
                    <a:p>
                      <a:pPr algn="l" fontAlgn="b"/>
                      <a:r>
                        <a:rPr lang="en-IN" sz="700" b="0" i="0" u="none" strike="noStrike">
                          <a:solidFill>
                            <a:srgbClr val="000000"/>
                          </a:solidFill>
                          <a:effectLst/>
                          <a:latin typeface="+mn-lt"/>
                        </a:rPr>
                        <a:t>Total Tax Expenses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771.0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848.3</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1052.1</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1276.6</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1504.6</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1778.3</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7504622"/>
                  </a:ext>
                </a:extLst>
              </a:tr>
              <a:tr h="126568">
                <a:tc>
                  <a:txBody>
                    <a:bodyPr/>
                    <a:lstStyle/>
                    <a:p>
                      <a:pPr algn="l" fontAlgn="b"/>
                      <a:r>
                        <a:rPr lang="en-IN" sz="700" b="0" i="0" u="none" strike="noStrike">
                          <a:solidFill>
                            <a:srgbClr val="000000"/>
                          </a:solidFill>
                          <a:effectLst/>
                          <a:latin typeface="+mn-lt"/>
                        </a:rPr>
                        <a:t>As % PBT</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34.8%</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25.2%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25.2%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25.2%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25.2%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25.2%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9723980"/>
                  </a:ext>
                </a:extLst>
              </a:tr>
              <a:tr h="133267">
                <a:tc>
                  <a:txBody>
                    <a:bodyPr/>
                    <a:lstStyle/>
                    <a:p>
                      <a:pPr algn="l" fontAlgn="b"/>
                      <a:r>
                        <a:rPr lang="en-US" sz="700" b="1" i="0" u="none" strike="noStrike">
                          <a:solidFill>
                            <a:schemeClr val="bg1"/>
                          </a:solidFill>
                          <a:effectLst/>
                          <a:latin typeface="+mn-lt"/>
                        </a:rPr>
                        <a:t>Profit/Loss For The Period</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1" i="0" u="none" strike="noStrike" dirty="0">
                          <a:solidFill>
                            <a:schemeClr val="bg1"/>
                          </a:solidFill>
                          <a:effectLst/>
                          <a:latin typeface="+mn-lt"/>
                        </a:rPr>
                        <a:t>1,444.00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1" i="0" u="none" strike="noStrike">
                          <a:solidFill>
                            <a:schemeClr val="bg1"/>
                          </a:solidFill>
                          <a:effectLst/>
                          <a:latin typeface="+mn-lt"/>
                        </a:rPr>
                        <a:t>2,522.10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1" i="0" u="none" strike="noStrike">
                          <a:solidFill>
                            <a:schemeClr val="bg1"/>
                          </a:solidFill>
                          <a:effectLst/>
                          <a:latin typeface="+mn-lt"/>
                        </a:rPr>
                        <a:t>3,127.90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1" i="0" u="none" strike="noStrike">
                          <a:solidFill>
                            <a:schemeClr val="bg1"/>
                          </a:solidFill>
                          <a:effectLst/>
                          <a:latin typeface="+mn-lt"/>
                        </a:rPr>
                        <a:t>3,795.25</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1" i="0" u="none" strike="noStrike">
                          <a:solidFill>
                            <a:schemeClr val="bg1"/>
                          </a:solidFill>
                          <a:effectLst/>
                          <a:latin typeface="+mn-lt"/>
                        </a:rPr>
                        <a:t>4,473.02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1" i="0" u="none" strike="noStrike" dirty="0">
                          <a:solidFill>
                            <a:schemeClr val="bg1"/>
                          </a:solidFill>
                          <a:effectLst/>
                          <a:latin typeface="+mn-lt"/>
                        </a:rPr>
                        <a:t>5,286.77</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extLst>
                  <a:ext uri="{0D108BD9-81ED-4DB2-BD59-A6C34878D82A}">
                    <a16:rowId xmlns:a16="http://schemas.microsoft.com/office/drawing/2014/main" val="1122232112"/>
                  </a:ext>
                </a:extLst>
              </a:tr>
            </a:tbl>
          </a:graphicData>
        </a:graphic>
      </p:graphicFrame>
      <p:sp>
        <p:nvSpPr>
          <p:cNvPr id="9" name="object 9"/>
          <p:cNvSpPr txBox="1"/>
          <p:nvPr/>
        </p:nvSpPr>
        <p:spPr>
          <a:xfrm>
            <a:off x="5963429" y="8221110"/>
            <a:ext cx="128428" cy="115416"/>
          </a:xfrm>
          <a:prstGeom prst="rect">
            <a:avLst/>
          </a:prstGeom>
        </p:spPr>
        <p:txBody>
          <a:bodyPr vert="horz" wrap="square" lIns="0" tIns="0" rIns="0" bIns="0" rtlCol="0">
            <a:spAutoFit/>
          </a:bodyPr>
          <a:lstStyle/>
          <a:p>
            <a:pPr marL="11518">
              <a:lnSpc>
                <a:spcPts val="866"/>
              </a:lnSpc>
            </a:pPr>
            <a:r>
              <a:rPr sz="816" spc="-23">
                <a:latin typeface="Calibri"/>
                <a:cs typeface="Calibri"/>
              </a:rPr>
              <a:t>16</a:t>
            </a:r>
            <a:endParaRPr sz="816">
              <a:latin typeface="Calibri"/>
              <a:cs typeface="Calibri"/>
            </a:endParaRPr>
          </a:p>
        </p:txBody>
      </p:sp>
      <p:graphicFrame>
        <p:nvGraphicFramePr>
          <p:cNvPr id="8" name="object 5">
            <a:extLst>
              <a:ext uri="{FF2B5EF4-FFF2-40B4-BE49-F238E27FC236}">
                <a16:creationId xmlns:a16="http://schemas.microsoft.com/office/drawing/2014/main" id="{FD13D50B-B1B4-BC38-614A-C215A5C852E5}"/>
              </a:ext>
            </a:extLst>
          </p:cNvPr>
          <p:cNvGraphicFramePr>
            <a:graphicFrameLocks noGrp="1"/>
          </p:cNvGraphicFramePr>
          <p:nvPr>
            <p:extLst>
              <p:ext uri="{D42A27DB-BD31-4B8C-83A1-F6EECF244321}">
                <p14:modId xmlns:p14="http://schemas.microsoft.com/office/powerpoint/2010/main" val="350666083"/>
              </p:ext>
            </p:extLst>
          </p:nvPr>
        </p:nvGraphicFramePr>
        <p:xfrm>
          <a:off x="145533" y="4790969"/>
          <a:ext cx="5922253" cy="3940137"/>
        </p:xfrm>
        <a:graphic>
          <a:graphicData uri="http://schemas.openxmlformats.org/drawingml/2006/table">
            <a:tbl>
              <a:tblPr firstRow="1" bandRow="1">
                <a:tableStyleId>{2D5ABB26-0587-4C30-8999-92F81FD0307C}</a:tableStyleId>
              </a:tblPr>
              <a:tblGrid>
                <a:gridCol w="1419727">
                  <a:extLst>
                    <a:ext uri="{9D8B030D-6E8A-4147-A177-3AD203B41FA5}">
                      <a16:colId xmlns:a16="http://schemas.microsoft.com/office/drawing/2014/main" val="20000"/>
                    </a:ext>
                  </a:extLst>
                </a:gridCol>
                <a:gridCol w="632413">
                  <a:extLst>
                    <a:ext uri="{9D8B030D-6E8A-4147-A177-3AD203B41FA5}">
                      <a16:colId xmlns:a16="http://schemas.microsoft.com/office/drawing/2014/main" val="20005"/>
                    </a:ext>
                  </a:extLst>
                </a:gridCol>
                <a:gridCol w="691092">
                  <a:extLst>
                    <a:ext uri="{9D8B030D-6E8A-4147-A177-3AD203B41FA5}">
                      <a16:colId xmlns:a16="http://schemas.microsoft.com/office/drawing/2014/main" val="20006"/>
                    </a:ext>
                  </a:extLst>
                </a:gridCol>
                <a:gridCol w="760201">
                  <a:extLst>
                    <a:ext uri="{9D8B030D-6E8A-4147-A177-3AD203B41FA5}">
                      <a16:colId xmlns:a16="http://schemas.microsoft.com/office/drawing/2014/main" val="20007"/>
                    </a:ext>
                  </a:extLst>
                </a:gridCol>
                <a:gridCol w="760201">
                  <a:extLst>
                    <a:ext uri="{9D8B030D-6E8A-4147-A177-3AD203B41FA5}">
                      <a16:colId xmlns:a16="http://schemas.microsoft.com/office/drawing/2014/main" val="20008"/>
                    </a:ext>
                  </a:extLst>
                </a:gridCol>
                <a:gridCol w="829310">
                  <a:extLst>
                    <a:ext uri="{9D8B030D-6E8A-4147-A177-3AD203B41FA5}">
                      <a16:colId xmlns:a16="http://schemas.microsoft.com/office/drawing/2014/main" val="20009"/>
                    </a:ext>
                  </a:extLst>
                </a:gridCol>
                <a:gridCol w="829309">
                  <a:extLst>
                    <a:ext uri="{9D8B030D-6E8A-4147-A177-3AD203B41FA5}">
                      <a16:colId xmlns:a16="http://schemas.microsoft.com/office/drawing/2014/main" val="20010"/>
                    </a:ext>
                  </a:extLst>
                </a:gridCol>
              </a:tblGrid>
              <a:tr h="172773">
                <a:tc gridSpan="7">
                  <a:txBody>
                    <a:bodyPr/>
                    <a:lstStyle/>
                    <a:p>
                      <a:pPr algn="ctr" fontAlgn="b"/>
                      <a:r>
                        <a:rPr lang="en-IN" sz="1100" b="1" i="0" u="none" strike="noStrike" dirty="0">
                          <a:solidFill>
                            <a:srgbClr val="FFFFFF"/>
                          </a:solidFill>
                          <a:effectLst/>
                          <a:latin typeface="+mn-lt"/>
                        </a:rPr>
                        <a:t>Balance Sheet</a:t>
                      </a:r>
                    </a:p>
                  </a:txBody>
                  <a:tcPr marL="36000" marR="36000" marT="41466" marB="4146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hMerge="1">
                  <a:txBody>
                    <a:bodyPr/>
                    <a:lstStyle/>
                    <a:p>
                      <a:endParaRPr lang="en-I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hMerge="1">
                  <a:txBody>
                    <a:bodyPr/>
                    <a:lstStyle/>
                    <a:p>
                      <a:endParaRPr lang="en-I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hMerge="1">
                  <a:txBody>
                    <a:bodyPr/>
                    <a:lstStyle/>
                    <a:p>
                      <a:endParaRPr lang="en-I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hMerge="1">
                  <a:txBody>
                    <a:bodyPr/>
                    <a:lstStyle/>
                    <a:p>
                      <a:endParaRPr lang="en-I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hMerge="1">
                  <a:txBody>
                    <a:bodyPr/>
                    <a:lstStyle/>
                    <a:p>
                      <a:endParaRPr lang="en-I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hMerge="1">
                  <a:txBody>
                    <a:bodyPr/>
                    <a:lstStyle/>
                    <a:p>
                      <a:endParaRPr lang="en-I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0"/>
                  </a:ext>
                </a:extLst>
              </a:tr>
              <a:tr h="117486">
                <a:tc>
                  <a:txBody>
                    <a:bodyPr/>
                    <a:lstStyle/>
                    <a:p>
                      <a:pPr algn="l" fontAlgn="b"/>
                      <a:r>
                        <a:rPr lang="en-IN" sz="700" b="1" i="0" u="none" strike="noStrike" dirty="0">
                          <a:solidFill>
                            <a:schemeClr val="bg1"/>
                          </a:solidFill>
                          <a:effectLst/>
                          <a:latin typeface="+mn-lt"/>
                        </a:rPr>
                        <a:t>ASSETS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t"/>
                      <a:r>
                        <a:rPr lang="en-IN" sz="800" b="1" i="0" u="none" strike="noStrike" dirty="0">
                          <a:solidFill>
                            <a:srgbClr val="FFFFFF"/>
                          </a:solidFill>
                          <a:effectLst/>
                          <a:latin typeface="+mn-lt"/>
                        </a:rPr>
                        <a:t>Mar 25</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t"/>
                      <a:r>
                        <a:rPr lang="en-IN" sz="800" b="1" i="0" u="none" strike="noStrike">
                          <a:solidFill>
                            <a:srgbClr val="FFFFFF"/>
                          </a:solidFill>
                          <a:effectLst/>
                          <a:latin typeface="+mn-lt"/>
                        </a:rPr>
                        <a:t>Mar 26</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t"/>
                      <a:r>
                        <a:rPr lang="en-IN" sz="800" b="1" i="0" u="none" strike="noStrike" dirty="0">
                          <a:solidFill>
                            <a:srgbClr val="FFFFFF"/>
                          </a:solidFill>
                          <a:effectLst/>
                          <a:latin typeface="+mn-lt"/>
                        </a:rPr>
                        <a:t>Mar 27</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t"/>
                      <a:r>
                        <a:rPr lang="en-IN" sz="800" b="1" i="0" u="none" strike="noStrike">
                          <a:solidFill>
                            <a:srgbClr val="FFFFFF"/>
                          </a:solidFill>
                          <a:effectLst/>
                          <a:latin typeface="+mn-lt"/>
                        </a:rPr>
                        <a:t>Mar 28</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t"/>
                      <a:r>
                        <a:rPr lang="en-IN" sz="800" b="1" i="0" u="none" strike="noStrike" dirty="0">
                          <a:solidFill>
                            <a:srgbClr val="FFFFFF"/>
                          </a:solidFill>
                          <a:effectLst/>
                          <a:latin typeface="+mn-lt"/>
                        </a:rPr>
                        <a:t>Mar 29</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t"/>
                      <a:r>
                        <a:rPr lang="en-IN" sz="800" b="1" i="0" u="none" strike="noStrike" dirty="0">
                          <a:solidFill>
                            <a:srgbClr val="FFFFFF"/>
                          </a:solidFill>
                          <a:effectLst/>
                          <a:latin typeface="+mn-lt"/>
                        </a:rPr>
                        <a:t>Mar 30</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extLst>
                  <a:ext uri="{0D108BD9-81ED-4DB2-BD59-A6C34878D82A}">
                    <a16:rowId xmlns:a16="http://schemas.microsoft.com/office/drawing/2014/main" val="10001"/>
                  </a:ext>
                </a:extLst>
              </a:tr>
              <a:tr h="121918">
                <a:tc>
                  <a:txBody>
                    <a:bodyPr/>
                    <a:lstStyle/>
                    <a:p>
                      <a:pPr algn="l" fontAlgn="b"/>
                      <a:r>
                        <a:rPr lang="en-IN" sz="700" b="0" i="0" u="none" strike="noStrike">
                          <a:solidFill>
                            <a:srgbClr val="000000"/>
                          </a:solidFill>
                          <a:effectLst/>
                          <a:latin typeface="+mn-lt"/>
                        </a:rPr>
                        <a:t>Cash</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1,019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1,593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1,984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8,764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3,332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4,542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21918">
                <a:tc>
                  <a:txBody>
                    <a:bodyPr/>
                    <a:lstStyle/>
                    <a:p>
                      <a:pPr algn="l" fontAlgn="b"/>
                      <a:r>
                        <a:rPr lang="en-IN" sz="700" b="0" i="0" u="none" strike="noStrike">
                          <a:solidFill>
                            <a:schemeClr val="bg1"/>
                          </a:solidFill>
                          <a:effectLst/>
                          <a:latin typeface="+mn-lt"/>
                        </a:rPr>
                        <a:t>Accounts Receivable</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0" i="0" u="none" strike="noStrike">
                          <a:solidFill>
                            <a:schemeClr val="bg1"/>
                          </a:solidFill>
                          <a:effectLst/>
                          <a:latin typeface="+mn-lt"/>
                        </a:rPr>
                        <a:t>               1,494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0" i="0" u="none" strike="noStrike">
                          <a:solidFill>
                            <a:schemeClr val="bg1"/>
                          </a:solidFill>
                          <a:effectLst/>
                          <a:latin typeface="+mn-lt"/>
                        </a:rPr>
                        <a:t>               1,809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0" i="0" u="none" strike="noStrike">
                          <a:solidFill>
                            <a:schemeClr val="bg1"/>
                          </a:solidFill>
                          <a:effectLst/>
                          <a:latin typeface="+mn-lt"/>
                        </a:rPr>
                        <a:t>               2,206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0" i="0" u="none" strike="noStrike">
                          <a:solidFill>
                            <a:schemeClr val="bg1"/>
                          </a:solidFill>
                          <a:effectLst/>
                          <a:latin typeface="+mn-lt"/>
                        </a:rPr>
                        <a:t>               1,342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0" i="0" u="none" strike="noStrike">
                          <a:solidFill>
                            <a:schemeClr val="bg1"/>
                          </a:solidFill>
                          <a:effectLst/>
                          <a:latin typeface="+mn-lt"/>
                        </a:rPr>
                        <a:t>                1,540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0" i="0" u="none" strike="noStrike">
                          <a:solidFill>
                            <a:schemeClr val="bg1"/>
                          </a:solidFill>
                          <a:effectLst/>
                          <a:latin typeface="+mn-lt"/>
                        </a:rPr>
                        <a:t>            1,840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extLst>
                  <a:ext uri="{0D108BD9-81ED-4DB2-BD59-A6C34878D82A}">
                    <a16:rowId xmlns:a16="http://schemas.microsoft.com/office/drawing/2014/main" val="10003"/>
                  </a:ext>
                </a:extLst>
              </a:tr>
              <a:tr h="121918">
                <a:tc>
                  <a:txBody>
                    <a:bodyPr/>
                    <a:lstStyle/>
                    <a:p>
                      <a:pPr algn="l" fontAlgn="b"/>
                      <a:r>
                        <a:rPr lang="en-IN" sz="700" b="0" i="0" u="none" strike="noStrike">
                          <a:solidFill>
                            <a:srgbClr val="000000"/>
                          </a:solidFill>
                          <a:effectLst/>
                          <a:latin typeface="+mn-lt"/>
                        </a:rPr>
                        <a:t>% Total Revenue</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1" i="0" u="none" strike="noStrike">
                          <a:solidFill>
                            <a:srgbClr val="000000"/>
                          </a:solidFill>
                          <a:effectLst/>
                          <a:latin typeface="+mn-lt"/>
                        </a:rPr>
                        <a:t>47.82%</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1" i="0" u="none" strike="noStrike">
                          <a:solidFill>
                            <a:srgbClr val="000000"/>
                          </a:solidFill>
                          <a:effectLst/>
                          <a:latin typeface="+mn-lt"/>
                        </a:rPr>
                        <a:t>35.24%</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1" i="0" u="none" strike="noStrike">
                          <a:solidFill>
                            <a:srgbClr val="000000"/>
                          </a:solidFill>
                          <a:effectLst/>
                          <a:latin typeface="+mn-lt"/>
                        </a:rPr>
                        <a:t>28.37%</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1" i="0" u="none" strike="noStrike">
                          <a:solidFill>
                            <a:srgbClr val="000000"/>
                          </a:solidFill>
                          <a:effectLst/>
                          <a:latin typeface="+mn-lt"/>
                        </a:rPr>
                        <a:t>14.56%</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1" i="0" u="none" strike="noStrike">
                          <a:solidFill>
                            <a:srgbClr val="000000"/>
                          </a:solidFill>
                          <a:effectLst/>
                          <a:latin typeface="+mn-lt"/>
                        </a:rPr>
                        <a:t>13.74%</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1" i="0" u="none" strike="noStrike">
                          <a:solidFill>
                            <a:srgbClr val="000000"/>
                          </a:solidFill>
                          <a:effectLst/>
                          <a:latin typeface="+mn-lt"/>
                        </a:rPr>
                        <a:t>14.23%</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29657">
                <a:tc>
                  <a:txBody>
                    <a:bodyPr/>
                    <a:lstStyle/>
                    <a:p>
                      <a:pPr algn="l" fontAlgn="b"/>
                      <a:r>
                        <a:rPr lang="en-IN" sz="700" b="0" i="0" u="none" strike="noStrike">
                          <a:solidFill>
                            <a:srgbClr val="000000"/>
                          </a:solidFill>
                          <a:effectLst/>
                          <a:latin typeface="+mn-lt"/>
                        </a:rPr>
                        <a:t>Loans and Advances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274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405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219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203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320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300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17486">
                <a:tc>
                  <a:txBody>
                    <a:bodyPr/>
                    <a:lstStyle/>
                    <a:p>
                      <a:pPr algn="l" fontAlgn="b"/>
                      <a:r>
                        <a:rPr lang="en-IN" sz="700" b="0" i="0" u="none" strike="noStrike">
                          <a:solidFill>
                            <a:srgbClr val="000000"/>
                          </a:solidFill>
                          <a:effectLst/>
                          <a:latin typeface="+mn-lt"/>
                        </a:rPr>
                        <a:t>Other Current Assets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4,522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6,222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7,724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7,551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8,435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8,755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21918">
                <a:tc>
                  <a:txBody>
                    <a:bodyPr/>
                    <a:lstStyle/>
                    <a:p>
                      <a:pPr algn="l" fontAlgn="b"/>
                      <a:r>
                        <a:rPr lang="en-IN" sz="700" b="0" i="0" u="none" strike="noStrike">
                          <a:solidFill>
                            <a:srgbClr val="000000"/>
                          </a:solidFill>
                          <a:effectLst/>
                          <a:latin typeface="+mn-lt"/>
                        </a:rPr>
                        <a:t>Total Current Assets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7,309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10,029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12,133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17,860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dirty="0">
                          <a:solidFill>
                            <a:srgbClr val="22222F"/>
                          </a:solidFill>
                          <a:effectLst/>
                          <a:latin typeface="+mn-lt"/>
                        </a:rPr>
                        <a:t>             13,627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15,437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17486">
                <a:tc>
                  <a:txBody>
                    <a:bodyPr/>
                    <a:lstStyle/>
                    <a:p>
                      <a:pPr algn="l" fontAlgn="b"/>
                      <a:r>
                        <a:rPr lang="en-IN" sz="700" b="0" i="0" u="none" strike="noStrike">
                          <a:solidFill>
                            <a:srgbClr val="000000"/>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121918">
                <a:tc>
                  <a:txBody>
                    <a:bodyPr/>
                    <a:lstStyle/>
                    <a:p>
                      <a:pPr algn="l" fontAlgn="b"/>
                      <a:r>
                        <a:rPr lang="en-IN" sz="700" b="0" i="0" u="none" strike="noStrike">
                          <a:solidFill>
                            <a:srgbClr val="000000"/>
                          </a:solidFill>
                          <a:effectLst/>
                          <a:latin typeface="+mn-lt"/>
                        </a:rPr>
                        <a:t>Property Plant &amp; Equipment</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20,881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48,351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53,627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68,711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94,394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1,06,809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121918">
                <a:tc>
                  <a:txBody>
                    <a:bodyPr/>
                    <a:lstStyle/>
                    <a:p>
                      <a:pPr algn="l" fontAlgn="b"/>
                      <a:r>
                        <a:rPr lang="en-IN" sz="700" b="0" i="0" u="none" strike="noStrike">
                          <a:solidFill>
                            <a:srgbClr val="000000"/>
                          </a:solidFill>
                          <a:effectLst/>
                          <a:latin typeface="+mn-lt"/>
                        </a:rPr>
                        <a:t>Other Non-Current Assets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502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574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1,149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1,515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2,743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chemeClr val="tx1"/>
                          </a:solidFill>
                          <a:effectLst/>
                          <a:latin typeface="+mn-lt"/>
                        </a:rPr>
                        <a:t>2,870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134008">
                <a:tc>
                  <a:txBody>
                    <a:bodyPr/>
                    <a:lstStyle/>
                    <a:p>
                      <a:pPr algn="l" fontAlgn="b"/>
                      <a:r>
                        <a:rPr lang="en-IN" sz="700" b="0" i="0" u="none" strike="noStrike">
                          <a:solidFill>
                            <a:srgbClr val="000000"/>
                          </a:solidFill>
                          <a:effectLst/>
                          <a:latin typeface="+mn-lt"/>
                        </a:rPr>
                        <a:t>Total Non-Current Assets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21,383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48,925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54,776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70,226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97,137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1,09,679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117486">
                <a:tc>
                  <a:txBody>
                    <a:bodyPr/>
                    <a:lstStyle/>
                    <a:p>
                      <a:pPr algn="l" fontAlgn="b"/>
                      <a:r>
                        <a:rPr lang="en-IN" sz="700" b="0" i="0" u="none" strike="noStrike">
                          <a:solidFill>
                            <a:srgbClr val="000000"/>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1" i="0" u="none" strike="noStrike">
                          <a:solidFill>
                            <a:srgbClr val="000000"/>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1" i="0" u="none" strike="noStrike">
                          <a:solidFill>
                            <a:srgbClr val="000000"/>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1" i="0" u="none" strike="noStrike">
                          <a:solidFill>
                            <a:srgbClr val="000000"/>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1" i="0" u="none" strike="noStrike">
                          <a:solidFill>
                            <a:srgbClr val="000000"/>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1" i="0" u="none" strike="noStrike">
                          <a:solidFill>
                            <a:srgbClr val="000000"/>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1" i="0" u="none" strike="noStrike">
                          <a:solidFill>
                            <a:srgbClr val="000000"/>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121918">
                <a:tc>
                  <a:txBody>
                    <a:bodyPr/>
                    <a:lstStyle/>
                    <a:p>
                      <a:pPr algn="l" fontAlgn="b"/>
                      <a:r>
                        <a:rPr lang="en-IN" sz="700" b="0" i="0" u="none" strike="noStrike">
                          <a:solidFill>
                            <a:schemeClr val="bg1"/>
                          </a:solidFill>
                          <a:effectLst/>
                          <a:latin typeface="+mn-lt"/>
                        </a:rPr>
                        <a:t>Total Assets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a:solidFill>
                            <a:schemeClr val="bg1"/>
                          </a:solidFill>
                          <a:effectLst/>
                          <a:latin typeface="+mn-lt"/>
                        </a:rPr>
                        <a:t>             28,692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a:solidFill>
                            <a:schemeClr val="bg1"/>
                          </a:solidFill>
                          <a:effectLst/>
                          <a:latin typeface="+mn-lt"/>
                        </a:rPr>
                        <a:t>             58,954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a:solidFill>
                            <a:schemeClr val="bg1"/>
                          </a:solidFill>
                          <a:effectLst/>
                          <a:latin typeface="+mn-lt"/>
                        </a:rPr>
                        <a:t>             66,909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a:solidFill>
                            <a:schemeClr val="bg1"/>
                          </a:solidFill>
                          <a:effectLst/>
                          <a:latin typeface="+mn-lt"/>
                        </a:rPr>
                        <a:t>             88,086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a:solidFill>
                            <a:schemeClr val="bg1"/>
                          </a:solidFill>
                          <a:effectLst/>
                          <a:latin typeface="+mn-lt"/>
                        </a:rPr>
                        <a:t>          1,10,764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1" i="0" u="none" strike="noStrike">
                          <a:solidFill>
                            <a:schemeClr val="bg1"/>
                          </a:solidFill>
                          <a:effectLst/>
                          <a:latin typeface="+mn-lt"/>
                        </a:rPr>
                        <a:t>          1,25,115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extLst>
                  <a:ext uri="{0D108BD9-81ED-4DB2-BD59-A6C34878D82A}">
                    <a16:rowId xmlns:a16="http://schemas.microsoft.com/office/drawing/2014/main" val="10013"/>
                  </a:ext>
                </a:extLst>
              </a:tr>
              <a:tr h="117486">
                <a:tc>
                  <a:txBody>
                    <a:bodyPr/>
                    <a:lstStyle/>
                    <a:p>
                      <a:pPr algn="l" fontAlgn="b"/>
                      <a:r>
                        <a:rPr lang="en-IN" sz="700" b="0" i="0" u="none" strike="noStrike">
                          <a:solidFill>
                            <a:srgbClr val="000000"/>
                          </a:solidFill>
                          <a:effectLst/>
                          <a:latin typeface="+mn-lt"/>
                        </a:rPr>
                        <a:t>LIABILITIES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6"/>
                  </a:ext>
                </a:extLst>
              </a:tr>
              <a:tr h="121918">
                <a:tc>
                  <a:txBody>
                    <a:bodyPr/>
                    <a:lstStyle/>
                    <a:p>
                      <a:pPr algn="l" fontAlgn="b"/>
                      <a:r>
                        <a:rPr lang="en-IN" sz="700" b="0" i="0" u="none" strike="noStrike">
                          <a:solidFill>
                            <a:srgbClr val="000000"/>
                          </a:solidFill>
                          <a:effectLst/>
                          <a:latin typeface="+mn-lt"/>
                        </a:rPr>
                        <a:t>Accounts Payable</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129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145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391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316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IN" sz="700" b="0" i="0" u="none" strike="noStrike">
                          <a:solidFill>
                            <a:srgbClr val="22222F"/>
                          </a:solidFill>
                          <a:effectLst/>
                          <a:latin typeface="+mn-lt"/>
                        </a:rPr>
                        <a:t>                   395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495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7"/>
                  </a:ext>
                </a:extLst>
              </a:tr>
              <a:tr h="117486">
                <a:tc>
                  <a:txBody>
                    <a:bodyPr/>
                    <a:lstStyle/>
                    <a:p>
                      <a:pPr algn="l" fontAlgn="b"/>
                      <a:r>
                        <a:rPr lang="en-IN" sz="700" b="0" i="0" u="none" strike="noStrike">
                          <a:solidFill>
                            <a:srgbClr val="000000"/>
                          </a:solidFill>
                          <a:effectLst/>
                          <a:latin typeface="+mn-lt"/>
                        </a:rPr>
                        <a:t>Short Term Borrowings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4,128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9,471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4,215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22,557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10,706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IN" sz="700" b="0" i="0" u="none" strike="noStrike">
                          <a:solidFill>
                            <a:srgbClr val="000000"/>
                          </a:solidFill>
                          <a:effectLst/>
                          <a:latin typeface="+mn-lt"/>
                        </a:rPr>
                        <a:t>          10,706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121918">
                <a:tc>
                  <a:txBody>
                    <a:bodyPr/>
                    <a:lstStyle/>
                    <a:p>
                      <a:pPr algn="l" fontAlgn="b"/>
                      <a:r>
                        <a:rPr lang="en-IN" sz="700" b="0" i="0" u="none" strike="noStrike">
                          <a:solidFill>
                            <a:schemeClr val="bg1"/>
                          </a:solidFill>
                          <a:effectLst/>
                          <a:latin typeface="+mn-lt"/>
                        </a:rPr>
                        <a:t>Total Current Liabilities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dirty="0">
                          <a:solidFill>
                            <a:schemeClr val="bg1"/>
                          </a:solidFill>
                          <a:effectLst/>
                          <a:latin typeface="+mn-lt"/>
                        </a:rPr>
                        <a:t>               4,257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a:solidFill>
                            <a:schemeClr val="bg1"/>
                          </a:solidFill>
                          <a:effectLst/>
                          <a:latin typeface="+mn-lt"/>
                        </a:rPr>
                        <a:t>               9,616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a:solidFill>
                            <a:schemeClr val="bg1"/>
                          </a:solidFill>
                          <a:effectLst/>
                          <a:latin typeface="+mn-lt"/>
                        </a:rPr>
                        <a:t>               4,606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a:solidFill>
                            <a:schemeClr val="bg1"/>
                          </a:solidFill>
                          <a:effectLst/>
                          <a:latin typeface="+mn-lt"/>
                        </a:rPr>
                        <a:t>             22,873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a:solidFill>
                            <a:schemeClr val="bg1"/>
                          </a:solidFill>
                          <a:effectLst/>
                          <a:latin typeface="+mn-lt"/>
                        </a:rPr>
                        <a:t>             11,101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b"/>
                      <a:r>
                        <a:rPr lang="en-IN" sz="700" b="1" i="0" u="none" strike="noStrike">
                          <a:solidFill>
                            <a:schemeClr val="bg1"/>
                          </a:solidFill>
                          <a:effectLst/>
                          <a:latin typeface="+mn-lt"/>
                        </a:rPr>
                        <a:t>             11,201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extLst>
                  <a:ext uri="{0D108BD9-81ED-4DB2-BD59-A6C34878D82A}">
                    <a16:rowId xmlns:a16="http://schemas.microsoft.com/office/drawing/2014/main" val="10019"/>
                  </a:ext>
                </a:extLst>
              </a:tr>
              <a:tr h="117486">
                <a:tc>
                  <a:txBody>
                    <a:bodyPr/>
                    <a:lstStyle/>
                    <a:p>
                      <a:pPr algn="l" fontAlgn="b"/>
                      <a:r>
                        <a:rPr lang="en-IN" sz="700" b="0" i="0" u="none" strike="noStrike">
                          <a:solidFill>
                            <a:srgbClr val="000000"/>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6497668"/>
                  </a:ext>
                </a:extLst>
              </a:tr>
              <a:tr h="117486">
                <a:tc>
                  <a:txBody>
                    <a:bodyPr/>
                    <a:lstStyle/>
                    <a:p>
                      <a:pPr algn="l" fontAlgn="b"/>
                      <a:r>
                        <a:rPr lang="en-IN" sz="700" b="0" i="0" u="none" strike="noStrike">
                          <a:solidFill>
                            <a:srgbClr val="000000"/>
                          </a:solidFill>
                          <a:effectLst/>
                          <a:latin typeface="+mn-lt"/>
                        </a:rPr>
                        <a:t>Borrowings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20,081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43,361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50,008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42,301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69,334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          79,063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2324229"/>
                  </a:ext>
                </a:extLst>
              </a:tr>
              <a:tr h="121918">
                <a:tc>
                  <a:txBody>
                    <a:bodyPr/>
                    <a:lstStyle/>
                    <a:p>
                      <a:pPr algn="l" fontAlgn="b"/>
                      <a:r>
                        <a:rPr lang="en-IN" sz="700" b="0" i="0" u="none" strike="noStrike">
                          <a:solidFill>
                            <a:srgbClr val="000000"/>
                          </a:solidFill>
                          <a:effectLst/>
                          <a:latin typeface="+mn-lt"/>
                        </a:rPr>
                        <a:t>Other Long-Term Liabilities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2,154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3,363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4,991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12,270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18,192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IN" sz="700" b="0" i="0" u="none" strike="noStrike">
                          <a:solidFill>
                            <a:srgbClr val="000000"/>
                          </a:solidFill>
                          <a:effectLst/>
                          <a:latin typeface="+mn-lt"/>
                        </a:rPr>
                        <a:t>          20,192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7504622"/>
                  </a:ext>
                </a:extLst>
              </a:tr>
              <a:tr h="121918">
                <a:tc>
                  <a:txBody>
                    <a:bodyPr/>
                    <a:lstStyle/>
                    <a:p>
                      <a:pPr algn="l" fontAlgn="b"/>
                      <a:r>
                        <a:rPr lang="en-IN" sz="700" b="0" i="0" u="none" strike="noStrike">
                          <a:solidFill>
                            <a:srgbClr val="000000"/>
                          </a:solidFill>
                          <a:effectLst/>
                          <a:latin typeface="+mn-lt"/>
                        </a:rPr>
                        <a:t>Total Non-Current Liabilities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22,235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46,724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54,999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54,571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87,526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rgbClr val="22222F"/>
                          </a:solidFill>
                          <a:effectLst/>
                          <a:latin typeface="+mn-lt"/>
                        </a:rPr>
                        <a:t>             99,255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9723980"/>
                  </a:ext>
                </a:extLst>
              </a:tr>
              <a:tr h="128371">
                <a:tc>
                  <a:txBody>
                    <a:bodyPr/>
                    <a:lstStyle/>
                    <a:p>
                      <a:pPr algn="l" fontAlgn="b"/>
                      <a:r>
                        <a:rPr lang="en-IN" sz="700" b="0" i="0" u="none" strike="noStrike">
                          <a:solidFill>
                            <a:schemeClr val="bg1"/>
                          </a:solidFill>
                          <a:effectLst/>
                          <a:latin typeface="+mn-lt"/>
                        </a:rPr>
                        <a:t>Total Liabilities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a:solidFill>
                            <a:schemeClr val="bg1"/>
                          </a:solidFill>
                          <a:effectLst/>
                          <a:latin typeface="+mn-lt"/>
                        </a:rPr>
                        <a:t>             26,492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a:solidFill>
                            <a:schemeClr val="bg1"/>
                          </a:solidFill>
                          <a:effectLst/>
                          <a:latin typeface="+mn-lt"/>
                        </a:rPr>
                        <a:t>             56,340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a:solidFill>
                            <a:schemeClr val="bg1"/>
                          </a:solidFill>
                          <a:effectLst/>
                          <a:latin typeface="+mn-lt"/>
                        </a:rPr>
                        <a:t>             59,605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a:solidFill>
                            <a:schemeClr val="bg1"/>
                          </a:solidFill>
                          <a:effectLst/>
                          <a:latin typeface="+mn-lt"/>
                        </a:rPr>
                        <a:t>             77,444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a:solidFill>
                            <a:schemeClr val="bg1"/>
                          </a:solidFill>
                          <a:effectLst/>
                          <a:latin typeface="+mn-lt"/>
                        </a:rPr>
                        <a:t>             98,627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a:solidFill>
                            <a:schemeClr val="bg1"/>
                          </a:solidFill>
                          <a:effectLst/>
                          <a:latin typeface="+mn-lt"/>
                        </a:rPr>
                        <a:t>          1,10,456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extLst>
                  <a:ext uri="{0D108BD9-81ED-4DB2-BD59-A6C34878D82A}">
                    <a16:rowId xmlns:a16="http://schemas.microsoft.com/office/drawing/2014/main" val="1122232112"/>
                  </a:ext>
                </a:extLst>
              </a:tr>
              <a:tr h="117486">
                <a:tc>
                  <a:txBody>
                    <a:bodyPr/>
                    <a:lstStyle/>
                    <a:p>
                      <a:pPr algn="l" fontAlgn="b"/>
                      <a:r>
                        <a:rPr lang="en-IN" sz="700" b="0"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endParaRPr lang="en-IN" sz="700" b="1" i="0" u="none" strike="noStrike">
                        <a:solidFill>
                          <a:schemeClr val="tx1"/>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endParaRPr lang="en-IN" sz="700" b="1" i="0" u="none" strike="noStrike">
                        <a:solidFill>
                          <a:schemeClr val="tx1"/>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endParaRPr lang="en-IN" sz="700" b="1" i="0" u="none" strike="noStrike">
                        <a:solidFill>
                          <a:schemeClr val="tx1"/>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endParaRPr lang="en-IN" sz="700" b="0" i="0" u="none" strike="noStrike">
                        <a:solidFill>
                          <a:schemeClr val="tx1"/>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endParaRPr lang="en-IN" sz="700" b="0" i="0" u="none" strike="noStrike">
                        <a:solidFill>
                          <a:schemeClr val="tx1"/>
                        </a:solidFill>
                        <a:effectLst/>
                        <a:latin typeface="+mn-lt"/>
                      </a:endParaRP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IN" sz="700" b="1"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41622848"/>
                  </a:ext>
                </a:extLst>
              </a:tr>
              <a:tr h="128371">
                <a:tc>
                  <a:txBody>
                    <a:bodyPr/>
                    <a:lstStyle/>
                    <a:p>
                      <a:pPr algn="l" fontAlgn="b"/>
                      <a:r>
                        <a:rPr lang="en-IN" sz="700" b="0" i="0" u="none" strike="noStrike">
                          <a:solidFill>
                            <a:schemeClr val="tx1"/>
                          </a:solidFill>
                          <a:effectLst/>
                          <a:latin typeface="+mn-lt"/>
                        </a:rPr>
                        <a:t>EQUITY</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IN" sz="700" b="1"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IN" sz="700" b="1"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IN" sz="700" b="1"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IN" sz="700" b="0"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IN" sz="700" b="0"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IN" sz="700" b="0"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77987962"/>
                  </a:ext>
                </a:extLst>
              </a:tr>
              <a:tr h="117486">
                <a:tc>
                  <a:txBody>
                    <a:bodyPr/>
                    <a:lstStyle/>
                    <a:p>
                      <a:pPr algn="l" fontAlgn="b"/>
                      <a:r>
                        <a:rPr lang="en-IN" sz="700" b="0"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IN" sz="700" b="0"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IN" sz="700" b="0"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IN" sz="700" b="0"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IN" sz="700" b="0"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IN" sz="700" b="0"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IN" sz="700" b="0"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13770699"/>
                  </a:ext>
                </a:extLst>
              </a:tr>
              <a:tr h="128371">
                <a:tc>
                  <a:txBody>
                    <a:bodyPr/>
                    <a:lstStyle/>
                    <a:p>
                      <a:pPr algn="l" fontAlgn="b"/>
                      <a:r>
                        <a:rPr lang="en-IN" sz="700" b="0" i="0" u="none" strike="noStrike">
                          <a:solidFill>
                            <a:schemeClr val="tx1"/>
                          </a:solidFill>
                          <a:effectLst/>
                          <a:latin typeface="+mn-lt"/>
                        </a:rPr>
                        <a:t>Common Equity</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chemeClr val="tx1"/>
                          </a:solidFill>
                          <a:effectLst/>
                          <a:latin typeface="+mn-lt"/>
                        </a:rPr>
                        <a:t>               1,564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chemeClr val="tx1"/>
                          </a:solidFill>
                          <a:effectLst/>
                          <a:latin typeface="+mn-lt"/>
                        </a:rPr>
                        <a:t>               1,564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chemeClr val="tx1"/>
                          </a:solidFill>
                          <a:effectLst/>
                          <a:latin typeface="+mn-lt"/>
                        </a:rPr>
                        <a:t>               1,584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chemeClr val="tx1"/>
                          </a:solidFill>
                          <a:effectLst/>
                          <a:latin typeface="+mn-lt"/>
                        </a:rPr>
                        <a:t>               1,584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chemeClr val="tx1"/>
                          </a:solidFill>
                          <a:effectLst/>
                          <a:latin typeface="+mn-lt"/>
                        </a:rPr>
                        <a:t>                1,584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chemeClr val="tx1"/>
                          </a:solidFill>
                          <a:effectLst/>
                          <a:latin typeface="+mn-lt"/>
                        </a:rPr>
                        <a:t>                1,584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9268324"/>
                  </a:ext>
                </a:extLst>
              </a:tr>
              <a:tr h="128371">
                <a:tc>
                  <a:txBody>
                    <a:bodyPr/>
                    <a:lstStyle/>
                    <a:p>
                      <a:pPr algn="l" fontAlgn="b"/>
                      <a:r>
                        <a:rPr lang="en-IN" sz="700" b="0" i="0" u="none" strike="noStrike">
                          <a:solidFill>
                            <a:schemeClr val="tx1"/>
                          </a:solidFill>
                          <a:effectLst/>
                          <a:latin typeface="+mn-lt"/>
                        </a:rPr>
                        <a:t>Retained Earnings</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chemeClr val="tx1"/>
                          </a:solidFill>
                          <a:effectLst/>
                          <a:latin typeface="+mn-lt"/>
                        </a:rPr>
                        <a:t>                   636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chemeClr val="tx1"/>
                          </a:solidFill>
                          <a:effectLst/>
                          <a:latin typeface="+mn-lt"/>
                        </a:rPr>
                        <a:t>               1,050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chemeClr val="tx1"/>
                          </a:solidFill>
                          <a:effectLst/>
                          <a:latin typeface="+mn-lt"/>
                        </a:rPr>
                        <a:t>               5,720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chemeClr val="tx1"/>
                          </a:solidFill>
                          <a:effectLst/>
                          <a:latin typeface="+mn-lt"/>
                        </a:rPr>
                        <a:t>               9,058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chemeClr val="tx1"/>
                          </a:solidFill>
                          <a:effectLst/>
                          <a:latin typeface="+mn-lt"/>
                        </a:rPr>
                        <a:t>             10,553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chemeClr val="tx1"/>
                          </a:solidFill>
                          <a:effectLst/>
                          <a:latin typeface="+mn-lt"/>
                        </a:rPr>
                        <a:t>             13,075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6379935"/>
                  </a:ext>
                </a:extLst>
              </a:tr>
              <a:tr h="128371">
                <a:tc>
                  <a:txBody>
                    <a:bodyPr/>
                    <a:lstStyle/>
                    <a:p>
                      <a:pPr algn="l" fontAlgn="b"/>
                      <a:r>
                        <a:rPr lang="en-IN" sz="700" b="0" i="0" u="none" strike="noStrike">
                          <a:solidFill>
                            <a:schemeClr val="bg1"/>
                          </a:solidFill>
                          <a:effectLst/>
                          <a:latin typeface="+mn-lt"/>
                        </a:rPr>
                        <a:t>Total Equity</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0" i="0" u="none" strike="noStrike">
                          <a:solidFill>
                            <a:schemeClr val="bg1"/>
                          </a:solidFill>
                          <a:effectLst/>
                          <a:latin typeface="+mn-lt"/>
                        </a:rPr>
                        <a:t>               2,200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0" i="0" u="none" strike="noStrike">
                          <a:solidFill>
                            <a:schemeClr val="bg1"/>
                          </a:solidFill>
                          <a:effectLst/>
                          <a:latin typeface="+mn-lt"/>
                        </a:rPr>
                        <a:t>               2,614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0" i="0" u="none" strike="noStrike">
                          <a:solidFill>
                            <a:schemeClr val="bg1"/>
                          </a:solidFill>
                          <a:effectLst/>
                          <a:latin typeface="+mn-lt"/>
                        </a:rPr>
                        <a:t>               7,304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0" i="0" u="none" strike="noStrike">
                          <a:solidFill>
                            <a:schemeClr val="bg1"/>
                          </a:solidFill>
                          <a:effectLst/>
                          <a:latin typeface="+mn-lt"/>
                        </a:rPr>
                        <a:t>             10,642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0" i="0" u="none" strike="noStrike">
                          <a:solidFill>
                            <a:schemeClr val="bg1"/>
                          </a:solidFill>
                          <a:effectLst/>
                          <a:latin typeface="+mn-lt"/>
                        </a:rPr>
                        <a:t>             12,137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0" i="0" u="none" strike="noStrike">
                          <a:solidFill>
                            <a:schemeClr val="bg1"/>
                          </a:solidFill>
                          <a:effectLst/>
                          <a:latin typeface="+mn-lt"/>
                        </a:rPr>
                        <a:t>             14,659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extLst>
                  <a:ext uri="{0D108BD9-81ED-4DB2-BD59-A6C34878D82A}">
                    <a16:rowId xmlns:a16="http://schemas.microsoft.com/office/drawing/2014/main" val="614039115"/>
                  </a:ext>
                </a:extLst>
              </a:tr>
              <a:tr h="128371">
                <a:tc>
                  <a:txBody>
                    <a:bodyPr/>
                    <a:lstStyle/>
                    <a:p>
                      <a:pPr algn="l" fontAlgn="b"/>
                      <a:r>
                        <a:rPr lang="en-IN" sz="700" b="0"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r>
                        <a:rPr lang="en-IN" sz="700" b="0" i="0" u="none" strike="noStrike">
                          <a:solidFill>
                            <a:schemeClr val="tx1"/>
                          </a:solidFill>
                          <a:effectLst/>
                          <a:latin typeface="+mn-lt"/>
                        </a:rPr>
                        <a:t>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91543150"/>
                  </a:ext>
                </a:extLst>
              </a:tr>
              <a:tr h="128371">
                <a:tc>
                  <a:txBody>
                    <a:bodyPr/>
                    <a:lstStyle/>
                    <a:p>
                      <a:pPr algn="l" fontAlgn="b"/>
                      <a:r>
                        <a:rPr lang="en-IN" sz="700" b="1" i="0" u="none" strike="noStrike" dirty="0">
                          <a:solidFill>
                            <a:schemeClr val="bg1"/>
                          </a:solidFill>
                          <a:effectLst/>
                          <a:latin typeface="+mn-lt"/>
                        </a:rPr>
                        <a:t>Total Liabilities &amp; Equity</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a:solidFill>
                            <a:schemeClr val="bg1"/>
                          </a:solidFill>
                          <a:effectLst/>
                          <a:latin typeface="+mn-lt"/>
                        </a:rPr>
                        <a:t>             28,692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dirty="0">
                          <a:solidFill>
                            <a:schemeClr val="bg1"/>
                          </a:solidFill>
                          <a:effectLst/>
                          <a:latin typeface="+mn-lt"/>
                        </a:rPr>
                        <a:t>             58,954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a:solidFill>
                            <a:schemeClr val="bg1"/>
                          </a:solidFill>
                          <a:effectLst/>
                          <a:latin typeface="+mn-lt"/>
                        </a:rPr>
                        <a:t>             66,909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a:solidFill>
                            <a:schemeClr val="bg1"/>
                          </a:solidFill>
                          <a:effectLst/>
                          <a:latin typeface="+mn-lt"/>
                        </a:rPr>
                        <a:t>             88,086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a:solidFill>
                            <a:schemeClr val="bg1"/>
                          </a:solidFill>
                          <a:effectLst/>
                          <a:latin typeface="+mn-lt"/>
                        </a:rPr>
                        <a:t>          1,10,764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tc>
                  <a:txBody>
                    <a:bodyPr/>
                    <a:lstStyle/>
                    <a:p>
                      <a:pPr algn="r" fontAlgn="ctr"/>
                      <a:r>
                        <a:rPr lang="en-IN" sz="700" b="1" i="0" u="none" strike="noStrike" dirty="0">
                          <a:solidFill>
                            <a:schemeClr val="bg1"/>
                          </a:solidFill>
                          <a:effectLst/>
                          <a:latin typeface="+mn-lt"/>
                        </a:rPr>
                        <a:t>          1,25,115 </a:t>
                      </a:r>
                    </a:p>
                  </a:txBody>
                  <a:tcPr marL="36000" marR="36000" marT="691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87C2C"/>
                    </a:solidFill>
                  </a:tcPr>
                </a:tc>
                <a:extLst>
                  <a:ext uri="{0D108BD9-81ED-4DB2-BD59-A6C34878D82A}">
                    <a16:rowId xmlns:a16="http://schemas.microsoft.com/office/drawing/2014/main" val="2034001673"/>
                  </a:ext>
                </a:extLst>
              </a:tr>
            </a:tbl>
          </a:graphicData>
        </a:graphic>
      </p:graphicFrame>
      <p:cxnSp>
        <p:nvCxnSpPr>
          <p:cNvPr id="7" name="Straight Arrow Connector 6">
            <a:extLst>
              <a:ext uri="{FF2B5EF4-FFF2-40B4-BE49-F238E27FC236}">
                <a16:creationId xmlns:a16="http://schemas.microsoft.com/office/drawing/2014/main" id="{A544BB91-F8AF-2B8A-6BA2-C91428E83172}"/>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61FB5D1-883E-9477-49FD-C7E8C801F131}"/>
              </a:ext>
            </a:extLst>
          </p:cNvPr>
          <p:cNvCxnSpPr/>
          <p:nvPr/>
        </p:nvCxnSpPr>
        <p:spPr>
          <a:xfrm flipV="1">
            <a:off x="-5925" y="8847154"/>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5" name="Footer Placeholder 3">
            <a:extLst>
              <a:ext uri="{FF2B5EF4-FFF2-40B4-BE49-F238E27FC236}">
                <a16:creationId xmlns:a16="http://schemas.microsoft.com/office/drawing/2014/main" id="{1364FB12-CB16-3485-398A-64F7D0D7D09D}"/>
              </a:ext>
            </a:extLst>
          </p:cNvPr>
          <p:cNvSpPr>
            <a:spLocks noGrp="1"/>
          </p:cNvSpPr>
          <p:nvPr>
            <p:ph type="ftr" sz="quarter" idx="11"/>
          </p:nvPr>
        </p:nvSpPr>
        <p:spPr>
          <a:xfrm>
            <a:off x="-7551" y="8832134"/>
            <a:ext cx="6234928" cy="324563"/>
          </a:xfrm>
        </p:spPr>
        <p:txBody>
          <a:bodyPr/>
          <a:lstStyle/>
          <a:p>
            <a:pPr algn="l"/>
            <a:r>
              <a:rPr lang="en-US" sz="800">
                <a:ea typeface="Calibri"/>
                <a:cs typeface="Calibri"/>
              </a:rPr>
              <a:t>Disclaimer: This is only for educational purposes and we are not SEBI registered.</a:t>
            </a:r>
          </a:p>
        </p:txBody>
      </p:sp>
      <p:sp>
        <p:nvSpPr>
          <p:cNvPr id="11" name="Slide Number Placeholder 6">
            <a:extLst>
              <a:ext uri="{FF2B5EF4-FFF2-40B4-BE49-F238E27FC236}">
                <a16:creationId xmlns:a16="http://schemas.microsoft.com/office/drawing/2014/main" id="{D891D7F4-7729-2F4F-458D-C5A20936167D}"/>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17</a:t>
            </a:fld>
            <a:endParaRPr lang="en-US"/>
          </a:p>
        </p:txBody>
      </p:sp>
      <p:pic>
        <p:nvPicPr>
          <p:cNvPr id="6" name="Picture 5" descr="Adani Renewables - Global Alliance For Sustainable Energy">
            <a:extLst>
              <a:ext uri="{FF2B5EF4-FFF2-40B4-BE49-F238E27FC236}">
                <a16:creationId xmlns:a16="http://schemas.microsoft.com/office/drawing/2014/main" id="{D00C0266-9FDE-9DA3-518F-BE712EF9AD6B}"/>
              </a:ext>
            </a:extLst>
          </p:cNvPr>
          <p:cNvPicPr>
            <a:picLocks noChangeAspect="1"/>
          </p:cNvPicPr>
          <p:nvPr/>
        </p:nvPicPr>
        <p:blipFill>
          <a:blip r:embed="rId2"/>
          <a:stretch>
            <a:fillRect/>
          </a:stretch>
        </p:blipFill>
        <p:spPr>
          <a:xfrm>
            <a:off x="5076000" y="0"/>
            <a:ext cx="1311468" cy="66272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8F63A-E933-4531-292F-B5435FAF4D2F}"/>
            </a:ext>
          </a:extLst>
        </p:cNvPr>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F0620F71-7673-8777-DE3B-02098C5AE2D7}"/>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9" name="Picture 8" descr="Adani Renewables - Global Alliance For Sustainable Energy">
            <a:extLst>
              <a:ext uri="{FF2B5EF4-FFF2-40B4-BE49-F238E27FC236}">
                <a16:creationId xmlns:a16="http://schemas.microsoft.com/office/drawing/2014/main" id="{5EE57C2F-3530-040B-7DFF-A149D439D1A3}"/>
              </a:ext>
            </a:extLst>
          </p:cNvPr>
          <p:cNvPicPr>
            <a:picLocks noChangeAspect="1"/>
          </p:cNvPicPr>
          <p:nvPr/>
        </p:nvPicPr>
        <p:blipFill>
          <a:blip r:embed="rId2"/>
          <a:stretch>
            <a:fillRect/>
          </a:stretch>
        </p:blipFill>
        <p:spPr>
          <a:xfrm>
            <a:off x="5076000" y="0"/>
            <a:ext cx="1311468" cy="662728"/>
          </a:xfrm>
          <a:prstGeom prst="rect">
            <a:avLst/>
          </a:prstGeom>
        </p:spPr>
      </p:pic>
      <p:cxnSp>
        <p:nvCxnSpPr>
          <p:cNvPr id="13" name="Straight Arrow Connector 12">
            <a:extLst>
              <a:ext uri="{FF2B5EF4-FFF2-40B4-BE49-F238E27FC236}">
                <a16:creationId xmlns:a16="http://schemas.microsoft.com/office/drawing/2014/main" id="{788526DA-1A9E-D510-FB20-6C7956C4C784}"/>
              </a:ext>
            </a:extLst>
          </p:cNvPr>
          <p:cNvCxnSpPr/>
          <p:nvPr/>
        </p:nvCxnSpPr>
        <p:spPr>
          <a:xfrm flipV="1">
            <a:off x="-5925" y="8787953"/>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383EBD19-465F-F2E5-FEF9-01B3576BC726}"/>
              </a:ext>
            </a:extLst>
          </p:cNvPr>
          <p:cNvSpPr/>
          <p:nvPr/>
        </p:nvSpPr>
        <p:spPr>
          <a:xfrm>
            <a:off x="3686611" y="1350502"/>
            <a:ext cx="2350076" cy="334602"/>
          </a:xfrm>
          <a:prstGeom prst="rect">
            <a:avLst/>
          </a:prstGeom>
          <a:solidFill>
            <a:srgbClr val="187C2C"/>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endParaRPr lang="en-US" sz="1400" b="1" dirty="0"/>
          </a:p>
          <a:p>
            <a:pPr algn="ctr"/>
            <a:r>
              <a:rPr lang="en-US" sz="1400" b="1" dirty="0"/>
              <a:t>Khavda Hybrid Park, Gujarat</a:t>
            </a:r>
            <a:endParaRPr lang="en-US" b="1" dirty="0"/>
          </a:p>
          <a:p>
            <a:pPr algn="ctr"/>
            <a:endParaRPr lang="en-US" sz="1400" b="1" dirty="0">
              <a:solidFill>
                <a:schemeClr val="bg1"/>
              </a:solidFill>
              <a:ea typeface="Calibri"/>
              <a:cs typeface="Calibri"/>
            </a:endParaRPr>
          </a:p>
        </p:txBody>
      </p:sp>
      <p:sp>
        <p:nvSpPr>
          <p:cNvPr id="19" name="TextBox 18">
            <a:extLst>
              <a:ext uri="{FF2B5EF4-FFF2-40B4-BE49-F238E27FC236}">
                <a16:creationId xmlns:a16="http://schemas.microsoft.com/office/drawing/2014/main" id="{6E3CAEB6-2E11-43B6-DB6C-DA3FA7DDE8A4}"/>
              </a:ext>
            </a:extLst>
          </p:cNvPr>
          <p:cNvSpPr txBox="1"/>
          <p:nvPr/>
        </p:nvSpPr>
        <p:spPr>
          <a:xfrm>
            <a:off x="3687200" y="1684378"/>
            <a:ext cx="2350800" cy="2308324"/>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sz="1200" dirty="0">
                <a:ea typeface="+mn-lt"/>
                <a:cs typeface="+mn-lt"/>
              </a:rPr>
              <a:t>AGEL is actively expanding the Khavda Renewable Energy Park toward a total </a:t>
            </a:r>
            <a:r>
              <a:rPr lang="en-US" sz="1200" b="1" dirty="0">
                <a:ea typeface="+mn-lt"/>
                <a:cs typeface="+mn-lt"/>
              </a:rPr>
              <a:t>30 GW hybrid </a:t>
            </a:r>
            <a:r>
              <a:rPr lang="en-US" sz="1200" dirty="0">
                <a:ea typeface="+mn-lt"/>
                <a:cs typeface="+mn-lt"/>
              </a:rPr>
              <a:t>(solar + wind) capacity by 2030. As of May 2025, another 187.5 MW solar was added, bringing total operational capacity at Khavda to 2.8 - 3 GW. Corporate guarantee of up to </a:t>
            </a:r>
            <a:r>
              <a:rPr lang="en-US" sz="1200" b="1" dirty="0">
                <a:ea typeface="+mn-lt"/>
                <a:cs typeface="+mn-lt"/>
              </a:rPr>
              <a:t>600mn USD has been committed </a:t>
            </a:r>
            <a:r>
              <a:rPr lang="en-US" sz="1200" dirty="0">
                <a:ea typeface="+mn-lt"/>
                <a:cs typeface="+mn-lt"/>
              </a:rPr>
              <a:t>to finance 1.15GW of solar capacity additions.</a:t>
            </a:r>
            <a:endParaRPr lang="en-US" sz="1200" dirty="0">
              <a:ea typeface="Calibri"/>
              <a:cs typeface="Calibri"/>
            </a:endParaRPr>
          </a:p>
        </p:txBody>
      </p:sp>
      <p:grpSp>
        <p:nvGrpSpPr>
          <p:cNvPr id="15" name="Group 14">
            <a:extLst>
              <a:ext uri="{FF2B5EF4-FFF2-40B4-BE49-F238E27FC236}">
                <a16:creationId xmlns:a16="http://schemas.microsoft.com/office/drawing/2014/main" id="{0B99F1F4-37D2-920B-403B-8D23E25879DC}"/>
              </a:ext>
            </a:extLst>
          </p:cNvPr>
          <p:cNvGrpSpPr/>
          <p:nvPr/>
        </p:nvGrpSpPr>
        <p:grpSpPr>
          <a:xfrm>
            <a:off x="3686400" y="4098356"/>
            <a:ext cx="2351902" cy="2873303"/>
            <a:chOff x="3686400" y="4098356"/>
            <a:chExt cx="2351902" cy="2814492"/>
          </a:xfrm>
        </p:grpSpPr>
        <p:sp>
          <p:nvSpPr>
            <p:cNvPr id="20" name="Rectangle 19">
              <a:extLst>
                <a:ext uri="{FF2B5EF4-FFF2-40B4-BE49-F238E27FC236}">
                  <a16:creationId xmlns:a16="http://schemas.microsoft.com/office/drawing/2014/main" id="{98198D2B-59D1-1F3C-D221-52065AF339C4}"/>
                </a:ext>
              </a:extLst>
            </p:cNvPr>
            <p:cNvSpPr/>
            <p:nvPr/>
          </p:nvSpPr>
          <p:spPr>
            <a:xfrm>
              <a:off x="3686400" y="4098356"/>
              <a:ext cx="2350800" cy="328635"/>
            </a:xfrm>
            <a:prstGeom prst="rect">
              <a:avLst/>
            </a:prstGeom>
            <a:solidFill>
              <a:srgbClr val="187C2C"/>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r>
                <a:rPr lang="en-US" sz="1400" b="1" dirty="0">
                  <a:ea typeface="Calibri"/>
                  <a:cs typeface="Calibri"/>
                </a:rPr>
                <a:t>Projects In Pipeline</a:t>
              </a:r>
              <a:endParaRPr lang="en-US" b="1" dirty="0"/>
            </a:p>
          </p:txBody>
        </p:sp>
        <p:sp>
          <p:nvSpPr>
            <p:cNvPr id="22" name="TextBox 21">
              <a:extLst>
                <a:ext uri="{FF2B5EF4-FFF2-40B4-BE49-F238E27FC236}">
                  <a16:creationId xmlns:a16="http://schemas.microsoft.com/office/drawing/2014/main" id="{1D482B4A-21FB-5E0B-1B9C-6595DC683399}"/>
                </a:ext>
              </a:extLst>
            </p:cNvPr>
            <p:cNvSpPr txBox="1"/>
            <p:nvPr/>
          </p:nvSpPr>
          <p:spPr>
            <a:xfrm>
              <a:off x="3686400" y="4427256"/>
              <a:ext cx="2351902" cy="2485592"/>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sz="1200" dirty="0">
                  <a:ea typeface="+mn-lt"/>
                  <a:cs typeface="+mn-lt"/>
                </a:rPr>
                <a:t>Additional developmental activity includes ongoing </a:t>
              </a:r>
              <a:r>
                <a:rPr lang="en-US" sz="1200" b="1" dirty="0">
                  <a:ea typeface="+mn-lt"/>
                  <a:cs typeface="+mn-lt"/>
                </a:rPr>
                <a:t>250 MW solar capacity expansion</a:t>
              </a:r>
              <a:r>
                <a:rPr lang="en-US" sz="1200" dirty="0">
                  <a:ea typeface="+mn-lt"/>
                  <a:cs typeface="+mn-lt"/>
                </a:rPr>
                <a:t> in Kadapa, Andhra Pradesh, 250 MW merchant project within Khavda cluster in Gujarat  and 500 MW PPA-backed in Rajasthan. Rajasthan continues to be a key focus state for solar energy deployment, with Rajasthan and Gujarat together accounting for much of AGEL’s incremental growth.</a:t>
              </a:r>
              <a:endParaRPr lang="en-US" sz="1200" dirty="0">
                <a:ea typeface="Calibri"/>
                <a:cs typeface="Calibri"/>
              </a:endParaRPr>
            </a:p>
          </p:txBody>
        </p:sp>
      </p:grpSp>
      <p:grpSp>
        <p:nvGrpSpPr>
          <p:cNvPr id="5" name="Group 4">
            <a:extLst>
              <a:ext uri="{FF2B5EF4-FFF2-40B4-BE49-F238E27FC236}">
                <a16:creationId xmlns:a16="http://schemas.microsoft.com/office/drawing/2014/main" id="{28B7EF2C-1843-8FB2-BE25-1ACF88B76845}"/>
              </a:ext>
            </a:extLst>
          </p:cNvPr>
          <p:cNvGrpSpPr/>
          <p:nvPr/>
        </p:nvGrpSpPr>
        <p:grpSpPr>
          <a:xfrm>
            <a:off x="170671" y="1351659"/>
            <a:ext cx="3441994" cy="2641122"/>
            <a:chOff x="170671" y="1351659"/>
            <a:chExt cx="3441994" cy="2641122"/>
          </a:xfrm>
        </p:grpSpPr>
        <p:pic>
          <p:nvPicPr>
            <p:cNvPr id="2" name="Picture 1" descr="A map of the middle east&#10;&#10;AI-generated content may be incorrect.">
              <a:extLst>
                <a:ext uri="{FF2B5EF4-FFF2-40B4-BE49-F238E27FC236}">
                  <a16:creationId xmlns:a16="http://schemas.microsoft.com/office/drawing/2014/main" id="{BB9D6455-1930-BBB6-2A2E-ED85BB9593D2}"/>
                </a:ext>
              </a:extLst>
            </p:cNvPr>
            <p:cNvPicPr>
              <a:picLocks noChangeAspect="1"/>
            </p:cNvPicPr>
            <p:nvPr/>
          </p:nvPicPr>
          <p:blipFill>
            <a:blip r:embed="rId3"/>
            <a:stretch>
              <a:fillRect/>
            </a:stretch>
          </p:blipFill>
          <p:spPr>
            <a:xfrm>
              <a:off x="170671" y="1351659"/>
              <a:ext cx="3441994" cy="2641122"/>
            </a:xfrm>
            <a:prstGeom prst="rect">
              <a:avLst/>
            </a:prstGeom>
            <a:ln>
              <a:noFill/>
            </a:ln>
          </p:spPr>
        </p:pic>
        <p:pic>
          <p:nvPicPr>
            <p:cNvPr id="4" name="Picture 3" descr="A red location pin with a black background&#10;&#10;AI-generated content may be incorrect.">
              <a:extLst>
                <a:ext uri="{FF2B5EF4-FFF2-40B4-BE49-F238E27FC236}">
                  <a16:creationId xmlns:a16="http://schemas.microsoft.com/office/drawing/2014/main" id="{887730E4-F61D-1086-3A2E-009243C88995}"/>
                </a:ext>
              </a:extLst>
            </p:cNvPr>
            <p:cNvPicPr>
              <a:picLocks noChangeAspect="1"/>
            </p:cNvPicPr>
            <p:nvPr/>
          </p:nvPicPr>
          <p:blipFill>
            <a:blip r:embed="rId4"/>
            <a:srcRect l="1170" r="302" b="10674"/>
            <a:stretch>
              <a:fillRect/>
            </a:stretch>
          </p:blipFill>
          <p:spPr>
            <a:xfrm>
              <a:off x="948582" y="1761312"/>
              <a:ext cx="245657" cy="247974"/>
            </a:xfrm>
            <a:prstGeom prst="rect">
              <a:avLst/>
            </a:prstGeom>
          </p:spPr>
        </p:pic>
        <p:sp>
          <p:nvSpPr>
            <p:cNvPr id="6" name="TextBox 5">
              <a:extLst>
                <a:ext uri="{FF2B5EF4-FFF2-40B4-BE49-F238E27FC236}">
                  <a16:creationId xmlns:a16="http://schemas.microsoft.com/office/drawing/2014/main" id="{7683C3F5-FDE6-5517-3093-5AE26AD99649}"/>
                </a:ext>
              </a:extLst>
            </p:cNvPr>
            <p:cNvSpPr txBox="1"/>
            <p:nvPr/>
          </p:nvSpPr>
          <p:spPr>
            <a:xfrm>
              <a:off x="610505" y="1916633"/>
              <a:ext cx="987903"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a:ea typeface="Calibri"/>
                  <a:cs typeface="Calibri"/>
                </a:rPr>
                <a:t>Khavda, Gujarat</a:t>
              </a:r>
            </a:p>
          </p:txBody>
        </p:sp>
        <p:pic>
          <p:nvPicPr>
            <p:cNvPr id="12" name="Picture 11" descr="A red location pin with a black background&#10;&#10;AI-generated content may be incorrect.">
              <a:extLst>
                <a:ext uri="{FF2B5EF4-FFF2-40B4-BE49-F238E27FC236}">
                  <a16:creationId xmlns:a16="http://schemas.microsoft.com/office/drawing/2014/main" id="{DD793B6C-1FC9-C3B9-A251-F340F9F8EED4}"/>
                </a:ext>
              </a:extLst>
            </p:cNvPr>
            <p:cNvPicPr>
              <a:picLocks noChangeAspect="1"/>
            </p:cNvPicPr>
            <p:nvPr/>
          </p:nvPicPr>
          <p:blipFill>
            <a:blip r:embed="rId4"/>
            <a:srcRect l="1170" r="302" b="10674"/>
            <a:stretch>
              <a:fillRect/>
            </a:stretch>
          </p:blipFill>
          <p:spPr>
            <a:xfrm>
              <a:off x="924776" y="2254891"/>
              <a:ext cx="245657" cy="247974"/>
            </a:xfrm>
            <a:prstGeom prst="rect">
              <a:avLst/>
            </a:prstGeom>
          </p:spPr>
        </p:pic>
        <p:sp>
          <p:nvSpPr>
            <p:cNvPr id="14" name="TextBox 13">
              <a:extLst>
                <a:ext uri="{FF2B5EF4-FFF2-40B4-BE49-F238E27FC236}">
                  <a16:creationId xmlns:a16="http://schemas.microsoft.com/office/drawing/2014/main" id="{7393276F-1C54-6E0E-372E-F1EE29637F2F}"/>
                </a:ext>
              </a:extLst>
            </p:cNvPr>
            <p:cNvSpPr txBox="1"/>
            <p:nvPr/>
          </p:nvSpPr>
          <p:spPr>
            <a:xfrm>
              <a:off x="553122" y="2443754"/>
              <a:ext cx="987903"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a:ea typeface="Calibri"/>
                  <a:cs typeface="Calibri"/>
                </a:rPr>
                <a:t>Mundra, Gujarat</a:t>
              </a:r>
            </a:p>
          </p:txBody>
        </p:sp>
      </p:grpSp>
      <p:sp>
        <p:nvSpPr>
          <p:cNvPr id="25" name="Rectangle 24">
            <a:extLst>
              <a:ext uri="{FF2B5EF4-FFF2-40B4-BE49-F238E27FC236}">
                <a16:creationId xmlns:a16="http://schemas.microsoft.com/office/drawing/2014/main" id="{2F880764-0F18-E5E3-A660-D755B865D7F9}"/>
              </a:ext>
            </a:extLst>
          </p:cNvPr>
          <p:cNvSpPr/>
          <p:nvPr/>
        </p:nvSpPr>
        <p:spPr>
          <a:xfrm>
            <a:off x="180161" y="7116858"/>
            <a:ext cx="5866898" cy="319631"/>
          </a:xfrm>
          <a:prstGeom prst="rect">
            <a:avLst/>
          </a:prstGeom>
          <a:solidFill>
            <a:srgbClr val="187C2C"/>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r>
              <a:rPr lang="en-US" sz="1400" b="1" dirty="0">
                <a:ea typeface="Calibri"/>
                <a:cs typeface="Calibri"/>
              </a:rPr>
              <a:t>R&amp;D in Green Hydrogen </a:t>
            </a:r>
            <a:endParaRPr lang="en-US" b="1" dirty="0"/>
          </a:p>
        </p:txBody>
      </p:sp>
      <p:sp>
        <p:nvSpPr>
          <p:cNvPr id="29" name="TextBox 28">
            <a:extLst>
              <a:ext uri="{FF2B5EF4-FFF2-40B4-BE49-F238E27FC236}">
                <a16:creationId xmlns:a16="http://schemas.microsoft.com/office/drawing/2014/main" id="{01E5CB6E-87F3-3CE1-FE7D-43DFC3D5D9FF}"/>
              </a:ext>
            </a:extLst>
          </p:cNvPr>
          <p:cNvSpPr txBox="1"/>
          <p:nvPr/>
        </p:nvSpPr>
        <p:spPr>
          <a:xfrm>
            <a:off x="180160" y="7435218"/>
            <a:ext cx="5868000" cy="1200329"/>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sz="1200" dirty="0">
                <a:ea typeface="+mn-lt"/>
                <a:cs typeface="+mn-lt"/>
              </a:rPr>
              <a:t>Adani Power has launched a pilot project to </a:t>
            </a:r>
            <a:r>
              <a:rPr lang="en-US" sz="1200" b="1" dirty="0">
                <a:ea typeface="+mn-lt"/>
                <a:cs typeface="+mn-lt"/>
              </a:rPr>
              <a:t>blend up to 20% green ammonia</a:t>
            </a:r>
            <a:r>
              <a:rPr lang="en-US" sz="1200" dirty="0">
                <a:ea typeface="+mn-lt"/>
                <a:cs typeface="+mn-lt"/>
              </a:rPr>
              <a:t> with coal fuel in a 330 MW ultra-supercritical boiler at its Mundra plant in Gujarat. This is the first project outside Japan under Japan’s </a:t>
            </a:r>
            <a:r>
              <a:rPr lang="en-US" sz="1200" b="1" dirty="0">
                <a:ea typeface="+mn-lt"/>
                <a:cs typeface="+mn-lt"/>
              </a:rPr>
              <a:t>NEDO initiative </a:t>
            </a:r>
            <a:r>
              <a:rPr lang="en-US" sz="1200" dirty="0">
                <a:ea typeface="+mn-lt"/>
                <a:cs typeface="+mn-lt"/>
              </a:rPr>
              <a:t>(New Energy and Industrial Technology Development Organization) within the Japan‑India Clean Energy Partnership (CEP). Together with IHI &amp; Kowa Corporation, AGEL is evaluating technical feasibility, combustion stability, material corrosion, emissions, and safety protocols before scaling within Adani’s fleet.</a:t>
            </a:r>
            <a:endParaRPr lang="en-US" sz="1200" dirty="0">
              <a:ea typeface="Calibri"/>
              <a:cs typeface="Calibri"/>
            </a:endParaRPr>
          </a:p>
        </p:txBody>
      </p:sp>
      <p:grpSp>
        <p:nvGrpSpPr>
          <p:cNvPr id="3" name="Group 2">
            <a:extLst>
              <a:ext uri="{FF2B5EF4-FFF2-40B4-BE49-F238E27FC236}">
                <a16:creationId xmlns:a16="http://schemas.microsoft.com/office/drawing/2014/main" id="{D9590E5E-AC28-4527-676E-384C88B17988}"/>
              </a:ext>
            </a:extLst>
          </p:cNvPr>
          <p:cNvGrpSpPr/>
          <p:nvPr/>
        </p:nvGrpSpPr>
        <p:grpSpPr>
          <a:xfrm>
            <a:off x="172572" y="4101271"/>
            <a:ext cx="3439129" cy="2873303"/>
            <a:chOff x="172572" y="4101271"/>
            <a:chExt cx="3439129" cy="2873303"/>
          </a:xfrm>
        </p:grpSpPr>
        <p:pic>
          <p:nvPicPr>
            <p:cNvPr id="16" name="Picture 15" descr="A map of the north and south of the indian ocean&#10;&#10;AI-generated content may be incorrect.">
              <a:extLst>
                <a:ext uri="{FF2B5EF4-FFF2-40B4-BE49-F238E27FC236}">
                  <a16:creationId xmlns:a16="http://schemas.microsoft.com/office/drawing/2014/main" id="{6D5AFB99-6172-5389-4205-EA2E7902512A}"/>
                </a:ext>
              </a:extLst>
            </p:cNvPr>
            <p:cNvPicPr>
              <a:picLocks noChangeAspect="1"/>
            </p:cNvPicPr>
            <p:nvPr/>
          </p:nvPicPr>
          <p:blipFill>
            <a:blip r:embed="rId5">
              <a:extLst>
                <a:ext uri="{837473B0-CC2E-450A-ABE3-18F120FF3D39}">
                  <a1611:picAttrSrcUrl xmlns:a1611="http://schemas.microsoft.com/office/drawing/2016/11/main" r:id="rId6"/>
                </a:ext>
              </a:extLst>
            </a:blip>
            <a:srcRect l="193" t="2387" r="-155" b="-67"/>
            <a:stretch>
              <a:fillRect/>
            </a:stretch>
          </p:blipFill>
          <p:spPr>
            <a:xfrm>
              <a:off x="172572" y="4101271"/>
              <a:ext cx="3439129" cy="2873303"/>
            </a:xfrm>
            <a:prstGeom prst="rect">
              <a:avLst/>
            </a:prstGeom>
            <a:ln>
              <a:noFill/>
            </a:ln>
          </p:spPr>
        </p:pic>
        <p:pic>
          <p:nvPicPr>
            <p:cNvPr id="30" name="Picture 29" descr="A red location pin with a black background&#10;&#10;AI-generated content may be incorrect.">
              <a:extLst>
                <a:ext uri="{FF2B5EF4-FFF2-40B4-BE49-F238E27FC236}">
                  <a16:creationId xmlns:a16="http://schemas.microsoft.com/office/drawing/2014/main" id="{EA0726A0-B2A6-6E68-7E0F-99C9AE1D0C5B}"/>
                </a:ext>
              </a:extLst>
            </p:cNvPr>
            <p:cNvPicPr>
              <a:picLocks noChangeAspect="1"/>
            </p:cNvPicPr>
            <p:nvPr/>
          </p:nvPicPr>
          <p:blipFill>
            <a:blip r:embed="rId4"/>
            <a:srcRect l="1170" r="302" b="10674"/>
            <a:stretch>
              <a:fillRect/>
            </a:stretch>
          </p:blipFill>
          <p:spPr>
            <a:xfrm>
              <a:off x="956418" y="5914484"/>
              <a:ext cx="245657" cy="247974"/>
            </a:xfrm>
            <a:prstGeom prst="rect">
              <a:avLst/>
            </a:prstGeom>
          </p:spPr>
        </p:pic>
        <p:sp>
          <p:nvSpPr>
            <p:cNvPr id="31" name="TextBox 30">
              <a:extLst>
                <a:ext uri="{FF2B5EF4-FFF2-40B4-BE49-F238E27FC236}">
                  <a16:creationId xmlns:a16="http://schemas.microsoft.com/office/drawing/2014/main" id="{59378F99-D132-DEB7-3BD9-95CCEAED02CB}"/>
                </a:ext>
              </a:extLst>
            </p:cNvPr>
            <p:cNvSpPr txBox="1"/>
            <p:nvPr/>
          </p:nvSpPr>
          <p:spPr>
            <a:xfrm>
              <a:off x="610505" y="6055764"/>
              <a:ext cx="1440789"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a:ea typeface="Calibri"/>
                  <a:cs typeface="Calibri"/>
                </a:rPr>
                <a:t>Kadapa, Andhra Pradesh</a:t>
              </a:r>
            </a:p>
          </p:txBody>
        </p:sp>
      </p:grpSp>
      <p:sp>
        <p:nvSpPr>
          <p:cNvPr id="8" name="Footer Placeholder 3">
            <a:extLst>
              <a:ext uri="{FF2B5EF4-FFF2-40B4-BE49-F238E27FC236}">
                <a16:creationId xmlns:a16="http://schemas.microsoft.com/office/drawing/2014/main" id="{A9580D42-41C0-DA1C-DBDE-93018DF06604}"/>
              </a:ext>
            </a:extLst>
          </p:cNvPr>
          <p:cNvSpPr>
            <a:spLocks noGrp="1"/>
          </p:cNvSpPr>
          <p:nvPr>
            <p:ph type="ftr" sz="quarter" idx="11"/>
          </p:nvPr>
        </p:nvSpPr>
        <p:spPr>
          <a:xfrm>
            <a:off x="-7551" y="8832134"/>
            <a:ext cx="6234928" cy="324563"/>
          </a:xfrm>
        </p:spPr>
        <p:txBody>
          <a:bodyPr/>
          <a:lstStyle/>
          <a:p>
            <a:pPr algn="l"/>
            <a:r>
              <a:rPr lang="en-US" sz="800">
                <a:ea typeface="Calibri"/>
                <a:cs typeface="Calibri"/>
              </a:rPr>
              <a:t>Disclaimer: This is only for educational purposes and we are not SEBI registered.</a:t>
            </a:r>
          </a:p>
        </p:txBody>
      </p:sp>
      <p:sp>
        <p:nvSpPr>
          <p:cNvPr id="10" name="Rectangle 9">
            <a:extLst>
              <a:ext uri="{FF2B5EF4-FFF2-40B4-BE49-F238E27FC236}">
                <a16:creationId xmlns:a16="http://schemas.microsoft.com/office/drawing/2014/main" id="{81ABF2CA-1B9C-4321-E380-3EBE59829D81}"/>
              </a:ext>
            </a:extLst>
          </p:cNvPr>
          <p:cNvSpPr/>
          <p:nvPr/>
        </p:nvSpPr>
        <p:spPr>
          <a:xfrm>
            <a:off x="98704" y="815933"/>
            <a:ext cx="6027421" cy="360000"/>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a:ea typeface="Calibri"/>
                <a:cs typeface="Calibri"/>
              </a:rPr>
              <a:t>Upcoming Projects</a:t>
            </a:r>
          </a:p>
        </p:txBody>
      </p:sp>
      <p:sp>
        <p:nvSpPr>
          <p:cNvPr id="11" name="Slide Number Placeholder 6">
            <a:extLst>
              <a:ext uri="{FF2B5EF4-FFF2-40B4-BE49-F238E27FC236}">
                <a16:creationId xmlns:a16="http://schemas.microsoft.com/office/drawing/2014/main" id="{7FD5EC3C-E181-99A7-A029-4A1590FD9EE7}"/>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18</a:t>
            </a:fld>
            <a:endParaRPr lang="en-US"/>
          </a:p>
        </p:txBody>
      </p:sp>
    </p:spTree>
    <p:extLst>
      <p:ext uri="{BB962C8B-B14F-4D97-AF65-F5344CB8AC3E}">
        <p14:creationId xmlns:p14="http://schemas.microsoft.com/office/powerpoint/2010/main" val="13993868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D662F-28D8-1E83-F356-1D60F1DD6016}"/>
            </a:ext>
          </a:extLst>
        </p:cNvPr>
        <p:cNvGrpSpPr/>
        <p:nvPr/>
      </p:nvGrpSpPr>
      <p:grpSpPr>
        <a:xfrm>
          <a:off x="0" y="0"/>
          <a:ext cx="0" cy="0"/>
          <a:chOff x="0" y="0"/>
          <a:chExt cx="0" cy="0"/>
        </a:xfrm>
      </p:grpSpPr>
      <p:cxnSp>
        <p:nvCxnSpPr>
          <p:cNvPr id="4" name="Straight Arrow Connector 3">
            <a:extLst>
              <a:ext uri="{FF2B5EF4-FFF2-40B4-BE49-F238E27FC236}">
                <a16:creationId xmlns:a16="http://schemas.microsoft.com/office/drawing/2014/main" id="{9B5A7CB4-5694-5E05-A038-F4D985418C52}"/>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9" name="Picture 8" descr="Adani Renewables - Global Alliance For Sustainable Energy">
            <a:extLst>
              <a:ext uri="{FF2B5EF4-FFF2-40B4-BE49-F238E27FC236}">
                <a16:creationId xmlns:a16="http://schemas.microsoft.com/office/drawing/2014/main" id="{C0716489-0F5A-054B-DDF7-22499BF42BC9}"/>
              </a:ext>
            </a:extLst>
          </p:cNvPr>
          <p:cNvPicPr>
            <a:picLocks noChangeAspect="1"/>
          </p:cNvPicPr>
          <p:nvPr/>
        </p:nvPicPr>
        <p:blipFill>
          <a:blip r:embed="rId2"/>
          <a:stretch>
            <a:fillRect/>
          </a:stretch>
        </p:blipFill>
        <p:spPr>
          <a:xfrm>
            <a:off x="5076000" y="0"/>
            <a:ext cx="1311468" cy="662728"/>
          </a:xfrm>
          <a:prstGeom prst="rect">
            <a:avLst/>
          </a:prstGeom>
        </p:spPr>
      </p:pic>
      <p:sp>
        <p:nvSpPr>
          <p:cNvPr id="11" name="Footer Placeholder 3">
            <a:extLst>
              <a:ext uri="{FF2B5EF4-FFF2-40B4-BE49-F238E27FC236}">
                <a16:creationId xmlns:a16="http://schemas.microsoft.com/office/drawing/2014/main" id="{040280E5-4D5E-7DB5-9AD7-3E32B434E128}"/>
              </a:ext>
            </a:extLst>
          </p:cNvPr>
          <p:cNvSpPr>
            <a:spLocks noGrp="1"/>
          </p:cNvSpPr>
          <p:nvPr>
            <p:ph type="ftr" sz="quarter" idx="11"/>
          </p:nvPr>
        </p:nvSpPr>
        <p:spPr>
          <a:xfrm>
            <a:off x="-7551" y="8832134"/>
            <a:ext cx="6234928" cy="324563"/>
          </a:xfrm>
        </p:spPr>
        <p:txBody>
          <a:bodyPr/>
          <a:lstStyle/>
          <a:p>
            <a:pPr algn="l"/>
            <a:r>
              <a:rPr lang="en-US" sz="800" dirty="0">
                <a:ea typeface="Calibri"/>
                <a:cs typeface="Calibri"/>
              </a:rPr>
              <a:t>Disclaimer: This is only for educational purposes and we are not SEBI registered.</a:t>
            </a:r>
          </a:p>
        </p:txBody>
      </p:sp>
      <p:cxnSp>
        <p:nvCxnSpPr>
          <p:cNvPr id="13" name="Straight Arrow Connector 12">
            <a:extLst>
              <a:ext uri="{FF2B5EF4-FFF2-40B4-BE49-F238E27FC236}">
                <a16:creationId xmlns:a16="http://schemas.microsoft.com/office/drawing/2014/main" id="{1451005D-0B5A-40A6-FB3D-AE8D7B43E74A}"/>
              </a:ext>
            </a:extLst>
          </p:cNvPr>
          <p:cNvCxnSpPr/>
          <p:nvPr/>
        </p:nvCxnSpPr>
        <p:spPr>
          <a:xfrm flipV="1">
            <a:off x="-5925" y="8787953"/>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0A3C4D4F-FF66-12AB-C668-7DB8B7D9DA26}"/>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19</a:t>
            </a:fld>
            <a:endParaRPr lang="en-US"/>
          </a:p>
        </p:txBody>
      </p:sp>
      <p:sp>
        <p:nvSpPr>
          <p:cNvPr id="12" name="Rectangle 11">
            <a:extLst>
              <a:ext uri="{FF2B5EF4-FFF2-40B4-BE49-F238E27FC236}">
                <a16:creationId xmlns:a16="http://schemas.microsoft.com/office/drawing/2014/main" id="{CE27781D-35A6-B1F5-E342-88624881D322}"/>
              </a:ext>
            </a:extLst>
          </p:cNvPr>
          <p:cNvSpPr/>
          <p:nvPr/>
        </p:nvSpPr>
        <p:spPr>
          <a:xfrm>
            <a:off x="98704" y="815934"/>
            <a:ext cx="6027421" cy="339963"/>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effectLst>
                  <a:outerShdw blurRad="50800" dist="50800" dir="5400000" sx="4000" sy="4000" algn="ctr" rotWithShape="0">
                    <a:srgbClr val="000000">
                      <a:alpha val="43137"/>
                    </a:srgbClr>
                  </a:outerShdw>
                </a:effectLst>
                <a:ea typeface="Calibri"/>
                <a:cs typeface="Calibri"/>
              </a:rPr>
              <a:t>Executive </a:t>
            </a:r>
            <a:r>
              <a:rPr lang="en-US" dirty="0">
                <a:effectLst>
                  <a:outerShdw blurRad="50800" dist="50800" dir="5400000" sx="4000" sy="4000" algn="ctr" rotWithShape="0">
                    <a:schemeClr val="bg1">
                      <a:alpha val="43000"/>
                    </a:schemeClr>
                  </a:outerShdw>
                </a:effectLst>
                <a:ea typeface="Calibri"/>
                <a:cs typeface="Calibri"/>
              </a:rPr>
              <a:t>Summary</a:t>
            </a:r>
          </a:p>
        </p:txBody>
      </p:sp>
      <p:sp>
        <p:nvSpPr>
          <p:cNvPr id="3" name="Rectangle 2">
            <a:extLst>
              <a:ext uri="{FF2B5EF4-FFF2-40B4-BE49-F238E27FC236}">
                <a16:creationId xmlns:a16="http://schemas.microsoft.com/office/drawing/2014/main" id="{1B9CEA23-C181-0144-6658-780057DD3CDC}"/>
              </a:ext>
            </a:extLst>
          </p:cNvPr>
          <p:cNvSpPr/>
          <p:nvPr/>
        </p:nvSpPr>
        <p:spPr>
          <a:xfrm>
            <a:off x="98705" y="1324800"/>
            <a:ext cx="1053821" cy="1145276"/>
          </a:xfrm>
          <a:prstGeom prst="rect">
            <a:avLst/>
          </a:prstGeom>
          <a:solidFill>
            <a:srgbClr val="00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 </a:t>
            </a:r>
            <a:endParaRPr lang="en-US" sz="1500" dirty="0"/>
          </a:p>
          <a:p>
            <a:pPr algn="ctr"/>
            <a:r>
              <a:rPr lang="en-US" sz="1400" dirty="0"/>
              <a:t>Political</a:t>
            </a:r>
            <a:endParaRPr lang="en-US" sz="1500" dirty="0"/>
          </a:p>
        </p:txBody>
      </p:sp>
      <p:grpSp>
        <p:nvGrpSpPr>
          <p:cNvPr id="29" name="Group 28">
            <a:extLst>
              <a:ext uri="{FF2B5EF4-FFF2-40B4-BE49-F238E27FC236}">
                <a16:creationId xmlns:a16="http://schemas.microsoft.com/office/drawing/2014/main" id="{3D255F60-5F81-4037-4E32-872FDAAC15B7}"/>
              </a:ext>
            </a:extLst>
          </p:cNvPr>
          <p:cNvGrpSpPr/>
          <p:nvPr/>
        </p:nvGrpSpPr>
        <p:grpSpPr>
          <a:xfrm>
            <a:off x="1152001" y="1324376"/>
            <a:ext cx="5068341" cy="1143000"/>
            <a:chOff x="1159036" y="1389283"/>
            <a:chExt cx="5068341" cy="1143000"/>
          </a:xfrm>
        </p:grpSpPr>
        <p:sp>
          <p:nvSpPr>
            <p:cNvPr id="6" name="Rectangle 5">
              <a:extLst>
                <a:ext uri="{FF2B5EF4-FFF2-40B4-BE49-F238E27FC236}">
                  <a16:creationId xmlns:a16="http://schemas.microsoft.com/office/drawing/2014/main" id="{F9BDCB9B-3FEF-C526-409D-D4549F6B5CC7}"/>
                </a:ext>
              </a:extLst>
            </p:cNvPr>
            <p:cNvSpPr/>
            <p:nvPr/>
          </p:nvSpPr>
          <p:spPr>
            <a:xfrm>
              <a:off x="1159036" y="1389283"/>
              <a:ext cx="4962085" cy="1143000"/>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C13B180-ADAB-3643-6A31-CF48308251AE}"/>
                </a:ext>
              </a:extLst>
            </p:cNvPr>
            <p:cNvSpPr txBox="1"/>
            <p:nvPr/>
          </p:nvSpPr>
          <p:spPr>
            <a:xfrm>
              <a:off x="1265292" y="1454229"/>
              <a:ext cx="4962085" cy="1015663"/>
            </a:xfrm>
            <a:prstGeom prst="rect">
              <a:avLst/>
            </a:prstGeom>
            <a:noFill/>
          </p:spPr>
          <p:txBody>
            <a:bodyPr wrap="square" rtlCol="0">
              <a:spAutoFit/>
            </a:bodyPr>
            <a:lstStyle/>
            <a:p>
              <a:pPr fontAlgn="base"/>
              <a:r>
                <a:rPr lang="en-IN" sz="1200" dirty="0"/>
                <a:t>1. The Indian government’s commitment to targeting 500 GW of RE capacity by 2030, underpins policy stability for AGEL.</a:t>
              </a:r>
            </a:p>
            <a:p>
              <a:pPr fontAlgn="base"/>
              <a:r>
                <a:rPr lang="en-IN" sz="1200" dirty="0"/>
                <a:t>2. AGEL benefits from the expansion of Renewable Purchase Obligations (RPOs) by state governments, sustaining demand for renewable energy projects.</a:t>
              </a:r>
              <a:endParaRPr lang="en-US" dirty="0"/>
            </a:p>
          </p:txBody>
        </p:sp>
      </p:grpSp>
      <p:sp>
        <p:nvSpPr>
          <p:cNvPr id="10" name="Rectangle 9">
            <a:extLst>
              <a:ext uri="{FF2B5EF4-FFF2-40B4-BE49-F238E27FC236}">
                <a16:creationId xmlns:a16="http://schemas.microsoft.com/office/drawing/2014/main" id="{3D484F57-F68D-E975-0E9A-9047DB60210B}"/>
              </a:ext>
            </a:extLst>
          </p:cNvPr>
          <p:cNvSpPr/>
          <p:nvPr/>
        </p:nvSpPr>
        <p:spPr>
          <a:xfrm>
            <a:off x="98705" y="2570400"/>
            <a:ext cx="1053821" cy="1145276"/>
          </a:xfrm>
          <a:prstGeom prst="rect">
            <a:avLst/>
          </a:prstGeom>
          <a:solidFill>
            <a:srgbClr val="00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 </a:t>
            </a:r>
          </a:p>
          <a:p>
            <a:pPr algn="ctr"/>
            <a:r>
              <a:rPr lang="en-US" sz="1400" dirty="0"/>
              <a:t>Economic</a:t>
            </a:r>
            <a:endParaRPr lang="en-US" sz="1500" dirty="0"/>
          </a:p>
        </p:txBody>
      </p:sp>
      <p:grpSp>
        <p:nvGrpSpPr>
          <p:cNvPr id="22" name="Group 21">
            <a:extLst>
              <a:ext uri="{FF2B5EF4-FFF2-40B4-BE49-F238E27FC236}">
                <a16:creationId xmlns:a16="http://schemas.microsoft.com/office/drawing/2014/main" id="{C41E054D-19CB-44A2-00DE-E905C805486F}"/>
              </a:ext>
            </a:extLst>
          </p:cNvPr>
          <p:cNvGrpSpPr/>
          <p:nvPr/>
        </p:nvGrpSpPr>
        <p:grpSpPr>
          <a:xfrm>
            <a:off x="1152526" y="2570938"/>
            <a:ext cx="4968596" cy="1144800"/>
            <a:chOff x="1152525" y="2635846"/>
            <a:chExt cx="4968596" cy="1124233"/>
          </a:xfrm>
        </p:grpSpPr>
        <p:sp>
          <p:nvSpPr>
            <p:cNvPr id="14" name="Rectangle 13">
              <a:extLst>
                <a:ext uri="{FF2B5EF4-FFF2-40B4-BE49-F238E27FC236}">
                  <a16:creationId xmlns:a16="http://schemas.microsoft.com/office/drawing/2014/main" id="{F2B15114-B761-67E4-97D1-C1871DCA04DE}"/>
                </a:ext>
              </a:extLst>
            </p:cNvPr>
            <p:cNvSpPr/>
            <p:nvPr/>
          </p:nvSpPr>
          <p:spPr>
            <a:xfrm>
              <a:off x="1152525" y="2635846"/>
              <a:ext cx="4968596" cy="1124233"/>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E5FC7CF4-0A7E-C14E-49E1-188421058F75}"/>
                </a:ext>
              </a:extLst>
            </p:cNvPr>
            <p:cNvSpPr txBox="1"/>
            <p:nvPr/>
          </p:nvSpPr>
          <p:spPr>
            <a:xfrm>
              <a:off x="1258778" y="2672673"/>
              <a:ext cx="4678196" cy="1015663"/>
            </a:xfrm>
            <a:prstGeom prst="rect">
              <a:avLst/>
            </a:prstGeom>
            <a:noFill/>
          </p:spPr>
          <p:txBody>
            <a:bodyPr wrap="square" rtlCol="0">
              <a:spAutoFit/>
            </a:bodyPr>
            <a:lstStyle/>
            <a:p>
              <a:pPr fontAlgn="base"/>
              <a:r>
                <a:rPr lang="en-IN" sz="1200" dirty="0"/>
                <a:t>1. India’s renewable sector is witnessing an investment surge, with over USD 20 billion estimated for the sector by 2025 and AGEL targeting 50 GW capacity by 2030.</a:t>
              </a:r>
            </a:p>
            <a:p>
              <a:pPr fontAlgn="base"/>
              <a:r>
                <a:rPr lang="en-IN" sz="1200" dirty="0"/>
                <a:t>2. 80% decline in costs over the last decade and wind enable better project economics and bolster AGEL's profitability and market share</a:t>
              </a:r>
              <a:r>
                <a:rPr lang="en-US" sz="1200" dirty="0"/>
                <a:t>.</a:t>
              </a:r>
              <a:endParaRPr lang="en-IN" sz="1200" dirty="0"/>
            </a:p>
          </p:txBody>
        </p:sp>
      </p:grpSp>
      <p:sp>
        <p:nvSpPr>
          <p:cNvPr id="16" name="Rectangle 15">
            <a:extLst>
              <a:ext uri="{FF2B5EF4-FFF2-40B4-BE49-F238E27FC236}">
                <a16:creationId xmlns:a16="http://schemas.microsoft.com/office/drawing/2014/main" id="{2AF46EED-4C78-3F6C-0C11-09B858D5CD3B}"/>
              </a:ext>
            </a:extLst>
          </p:cNvPr>
          <p:cNvSpPr/>
          <p:nvPr/>
        </p:nvSpPr>
        <p:spPr>
          <a:xfrm>
            <a:off x="98705" y="3790800"/>
            <a:ext cx="1053821" cy="1145276"/>
          </a:xfrm>
          <a:prstGeom prst="rect">
            <a:avLst/>
          </a:prstGeom>
          <a:solidFill>
            <a:srgbClr val="00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a:t>
            </a:r>
          </a:p>
          <a:p>
            <a:pPr algn="ctr"/>
            <a:r>
              <a:rPr lang="en-US" sz="1100" dirty="0"/>
              <a:t> </a:t>
            </a:r>
            <a:r>
              <a:rPr lang="en-US" sz="1400" dirty="0"/>
              <a:t>Social</a:t>
            </a:r>
            <a:endParaRPr lang="en-US" sz="1100" dirty="0"/>
          </a:p>
        </p:txBody>
      </p:sp>
      <p:sp>
        <p:nvSpPr>
          <p:cNvPr id="18" name="Rectangle 17">
            <a:extLst>
              <a:ext uri="{FF2B5EF4-FFF2-40B4-BE49-F238E27FC236}">
                <a16:creationId xmlns:a16="http://schemas.microsoft.com/office/drawing/2014/main" id="{F8C4D44A-9549-9D39-4106-E40EF146988F}"/>
              </a:ext>
            </a:extLst>
          </p:cNvPr>
          <p:cNvSpPr/>
          <p:nvPr/>
        </p:nvSpPr>
        <p:spPr>
          <a:xfrm>
            <a:off x="98705" y="5017368"/>
            <a:ext cx="1053821" cy="1145276"/>
          </a:xfrm>
          <a:prstGeom prst="rect">
            <a:avLst/>
          </a:prstGeom>
          <a:solidFill>
            <a:srgbClr val="00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 </a:t>
            </a:r>
          </a:p>
          <a:p>
            <a:pPr algn="ctr"/>
            <a:r>
              <a:rPr lang="en-US" sz="1200" dirty="0"/>
              <a:t>Technological</a:t>
            </a:r>
            <a:endParaRPr lang="en-US" sz="1600" dirty="0"/>
          </a:p>
        </p:txBody>
      </p:sp>
      <p:sp>
        <p:nvSpPr>
          <p:cNvPr id="20" name="Rectangle 19">
            <a:extLst>
              <a:ext uri="{FF2B5EF4-FFF2-40B4-BE49-F238E27FC236}">
                <a16:creationId xmlns:a16="http://schemas.microsoft.com/office/drawing/2014/main" id="{7ACAD5CD-0017-AAFE-4126-18552BE5F5CD}"/>
              </a:ext>
            </a:extLst>
          </p:cNvPr>
          <p:cNvSpPr/>
          <p:nvPr/>
        </p:nvSpPr>
        <p:spPr>
          <a:xfrm>
            <a:off x="98705" y="6249600"/>
            <a:ext cx="1053821" cy="1145276"/>
          </a:xfrm>
          <a:prstGeom prst="rect">
            <a:avLst/>
          </a:prstGeom>
          <a:solidFill>
            <a:srgbClr val="00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t>
            </a:r>
          </a:p>
          <a:p>
            <a:pPr algn="ctr"/>
            <a:r>
              <a:rPr lang="en-US" sz="1400" dirty="0"/>
              <a:t>Legal</a:t>
            </a:r>
            <a:endParaRPr lang="en-US" sz="1500" dirty="0"/>
          </a:p>
        </p:txBody>
      </p:sp>
      <p:grpSp>
        <p:nvGrpSpPr>
          <p:cNvPr id="5" name="Group 4">
            <a:extLst>
              <a:ext uri="{FF2B5EF4-FFF2-40B4-BE49-F238E27FC236}">
                <a16:creationId xmlns:a16="http://schemas.microsoft.com/office/drawing/2014/main" id="{D9ADB505-B6FB-CA4A-B21F-DC883EA07E97}"/>
              </a:ext>
            </a:extLst>
          </p:cNvPr>
          <p:cNvGrpSpPr/>
          <p:nvPr/>
        </p:nvGrpSpPr>
        <p:grpSpPr>
          <a:xfrm>
            <a:off x="1152526" y="3790091"/>
            <a:ext cx="4968596" cy="1143000"/>
            <a:chOff x="1152525" y="3854998"/>
            <a:chExt cx="4968596" cy="1143000"/>
          </a:xfrm>
        </p:grpSpPr>
        <p:sp>
          <p:nvSpPr>
            <p:cNvPr id="17" name="Rectangle 16">
              <a:extLst>
                <a:ext uri="{FF2B5EF4-FFF2-40B4-BE49-F238E27FC236}">
                  <a16:creationId xmlns:a16="http://schemas.microsoft.com/office/drawing/2014/main" id="{A32C168B-E420-DEF6-42AB-B0ABB19CF67E}"/>
                </a:ext>
              </a:extLst>
            </p:cNvPr>
            <p:cNvSpPr/>
            <p:nvPr/>
          </p:nvSpPr>
          <p:spPr>
            <a:xfrm>
              <a:off x="1152525" y="3854998"/>
              <a:ext cx="4968596" cy="1143000"/>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0F91F9A8-103A-E9F5-9BA2-0EC6CF2EFA17}"/>
                </a:ext>
              </a:extLst>
            </p:cNvPr>
            <p:cNvSpPr txBox="1"/>
            <p:nvPr/>
          </p:nvSpPr>
          <p:spPr>
            <a:xfrm>
              <a:off x="1258778" y="3922880"/>
              <a:ext cx="4678195" cy="1015663"/>
            </a:xfrm>
            <a:prstGeom prst="rect">
              <a:avLst/>
            </a:prstGeom>
            <a:noFill/>
          </p:spPr>
          <p:txBody>
            <a:bodyPr wrap="square" rtlCol="0">
              <a:spAutoFit/>
            </a:bodyPr>
            <a:lstStyle/>
            <a:p>
              <a:pPr fontAlgn="base"/>
              <a:r>
                <a:rPr lang="en-IN" sz="1200" dirty="0"/>
                <a:t>1. Broadening environmental consciousness and societal push for decarbonization boosts demand for AGEL’s offerings, as global renewable installations grew by 50% in 2023.</a:t>
              </a:r>
            </a:p>
            <a:p>
              <a:pPr fontAlgn="base"/>
              <a:r>
                <a:rPr lang="en-IN" sz="1200" dirty="0"/>
                <a:t>2. The sector provides critical employment and AGEL invested $2.3 billion in skill development in 2024, aligning with broader social goals.</a:t>
              </a:r>
            </a:p>
          </p:txBody>
        </p:sp>
      </p:grpSp>
      <p:sp>
        <p:nvSpPr>
          <p:cNvPr id="24" name="Rectangle 23">
            <a:extLst>
              <a:ext uri="{FF2B5EF4-FFF2-40B4-BE49-F238E27FC236}">
                <a16:creationId xmlns:a16="http://schemas.microsoft.com/office/drawing/2014/main" id="{63596641-856B-D9E7-6262-112ADAFD89A9}"/>
              </a:ext>
            </a:extLst>
          </p:cNvPr>
          <p:cNvSpPr/>
          <p:nvPr/>
        </p:nvSpPr>
        <p:spPr>
          <a:xfrm>
            <a:off x="97201" y="7473398"/>
            <a:ext cx="1053821" cy="1145276"/>
          </a:xfrm>
          <a:prstGeom prst="rect">
            <a:avLst/>
          </a:prstGeom>
          <a:solidFill>
            <a:srgbClr val="00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 </a:t>
            </a:r>
          </a:p>
          <a:p>
            <a:pPr algn="ctr"/>
            <a:r>
              <a:rPr lang="en-US" sz="1100" dirty="0"/>
              <a:t>Environmental</a:t>
            </a:r>
          </a:p>
        </p:txBody>
      </p:sp>
      <p:grpSp>
        <p:nvGrpSpPr>
          <p:cNvPr id="2" name="Group 1">
            <a:extLst>
              <a:ext uri="{FF2B5EF4-FFF2-40B4-BE49-F238E27FC236}">
                <a16:creationId xmlns:a16="http://schemas.microsoft.com/office/drawing/2014/main" id="{1F408F5E-19AD-2A66-7773-358540D93B1E}"/>
              </a:ext>
            </a:extLst>
          </p:cNvPr>
          <p:cNvGrpSpPr/>
          <p:nvPr/>
        </p:nvGrpSpPr>
        <p:grpSpPr>
          <a:xfrm>
            <a:off x="1152526" y="5019644"/>
            <a:ext cx="4968596" cy="1143000"/>
            <a:chOff x="1152525" y="5084551"/>
            <a:chExt cx="4968596" cy="1143000"/>
          </a:xfrm>
        </p:grpSpPr>
        <p:sp>
          <p:nvSpPr>
            <p:cNvPr id="19" name="Rectangle 18">
              <a:extLst>
                <a:ext uri="{FF2B5EF4-FFF2-40B4-BE49-F238E27FC236}">
                  <a16:creationId xmlns:a16="http://schemas.microsoft.com/office/drawing/2014/main" id="{158AD26D-D268-32CD-43B8-B629C3F9A666}"/>
                </a:ext>
              </a:extLst>
            </p:cNvPr>
            <p:cNvSpPr/>
            <p:nvPr/>
          </p:nvSpPr>
          <p:spPr>
            <a:xfrm>
              <a:off x="1152525" y="5084551"/>
              <a:ext cx="4968596" cy="1143000"/>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CDB1A985-4138-B35B-80AC-9DDE43C23DFD}"/>
                </a:ext>
              </a:extLst>
            </p:cNvPr>
            <p:cNvSpPr txBox="1"/>
            <p:nvPr/>
          </p:nvSpPr>
          <p:spPr>
            <a:xfrm>
              <a:off x="1258779" y="5147456"/>
              <a:ext cx="4782792" cy="1015663"/>
            </a:xfrm>
            <a:prstGeom prst="rect">
              <a:avLst/>
            </a:prstGeom>
            <a:noFill/>
          </p:spPr>
          <p:txBody>
            <a:bodyPr wrap="square" rtlCol="0">
              <a:spAutoFit/>
            </a:bodyPr>
            <a:lstStyle/>
            <a:p>
              <a:r>
                <a:rPr lang="en-IN" sz="1200" dirty="0"/>
                <a:t>1. Continuous innovation in solar panels (over 24% efficiency in 2024) and wind turbines, as well as grid-scale battery storage and smart grid deployment, directly enhance AGEL’s operational metrics.</a:t>
              </a:r>
            </a:p>
            <a:p>
              <a:r>
                <a:rPr lang="en-IN" sz="1200" dirty="0"/>
                <a:t>2. Strategic investments in energy storage (₹20,000 crore for projects in 2024) and IoT/smart grids improve grid integration </a:t>
              </a:r>
            </a:p>
          </p:txBody>
        </p:sp>
      </p:grpSp>
      <p:grpSp>
        <p:nvGrpSpPr>
          <p:cNvPr id="30" name="Group 29">
            <a:extLst>
              <a:ext uri="{FF2B5EF4-FFF2-40B4-BE49-F238E27FC236}">
                <a16:creationId xmlns:a16="http://schemas.microsoft.com/office/drawing/2014/main" id="{B093C3B4-2E61-42A1-DDFD-91C1EAC82D46}"/>
              </a:ext>
            </a:extLst>
          </p:cNvPr>
          <p:cNvGrpSpPr/>
          <p:nvPr/>
        </p:nvGrpSpPr>
        <p:grpSpPr>
          <a:xfrm>
            <a:off x="1152526" y="6249197"/>
            <a:ext cx="5074851" cy="1143000"/>
            <a:chOff x="1152525" y="6314104"/>
            <a:chExt cx="5074851" cy="1143000"/>
          </a:xfrm>
        </p:grpSpPr>
        <p:sp>
          <p:nvSpPr>
            <p:cNvPr id="21" name="Rectangle 20">
              <a:extLst>
                <a:ext uri="{FF2B5EF4-FFF2-40B4-BE49-F238E27FC236}">
                  <a16:creationId xmlns:a16="http://schemas.microsoft.com/office/drawing/2014/main" id="{203BC905-3E6C-4DC5-3B61-48CF0AC91309}"/>
                </a:ext>
              </a:extLst>
            </p:cNvPr>
            <p:cNvSpPr/>
            <p:nvPr/>
          </p:nvSpPr>
          <p:spPr>
            <a:xfrm>
              <a:off x="1152525" y="6314104"/>
              <a:ext cx="4968596" cy="1143000"/>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8C2AC44B-16F8-289D-6FC2-C906D27CABEA}"/>
                </a:ext>
              </a:extLst>
            </p:cNvPr>
            <p:cNvSpPr txBox="1"/>
            <p:nvPr/>
          </p:nvSpPr>
          <p:spPr>
            <a:xfrm>
              <a:off x="1258779" y="6376634"/>
              <a:ext cx="4968597" cy="1015663"/>
            </a:xfrm>
            <a:prstGeom prst="rect">
              <a:avLst/>
            </a:prstGeom>
            <a:noFill/>
          </p:spPr>
          <p:txBody>
            <a:bodyPr wrap="square" rtlCol="0">
              <a:spAutoFit/>
            </a:bodyPr>
            <a:lstStyle/>
            <a:p>
              <a:pPr fontAlgn="base"/>
              <a:r>
                <a:rPr lang="en-IN" sz="1200" dirty="0"/>
                <a:t>1..AGEL faces rigorous scrutiny to comply with environment protection laws and environmental clearances take up 12-18 months per project.</a:t>
              </a:r>
            </a:p>
            <a:p>
              <a:pPr fontAlgn="base"/>
              <a:r>
                <a:rPr lang="en-IN" sz="1200" dirty="0"/>
                <a:t>2. Environmental impact assessments and compliance costs are significant and delays from litigation particularly related to land and environmental concerns impact project economics.</a:t>
              </a:r>
            </a:p>
          </p:txBody>
        </p:sp>
      </p:grpSp>
      <p:sp>
        <p:nvSpPr>
          <p:cNvPr id="25" name="Rectangle 24">
            <a:extLst>
              <a:ext uri="{FF2B5EF4-FFF2-40B4-BE49-F238E27FC236}">
                <a16:creationId xmlns:a16="http://schemas.microsoft.com/office/drawing/2014/main" id="{3DAD876E-D4DF-6E92-46DA-94C6AF3E12CD}"/>
              </a:ext>
            </a:extLst>
          </p:cNvPr>
          <p:cNvSpPr/>
          <p:nvPr/>
        </p:nvSpPr>
        <p:spPr>
          <a:xfrm>
            <a:off x="1152001" y="7473600"/>
            <a:ext cx="4962625" cy="1143000"/>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98D06FCD-4B44-222D-B244-BBBA99583260}"/>
              </a:ext>
            </a:extLst>
          </p:cNvPr>
          <p:cNvSpPr txBox="1"/>
          <p:nvPr/>
        </p:nvSpPr>
        <p:spPr>
          <a:xfrm>
            <a:off x="1169653" y="7538204"/>
            <a:ext cx="4961046" cy="1015663"/>
          </a:xfrm>
          <a:prstGeom prst="rect">
            <a:avLst/>
          </a:prstGeom>
          <a:noFill/>
        </p:spPr>
        <p:txBody>
          <a:bodyPr wrap="square" rtlCol="0">
            <a:spAutoFit/>
          </a:bodyPr>
          <a:lstStyle/>
          <a:p>
            <a:r>
              <a:rPr lang="en-IN" sz="1200" dirty="0"/>
              <a:t>1. Large-scale renewable projects impact biodiversity and local ecosystems, mandating AGEL to enforce biodiversity management plans.</a:t>
            </a:r>
          </a:p>
          <a:p>
            <a:r>
              <a:rPr lang="en-IN" sz="1200" dirty="0"/>
              <a:t>2. The company’s generation portfolio directly supports decarbonization, but lacks extreme weather and waste management, especially for solar panel recycling.</a:t>
            </a:r>
            <a:endParaRPr lang="en-US" sz="1200" dirty="0"/>
          </a:p>
        </p:txBody>
      </p:sp>
    </p:spTree>
    <p:extLst>
      <p:ext uri="{BB962C8B-B14F-4D97-AF65-F5344CB8AC3E}">
        <p14:creationId xmlns:p14="http://schemas.microsoft.com/office/powerpoint/2010/main" val="4203415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E45DF-53C5-D33C-6655-B0FADE634F60}"/>
            </a:ext>
          </a:extLst>
        </p:cNvPr>
        <p:cNvGrpSpPr/>
        <p:nvPr/>
      </p:nvGrpSpPr>
      <p:grpSpPr>
        <a:xfrm>
          <a:off x="0" y="0"/>
          <a:ext cx="0" cy="0"/>
          <a:chOff x="0" y="0"/>
          <a:chExt cx="0" cy="0"/>
        </a:xfrm>
      </p:grpSpPr>
      <p:cxnSp>
        <p:nvCxnSpPr>
          <p:cNvPr id="4" name="Straight Arrow Connector 3">
            <a:extLst>
              <a:ext uri="{FF2B5EF4-FFF2-40B4-BE49-F238E27FC236}">
                <a16:creationId xmlns:a16="http://schemas.microsoft.com/office/drawing/2014/main" id="{7DA7BA0B-250C-CE6E-A4E4-F543F9A96F2C}"/>
              </a:ext>
            </a:extLst>
          </p:cNvPr>
          <p:cNvCxnSpPr/>
          <p:nvPr/>
        </p:nvCxnSpPr>
        <p:spPr>
          <a:xfrm flipV="1">
            <a:off x="1596" y="681677"/>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9" name="Picture 8" descr="Adani Renewables - Global Alliance For Sustainable Energy">
            <a:extLst>
              <a:ext uri="{FF2B5EF4-FFF2-40B4-BE49-F238E27FC236}">
                <a16:creationId xmlns:a16="http://schemas.microsoft.com/office/drawing/2014/main" id="{885176AA-6C19-FC05-B1A6-5C7822D2A6B5}"/>
              </a:ext>
            </a:extLst>
          </p:cNvPr>
          <p:cNvPicPr>
            <a:picLocks noChangeAspect="1"/>
          </p:cNvPicPr>
          <p:nvPr/>
        </p:nvPicPr>
        <p:blipFill>
          <a:blip r:embed="rId2"/>
          <a:stretch>
            <a:fillRect/>
          </a:stretch>
        </p:blipFill>
        <p:spPr>
          <a:xfrm>
            <a:off x="5076000" y="0"/>
            <a:ext cx="1311468" cy="662728"/>
          </a:xfrm>
          <a:prstGeom prst="rect">
            <a:avLst/>
          </a:prstGeom>
        </p:spPr>
      </p:pic>
      <p:sp>
        <p:nvSpPr>
          <p:cNvPr id="11" name="Footer Placeholder 3">
            <a:extLst>
              <a:ext uri="{FF2B5EF4-FFF2-40B4-BE49-F238E27FC236}">
                <a16:creationId xmlns:a16="http://schemas.microsoft.com/office/drawing/2014/main" id="{E4CEE2DC-A50F-9542-662A-CC7D84770DA7}"/>
              </a:ext>
            </a:extLst>
          </p:cNvPr>
          <p:cNvSpPr>
            <a:spLocks noGrp="1"/>
          </p:cNvSpPr>
          <p:nvPr>
            <p:ph type="ftr" sz="quarter" idx="11"/>
          </p:nvPr>
        </p:nvSpPr>
        <p:spPr>
          <a:xfrm>
            <a:off x="-7551" y="8832134"/>
            <a:ext cx="6234928" cy="324563"/>
          </a:xfrm>
        </p:spPr>
        <p:txBody>
          <a:bodyPr/>
          <a:lstStyle/>
          <a:p>
            <a:pPr algn="l"/>
            <a:r>
              <a:rPr lang="en-US" sz="800" dirty="0">
                <a:ea typeface="Calibri"/>
                <a:cs typeface="Calibri"/>
              </a:rPr>
              <a:t>Disclaimer: This is only for educational purposes and we are not SEBI registered.</a:t>
            </a:r>
          </a:p>
        </p:txBody>
      </p:sp>
      <p:cxnSp>
        <p:nvCxnSpPr>
          <p:cNvPr id="13" name="Straight Arrow Connector 12">
            <a:extLst>
              <a:ext uri="{FF2B5EF4-FFF2-40B4-BE49-F238E27FC236}">
                <a16:creationId xmlns:a16="http://schemas.microsoft.com/office/drawing/2014/main" id="{C7AC717E-BD56-78D3-C1E9-10D847B623D7}"/>
              </a:ext>
            </a:extLst>
          </p:cNvPr>
          <p:cNvCxnSpPr/>
          <p:nvPr/>
        </p:nvCxnSpPr>
        <p:spPr>
          <a:xfrm flipV="1">
            <a:off x="-5925" y="8787953"/>
            <a:ext cx="6227508" cy="8387"/>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FE81B260-BE89-404F-47F2-AE6662392098}"/>
              </a:ext>
            </a:extLst>
          </p:cNvPr>
          <p:cNvSpPr>
            <a:spLocks noGrp="1"/>
          </p:cNvSpPr>
          <p:nvPr>
            <p:ph type="sldNum" sz="quarter" idx="12"/>
          </p:nvPr>
        </p:nvSpPr>
        <p:spPr>
          <a:xfrm>
            <a:off x="4788155" y="8764782"/>
            <a:ext cx="1399461" cy="486833"/>
          </a:xfrm>
        </p:spPr>
        <p:txBody>
          <a:bodyPr/>
          <a:lstStyle/>
          <a:p>
            <a:fld id="{48F63A3B-78C7-47BE-AE5E-E10140E04643}" type="slidenum">
              <a:rPr lang="en-US" dirty="0"/>
              <a:t>20</a:t>
            </a:fld>
            <a:endParaRPr lang="en-US"/>
          </a:p>
        </p:txBody>
      </p:sp>
      <p:sp>
        <p:nvSpPr>
          <p:cNvPr id="12" name="Rectangle 11">
            <a:extLst>
              <a:ext uri="{FF2B5EF4-FFF2-40B4-BE49-F238E27FC236}">
                <a16:creationId xmlns:a16="http://schemas.microsoft.com/office/drawing/2014/main" id="{4715BA4A-1B4E-948F-4880-801A3710C4A5}"/>
              </a:ext>
            </a:extLst>
          </p:cNvPr>
          <p:cNvSpPr/>
          <p:nvPr/>
        </p:nvSpPr>
        <p:spPr>
          <a:xfrm>
            <a:off x="98704" y="815934"/>
            <a:ext cx="6027421" cy="339963"/>
          </a:xfrm>
          <a:prstGeom prst="rect">
            <a:avLst/>
          </a:prstGeom>
          <a:solidFill>
            <a:srgbClr val="187C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effectLst>
                  <a:outerShdw blurRad="50800" dist="50800" dir="5400000" sx="4000" sy="4000" algn="ctr" rotWithShape="0">
                    <a:srgbClr val="000000">
                      <a:alpha val="43137"/>
                    </a:srgbClr>
                  </a:outerShdw>
                </a:effectLst>
                <a:ea typeface="Calibri"/>
                <a:cs typeface="Calibri"/>
              </a:rPr>
              <a:t>Executive </a:t>
            </a:r>
            <a:r>
              <a:rPr lang="en-US" dirty="0">
                <a:effectLst>
                  <a:outerShdw blurRad="50800" dist="50800" dir="5400000" sx="4000" sy="4000" algn="ctr" rotWithShape="0">
                    <a:schemeClr val="bg1">
                      <a:alpha val="43000"/>
                    </a:schemeClr>
                  </a:outerShdw>
                </a:effectLst>
                <a:ea typeface="Calibri"/>
                <a:cs typeface="Calibri"/>
              </a:rPr>
              <a:t>Summary</a:t>
            </a:r>
          </a:p>
        </p:txBody>
      </p:sp>
      <p:sp>
        <p:nvSpPr>
          <p:cNvPr id="32" name="Rectangle 31">
            <a:extLst>
              <a:ext uri="{FF2B5EF4-FFF2-40B4-BE49-F238E27FC236}">
                <a16:creationId xmlns:a16="http://schemas.microsoft.com/office/drawing/2014/main" id="{F3F19166-4EAD-7F55-4E37-F784DE9C66BD}"/>
              </a:ext>
            </a:extLst>
          </p:cNvPr>
          <p:cNvSpPr/>
          <p:nvPr/>
        </p:nvSpPr>
        <p:spPr>
          <a:xfrm>
            <a:off x="113915" y="1281766"/>
            <a:ext cx="6012210" cy="7411269"/>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r>
              <a:rPr lang="en-US" sz="1400" b="1" dirty="0">
                <a:solidFill>
                  <a:schemeClr val="tx1"/>
                </a:solidFill>
              </a:rPr>
              <a:t>Company Overview</a:t>
            </a:r>
            <a:endParaRPr lang="en-US" sz="1400" dirty="0">
              <a:solidFill>
                <a:schemeClr val="tx1"/>
              </a:solidFill>
            </a:endParaRPr>
          </a:p>
          <a:p>
            <a:pPr marL="171450" indent="-171450">
              <a:buFont typeface="Arial" panose="020B0604020202020204" pitchFamily="34" charset="0"/>
              <a:buChar char="•"/>
            </a:pPr>
            <a:r>
              <a:rPr lang="en-US" sz="1200" dirty="0">
                <a:solidFill>
                  <a:schemeClr val="tx1"/>
                </a:solidFill>
              </a:rPr>
              <a:t>Incorporated 2015, headquartered in Ahmedabad; India’s </a:t>
            </a:r>
            <a:r>
              <a:rPr lang="en-US" sz="1200" b="1" dirty="0">
                <a:solidFill>
                  <a:schemeClr val="tx1"/>
                </a:solidFill>
              </a:rPr>
              <a:t>largest renewable power producer</a:t>
            </a:r>
            <a:r>
              <a:rPr lang="en-US" sz="1200" dirty="0">
                <a:solidFill>
                  <a:schemeClr val="tx1"/>
                </a:solidFill>
              </a:rPr>
              <a:t> across </a:t>
            </a:r>
            <a:r>
              <a:rPr lang="en-US" sz="1200" b="1" dirty="0">
                <a:solidFill>
                  <a:schemeClr val="tx1"/>
                </a:solidFill>
              </a:rPr>
              <a:t>solar, wind, and hybrid</a:t>
            </a:r>
            <a:r>
              <a:rPr lang="en-US" sz="1200" dirty="0">
                <a:solidFill>
                  <a:schemeClr val="tx1"/>
                </a:solidFill>
              </a:rPr>
              <a:t> projects.</a:t>
            </a:r>
          </a:p>
          <a:p>
            <a:pPr marL="171450" indent="-171450">
              <a:buFont typeface="Arial" panose="020B0604020202020204" pitchFamily="34" charset="0"/>
              <a:buChar char="•"/>
            </a:pPr>
            <a:r>
              <a:rPr lang="en-US" sz="1200" b="1" dirty="0">
                <a:solidFill>
                  <a:schemeClr val="tx1"/>
                </a:solidFill>
              </a:rPr>
              <a:t>Operational capacity: 11.2 GW (2025)</a:t>
            </a:r>
            <a:r>
              <a:rPr lang="en-US" sz="1200" dirty="0">
                <a:solidFill>
                  <a:schemeClr val="tx1"/>
                </a:solidFill>
              </a:rPr>
              <a:t>; target </a:t>
            </a:r>
            <a:r>
              <a:rPr lang="en-US" sz="1200" b="1" dirty="0">
                <a:solidFill>
                  <a:schemeClr val="tx1"/>
                </a:solidFill>
              </a:rPr>
              <a:t>50 GW by 2030</a:t>
            </a:r>
            <a:r>
              <a:rPr lang="en-US" sz="1200" dirty="0">
                <a:solidFill>
                  <a:schemeClr val="tx1"/>
                </a:solidFill>
              </a:rPr>
              <a:t>, backed by </a:t>
            </a:r>
            <a:r>
              <a:rPr lang="en-US" sz="1200" b="1" dirty="0">
                <a:solidFill>
                  <a:schemeClr val="tx1"/>
                </a:solidFill>
              </a:rPr>
              <a:t>secured land bank (250,000+ acres)</a:t>
            </a:r>
            <a:r>
              <a:rPr lang="en-US" sz="1200" dirty="0">
                <a:solidFill>
                  <a:schemeClr val="tx1"/>
                </a:solidFill>
              </a:rPr>
              <a:t> and strong execution track record.</a:t>
            </a:r>
          </a:p>
          <a:p>
            <a:pPr marL="171450" indent="-171450">
              <a:buFont typeface="Arial" panose="020B0604020202020204" pitchFamily="34" charset="0"/>
              <a:buChar char="•"/>
            </a:pPr>
            <a:r>
              <a:rPr lang="en-US" sz="1200" dirty="0">
                <a:solidFill>
                  <a:schemeClr val="tx1"/>
                </a:solidFill>
              </a:rPr>
              <a:t>Promoter shareholding at </a:t>
            </a:r>
            <a:r>
              <a:rPr lang="en-US" sz="1200" b="1" dirty="0">
                <a:solidFill>
                  <a:schemeClr val="tx1"/>
                </a:solidFill>
              </a:rPr>
              <a:t>62%</a:t>
            </a:r>
            <a:r>
              <a:rPr lang="en-US" sz="1200" dirty="0">
                <a:solidFill>
                  <a:schemeClr val="tx1"/>
                </a:solidFill>
              </a:rPr>
              <a:t> post-warrant conversion, reflecting strong confidence.</a:t>
            </a:r>
          </a:p>
          <a:p>
            <a:r>
              <a:rPr lang="en-IN" sz="1400" b="1" dirty="0">
                <a:solidFill>
                  <a:schemeClr val="tx1"/>
                </a:solidFill>
              </a:rPr>
              <a:t>Growth &amp; Projects</a:t>
            </a:r>
            <a:endParaRPr lang="en-IN" sz="1400" dirty="0">
              <a:solidFill>
                <a:schemeClr val="tx1"/>
              </a:solidFill>
            </a:endParaRPr>
          </a:p>
          <a:p>
            <a:pPr marL="171450" indent="-171450">
              <a:buFont typeface="Arial" panose="020B0604020202020204" pitchFamily="34" charset="0"/>
              <a:buChar char="•"/>
            </a:pPr>
            <a:r>
              <a:rPr lang="en-IN" sz="1200" b="1" dirty="0">
                <a:solidFill>
                  <a:schemeClr val="tx1"/>
                </a:solidFill>
              </a:rPr>
              <a:t>Capacity Growth</a:t>
            </a:r>
            <a:r>
              <a:rPr lang="en-IN" sz="1200" dirty="0">
                <a:solidFill>
                  <a:schemeClr val="tx1"/>
                </a:solidFill>
              </a:rPr>
              <a:t>: 10.9 GW (Jun ’24) → 14.2 GW (Mar ’25), with +1 GW commissioning expected in May ’25.</a:t>
            </a:r>
          </a:p>
          <a:p>
            <a:pPr marL="171450" indent="-171450">
              <a:buFont typeface="Arial" panose="020B0604020202020204" pitchFamily="34" charset="0"/>
              <a:buChar char="•"/>
            </a:pPr>
            <a:r>
              <a:rPr lang="en-IN" sz="1200" b="1" dirty="0">
                <a:solidFill>
                  <a:schemeClr val="tx1"/>
                </a:solidFill>
              </a:rPr>
              <a:t>Khavda Renewable Park, Gujarat</a:t>
            </a:r>
            <a:r>
              <a:rPr lang="en-IN" sz="1200" dirty="0">
                <a:solidFill>
                  <a:schemeClr val="tx1"/>
                </a:solidFill>
              </a:rPr>
              <a:t>: 4.1 GW operational; roadmap to </a:t>
            </a:r>
            <a:r>
              <a:rPr lang="en-IN" sz="1200" b="1" dirty="0">
                <a:solidFill>
                  <a:schemeClr val="tx1"/>
                </a:solidFill>
              </a:rPr>
              <a:t>30 GW by 2030</a:t>
            </a:r>
            <a:r>
              <a:rPr lang="en-IN" sz="1200" dirty="0">
                <a:solidFill>
                  <a:schemeClr val="tx1"/>
                </a:solidFill>
              </a:rPr>
              <a:t>; JV with </a:t>
            </a:r>
            <a:r>
              <a:rPr lang="en-IN" sz="1200" b="1" dirty="0">
                <a:solidFill>
                  <a:schemeClr val="tx1"/>
                </a:solidFill>
              </a:rPr>
              <a:t>TotalEnergies ($444 mn)</a:t>
            </a:r>
            <a:r>
              <a:rPr lang="en-IN" sz="1200" dirty="0">
                <a:solidFill>
                  <a:schemeClr val="tx1"/>
                </a:solidFill>
              </a:rPr>
              <a:t> for portfolio expansion.</a:t>
            </a:r>
          </a:p>
          <a:p>
            <a:pPr marL="171450" indent="-171450">
              <a:buFont typeface="Arial" panose="020B0604020202020204" pitchFamily="34" charset="0"/>
              <a:buChar char="•"/>
            </a:pPr>
            <a:r>
              <a:rPr lang="en-IN" sz="1200" b="1" dirty="0">
                <a:solidFill>
                  <a:schemeClr val="tx1"/>
                </a:solidFill>
              </a:rPr>
              <a:t>Pumped Storage Projects</a:t>
            </a:r>
            <a:r>
              <a:rPr lang="en-IN" sz="1200" dirty="0">
                <a:solidFill>
                  <a:schemeClr val="tx1"/>
                </a:solidFill>
              </a:rPr>
              <a:t>: &gt;5 GW pipeline by 2030; </a:t>
            </a:r>
            <a:r>
              <a:rPr lang="en-IN" sz="1200" b="1" dirty="0">
                <a:solidFill>
                  <a:schemeClr val="tx1"/>
                </a:solidFill>
              </a:rPr>
              <a:t>500 MW Chitravathi PSP (AP)</a:t>
            </a:r>
            <a:r>
              <a:rPr lang="en-IN" sz="1200" dirty="0">
                <a:solidFill>
                  <a:schemeClr val="tx1"/>
                </a:solidFill>
              </a:rPr>
              <a:t> under construction; </a:t>
            </a:r>
            <a:r>
              <a:rPr lang="en-IN" sz="1200" b="1" dirty="0">
                <a:solidFill>
                  <a:schemeClr val="tx1"/>
                </a:solidFill>
              </a:rPr>
              <a:t>1,250 MW project in UP</a:t>
            </a:r>
            <a:r>
              <a:rPr lang="en-IN" sz="1200" dirty="0">
                <a:solidFill>
                  <a:schemeClr val="tx1"/>
                </a:solidFill>
              </a:rPr>
              <a:t> secured; cost advantage due to waived ISTS charges.</a:t>
            </a:r>
          </a:p>
          <a:p>
            <a:pPr marL="171450" indent="-171450">
              <a:buFont typeface="Arial" panose="020B0604020202020204" pitchFamily="34" charset="0"/>
              <a:buChar char="•"/>
            </a:pPr>
            <a:r>
              <a:rPr lang="en-IN" sz="1200" b="1" dirty="0">
                <a:solidFill>
                  <a:schemeClr val="tx1"/>
                </a:solidFill>
              </a:rPr>
              <a:t>Green Hydrogen</a:t>
            </a:r>
            <a:r>
              <a:rPr lang="en-IN" sz="1200" dirty="0">
                <a:solidFill>
                  <a:schemeClr val="tx1"/>
                </a:solidFill>
              </a:rPr>
              <a:t>: Pilot with Japan’s NEDO &amp; IHI/Kowa to blend </a:t>
            </a:r>
            <a:r>
              <a:rPr lang="en-IN" sz="1200" b="1" dirty="0">
                <a:solidFill>
                  <a:schemeClr val="tx1"/>
                </a:solidFill>
              </a:rPr>
              <a:t>20% green ammonia</a:t>
            </a:r>
            <a:r>
              <a:rPr lang="en-IN" sz="1200" dirty="0">
                <a:solidFill>
                  <a:schemeClr val="tx1"/>
                </a:solidFill>
              </a:rPr>
              <a:t> at Mundra ultra-supercritical boiler—first such project outside Japan.</a:t>
            </a:r>
          </a:p>
          <a:p>
            <a:pPr marL="171450" indent="-171450">
              <a:buFont typeface="Arial" panose="020B0604020202020204" pitchFamily="34" charset="0"/>
              <a:buChar char="•"/>
            </a:pPr>
            <a:r>
              <a:rPr lang="en-IN" sz="1200" b="1" dirty="0">
                <a:solidFill>
                  <a:schemeClr val="tx1"/>
                </a:solidFill>
              </a:rPr>
              <a:t>C&amp;I Segment Expansion</a:t>
            </a:r>
            <a:r>
              <a:rPr lang="en-IN" sz="1200" dirty="0">
                <a:solidFill>
                  <a:schemeClr val="tx1"/>
                </a:solidFill>
              </a:rPr>
              <a:t>: First large PPA with Google (61 MW hybrid) for Indian data centres.</a:t>
            </a:r>
          </a:p>
          <a:p>
            <a:r>
              <a:rPr lang="en-IN" sz="1400" b="1" dirty="0">
                <a:solidFill>
                  <a:schemeClr val="tx1"/>
                </a:solidFill>
              </a:rPr>
              <a:t>Financial Performance</a:t>
            </a:r>
            <a:endParaRPr lang="en-IN" sz="1400" dirty="0">
              <a:solidFill>
                <a:schemeClr val="tx1"/>
              </a:solidFill>
            </a:endParaRPr>
          </a:p>
          <a:p>
            <a:pPr marL="171450" indent="-171450">
              <a:buFont typeface="Arial" panose="020B0604020202020204" pitchFamily="34" charset="0"/>
              <a:buChar char="•"/>
            </a:pPr>
            <a:r>
              <a:rPr lang="en-IN" sz="1200" b="1" dirty="0">
                <a:solidFill>
                  <a:schemeClr val="tx1"/>
                </a:solidFill>
              </a:rPr>
              <a:t>Revenue Growth</a:t>
            </a:r>
            <a:r>
              <a:rPr lang="en-IN" sz="1200" dirty="0">
                <a:solidFill>
                  <a:schemeClr val="tx1"/>
                </a:solidFill>
              </a:rPr>
              <a:t>: ₹7,735 cr (FY24) → ₹9,495 cr (FY25).</a:t>
            </a:r>
          </a:p>
          <a:p>
            <a:pPr marL="171450" indent="-171450">
              <a:buFont typeface="Arial" panose="020B0604020202020204" pitchFamily="34" charset="0"/>
              <a:buChar char="•"/>
            </a:pPr>
            <a:r>
              <a:rPr lang="en-IN" sz="1200" b="1" dirty="0">
                <a:solidFill>
                  <a:schemeClr val="tx1"/>
                </a:solidFill>
              </a:rPr>
              <a:t>Cash Profit</a:t>
            </a:r>
            <a:r>
              <a:rPr lang="en-IN" sz="1200" dirty="0">
                <a:solidFill>
                  <a:schemeClr val="tx1"/>
                </a:solidFill>
              </a:rPr>
              <a:t>: ₹3,986 cr (FY24) → ₹4,871 cr (FY25).</a:t>
            </a:r>
          </a:p>
          <a:p>
            <a:pPr marL="171450" indent="-171450">
              <a:buFont typeface="Arial" panose="020B0604020202020204" pitchFamily="34" charset="0"/>
              <a:buChar char="•"/>
            </a:pPr>
            <a:r>
              <a:rPr lang="en-IN" sz="1200" b="1" dirty="0">
                <a:solidFill>
                  <a:schemeClr val="tx1"/>
                </a:solidFill>
              </a:rPr>
              <a:t>EBITDA Margins</a:t>
            </a:r>
            <a:r>
              <a:rPr lang="en-IN" sz="1200" dirty="0">
                <a:solidFill>
                  <a:schemeClr val="tx1"/>
                </a:solidFill>
              </a:rPr>
              <a:t>: Sustained at </a:t>
            </a:r>
            <a:r>
              <a:rPr lang="en-IN" sz="1200" b="1" dirty="0">
                <a:solidFill>
                  <a:schemeClr val="tx1"/>
                </a:solidFill>
              </a:rPr>
              <a:t>92% from power supply</a:t>
            </a:r>
            <a:r>
              <a:rPr lang="en-IN" sz="1200" dirty="0">
                <a:solidFill>
                  <a:schemeClr val="tx1"/>
                </a:solidFill>
              </a:rPr>
              <a:t>.</a:t>
            </a:r>
          </a:p>
          <a:p>
            <a:pPr marL="171450" indent="-171450">
              <a:buFont typeface="Arial" panose="020B0604020202020204" pitchFamily="34" charset="0"/>
              <a:buChar char="•"/>
            </a:pPr>
            <a:r>
              <a:rPr lang="en-IN" sz="1200" b="1" dirty="0">
                <a:solidFill>
                  <a:schemeClr val="tx1"/>
                </a:solidFill>
              </a:rPr>
              <a:t>Capital Structure</a:t>
            </a:r>
            <a:r>
              <a:rPr lang="en-IN" sz="1200" dirty="0">
                <a:solidFill>
                  <a:schemeClr val="tx1"/>
                </a:solidFill>
              </a:rPr>
              <a:t>: De-risked with ring-fenced SPVs, diversified debt (domestic &amp; global), project-level financing.</a:t>
            </a:r>
          </a:p>
          <a:p>
            <a:pPr marL="171450" indent="-171450">
              <a:buFont typeface="Arial" panose="020B0604020202020204" pitchFamily="34" charset="0"/>
              <a:buChar char="•"/>
            </a:pPr>
            <a:r>
              <a:rPr lang="en-IN" sz="1200" b="1" dirty="0">
                <a:solidFill>
                  <a:schemeClr val="tx1"/>
                </a:solidFill>
              </a:rPr>
              <a:t>DuPont Metrics</a:t>
            </a:r>
            <a:r>
              <a:rPr lang="en-IN" sz="1200" dirty="0">
                <a:solidFill>
                  <a:schemeClr val="tx1"/>
                </a:solidFill>
              </a:rPr>
              <a:t>: ROE remained robust (72–98% range); ROIC and ROA improving with capacity scale-up.</a:t>
            </a:r>
          </a:p>
          <a:p>
            <a:r>
              <a:rPr lang="en-IN" sz="1400" b="1" dirty="0">
                <a:solidFill>
                  <a:schemeClr val="tx1"/>
                </a:solidFill>
              </a:rPr>
              <a:t>Operational Excellence</a:t>
            </a:r>
            <a:endParaRPr lang="en-IN" sz="1400" dirty="0">
              <a:solidFill>
                <a:schemeClr val="tx1"/>
              </a:solidFill>
            </a:endParaRPr>
          </a:p>
          <a:p>
            <a:pPr marL="171450" indent="-171450">
              <a:buFont typeface="Arial" panose="020B0604020202020204" pitchFamily="34" charset="0"/>
              <a:buChar char="•"/>
            </a:pPr>
            <a:r>
              <a:rPr lang="en-IN" sz="1200" b="1" dirty="0">
                <a:solidFill>
                  <a:schemeClr val="tx1"/>
                </a:solidFill>
              </a:rPr>
              <a:t>CUFs</a:t>
            </a:r>
            <a:r>
              <a:rPr lang="en-IN" sz="1200" dirty="0">
                <a:solidFill>
                  <a:schemeClr val="tx1"/>
                </a:solidFill>
              </a:rPr>
              <a:t>: Solar 24.8%, Wind 27.2%, Hybrid 39.5% (among the best in India).</a:t>
            </a:r>
          </a:p>
          <a:p>
            <a:pPr marL="171450" indent="-171450">
              <a:buFont typeface="Arial" panose="020B0604020202020204" pitchFamily="34" charset="0"/>
              <a:buChar char="•"/>
            </a:pPr>
            <a:r>
              <a:rPr lang="en-IN" sz="1200" b="1" dirty="0">
                <a:solidFill>
                  <a:schemeClr val="tx1"/>
                </a:solidFill>
              </a:rPr>
              <a:t>Plant availability: </a:t>
            </a:r>
            <a:r>
              <a:rPr lang="en-IN" sz="1200" dirty="0">
                <a:solidFill>
                  <a:schemeClr val="tx1"/>
                </a:solidFill>
              </a:rPr>
              <a:t>Solar ~100%, improving in wind &amp; hybrid.</a:t>
            </a:r>
          </a:p>
          <a:p>
            <a:pPr marL="171450" indent="-171450">
              <a:buFont typeface="Arial" panose="020B0604020202020204" pitchFamily="34" charset="0"/>
              <a:buChar char="•"/>
            </a:pPr>
            <a:r>
              <a:rPr lang="en-IN" sz="1200" dirty="0">
                <a:solidFill>
                  <a:schemeClr val="tx1"/>
                </a:solidFill>
              </a:rPr>
              <a:t>Execution driven by </a:t>
            </a:r>
            <a:r>
              <a:rPr lang="en-IN" sz="1200" b="1" dirty="0">
                <a:solidFill>
                  <a:schemeClr val="tx1"/>
                </a:solidFill>
              </a:rPr>
              <a:t>site-specific R&amp;D</a:t>
            </a:r>
            <a:r>
              <a:rPr lang="en-IN" sz="1200" dirty="0">
                <a:solidFill>
                  <a:schemeClr val="tx1"/>
                </a:solidFill>
              </a:rPr>
              <a:t> (drainage, seismic, cable-laying) at Khavda and </a:t>
            </a:r>
            <a:r>
              <a:rPr lang="en-IN" sz="1200" b="1" dirty="0">
                <a:solidFill>
                  <a:schemeClr val="tx1"/>
                </a:solidFill>
              </a:rPr>
              <a:t>analytics-enabled O&amp;M</a:t>
            </a:r>
            <a:r>
              <a:rPr lang="en-IN" sz="1200" dirty="0">
                <a:solidFill>
                  <a:schemeClr val="tx1"/>
                </a:solidFill>
              </a:rPr>
              <a:t>.</a:t>
            </a:r>
          </a:p>
          <a:p>
            <a:r>
              <a:rPr lang="en-IN" sz="1200" b="1" dirty="0">
                <a:solidFill>
                  <a:schemeClr val="tx1"/>
                </a:solidFill>
              </a:rPr>
              <a:t>ESG &amp; Governance</a:t>
            </a:r>
            <a:endParaRPr lang="en-IN" sz="1200" dirty="0">
              <a:solidFill>
                <a:schemeClr val="tx1"/>
              </a:solidFill>
            </a:endParaRPr>
          </a:p>
          <a:p>
            <a:pPr marL="171450" indent="-171450">
              <a:buFont typeface="Arial" panose="020B0604020202020204" pitchFamily="34" charset="0"/>
              <a:buChar char="•"/>
            </a:pPr>
            <a:r>
              <a:rPr lang="en-IN" sz="1200" dirty="0">
                <a:solidFill>
                  <a:schemeClr val="tx1"/>
                </a:solidFill>
              </a:rPr>
              <a:t>Ranked </a:t>
            </a:r>
            <a:r>
              <a:rPr lang="en-IN" sz="1200" b="1" dirty="0">
                <a:solidFill>
                  <a:schemeClr val="tx1"/>
                </a:solidFill>
              </a:rPr>
              <a:t>#1 in Asia</a:t>
            </a:r>
            <a:r>
              <a:rPr lang="en-IN" sz="1200" dirty="0">
                <a:solidFill>
                  <a:schemeClr val="tx1"/>
                </a:solidFill>
              </a:rPr>
              <a:t> (ISS ESG); </a:t>
            </a:r>
            <a:r>
              <a:rPr lang="en-IN" sz="1200" b="1" dirty="0">
                <a:solidFill>
                  <a:schemeClr val="tx1"/>
                </a:solidFill>
              </a:rPr>
              <a:t>20.3 mn tons CO₂ emissions avoided in FY25</a:t>
            </a:r>
            <a:r>
              <a:rPr lang="en-IN" sz="1200" dirty="0">
                <a:solidFill>
                  <a:schemeClr val="tx1"/>
                </a:solidFill>
              </a:rPr>
              <a:t>.</a:t>
            </a:r>
          </a:p>
          <a:p>
            <a:pPr marL="171450" indent="-171450">
              <a:buFont typeface="Arial" panose="020B0604020202020204" pitchFamily="34" charset="0"/>
              <a:buChar char="•"/>
            </a:pPr>
            <a:r>
              <a:rPr lang="en-IN" sz="1200" dirty="0">
                <a:solidFill>
                  <a:schemeClr val="tx1"/>
                </a:solidFill>
              </a:rPr>
              <a:t>All plants </a:t>
            </a:r>
            <a:r>
              <a:rPr lang="en-IN" sz="1200" b="1" dirty="0">
                <a:solidFill>
                  <a:schemeClr val="tx1"/>
                </a:solidFill>
              </a:rPr>
              <a:t>water positive, zero-waste-to-landfill, single-use plastic free</a:t>
            </a:r>
            <a:r>
              <a:rPr lang="en-IN" sz="1200" dirty="0">
                <a:solidFill>
                  <a:schemeClr val="tx1"/>
                </a:solidFill>
              </a:rPr>
              <a:t>.</a:t>
            </a:r>
          </a:p>
          <a:p>
            <a:pPr marL="171450" indent="-171450">
              <a:buFont typeface="Arial" panose="020B0604020202020204" pitchFamily="34" charset="0"/>
              <a:buChar char="•"/>
            </a:pPr>
            <a:r>
              <a:rPr lang="en-IN" sz="1200" b="1" dirty="0">
                <a:solidFill>
                  <a:schemeClr val="tx1"/>
                </a:solidFill>
              </a:rPr>
              <a:t>4 mn+ safe man hours in FY25</a:t>
            </a:r>
            <a:r>
              <a:rPr lang="en-IN" sz="1200" dirty="0">
                <a:solidFill>
                  <a:schemeClr val="tx1"/>
                </a:solidFill>
              </a:rPr>
              <a:t>, very low LTIFR (Lost Time Injury Frequency Rate).</a:t>
            </a:r>
          </a:p>
          <a:p>
            <a:pPr marL="171450" indent="-171450">
              <a:buFont typeface="Arial" panose="020B0604020202020204" pitchFamily="34" charset="0"/>
              <a:buChar char="•"/>
            </a:pPr>
            <a:r>
              <a:rPr lang="en-IN" sz="1200" b="1" dirty="0">
                <a:solidFill>
                  <a:schemeClr val="tx1"/>
                </a:solidFill>
              </a:rPr>
              <a:t>Strong governance: </a:t>
            </a:r>
            <a:r>
              <a:rPr lang="en-IN" sz="1200" dirty="0">
                <a:solidFill>
                  <a:schemeClr val="tx1"/>
                </a:solidFill>
              </a:rPr>
              <a:t>Independent board committees, high focus on RPT monitoring, regular director education.</a:t>
            </a:r>
          </a:p>
          <a:p>
            <a:pPr marL="171450" indent="-171450">
              <a:buFont typeface="Arial" panose="020B0604020202020204" pitchFamily="34" charset="0"/>
              <a:buChar char="•"/>
            </a:pPr>
            <a:r>
              <a:rPr lang="en-IN" sz="1200" dirty="0">
                <a:solidFill>
                  <a:schemeClr val="tx1"/>
                </a:solidFill>
              </a:rPr>
              <a:t>Target </a:t>
            </a:r>
            <a:r>
              <a:rPr lang="en-IN" sz="1200" b="1" dirty="0">
                <a:solidFill>
                  <a:schemeClr val="tx1"/>
                </a:solidFill>
              </a:rPr>
              <a:t>≥30% female board members</a:t>
            </a:r>
            <a:r>
              <a:rPr lang="en-IN" sz="1200" dirty="0">
                <a:solidFill>
                  <a:schemeClr val="tx1"/>
                </a:solidFill>
              </a:rPr>
              <a:t> in medium term; promoter-to-employee pay ratio high at </a:t>
            </a:r>
            <a:r>
              <a:rPr lang="en-IN" sz="1200" b="1" dirty="0">
                <a:solidFill>
                  <a:schemeClr val="tx1"/>
                </a:solidFill>
              </a:rPr>
              <a:t>15:1</a:t>
            </a:r>
            <a:r>
              <a:rPr lang="en-IN" sz="1200" dirty="0">
                <a:solidFill>
                  <a:schemeClr val="tx1"/>
                </a:solidFill>
              </a:rPr>
              <a:t> vs peers (~4:1).</a:t>
            </a:r>
            <a:endParaRPr lang="en-US" sz="1200" dirty="0">
              <a:solidFill>
                <a:schemeClr val="tx1"/>
              </a:solidFill>
            </a:endParaRPr>
          </a:p>
        </p:txBody>
      </p:sp>
    </p:spTree>
    <p:extLst>
      <p:ext uri="{BB962C8B-B14F-4D97-AF65-F5344CB8AC3E}">
        <p14:creationId xmlns:p14="http://schemas.microsoft.com/office/powerpoint/2010/main" val="5690845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2242</TotalTime>
  <Words>5019</Words>
  <Application>Microsoft Office PowerPoint</Application>
  <PresentationFormat>Custom</PresentationFormat>
  <Paragraphs>1457</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Arial</vt:lpstr>
      <vt:lpstr>Arial,Sans-Serif</vt:lpstr>
      <vt:lpstr>Calibri</vt:lpstr>
      <vt:lpstr>Calibri</vt:lpstr>
      <vt:lpstr>Calibri Light</vt:lpstr>
      <vt:lpstr>Inter Var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swastik.ecosocsrcc@gmail.com</dc:creator>
  <cp:lastModifiedBy>Rwitoban Das</cp:lastModifiedBy>
  <cp:revision>5</cp:revision>
  <dcterms:created xsi:type="dcterms:W3CDTF">2025-07-13T17:34:24Z</dcterms:created>
  <dcterms:modified xsi:type="dcterms:W3CDTF">2025-09-04T17:22:14Z</dcterms:modified>
</cp:coreProperties>
</file>